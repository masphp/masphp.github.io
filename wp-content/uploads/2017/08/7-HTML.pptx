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5"/>
  </p:notesMasterIdLst>
  <p:sldIdLst>
    <p:sldId id="256" r:id="rId2"/>
    <p:sldId id="816" r:id="rId3"/>
    <p:sldId id="837" r:id="rId4"/>
    <p:sldId id="634" r:id="rId5"/>
    <p:sldId id="801" r:id="rId6"/>
    <p:sldId id="819" r:id="rId7"/>
    <p:sldId id="781" r:id="rId8"/>
    <p:sldId id="725" r:id="rId9"/>
    <p:sldId id="838" r:id="rId10"/>
    <p:sldId id="791" r:id="rId11"/>
    <p:sldId id="793" r:id="rId12"/>
    <p:sldId id="794" r:id="rId13"/>
    <p:sldId id="821" r:id="rId14"/>
    <p:sldId id="820" r:id="rId15"/>
    <p:sldId id="834" r:id="rId16"/>
    <p:sldId id="782" r:id="rId17"/>
    <p:sldId id="807" r:id="rId18"/>
    <p:sldId id="798" r:id="rId19"/>
    <p:sldId id="802" r:id="rId20"/>
    <p:sldId id="809" r:id="rId21"/>
    <p:sldId id="808" r:id="rId22"/>
    <p:sldId id="795" r:id="rId23"/>
    <p:sldId id="779" r:id="rId24"/>
    <p:sldId id="786" r:id="rId25"/>
    <p:sldId id="804" r:id="rId26"/>
    <p:sldId id="800" r:id="rId27"/>
    <p:sldId id="734" r:id="rId28"/>
    <p:sldId id="822" r:id="rId29"/>
    <p:sldId id="732" r:id="rId30"/>
    <p:sldId id="823" r:id="rId31"/>
    <p:sldId id="735" r:id="rId32"/>
    <p:sldId id="736" r:id="rId33"/>
    <p:sldId id="815" r:id="rId34"/>
    <p:sldId id="824" r:id="rId35"/>
    <p:sldId id="737" r:id="rId36"/>
    <p:sldId id="739" r:id="rId37"/>
    <p:sldId id="740" r:id="rId38"/>
    <p:sldId id="738" r:id="rId39"/>
    <p:sldId id="746" r:id="rId40"/>
    <p:sldId id="747" r:id="rId41"/>
    <p:sldId id="748" r:id="rId42"/>
    <p:sldId id="749" r:id="rId43"/>
    <p:sldId id="750" r:id="rId44"/>
    <p:sldId id="751" r:id="rId45"/>
    <p:sldId id="829" r:id="rId46"/>
    <p:sldId id="825" r:id="rId47"/>
    <p:sldId id="826" r:id="rId48"/>
    <p:sldId id="827" r:id="rId49"/>
    <p:sldId id="828" r:id="rId50"/>
    <p:sldId id="757" r:id="rId51"/>
    <p:sldId id="763" r:id="rId52"/>
    <p:sldId id="766" r:id="rId53"/>
    <p:sldId id="768" r:id="rId54"/>
    <p:sldId id="769" r:id="rId55"/>
    <p:sldId id="767" r:id="rId56"/>
    <p:sldId id="770" r:id="rId57"/>
    <p:sldId id="771" r:id="rId58"/>
    <p:sldId id="772" r:id="rId59"/>
    <p:sldId id="773" r:id="rId60"/>
    <p:sldId id="774" r:id="rId61"/>
    <p:sldId id="775" r:id="rId62"/>
    <p:sldId id="776" r:id="rId63"/>
    <p:sldId id="778" r:id="rId64"/>
    <p:sldId id="777" r:id="rId65"/>
    <p:sldId id="835" r:id="rId66"/>
    <p:sldId id="833" r:id="rId67"/>
    <p:sldId id="831" r:id="rId68"/>
    <p:sldId id="830" r:id="rId69"/>
    <p:sldId id="810" r:id="rId70"/>
    <p:sldId id="832" r:id="rId71"/>
    <p:sldId id="812" r:id="rId72"/>
    <p:sldId id="811" r:id="rId73"/>
    <p:sldId id="814" r:id="rId74"/>
    <p:sldId id="813" r:id="rId75"/>
    <p:sldId id="805" r:id="rId76"/>
    <p:sldId id="759" r:id="rId77"/>
    <p:sldId id="836" r:id="rId78"/>
    <p:sldId id="787" r:id="rId79"/>
    <p:sldId id="790" r:id="rId80"/>
    <p:sldId id="724" r:id="rId81"/>
    <p:sldId id="839" r:id="rId82"/>
    <p:sldId id="817" r:id="rId83"/>
    <p:sldId id="806" r:id="rId84"/>
  </p:sldIdLst>
  <p:sldSz cx="9144000" cy="6858000" type="screen4x3"/>
  <p:notesSz cx="7099300" cy="10234613"/>
  <p:custDataLst>
    <p:tags r:id="rId8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CC0000"/>
    <a:srgbClr val="003399"/>
    <a:srgbClr val="C2C2C2"/>
    <a:srgbClr val="00CC00"/>
    <a:srgbClr val="FF6600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16" autoAdjust="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96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78824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AC56DBBD-F88D-496D-8FE4-3CFDCE7C43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026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314ECB-18AF-46FB-93F7-73D398DAFBCB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1356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56DBBD-F88D-496D-8FE4-3CFDCE7C43B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59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C56DBBD-F88D-496D-8FE4-3CFDCE7C43BB}" type="slidenum">
              <a:rPr lang="en-US" smtClean="0"/>
              <a:pPr>
                <a:defRPr/>
              </a:pPr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776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11"/>
          <p:cNvSpPr>
            <a:spLocks noChangeArrowheads="1"/>
          </p:cNvSpPr>
          <p:nvPr userDrawn="1"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25400" algn="ctr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400" dirty="0">
              <a:latin typeface="Times New Roman" pitchFamily="18" charset="0"/>
              <a:ea typeface="MS PGothic" pitchFamily="34" charset="-128"/>
            </a:endParaRPr>
          </a:p>
        </p:txBody>
      </p:sp>
      <p:pic>
        <p:nvPicPr>
          <p:cNvPr id="5" name="Picture 12"/>
          <p:cNvPicPr>
            <a:picLocks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6387152"/>
            <a:ext cx="457200" cy="449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5800" y="6387769"/>
            <a:ext cx="4572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300">
                <a:solidFill>
                  <a:srgbClr val="005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8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defRPr sz="34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01DCE-B9BA-4E03-9E27-F95A86438FE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strip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E2D0E-F62B-4D92-93B2-88DB6C4008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430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430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C10B44-486B-46CE-BC4D-1EA29295C4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CD4F3-B94E-46E3-9AD2-7139ACB3D2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FFF475-2EAE-4FB1-A8FB-03926447DE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C47FD-E765-499B-91D8-81D7E45BCC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2BDA70-394D-4285-89EB-6F6F48AE3E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7714AA-802B-41F5-9D38-F3FCACE1E1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F11CE-F45A-4F3F-AF42-3956290B0A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152400"/>
            <a:ext cx="211455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19125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F5441-AAD2-4F5F-8028-E00E82506D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458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0"/>
            <a:ext cx="8382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6155" name="AutoShape 11"/>
          <p:cNvSpPr>
            <a:spLocks noChangeArrowheads="1"/>
          </p:cNvSpPr>
          <p:nvPr userDrawn="1"/>
        </p:nvSpPr>
        <p:spPr bwMode="auto">
          <a:xfrm>
            <a:off x="304800" y="990600"/>
            <a:ext cx="8305800" cy="76200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38100">
            <a:solidFill>
              <a:srgbClr val="CC00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2400" dirty="0"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6156" name="Line 12"/>
          <p:cNvSpPr>
            <a:spLocks noChangeShapeType="1"/>
          </p:cNvSpPr>
          <p:nvPr userDrawn="1"/>
        </p:nvSpPr>
        <p:spPr bwMode="auto">
          <a:xfrm flipV="1">
            <a:off x="304800" y="6324600"/>
            <a:ext cx="83820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962400" y="6477000"/>
            <a:ext cx="609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MS PGothic" pitchFamily="34" charset="-128"/>
              </a:defRPr>
            </a:lvl1pPr>
          </a:lstStyle>
          <a:p>
            <a:pPr>
              <a:defRPr/>
            </a:pPr>
            <a:fld id="{22AC6E74-0DF1-4F32-9D1B-23D74D8408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14"/>
          <p:cNvPicPr>
            <a:picLocks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04800" y="6388098"/>
            <a:ext cx="457200" cy="449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5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305800" y="6372225"/>
            <a:ext cx="45720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500">
          <a:solidFill>
            <a:srgbClr val="293A83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293A83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003399"/>
        </a:buClr>
        <a:buFont typeface="Wingdings" pitchFamily="2" charset="2"/>
        <a:buChar char="Ø"/>
        <a:defRPr sz="3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itchFamily="2" charset="2"/>
        <a:buChar char="Ø"/>
        <a:defRPr sz="28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5000"/>
        <a:buFont typeface="Wingdings" pitchFamily="2" charset="2"/>
        <a:buChar char="Ø"/>
        <a:defRPr sz="26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itchFamily="2" charset="2"/>
        <a:buChar char="Ø"/>
        <a:defRPr sz="22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Ø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Ø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Ø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Ø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Ø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le:///\\VBOXSVR\Me\Teaching\Internet%20Engineering\Current%20Semester\03-HTML\03-HTML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tags/ref_html_dtd.as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List_of_HTML_editors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066800"/>
            <a:ext cx="6934200" cy="1143000"/>
          </a:xfrm>
        </p:spPr>
        <p:txBody>
          <a:bodyPr/>
          <a:lstStyle/>
          <a:p>
            <a:pPr algn="ctr" eaLnBrk="1" hangingPunct="1"/>
            <a:r>
              <a:rPr lang="en-US" sz="5500" dirty="0" smtClean="0">
                <a:latin typeface="+mj-lt"/>
              </a:rPr>
              <a:t>(X)HTML</a:t>
            </a:r>
            <a:endParaRPr lang="en-US" sz="4500" dirty="0" smtClean="0">
              <a:latin typeface="+mj-lt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124200"/>
            <a:ext cx="7467600" cy="3352800"/>
          </a:xfrm>
        </p:spPr>
        <p:txBody>
          <a:bodyPr/>
          <a:lstStyle/>
          <a:p>
            <a:pPr eaLnBrk="1" hangingPunct="1"/>
            <a:r>
              <a:rPr lang="en-US" sz="3200" dirty="0" smtClean="0">
                <a:latin typeface="+mj-lt"/>
              </a:rPr>
              <a:t>Internet Engineering</a:t>
            </a:r>
          </a:p>
          <a:p>
            <a:pPr eaLnBrk="1" hangingPunct="1"/>
            <a:r>
              <a:rPr lang="en-US" sz="2800" smtClean="0">
                <a:latin typeface="+mj-lt"/>
              </a:rPr>
              <a:t>Fall </a:t>
            </a:r>
            <a:r>
              <a:rPr lang="en-US" sz="2800" dirty="0">
                <a:latin typeface="+mj-lt"/>
              </a:rPr>
              <a:t>2014</a:t>
            </a:r>
            <a:endParaRPr lang="en-US" sz="2800" dirty="0" smtClean="0">
              <a:latin typeface="+mj-lt"/>
            </a:endParaRPr>
          </a:p>
          <a:p>
            <a:pPr eaLnBrk="1" hangingPunct="1"/>
            <a:endParaRPr lang="en-US" dirty="0" smtClean="0">
              <a:latin typeface="+mj-lt"/>
            </a:endParaRPr>
          </a:p>
          <a:p>
            <a:pPr eaLnBrk="1" hangingPunct="1"/>
            <a:r>
              <a:rPr lang="en-US" sz="2200" dirty="0" smtClean="0">
                <a:latin typeface="+mj-lt"/>
              </a:rPr>
              <a:t>Bahador Bakhshi</a:t>
            </a:r>
          </a:p>
          <a:p>
            <a:pPr eaLnBrk="1" hangingPunct="1"/>
            <a:r>
              <a:rPr lang="en-US" sz="2200" dirty="0" smtClean="0">
                <a:latin typeface="+mj-lt"/>
              </a:rPr>
              <a:t>CE &amp; IT Department, Amirkabir University of Technology</a:t>
            </a:r>
          </a:p>
          <a:p>
            <a:pPr eaLnBrk="1" hangingPunct="1"/>
            <a:endParaRPr lang="en-US" sz="2200" dirty="0" smtClean="0">
              <a:latin typeface="+mj-lt"/>
            </a:endParaRPr>
          </a:p>
          <a:p>
            <a:pPr eaLnBrk="1" hangingPunct="1"/>
            <a:r>
              <a:rPr lang="en-US" sz="2200" dirty="0" smtClean="0">
                <a:latin typeface="+mj-lt"/>
              </a:rPr>
              <a:t> 		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2900" dirty="0" smtClean="0"/>
              <a:t>Q2) How is a </a:t>
            </a:r>
            <a:r>
              <a:rPr lang="en-US" sz="2900" dirty="0" smtClean="0">
                <a:hlinkClick r:id="rId3" action="ppaction://hlinkfile"/>
              </a:rPr>
              <a:t>web page</a:t>
            </a:r>
            <a:r>
              <a:rPr lang="en-US" sz="2900" dirty="0" smtClean="0"/>
              <a:t> organized?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Q2.1) What language is used for web pages?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Q2.2) What are major parts of a web page?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Q2.3) How to organize text?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Q2.4) How to insert link?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Q2.5) How to insert images?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Q2.6) How to insert tables?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Q2.7) How to get data from user?</a:t>
            </a:r>
          </a:p>
          <a:p>
            <a:pPr>
              <a:spcBef>
                <a:spcPts val="1000"/>
              </a:spcBef>
            </a:pPr>
            <a:r>
              <a:rPr lang="en-US" sz="2900" dirty="0" smtClean="0"/>
              <a:t>Q2.8) Syntax / Semantic error?</a:t>
            </a:r>
            <a:endParaRPr lang="en-US" sz="2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Homework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HW-2: Client Side Static Web Site</a:t>
            </a:r>
          </a:p>
          <a:p>
            <a:r>
              <a:rPr lang="en-US" dirty="0" smtClean="0"/>
              <a:t>HTML + CSS</a:t>
            </a:r>
          </a:p>
          <a:p>
            <a:pPr lvl="1"/>
            <a:r>
              <a:rPr lang="en-US" dirty="0" smtClean="0"/>
              <a:t>No JS, PHP, …</a:t>
            </a:r>
          </a:p>
          <a:p>
            <a:r>
              <a:rPr lang="en-US" dirty="0" smtClean="0"/>
              <a:t>Deadline</a:t>
            </a:r>
          </a:p>
          <a:p>
            <a:pPr lvl="1"/>
            <a:r>
              <a:rPr lang="en-US" dirty="0" smtClean="0"/>
              <a:t>At least one week after finishing CSS lecture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335391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XHTML</a:t>
            </a:r>
          </a:p>
          <a:p>
            <a:r>
              <a:rPr lang="en-US" dirty="0" smtClean="0"/>
              <a:t>Body</a:t>
            </a:r>
          </a:p>
          <a:p>
            <a:r>
              <a:rPr lang="en-US" dirty="0" smtClean="0"/>
              <a:t>Head</a:t>
            </a:r>
          </a:p>
          <a:p>
            <a:r>
              <a:rPr lang="en-US" dirty="0" smtClean="0"/>
              <a:t>XHTML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XHTML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Body 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XHTML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839200" cy="518160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2800" dirty="0" smtClean="0"/>
              <a:t>Remark: The idea of WWW is document sharing</a:t>
            </a:r>
          </a:p>
          <a:p>
            <a:pPr>
              <a:spcBef>
                <a:spcPts val="800"/>
              </a:spcBef>
            </a:pPr>
            <a:r>
              <a:rPr lang="en-US" sz="2800" dirty="0" smtClean="0"/>
              <a:t>Main question: How to format document?</a:t>
            </a:r>
          </a:p>
          <a:p>
            <a:pPr lvl="1">
              <a:spcBef>
                <a:spcPts val="200"/>
              </a:spcBef>
            </a:pPr>
            <a:r>
              <a:rPr lang="en-US" sz="2400" dirty="0" smtClean="0"/>
              <a:t>Text, formatting (Bold, Italic, …), tables, figures, …</a:t>
            </a:r>
          </a:p>
          <a:p>
            <a:pPr>
              <a:spcBef>
                <a:spcPts val="800"/>
              </a:spcBef>
            </a:pPr>
            <a:r>
              <a:rPr lang="en-US" sz="2800" dirty="0" smtClean="0"/>
              <a:t>Assume you are in 1980s</a:t>
            </a:r>
          </a:p>
          <a:p>
            <a:pPr lvl="1">
              <a:spcBef>
                <a:spcPts val="200"/>
              </a:spcBef>
            </a:pPr>
            <a:r>
              <a:rPr lang="en-US" sz="2400" dirty="0" smtClean="0"/>
              <a:t> Binary formats?</a:t>
            </a:r>
          </a:p>
          <a:p>
            <a:pPr lvl="2">
              <a:spcBef>
                <a:spcPts val="200"/>
              </a:spcBef>
            </a:pPr>
            <a:r>
              <a:rPr lang="en-US" sz="2400" dirty="0" smtClean="0"/>
              <a:t>Useless</a:t>
            </a:r>
          </a:p>
          <a:p>
            <a:pPr lvl="3">
              <a:spcBef>
                <a:spcPts val="200"/>
              </a:spcBef>
            </a:pPr>
            <a:r>
              <a:rPr lang="en-US" sz="2000" dirty="0" smtClean="0"/>
              <a:t>Different machines, no popular graphical desktops, no such popular format such as PDF, Doc, …</a:t>
            </a:r>
          </a:p>
          <a:p>
            <a:pPr lvl="1"/>
            <a:r>
              <a:rPr lang="en-US" sz="2400" dirty="0" smtClean="0"/>
              <a:t>Text format</a:t>
            </a:r>
          </a:p>
          <a:p>
            <a:pPr lvl="2">
              <a:spcBef>
                <a:spcPts val="200"/>
              </a:spcBef>
            </a:pPr>
            <a:r>
              <a:rPr lang="en-US" sz="2400" dirty="0" smtClean="0"/>
              <a:t>It is okay, everyone knows ASCII</a:t>
            </a:r>
          </a:p>
          <a:p>
            <a:pPr lvl="3">
              <a:spcBef>
                <a:spcPts val="200"/>
              </a:spcBef>
            </a:pPr>
            <a:r>
              <a:rPr lang="en-US" sz="2000" dirty="0" smtClean="0"/>
              <a:t>But how to describe structure, layout, and formatting?</a:t>
            </a:r>
          </a:p>
          <a:p>
            <a:pPr lvl="2">
              <a:spcBef>
                <a:spcPts val="200"/>
              </a:spcBef>
            </a:pPr>
            <a:r>
              <a:rPr lang="en-US" sz="2400" dirty="0" smtClean="0"/>
              <a:t>Add meaning to each part of text using special predefined </a:t>
            </a:r>
            <a:r>
              <a:rPr lang="en-US" sz="2400" dirty="0" smtClean="0">
                <a:solidFill>
                  <a:srgbClr val="C00000"/>
                </a:solidFill>
              </a:rPr>
              <a:t>markup,  </a:t>
            </a:r>
            <a:r>
              <a:rPr lang="en-US" sz="1800" dirty="0" smtClean="0"/>
              <a:t>E.g., It is heading, It is paragraph, It is table …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(cont’d)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9067800" cy="5181600"/>
          </a:xfrm>
        </p:spPr>
        <p:txBody>
          <a:bodyPr/>
          <a:lstStyle/>
          <a:p>
            <a:r>
              <a:rPr lang="en-US" dirty="0" smtClean="0"/>
              <a:t>HTML (Hyper Text </a:t>
            </a:r>
            <a:r>
              <a:rPr lang="en-US" dirty="0" smtClean="0">
                <a:solidFill>
                  <a:srgbClr val="C00000"/>
                </a:solidFill>
              </a:rPr>
              <a:t>Markup</a:t>
            </a:r>
            <a:r>
              <a:rPr lang="en-US" dirty="0" smtClean="0"/>
              <a:t> Language)</a:t>
            </a:r>
          </a:p>
          <a:p>
            <a:pPr lvl="1"/>
            <a:r>
              <a:rPr lang="en-US" dirty="0" smtClean="0"/>
              <a:t>A language to define </a:t>
            </a:r>
            <a:r>
              <a:rPr lang="en-US" dirty="0" smtClean="0">
                <a:solidFill>
                  <a:srgbClr val="C00000"/>
                </a:solidFill>
              </a:rPr>
              <a:t>structure</a:t>
            </a:r>
            <a:r>
              <a:rPr lang="en-US" dirty="0" smtClean="0"/>
              <a:t> of web docs </a:t>
            </a:r>
          </a:p>
          <a:p>
            <a:pPr lvl="2"/>
            <a:r>
              <a:rPr lang="en-US" dirty="0" smtClean="0">
                <a:solidFill>
                  <a:srgbClr val="C00000"/>
                </a:solidFill>
              </a:rPr>
              <a:t>Tags</a:t>
            </a:r>
            <a:r>
              <a:rPr lang="en-US" dirty="0" smtClean="0"/>
              <a:t> specify the structure</a:t>
            </a:r>
          </a:p>
          <a:p>
            <a:r>
              <a:rPr lang="en-US" dirty="0" smtClean="0"/>
              <a:t>HTML</a:t>
            </a:r>
          </a:p>
          <a:p>
            <a:pPr lvl="1">
              <a:spcBef>
                <a:spcPts val="400"/>
              </a:spcBef>
            </a:pPr>
            <a:r>
              <a:rPr lang="en-US" dirty="0" smtClean="0"/>
              <a:t>Was defined with SGML</a:t>
            </a:r>
          </a:p>
          <a:p>
            <a:pPr lvl="1">
              <a:spcBef>
                <a:spcPts val="400"/>
              </a:spcBef>
            </a:pPr>
            <a:r>
              <a:rPr lang="en-US" dirty="0" smtClean="0"/>
              <a:t>Is not a programming language</a:t>
            </a:r>
          </a:p>
          <a:p>
            <a:pPr lvl="2">
              <a:spcBef>
                <a:spcPts val="400"/>
              </a:spcBef>
            </a:pPr>
            <a:r>
              <a:rPr lang="en-US" dirty="0" smtClean="0"/>
              <a:t>Cannot be used to describe computations</a:t>
            </a:r>
          </a:p>
          <a:p>
            <a:pPr lvl="1">
              <a:spcBef>
                <a:spcPts val="400"/>
              </a:spcBef>
            </a:pPr>
            <a:r>
              <a:rPr lang="en-US" dirty="0" smtClean="0"/>
              <a:t>HTML does/should not specify presentation</a:t>
            </a:r>
          </a:p>
          <a:p>
            <a:pPr lvl="2">
              <a:spcBef>
                <a:spcPts val="400"/>
              </a:spcBef>
            </a:pPr>
            <a:r>
              <a:rPr lang="en-US" dirty="0" smtClean="0"/>
              <a:t>Font family, style, color, …</a:t>
            </a:r>
          </a:p>
          <a:p>
            <a:pPr lvl="2">
              <a:spcBef>
                <a:spcPts val="400"/>
              </a:spcBef>
            </a:pPr>
            <a:r>
              <a:rPr lang="en-US" sz="2500" dirty="0" smtClean="0"/>
              <a:t>Cascading Style Sheet (CSS) is responsible for presentation</a:t>
            </a:r>
            <a:endParaRPr lang="en-US" sz="25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(cont’d)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2400" dirty="0" smtClean="0"/>
              <a:t>HTML 1  (Berners-Lee, 1989): very basic, limited integration of multimedia</a:t>
            </a:r>
          </a:p>
          <a:p>
            <a:pPr>
              <a:spcBef>
                <a:spcPts val="800"/>
              </a:spcBef>
            </a:pPr>
            <a:r>
              <a:rPr lang="en-US" sz="2400" dirty="0" smtClean="0"/>
              <a:t>1993, Mosaic added many new features (e.g., integrated images) </a:t>
            </a:r>
          </a:p>
          <a:p>
            <a:pPr>
              <a:spcBef>
                <a:spcPts val="800"/>
              </a:spcBef>
            </a:pPr>
            <a:r>
              <a:rPr lang="en-US" sz="2400" dirty="0" smtClean="0"/>
              <a:t>HTML 2.0 (</a:t>
            </a:r>
            <a:r>
              <a:rPr lang="en-US" sz="2400" dirty="0" err="1" smtClean="0"/>
              <a:t>IETF</a:t>
            </a:r>
            <a:r>
              <a:rPr lang="en-US" sz="2400" dirty="0" smtClean="0"/>
              <a:t>, 1994): tried to standardize these &amp; other features</a:t>
            </a:r>
          </a:p>
          <a:p>
            <a:pPr>
              <a:spcBef>
                <a:spcPts val="800"/>
              </a:spcBef>
            </a:pPr>
            <a:r>
              <a:rPr lang="en-US" sz="2400" dirty="0" smtClean="0"/>
              <a:t>1994-96, Netscape &amp; IE added many new, divergent features </a:t>
            </a:r>
          </a:p>
          <a:p>
            <a:pPr>
              <a:spcBef>
                <a:spcPts val="800"/>
              </a:spcBef>
            </a:pPr>
            <a:r>
              <a:rPr lang="en-US" sz="2400" dirty="0" smtClean="0"/>
              <a:t>HTML 3.2 (W3C, 1996): attempted to unify into a single standard</a:t>
            </a:r>
          </a:p>
          <a:p>
            <a:pPr>
              <a:spcBef>
                <a:spcPts val="800"/>
              </a:spcBef>
            </a:pPr>
            <a:r>
              <a:rPr lang="en-US" sz="2400" dirty="0" smtClean="0"/>
              <a:t>HTML 4.0 (W3C, 1997): attempted to map out future direction of HTML</a:t>
            </a:r>
          </a:p>
          <a:p>
            <a:pPr>
              <a:spcBef>
                <a:spcPts val="800"/>
              </a:spcBef>
            </a:pPr>
            <a:r>
              <a:rPr lang="en-US" sz="2400" dirty="0" smtClean="0">
                <a:solidFill>
                  <a:srgbClr val="C00000"/>
                </a:solidFill>
              </a:rPr>
              <a:t>XHTML</a:t>
            </a:r>
            <a:r>
              <a:rPr lang="en-US" sz="2400" dirty="0" smtClean="0"/>
              <a:t> 1.0 (W3C, 2000): HTML 4.01 modified to conform to XML standards</a:t>
            </a:r>
          </a:p>
          <a:p>
            <a:pPr>
              <a:spcBef>
                <a:spcPts val="800"/>
              </a:spcBef>
            </a:pPr>
            <a:r>
              <a:rPr lang="en-US" sz="2400" dirty="0" smtClean="0"/>
              <a:t>HTML 5 (Web Hypertext Application Technology Working Group, W3C):  New version of HTML4, XHTML 1.0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pPr lvl="1"/>
            <a:r>
              <a:rPr lang="en-US" dirty="0" smtClean="0"/>
              <a:t>Tags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XHTML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Body 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XHTML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73434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Basics: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839200" cy="5334000"/>
          </a:xfrm>
        </p:spPr>
        <p:txBody>
          <a:bodyPr/>
          <a:lstStyle/>
          <a:p>
            <a:r>
              <a:rPr lang="en-US" sz="3200" dirty="0" smtClean="0"/>
              <a:t>XHTML is a text document collecting </a:t>
            </a:r>
            <a:r>
              <a:rPr lang="en-US" sz="3200" dirty="0" smtClean="0">
                <a:solidFill>
                  <a:srgbClr val="C00000"/>
                </a:solidFill>
              </a:rPr>
              <a:t>elements</a:t>
            </a:r>
          </a:p>
          <a:p>
            <a:r>
              <a:rPr lang="en-US" sz="3200" dirty="0" smtClean="0"/>
              <a:t>Element: (usually) a </a:t>
            </a:r>
            <a:r>
              <a:rPr lang="en-US" sz="3200" dirty="0" smtClean="0">
                <a:solidFill>
                  <a:srgbClr val="C00000"/>
                </a:solidFill>
              </a:rPr>
              <a:t>tag</a:t>
            </a:r>
            <a:r>
              <a:rPr lang="en-US" sz="3200" dirty="0" smtClean="0"/>
              <a:t> pair (opening &amp; closing) + content between them</a:t>
            </a:r>
          </a:p>
          <a:p>
            <a:pPr lvl="1">
              <a:spcBef>
                <a:spcPts val="400"/>
              </a:spcBef>
            </a:pPr>
            <a:r>
              <a:rPr lang="en-US" sz="2800" dirty="0" smtClean="0"/>
              <a:t>E.g.,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&lt;h1&gt;</a:t>
            </a:r>
            <a:r>
              <a:rPr lang="en-US" sz="2800" dirty="0" smtClean="0"/>
              <a:t>This is header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&lt;/h1&gt;</a:t>
            </a:r>
          </a:p>
          <a:p>
            <a:pPr lvl="1">
              <a:spcBef>
                <a:spcPts val="400"/>
              </a:spcBef>
            </a:pPr>
            <a:r>
              <a:rPr lang="en-US" sz="2800" dirty="0" smtClean="0"/>
              <a:t>Not all tags have content</a:t>
            </a:r>
          </a:p>
          <a:p>
            <a:r>
              <a:rPr lang="en-US" sz="3200" dirty="0" smtClean="0"/>
              <a:t>Tags specify markups for the content</a:t>
            </a:r>
          </a:p>
          <a:p>
            <a:r>
              <a:rPr lang="en-US" sz="3200" dirty="0" smtClean="0"/>
              <a:t>Tags</a:t>
            </a:r>
            <a:endParaRPr lang="en-US" sz="32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spcBef>
                <a:spcPts val="400"/>
              </a:spcBef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800" dirty="0" err="1" smtClean="0"/>
              <a:t>tagname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800" dirty="0" smtClean="0"/>
              <a:t>: opening (start) tag</a:t>
            </a:r>
            <a:endParaRPr lang="en-US" sz="28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spcBef>
                <a:spcPts val="400"/>
              </a:spcBef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2800" dirty="0" err="1" smtClean="0"/>
              <a:t>tagname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800" dirty="0" smtClean="0"/>
              <a:t>: closing (end) tag</a:t>
            </a:r>
          </a:p>
          <a:p>
            <a:pPr lvl="1">
              <a:spcBef>
                <a:spcPts val="400"/>
              </a:spcBef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800" dirty="0" err="1" smtClean="0"/>
              <a:t>tagname</a:t>
            </a:r>
            <a:r>
              <a:rPr lang="fa-IR" sz="2800" dirty="0" smtClean="0"/>
              <a:t> 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2800" dirty="0" smtClean="0"/>
              <a:t>: self-closing tag</a:t>
            </a:r>
          </a:p>
          <a:p>
            <a:pPr>
              <a:spcBef>
                <a:spcPts val="400"/>
              </a:spcBef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Basics: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991600" cy="5181600"/>
          </a:xfrm>
        </p:spPr>
        <p:txBody>
          <a:bodyPr/>
          <a:lstStyle/>
          <a:p>
            <a:r>
              <a:rPr lang="en-US" sz="3200" dirty="0" smtClean="0"/>
              <a:t>Each tag can have some attributes</a:t>
            </a:r>
          </a:p>
          <a:p>
            <a:pPr lvl="1"/>
            <a:r>
              <a:rPr lang="en-US" sz="2800" dirty="0" smtClean="0"/>
              <a:t>Attributes customize tags</a:t>
            </a:r>
          </a:p>
          <a:p>
            <a:pPr>
              <a:spcBef>
                <a:spcPts val="600"/>
              </a:spcBef>
              <a:buNone/>
            </a:pP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3200" dirty="0" err="1" smtClean="0"/>
              <a:t>tagname</a:t>
            </a:r>
            <a:r>
              <a:rPr lang="en-US" sz="3200" dirty="0" smtClean="0"/>
              <a:t> attrib1=“setting” attrib2=“setting” …</a:t>
            </a: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>
              <a:spcBef>
                <a:spcPts val="600"/>
              </a:spcBef>
              <a:buNone/>
            </a:pPr>
            <a:r>
              <a:rPr lang="en-US" sz="3200" dirty="0" smtClean="0"/>
              <a:t>…</a:t>
            </a:r>
          </a:p>
          <a:p>
            <a:pPr>
              <a:spcBef>
                <a:spcPts val="600"/>
              </a:spcBef>
              <a:buNone/>
            </a:pP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3200" dirty="0" err="1" smtClean="0"/>
              <a:t>tagname</a:t>
            </a: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3200" dirty="0" smtClean="0"/>
              <a:t>Core attributes can be used for most of elements</a:t>
            </a:r>
          </a:p>
          <a:p>
            <a:pPr lvl="1">
              <a:spcBef>
                <a:spcPts val="400"/>
              </a:spcBef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id</a:t>
            </a:r>
            <a:r>
              <a:rPr lang="en-US" sz="2800" dirty="0" smtClean="0"/>
              <a:t>: A unique identifier to element starting with "A-Z"</a:t>
            </a:r>
          </a:p>
          <a:p>
            <a:pPr lvl="1">
              <a:spcBef>
                <a:spcPts val="400"/>
              </a:spcBef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2800" dirty="0" smtClean="0"/>
              <a:t>: Assign a class to the element, multiple classes are allowed</a:t>
            </a:r>
          </a:p>
          <a:p>
            <a:pPr lvl="1">
              <a:spcBef>
                <a:spcPts val="400"/>
              </a:spcBef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en-US" sz="2800" dirty="0" smtClean="0"/>
              <a:t>: Assign a title, the behavior depends on element</a:t>
            </a:r>
          </a:p>
          <a:p>
            <a:pPr lvl="1"/>
            <a:endParaRPr lang="en-US" sz="2800" dirty="0" smtClean="0"/>
          </a:p>
          <a:p>
            <a:endParaRPr lang="en-US" sz="3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900" dirty="0" smtClean="0"/>
              <a:t>HTML Basics: Tag &amp; Attribute &amp; Element</a:t>
            </a:r>
            <a:endParaRPr lang="en-US" sz="3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5350" y="2286000"/>
            <a:ext cx="718185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839200" cy="518160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3200" dirty="0" smtClean="0"/>
              <a:t>HTML document is processed (parsed) by web browser or search engines or other applications</a:t>
            </a:r>
          </a:p>
          <a:p>
            <a:pPr>
              <a:spcBef>
                <a:spcPts val="800"/>
              </a:spcBef>
            </a:pPr>
            <a:r>
              <a:rPr lang="en-US" sz="3200" dirty="0" smtClean="0"/>
              <a:t>Search engine objectives: </a:t>
            </a:r>
          </a:p>
          <a:p>
            <a:pPr lvl="1">
              <a:spcBef>
                <a:spcPts val="300"/>
              </a:spcBef>
            </a:pPr>
            <a:r>
              <a:rPr lang="en-US" sz="2800" dirty="0" smtClean="0"/>
              <a:t>Analyze page, extract elements, prioritize, ranking, … </a:t>
            </a:r>
          </a:p>
          <a:p>
            <a:pPr lvl="1">
              <a:spcBef>
                <a:spcPts val="300"/>
              </a:spcBef>
            </a:pPr>
            <a:r>
              <a:rPr lang="en-US" sz="2800" dirty="0" smtClean="0"/>
              <a:t>Each tag has </a:t>
            </a:r>
            <a:r>
              <a:rPr lang="en-US" sz="2800" dirty="0" smtClean="0">
                <a:solidFill>
                  <a:srgbClr val="C00000"/>
                </a:solidFill>
              </a:rPr>
              <a:t>meaning</a:t>
            </a:r>
            <a:r>
              <a:rPr lang="en-US" sz="2800" dirty="0" smtClean="0"/>
              <a:t>, used for ranking</a:t>
            </a:r>
          </a:p>
          <a:p>
            <a:pPr lvl="2">
              <a:spcBef>
                <a:spcPts val="300"/>
              </a:spcBef>
            </a:pPr>
            <a:r>
              <a:rPr lang="en-US" sz="2800" dirty="0" smtClean="0"/>
              <a:t>E.g., paragraphs are not as important as headings</a:t>
            </a:r>
          </a:p>
          <a:p>
            <a:pPr>
              <a:spcBef>
                <a:spcPts val="800"/>
              </a:spcBef>
            </a:pPr>
            <a:r>
              <a:rPr lang="en-US" sz="3200" dirty="0" smtClean="0"/>
              <a:t>Web browser objectives: </a:t>
            </a:r>
          </a:p>
          <a:p>
            <a:pPr lvl="1">
              <a:spcBef>
                <a:spcPts val="200"/>
              </a:spcBef>
            </a:pPr>
            <a:r>
              <a:rPr lang="en-US" sz="2800" dirty="0" smtClean="0"/>
              <a:t>Display the document to client</a:t>
            </a:r>
          </a:p>
          <a:p>
            <a:pPr lvl="1">
              <a:spcBef>
                <a:spcPts val="200"/>
              </a:spcBef>
            </a:pPr>
            <a:r>
              <a:rPr lang="en-US" sz="2800" dirty="0" smtClean="0">
                <a:solidFill>
                  <a:srgbClr val="C00000"/>
                </a:solidFill>
              </a:rPr>
              <a:t>Rendering</a:t>
            </a:r>
          </a:p>
          <a:p>
            <a:pPr lvl="2">
              <a:spcBef>
                <a:spcPts val="200"/>
              </a:spcBef>
            </a:pPr>
            <a:r>
              <a:rPr lang="en-US" sz="2400" dirty="0" smtClean="0"/>
              <a:t>Generate layout for the document</a:t>
            </a:r>
          </a:p>
          <a:p>
            <a:pPr lvl="2">
              <a:spcBef>
                <a:spcPts val="200"/>
              </a:spcBef>
            </a:pPr>
            <a:r>
              <a:rPr lang="en-US" sz="2400" dirty="0" smtClean="0"/>
              <a:t>Display elements </a:t>
            </a:r>
          </a:p>
          <a:p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Processing: Rendering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3200" dirty="0" smtClean="0"/>
              <a:t>The processing of displaying HMTL in browser</a:t>
            </a:r>
          </a:p>
          <a:p>
            <a:pPr>
              <a:spcBef>
                <a:spcPts val="800"/>
              </a:spcBef>
            </a:pPr>
            <a:r>
              <a:rPr lang="en-US" sz="3200" dirty="0" smtClean="0"/>
              <a:t>Not all tags are to be displayed</a:t>
            </a:r>
          </a:p>
          <a:p>
            <a:pPr lvl="1">
              <a:spcBef>
                <a:spcPts val="200"/>
              </a:spcBef>
            </a:pPr>
            <a:r>
              <a:rPr lang="en-US" sz="2800" dirty="0" smtClean="0"/>
              <a:t>E.g. Tags in </a:t>
            </a:r>
            <a:r>
              <a:rPr lang="en-US" sz="28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>
              <a:spcBef>
                <a:spcPts val="800"/>
              </a:spcBef>
            </a:pPr>
            <a:r>
              <a:rPr lang="en-US" sz="3200" dirty="0" smtClean="0"/>
              <a:t>For tags which should be displayed</a:t>
            </a:r>
          </a:p>
          <a:p>
            <a:pPr lvl="1">
              <a:spcBef>
                <a:spcPts val="200"/>
              </a:spcBef>
            </a:pPr>
            <a:r>
              <a:rPr lang="en-US" sz="2800" dirty="0" smtClean="0"/>
              <a:t>Tags by themselves are not displayed</a:t>
            </a:r>
          </a:p>
          <a:p>
            <a:pPr lvl="1">
              <a:spcBef>
                <a:spcPts val="200"/>
              </a:spcBef>
            </a:pPr>
            <a:r>
              <a:rPr lang="en-US" sz="2800" dirty="0" smtClean="0"/>
              <a:t>Each tag has its own </a:t>
            </a:r>
            <a:r>
              <a:rPr lang="en-US" sz="2800" dirty="0" smtClean="0">
                <a:solidFill>
                  <a:srgbClr val="C00000"/>
                </a:solidFill>
              </a:rPr>
              <a:t>default</a:t>
            </a:r>
            <a:r>
              <a:rPr lang="en-US" sz="2800" dirty="0" smtClean="0"/>
              <a:t> presentation specification</a:t>
            </a:r>
          </a:p>
          <a:p>
            <a:pPr lvl="2">
              <a:spcBef>
                <a:spcPts val="200"/>
              </a:spcBef>
            </a:pPr>
            <a:r>
              <a:rPr lang="en-US" sz="2600" dirty="0" smtClean="0"/>
              <a:t>If tag has content, the presentation is applied to content</a:t>
            </a:r>
          </a:p>
          <a:p>
            <a:pPr lvl="3">
              <a:spcBef>
                <a:spcPts val="200"/>
              </a:spcBef>
            </a:pPr>
            <a:r>
              <a:rPr lang="en-US" dirty="0" smtClean="0"/>
              <a:t>E.g. 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 smtClean="0"/>
              <a:t>This is italic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spcBef>
                <a:spcPts val="200"/>
              </a:spcBef>
            </a:pPr>
            <a:r>
              <a:rPr lang="en-US" sz="2800" dirty="0" smtClean="0"/>
              <a:t>If tag has not content, the specification is displayed (if it is needed)</a:t>
            </a:r>
          </a:p>
          <a:p>
            <a:pPr lvl="3">
              <a:spcBef>
                <a:spcPts val="200"/>
              </a:spcBef>
            </a:pPr>
            <a:r>
              <a:rPr lang="en-US" dirty="0" smtClean="0"/>
              <a:t>E.g. 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/&gt;</a:t>
            </a:r>
            <a:endParaRPr lang="en-US" b="1" dirty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839200" cy="762000"/>
          </a:xfrm>
        </p:spPr>
        <p:txBody>
          <a:bodyPr/>
          <a:lstStyle/>
          <a:p>
            <a:r>
              <a:rPr lang="en-US" dirty="0"/>
              <a:t>HTML Processing: </a:t>
            </a:r>
            <a:r>
              <a:rPr lang="en-US" dirty="0" smtClean="0"/>
              <a:t>Rendering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400" dirty="0" smtClean="0"/>
              <a:t>Web browsers ignore</a:t>
            </a:r>
          </a:p>
          <a:p>
            <a:r>
              <a:rPr lang="en-US" dirty="0" smtClean="0"/>
              <a:t>1) Comments</a:t>
            </a:r>
          </a:p>
          <a:p>
            <a:pPr lvl="1"/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&lt;!--</a:t>
            </a:r>
            <a:r>
              <a:rPr lang="en-US" dirty="0" smtClean="0"/>
              <a:t> … 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--&gt;</a:t>
            </a:r>
          </a:p>
          <a:p>
            <a:r>
              <a:rPr lang="en-US" dirty="0" smtClean="0"/>
              <a:t>2) Tags that don’t recognize</a:t>
            </a:r>
          </a:p>
          <a:p>
            <a:r>
              <a:rPr lang="en-US" dirty="0" smtClean="0"/>
              <a:t>3) More than single whitespaces</a:t>
            </a:r>
          </a:p>
          <a:p>
            <a:pPr lvl="1"/>
            <a:r>
              <a:rPr lang="en-US" dirty="0" smtClean="0"/>
              <a:t>E.g., Multiple newlines + tabs + spaces </a:t>
            </a:r>
            <a:r>
              <a:rPr lang="en-US" dirty="0" smtClean="0">
                <a:sym typeface="Wingdings" pitchFamily="2" charset="2"/>
              </a:rPr>
              <a:t> single space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3250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“Hello World”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&lt;!--</a:t>
            </a:r>
            <a:r>
              <a:rPr lang="en-US" sz="2800" dirty="0" smtClean="0"/>
              <a:t> </a:t>
            </a:r>
            <a:r>
              <a:rPr lang="en-US" sz="2800" dirty="0" smtClean="0">
                <a:latin typeface="+mj-lt"/>
                <a:cs typeface="Courier New" pitchFamily="49" charset="0"/>
              </a:rPr>
              <a:t>This is the “Hello World” Example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--&gt;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&lt;html&gt;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&lt;title&gt;</a:t>
            </a:r>
            <a:r>
              <a:rPr lang="en-US" sz="2800" dirty="0" smtClean="0">
                <a:latin typeface="+mj-lt"/>
                <a:cs typeface="Courier New" pitchFamily="49" charset="0"/>
              </a:rPr>
              <a:t>First Example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&lt;/title&gt;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&lt;p&gt; </a:t>
            </a:r>
            <a:r>
              <a:rPr lang="en-US" sz="2800" dirty="0" smtClean="0">
                <a:latin typeface="+mj-lt"/>
                <a:cs typeface="Courier New" pitchFamily="49" charset="0"/>
              </a:rPr>
              <a:t>Hello      World!</a:t>
            </a:r>
            <a:r>
              <a:rPr lang="en-US" sz="2800" dirty="0" smtClean="0"/>
              <a:t>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>
              <a:buNone/>
            </a:pP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&lt;/html&gt;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4191000"/>
            <a:ext cx="3810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Nested Tags</a:t>
            </a:r>
            <a:r>
              <a:rPr lang="en-US" dirty="0" smtClean="0">
                <a:sym typeface="Wingdings" pitchFamily="2" charset="2"/>
              </a:rPr>
              <a:t> 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Tree of elements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Parent &amp; Child relationship </a:t>
            </a:r>
            <a:endParaRPr lang="en-US" dirty="0" smtClean="0"/>
          </a:p>
          <a:p>
            <a:endParaRPr lang="en-US" dirty="0" smtClean="0"/>
          </a:p>
          <a:p>
            <a:pPr>
              <a:spcBef>
                <a:spcPct val="0"/>
              </a:spcBef>
            </a:pPr>
            <a:endParaRPr lang="en-US" b="1" kern="1200" dirty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457200" y="3429000"/>
            <a:ext cx="8229600" cy="2667000"/>
            <a:chOff x="457200" y="3429000"/>
            <a:chExt cx="8229600" cy="2667000"/>
          </a:xfrm>
        </p:grpSpPr>
        <p:sp>
          <p:nvSpPr>
            <p:cNvPr id="33" name="Rectangle 17"/>
            <p:cNvSpPr>
              <a:spLocks noChangeArrowheads="1"/>
            </p:cNvSpPr>
            <p:nvPr/>
          </p:nvSpPr>
          <p:spPr bwMode="auto">
            <a:xfrm>
              <a:off x="4800600" y="4419600"/>
              <a:ext cx="24384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3399"/>
                  </a:solidFill>
                  <a:latin typeface="Courier New" pitchFamily="49" charset="0"/>
                  <a:cs typeface="Courier New" pitchFamily="49" charset="0"/>
                </a:rPr>
                <a:t>&lt;body</a:t>
              </a:r>
              <a:r>
                <a:rPr lang="en-US" b="1" dirty="0" smtClean="0">
                  <a:solidFill>
                    <a:srgbClr val="003399"/>
                  </a:solidFill>
                  <a:latin typeface="Courier New" pitchFamily="49" charset="0"/>
                  <a:cs typeface="Courier New" pitchFamily="49" charset="0"/>
                </a:rPr>
                <a:t>&gt; &lt;/</a:t>
              </a:r>
              <a:r>
                <a:rPr lang="en-US" b="1" dirty="0">
                  <a:solidFill>
                    <a:srgbClr val="003399"/>
                  </a:solidFill>
                  <a:latin typeface="Courier New" pitchFamily="49" charset="0"/>
                  <a:cs typeface="Courier New" pitchFamily="49" charset="0"/>
                </a:rPr>
                <a:t>body&gt; </a:t>
              </a:r>
            </a:p>
          </p:txBody>
        </p:sp>
        <p:grpSp>
          <p:nvGrpSpPr>
            <p:cNvPr id="5" name="Group 28"/>
            <p:cNvGrpSpPr>
              <a:grpSpLocks/>
            </p:cNvGrpSpPr>
            <p:nvPr/>
          </p:nvGrpSpPr>
          <p:grpSpPr bwMode="auto">
            <a:xfrm>
              <a:off x="457200" y="3429000"/>
              <a:ext cx="8229600" cy="2667000"/>
              <a:chOff x="432" y="2296"/>
              <a:chExt cx="5184" cy="1680"/>
            </a:xfrm>
          </p:grpSpPr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2352" y="2296"/>
                <a:ext cx="1332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&lt;html</a:t>
                </a:r>
                <a:r>
                  <a:rPr lang="en-US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&gt; &lt;/</a:t>
                </a:r>
                <a:r>
                  <a:rPr lang="en-US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html&gt;</a:t>
                </a:r>
              </a:p>
            </p:txBody>
          </p:sp>
          <p:sp>
            <p:nvSpPr>
              <p:cNvPr id="36" name="Rectangle 16"/>
              <p:cNvSpPr>
                <a:spLocks noChangeArrowheads="1"/>
              </p:cNvSpPr>
              <p:nvPr/>
            </p:nvSpPr>
            <p:spPr bwMode="auto">
              <a:xfrm>
                <a:off x="1008" y="2920"/>
                <a:ext cx="133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&lt;head</a:t>
                </a:r>
                <a:r>
                  <a:rPr lang="en-US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&gt; &lt;/</a:t>
                </a:r>
                <a:r>
                  <a:rPr lang="en-US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head&gt;</a:t>
                </a:r>
              </a:p>
            </p:txBody>
          </p:sp>
          <p:sp>
            <p:nvSpPr>
              <p:cNvPr id="37" name="Rectangle 18"/>
              <p:cNvSpPr>
                <a:spLocks noChangeArrowheads="1"/>
              </p:cNvSpPr>
              <p:nvPr/>
            </p:nvSpPr>
            <p:spPr bwMode="auto">
              <a:xfrm>
                <a:off x="432" y="3312"/>
                <a:ext cx="5184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1600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&lt;title&gt; &lt;/</a:t>
                </a:r>
                <a:r>
                  <a:rPr lang="en-US" sz="1600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title&gt; </a:t>
                </a:r>
                <a:r>
                  <a:rPr lang="en-US" sz="1600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en-US" dirty="0" smtClean="0"/>
                  <a:t>other </a:t>
                </a:r>
                <a:r>
                  <a:rPr lang="en-US" dirty="0"/>
                  <a:t>stuff </a:t>
                </a:r>
                <a:r>
                  <a:rPr lang="en-US" dirty="0" smtClean="0"/>
                  <a:t>    </a:t>
                </a:r>
                <a:r>
                  <a:rPr lang="en-US" sz="1600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&lt;</a:t>
                </a:r>
                <a:r>
                  <a:rPr lang="en-US" sz="1600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p</a:t>
                </a:r>
                <a:r>
                  <a:rPr lang="en-US" sz="1600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&gt;&lt;/</a:t>
                </a:r>
                <a:r>
                  <a:rPr lang="en-US" sz="1600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p&gt; </a:t>
                </a:r>
                <a:r>
                  <a:rPr lang="en-US" sz="1600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   &lt;</a:t>
                </a:r>
                <a:r>
                  <a:rPr lang="en-US" sz="1600" b="1" dirty="0" err="1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br</a:t>
                </a:r>
                <a:r>
                  <a:rPr lang="en-US" sz="1600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 /&gt;  &lt;</a:t>
                </a:r>
                <a:r>
                  <a:rPr lang="en-US" sz="1600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table</a:t>
                </a:r>
                <a:r>
                  <a:rPr lang="en-US" sz="1600" b="1" dirty="0" smtClean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&gt;&lt;/</a:t>
                </a:r>
                <a:r>
                  <a:rPr lang="en-US" sz="1600" b="1" dirty="0">
                    <a:solidFill>
                      <a:srgbClr val="003399"/>
                    </a:solidFill>
                    <a:latin typeface="Courier New" pitchFamily="49" charset="0"/>
                    <a:cs typeface="Courier New" pitchFamily="49" charset="0"/>
                  </a:rPr>
                  <a:t>table&gt;</a:t>
                </a:r>
              </a:p>
            </p:txBody>
          </p:sp>
          <p:sp>
            <p:nvSpPr>
              <p:cNvPr id="38" name="Rectangle 19"/>
              <p:cNvSpPr>
                <a:spLocks noChangeArrowheads="1"/>
              </p:cNvSpPr>
              <p:nvPr/>
            </p:nvSpPr>
            <p:spPr bwMode="auto">
              <a:xfrm>
                <a:off x="2503" y="3745"/>
                <a:ext cx="1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latin typeface="Arial" charset="0"/>
                  </a:rPr>
                  <a:t>This is some text!</a:t>
                </a:r>
              </a:p>
            </p:txBody>
          </p:sp>
          <p:sp>
            <p:nvSpPr>
              <p:cNvPr id="39" name="Line 20"/>
              <p:cNvSpPr>
                <a:spLocks noChangeShapeType="1"/>
              </p:cNvSpPr>
              <p:nvPr/>
            </p:nvSpPr>
            <p:spPr bwMode="auto">
              <a:xfrm flipH="1">
                <a:off x="1632" y="2592"/>
                <a:ext cx="1296" cy="328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21"/>
              <p:cNvSpPr>
                <a:spLocks noChangeShapeType="1"/>
              </p:cNvSpPr>
              <p:nvPr/>
            </p:nvSpPr>
            <p:spPr bwMode="auto">
              <a:xfrm>
                <a:off x="2928" y="2592"/>
                <a:ext cx="864" cy="328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22"/>
              <p:cNvSpPr>
                <a:spLocks noChangeShapeType="1"/>
              </p:cNvSpPr>
              <p:nvPr/>
            </p:nvSpPr>
            <p:spPr bwMode="auto">
              <a:xfrm flipH="1">
                <a:off x="1056" y="3120"/>
                <a:ext cx="576" cy="192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23"/>
              <p:cNvSpPr>
                <a:spLocks noChangeShapeType="1"/>
              </p:cNvSpPr>
              <p:nvPr/>
            </p:nvSpPr>
            <p:spPr bwMode="auto">
              <a:xfrm>
                <a:off x="1632" y="3120"/>
                <a:ext cx="528" cy="192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24"/>
              <p:cNvSpPr>
                <a:spLocks noChangeShapeType="1"/>
              </p:cNvSpPr>
              <p:nvPr/>
            </p:nvSpPr>
            <p:spPr bwMode="auto">
              <a:xfrm flipH="1">
                <a:off x="2976" y="3120"/>
                <a:ext cx="768" cy="184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25"/>
              <p:cNvSpPr>
                <a:spLocks noChangeShapeType="1"/>
              </p:cNvSpPr>
              <p:nvPr/>
            </p:nvSpPr>
            <p:spPr bwMode="auto">
              <a:xfrm>
                <a:off x="3744" y="3120"/>
                <a:ext cx="0" cy="240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Line 26"/>
              <p:cNvSpPr>
                <a:spLocks noChangeShapeType="1"/>
              </p:cNvSpPr>
              <p:nvPr/>
            </p:nvSpPr>
            <p:spPr bwMode="auto">
              <a:xfrm>
                <a:off x="3744" y="3120"/>
                <a:ext cx="816" cy="184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Line 27"/>
              <p:cNvSpPr>
                <a:spLocks noChangeShapeType="1"/>
              </p:cNvSpPr>
              <p:nvPr/>
            </p:nvSpPr>
            <p:spPr bwMode="auto">
              <a:xfrm>
                <a:off x="2976" y="3544"/>
                <a:ext cx="0" cy="240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Characters/Symbols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characters and symbols are encoded</a:t>
            </a:r>
          </a:p>
          <a:p>
            <a:pPr lvl="1"/>
            <a:r>
              <a:rPr lang="en-US" dirty="0" smtClean="0"/>
              <a:t>Because cannot be used directly in text files</a:t>
            </a:r>
          </a:p>
          <a:p>
            <a:r>
              <a:rPr lang="en-US" dirty="0" smtClean="0"/>
              <a:t>E.g.,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/>
        </p:nvGraphicFramePr>
        <p:xfrm>
          <a:off x="1143000" y="3200401"/>
          <a:ext cx="6781800" cy="2895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/>
                <a:gridCol w="2260600"/>
                <a:gridCol w="2260600"/>
              </a:tblGrid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Character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Coding 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Number code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3399"/>
                    </a:solidFill>
                  </a:tcPr>
                </a:tc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‘&lt;’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</a:t>
                      </a:r>
                      <a:r>
                        <a:rPr lang="en-US" sz="2000" b="1" dirty="0" err="1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lt</a:t>
                      </a:r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&amp;#60;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‘&gt;’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</a:t>
                      </a:r>
                      <a:r>
                        <a:rPr lang="en-US" sz="2000" b="1" dirty="0" err="1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gt</a:t>
                      </a:r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&amp;#62;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‘&amp;’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&amp;amp;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&amp;#38;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‘ ’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</a:t>
                      </a:r>
                      <a:r>
                        <a:rPr lang="en-US" sz="2000" b="1" dirty="0" err="1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nbsp</a:t>
                      </a:r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&amp;#160;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‘©’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&amp;copy;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&amp;#169;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  <a:tr h="4136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ym typeface="SymbolPS"/>
                        </a:rPr>
                        <a:t>‘</a:t>
                      </a:r>
                      <a:r>
                        <a:rPr lang="el-GR" sz="2000" dirty="0" smtClean="0">
                          <a:sym typeface="SymbolPS"/>
                        </a:rPr>
                        <a:t>λ</a:t>
                      </a:r>
                      <a:r>
                        <a:rPr lang="en-US" sz="2000" dirty="0" smtClean="0">
                          <a:sym typeface="SymbolPS"/>
                        </a:rPr>
                        <a:t>’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&amp;lambda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003399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&amp;#955;</a:t>
                      </a:r>
                      <a:endParaRPr lang="en-US" sz="2000" b="1" dirty="0">
                        <a:solidFill>
                          <a:srgbClr val="003399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2C2C2"/>
                </a:solidFill>
              </a:rPr>
              <a:t>Introduction</a:t>
            </a:r>
          </a:p>
          <a:p>
            <a:r>
              <a:rPr lang="en-US" dirty="0" smtClean="0"/>
              <a:t>XHTML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Body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XHTML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HTML is an application of Standard General Markup Language (SGML)</a:t>
            </a:r>
          </a:p>
          <a:p>
            <a:r>
              <a:rPr lang="en-US" dirty="0" smtClean="0"/>
              <a:t>XHTML is an application of Extensible Markup Language (XML)</a:t>
            </a:r>
          </a:p>
          <a:p>
            <a:pPr lvl="1"/>
            <a:r>
              <a:rPr lang="en-US" dirty="0" smtClean="0"/>
              <a:t>W3C: “a reformulation of the three HTML 4 document types as applications of XML 1.0”</a:t>
            </a:r>
          </a:p>
          <a:p>
            <a:r>
              <a:rPr lang="en-US" dirty="0" smtClean="0"/>
              <a:t>XML is more restricted that SGML</a:t>
            </a:r>
          </a:p>
          <a:p>
            <a:pPr lvl="1"/>
            <a:r>
              <a:rPr lang="en-US" dirty="0" smtClean="0"/>
              <a:t>XHTML has more restrictions vs. HTML</a:t>
            </a:r>
          </a:p>
          <a:p>
            <a:pPr lvl="1"/>
            <a:r>
              <a:rPr lang="en-US" dirty="0" smtClean="0"/>
              <a:t>XHTML is more well-defined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XHTML Rules (vs. HTML)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sz="2800" dirty="0" smtClean="0"/>
              <a:t>All tags have ending (closing) tags</a:t>
            </a:r>
          </a:p>
          <a:p>
            <a:pPr lvl="1"/>
            <a:r>
              <a:rPr lang="en-US" sz="2400" dirty="0" smtClean="0"/>
              <a:t>Some tags are self closing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r>
              <a:rPr lang="en-US" sz="2800" dirty="0" smtClean="0"/>
              <a:t>Tags cannot be overlapped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&lt;b&gt;&lt;</a:t>
            </a:r>
            <a:r>
              <a:rPr lang="en-US" sz="2400" dirty="0" err="1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&gt;test&lt;/b&gt;&lt;/</a:t>
            </a:r>
            <a:r>
              <a:rPr lang="en-US" sz="2400" dirty="0" err="1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&gt;</a:t>
            </a:r>
          </a:p>
          <a:p>
            <a:r>
              <a:rPr lang="en-US" sz="2800" dirty="0" smtClean="0"/>
              <a:t>All tags are lowercase</a:t>
            </a:r>
          </a:p>
          <a:p>
            <a:r>
              <a:rPr lang="en-US" sz="2800" dirty="0" smtClean="0"/>
              <a:t>Attributes’ value must be in double quotation </a:t>
            </a:r>
          </a:p>
          <a:p>
            <a:r>
              <a:rPr lang="en-US" sz="2800" dirty="0" smtClean="0"/>
              <a:t>Browsers ignore unknown tags and attributes </a:t>
            </a:r>
          </a:p>
          <a:p>
            <a:r>
              <a:rPr lang="en-US" sz="2800" dirty="0" smtClean="0"/>
              <a:t>Layout (styles) are separated from markup</a:t>
            </a:r>
          </a:p>
          <a:p>
            <a:pPr lvl="1"/>
            <a:r>
              <a:rPr lang="en-US" sz="2400" dirty="0" smtClean="0"/>
              <a:t>Markup is used for meaning &amp; structure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XHTML Skeleton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&lt;?xml …&gt;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&lt;!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DOCTYPE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…&gt;</a:t>
            </a:r>
          </a:p>
          <a:p>
            <a:pPr>
              <a:buNone/>
            </a:pPr>
            <a:r>
              <a:rPr lang="en-US" sz="2400" b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&lt;html …&gt;</a:t>
            </a:r>
            <a:endParaRPr lang="en-US" sz="24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>
              <a:buNone/>
            </a:pPr>
            <a:endParaRPr lang="en-US" sz="20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>
              <a:buNone/>
            </a:pPr>
            <a:endParaRPr lang="en-US" sz="20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&lt;/html&gt;</a:t>
            </a:r>
            <a:endParaRPr lang="en-US" sz="2400" b="1" dirty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0" y="2962870"/>
            <a:ext cx="5715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HEAD</a:t>
            </a:r>
            <a:r>
              <a:rPr lang="en-US" dirty="0" smtClean="0"/>
              <a:t> contains setup information for the browser &amp; the web page, e.g., the title for the browser window, style definitions, JavaScript code, …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048000" y="4611469"/>
            <a:ext cx="57150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BODY</a:t>
            </a:r>
            <a:r>
              <a:rPr lang="en-US" dirty="0" smtClean="0"/>
              <a:t> contains the actual content to be displayed in the Web page</a:t>
            </a:r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sz="2400" dirty="0" smtClean="0"/>
              <a:t>There are three versions of XHTML </a:t>
            </a:r>
          </a:p>
          <a:p>
            <a:pPr lvl="1"/>
            <a:r>
              <a:rPr lang="en-US" sz="2000" dirty="0" smtClean="0"/>
              <a:t>Transitional XHTML: Deprecated features from HTML 4.1 are allowed</a:t>
            </a:r>
          </a:p>
          <a:p>
            <a:pPr lvl="1"/>
            <a:r>
              <a:rPr lang="en-US" sz="2000" dirty="0" smtClean="0"/>
              <a:t>Strict XHTML: No deprecated feature from HTML is allowed</a:t>
            </a:r>
          </a:p>
          <a:p>
            <a:pPr lvl="1"/>
            <a:r>
              <a:rPr lang="en-US" sz="2000" dirty="0" smtClean="0"/>
              <a:t>Frameset XHTML: Mainly used to create frames </a:t>
            </a:r>
          </a:p>
          <a:p>
            <a:r>
              <a:rPr lang="en-US" sz="2400" dirty="0" smtClean="0"/>
              <a:t>The version is specified by </a:t>
            </a:r>
            <a:r>
              <a:rPr lang="en-US" sz="2400" dirty="0" err="1" smtClean="0"/>
              <a:t>DOCTYPE</a:t>
            </a:r>
            <a:r>
              <a:rPr lang="en-US" sz="2400" dirty="0" smtClean="0"/>
              <a:t> tag </a:t>
            </a:r>
          </a:p>
          <a:p>
            <a:pPr lvl="1"/>
            <a:r>
              <a:rPr lang="en-US" sz="2000" dirty="0" smtClean="0"/>
              <a:t>For transitional: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&lt;!DOCTYPE html PUBLIC "-//W3C//DTD XHTML 1.0 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Transitional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//EN" "http://www.w3.org/TR/xhtml1/DTD/xhtml1-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transitional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.dtd"&gt;</a:t>
            </a:r>
          </a:p>
          <a:p>
            <a:pPr lvl="1"/>
            <a:r>
              <a:rPr lang="en-US" sz="2000" dirty="0" smtClean="0"/>
              <a:t>For strict: 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&lt;!DOCTYPE html PUBLIC "-//W3C//DTD XHTML 1.0 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Strict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//EN" "http://www.w3.org/TR/xhtml1/DTD/xhtml1-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strict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.dtd"&gt;</a:t>
            </a:r>
          </a:p>
          <a:p>
            <a:pPr lvl="1"/>
            <a:r>
              <a:rPr lang="en-US" sz="2000" dirty="0" smtClean="0"/>
              <a:t>For frameset: 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&lt;!DOCTYPE html PUBLIC "-//W3C//DTD XHTML 1.0 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Frameset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//EN" "http://www.w3.org/TR/xhtml1/DTD/xhtml1-</a:t>
            </a:r>
            <a:r>
              <a:rPr lang="en-US" sz="18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frameset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.dtd"&gt;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6400800"/>
            <a:ext cx="73914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Status of tags in DOCTYPEs: </a:t>
            </a:r>
            <a:r>
              <a:rPr lang="en-US" sz="1600" dirty="0">
                <a:hlinkClick r:id="rId2"/>
              </a:rPr>
              <a:t>http://www.w3schools.com/tags/ref_html_dtd.asp</a:t>
            </a:r>
            <a:endParaRPr lang="en-US" sz="1600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XHTML Document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&lt;?xml version="1.0" encoding="utf-8"?&gt;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&lt;!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DOCTYPE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html PUBLIC "-//W3C//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DTD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XHTML 1.0 Strict//EN" "http://www.w3.org/TR/xhtml1/DTD/xhtml1-strict.dtd"&gt;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&lt;html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xmlns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="http://www.w3.org/1999/xhtml"&gt;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&lt;head&gt; 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&lt;meta http-equiv="Content-Type" content="text-html;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charset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=utf-8" /&gt;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&lt;title&gt; ... &lt;/title&gt;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&lt;/head&gt;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&lt;body&gt; ... &lt;/body&gt;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&lt;/html&gt;</a:t>
            </a:r>
          </a:p>
          <a:p>
            <a:pPr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rgbClr val="C2C2C2"/>
                </a:solidFill>
              </a:rPr>
              <a:t>Introduction</a:t>
            </a:r>
          </a:p>
          <a:p>
            <a:r>
              <a:rPr lang="en-US" sz="2800" dirty="0" smtClean="0">
                <a:solidFill>
                  <a:srgbClr val="C2C2C2"/>
                </a:solidFill>
              </a:rPr>
              <a:t>XHTML</a:t>
            </a:r>
          </a:p>
          <a:p>
            <a:r>
              <a:rPr lang="en-US" sz="2800" dirty="0" smtClean="0"/>
              <a:t>Body</a:t>
            </a:r>
          </a:p>
          <a:p>
            <a:pPr lvl="1"/>
            <a:r>
              <a:rPr lang="en-US" sz="2400" dirty="0" smtClean="0"/>
              <a:t>Heading &amp; Paragraph</a:t>
            </a:r>
          </a:p>
          <a:p>
            <a:pPr lvl="1"/>
            <a:r>
              <a:rPr lang="en-US" sz="2400" dirty="0" smtClean="0"/>
              <a:t>Lists &amp; Definitions</a:t>
            </a:r>
          </a:p>
          <a:p>
            <a:pPr lvl="1"/>
            <a:r>
              <a:rPr lang="en-US" sz="2400" dirty="0" smtClean="0"/>
              <a:t>Images &amp; Tables</a:t>
            </a:r>
          </a:p>
          <a:p>
            <a:pPr lvl="1"/>
            <a:r>
              <a:rPr lang="en-US" sz="2400" dirty="0" smtClean="0"/>
              <a:t>Links</a:t>
            </a:r>
          </a:p>
          <a:p>
            <a:pPr lvl="1"/>
            <a:r>
              <a:rPr lang="en-US" sz="2400" dirty="0" smtClean="0"/>
              <a:t>Forms</a:t>
            </a:r>
          </a:p>
          <a:p>
            <a:r>
              <a:rPr lang="en-US" sz="2800" dirty="0" smtClean="0">
                <a:solidFill>
                  <a:srgbClr val="C2C2C2"/>
                </a:solidFill>
              </a:rPr>
              <a:t>Head</a:t>
            </a:r>
          </a:p>
          <a:p>
            <a:r>
              <a:rPr lang="en-US" sz="2800" dirty="0" smtClean="0">
                <a:solidFill>
                  <a:srgbClr val="C2C2C2"/>
                </a:solidFill>
              </a:rPr>
              <a:t>XHTML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&lt;body&gt; &lt;/body&gt;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9144000" cy="5181600"/>
          </a:xfrm>
        </p:spPr>
        <p:txBody>
          <a:bodyPr/>
          <a:lstStyle/>
          <a:p>
            <a:r>
              <a:rPr lang="en-US" sz="3000" dirty="0" smtClean="0"/>
              <a:t>The content of the document to be shared on Internet </a:t>
            </a:r>
            <a:endParaRPr lang="en-US" sz="30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400" dirty="0" smtClean="0"/>
              <a:t>To display for user in web browser</a:t>
            </a:r>
          </a:p>
          <a:p>
            <a:pPr lvl="1"/>
            <a:r>
              <a:rPr lang="en-US" sz="2400" dirty="0" smtClean="0"/>
              <a:t>To be searched and ranked by search engines </a:t>
            </a:r>
          </a:p>
          <a:p>
            <a:r>
              <a:rPr lang="en-US" sz="3000" dirty="0" smtClean="0"/>
              <a:t>Which contents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General contents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Text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Image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Table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Web contents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Links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Forms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Multimedia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Default rules:</a:t>
            </a:r>
          </a:p>
          <a:p>
            <a:r>
              <a:rPr lang="en-US" dirty="0" smtClean="0"/>
              <a:t>1) Layout of the text is left to the browser</a:t>
            </a:r>
          </a:p>
          <a:p>
            <a:r>
              <a:rPr lang="en-US" dirty="0" smtClean="0"/>
              <a:t>2) Every sequence of whitespace is interpreted as a single space</a:t>
            </a:r>
          </a:p>
          <a:p>
            <a:r>
              <a:rPr lang="en-US" dirty="0" smtClean="0"/>
              <a:t>3) Browser automatically wraps the text to fit the window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dirty="0" smtClean="0"/>
              <a:t>Headings</a:t>
            </a:r>
          </a:p>
          <a:p>
            <a:r>
              <a:rPr lang="en-US" dirty="0" smtClean="0"/>
              <a:t>Paragraphs</a:t>
            </a:r>
          </a:p>
          <a:p>
            <a:r>
              <a:rPr lang="en-US" dirty="0" smtClean="0"/>
              <a:t>Lists</a:t>
            </a:r>
          </a:p>
          <a:p>
            <a:r>
              <a:rPr lang="en-US" dirty="0" smtClean="0"/>
              <a:t>Definitions</a:t>
            </a:r>
          </a:p>
          <a:p>
            <a:r>
              <a:rPr lang="en-US" dirty="0" smtClean="0"/>
              <a:t>Spaces</a:t>
            </a:r>
          </a:p>
          <a:p>
            <a:r>
              <a:rPr lang="en-US" dirty="0" smtClean="0"/>
              <a:t>Line break</a:t>
            </a:r>
          </a:p>
          <a:p>
            <a:r>
              <a:rPr lang="en-US" dirty="0" smtClean="0"/>
              <a:t>Text presentation (italic) &amp; Meaning (strong)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Headings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XHTML offers 6 levels of heading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&lt;h1&gt; &lt;h2&gt; … &lt;h6&gt;</a:t>
            </a:r>
          </a:p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&lt;h1&gt;</a:t>
            </a:r>
            <a:r>
              <a:rPr lang="en-US" dirty="0" smtClean="0"/>
              <a:t> is the largest heading</a:t>
            </a:r>
          </a:p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&lt;h6&gt;</a:t>
            </a:r>
            <a:r>
              <a:rPr lang="en-US" dirty="0" smtClean="0"/>
              <a:t> is the smallest heading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2400" dirty="0" smtClean="0">
                <a:latin typeface="+mj-lt"/>
                <a:cs typeface="Courier New" pitchFamily="49" charset="0"/>
              </a:rPr>
              <a:t>Normal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&lt;h1&gt;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smtClean="0">
                <a:latin typeface="+mj-lt"/>
                <a:cs typeface="Courier New" pitchFamily="49" charset="0"/>
              </a:rPr>
              <a:t>Heading 1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&lt;/h1&gt;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&lt;h3&gt; </a:t>
            </a:r>
            <a:r>
              <a:rPr lang="en-US" sz="2400" dirty="0" smtClean="0">
                <a:latin typeface="+mj-lt"/>
                <a:cs typeface="Courier New" pitchFamily="49" charset="0"/>
              </a:rPr>
              <a:t>Heading 3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&lt;/h3&gt;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&lt;h6&gt; </a:t>
            </a:r>
            <a:r>
              <a:rPr lang="en-US" sz="2400" dirty="0" smtClean="0">
                <a:latin typeface="+mj-lt"/>
                <a:cs typeface="Courier New" pitchFamily="49" charset="0"/>
              </a:rPr>
              <a:t>Heading 6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&lt;/h6&gt;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15075" y="3673366"/>
            <a:ext cx="252412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Paragraphs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&lt;p&gt; &lt;/p&gt;</a:t>
            </a:r>
            <a:r>
              <a:rPr lang="en-US" sz="2800" dirty="0" smtClean="0"/>
              <a:t> is to create paragraphs </a:t>
            </a:r>
          </a:p>
          <a:p>
            <a:pPr lvl="1"/>
            <a:r>
              <a:rPr lang="en-US" sz="2400" dirty="0" smtClean="0"/>
              <a:t>Create a line break and vertical spaces</a:t>
            </a:r>
          </a:p>
          <a:p>
            <a:r>
              <a:rPr lang="en-US" sz="2800" dirty="0" smtClean="0"/>
              <a:t>Attribute: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align</a:t>
            </a:r>
            <a:r>
              <a:rPr lang="en-US" sz="2800" dirty="0" smtClean="0"/>
              <a:t>: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en-US" sz="2800" dirty="0" smtClean="0"/>
              <a:t>,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right</a:t>
            </a:r>
            <a:r>
              <a:rPr lang="en-US" sz="2800" dirty="0" smtClean="0"/>
              <a:t>,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center</a:t>
            </a:r>
          </a:p>
          <a:p>
            <a:pPr>
              <a:buNone/>
            </a:pPr>
            <a:endParaRPr lang="en-US" sz="1400" b="1" dirty="0" smtClean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en-US" sz="2000" dirty="0" smtClean="0"/>
              <a:t>This is the first paragraph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en-US" sz="2000" dirty="0" smtClean="0"/>
              <a:t>This</a:t>
            </a:r>
          </a:p>
          <a:p>
            <a:pPr>
              <a:buNone/>
            </a:pPr>
            <a:r>
              <a:rPr lang="en-US" sz="2000" dirty="0" smtClean="0"/>
              <a:t>is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the 	   second paragraph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&lt;/p&gt;&lt;p&gt;</a:t>
            </a:r>
            <a:r>
              <a:rPr lang="en-US" sz="2000" dirty="0" smtClean="0"/>
              <a:t>The last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paragraph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&lt;/p&gt;</a:t>
            </a:r>
            <a:endParaRPr lang="en-US" sz="2000" b="1" dirty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5999" y="3810000"/>
            <a:ext cx="2838877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Lists &amp; 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dirty="0" smtClean="0"/>
              <a:t>Unordered list: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dirty="0" smtClean="0"/>
              <a:t>Ordered list: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dirty="0" smtClean="0"/>
          </a:p>
          <a:p>
            <a:r>
              <a:rPr lang="en-US" dirty="0" smtClean="0"/>
              <a:t>Definition list: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&lt;dl&gt; &lt;/dl&gt;</a:t>
            </a:r>
            <a:endParaRPr lang="en-US" dirty="0" smtClean="0"/>
          </a:p>
          <a:p>
            <a:r>
              <a:rPr lang="en-US" dirty="0" smtClean="0"/>
              <a:t>List elements:</a:t>
            </a:r>
          </a:p>
          <a:p>
            <a:pPr lvl="1"/>
            <a:r>
              <a:rPr lang="en-US" dirty="0" smtClean="0"/>
              <a:t>Unordered &amp; Ordered list: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dirty="0" smtClean="0"/>
          </a:p>
          <a:p>
            <a:pPr lvl="1"/>
            <a:r>
              <a:rPr lang="en-US" dirty="0" smtClean="0"/>
              <a:t>Definition list: </a:t>
            </a:r>
          </a:p>
          <a:p>
            <a:pPr lvl="2"/>
            <a:r>
              <a:rPr lang="en-US" sz="2800" dirty="0" smtClean="0"/>
              <a:t>Entity: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dt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sz="2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dt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2800" dirty="0" smtClean="0"/>
              <a:t>Definition: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sz="2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sz="2800" dirty="0" smtClean="0"/>
          </a:p>
          <a:p>
            <a:r>
              <a:rPr lang="en-US" dirty="0" smtClean="0"/>
              <a:t>Lists can be nested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Lists &amp; Definitions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Unordered list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&lt;/h3&gt;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Item 1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Item 2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Nested 1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&lt;h3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&gt;Ordered list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&lt;/h3&gt;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&gt; Item 1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Nested 1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Nested 2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Item 2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&lt;h3&gt;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Definition list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&lt;/h3&gt;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&lt;dl&gt;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Item 1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This def. of item 1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Item 2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This def. of item 2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&lt;/dl&gt;</a:t>
            </a:r>
          </a:p>
          <a:p>
            <a:pPr>
              <a:spcBef>
                <a:spcPts val="0"/>
              </a:spcBef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1143000"/>
            <a:ext cx="2543175" cy="4924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Lists &amp; Definitions (cont’d)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some </a:t>
            </a:r>
            <a:r>
              <a:rPr lang="en-US" dirty="0" smtClean="0">
                <a:solidFill>
                  <a:srgbClr val="CC0000"/>
                </a:solidFill>
              </a:rPr>
              <a:t>deprecated</a:t>
            </a:r>
            <a:r>
              <a:rPr lang="en-US" dirty="0" smtClean="0"/>
              <a:t> attributes to control list appearance</a:t>
            </a:r>
          </a:p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type="</a:t>
            </a:r>
            <a:r>
              <a:rPr lang="en-US" dirty="0" smtClean="0">
                <a:latin typeface="+mj-lt"/>
                <a:cs typeface="Courier New" pitchFamily="49" charset="0"/>
              </a:rPr>
              <a:t>shape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 lvl="1"/>
            <a:r>
              <a:rPr lang="en-US" dirty="0" smtClean="0"/>
              <a:t>Shape: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square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circle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disc</a:t>
            </a:r>
            <a:r>
              <a:rPr lang="en-US" dirty="0" smtClean="0"/>
              <a:t> </a:t>
            </a:r>
          </a:p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type="</a:t>
            </a:r>
            <a:r>
              <a:rPr lang="en-US" dirty="0" smtClean="0">
                <a:cs typeface="Courier New" pitchFamily="49" charset="0"/>
              </a:rPr>
              <a:t>format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start="</a:t>
            </a:r>
            <a:r>
              <a:rPr lang="en-US" dirty="0" smtClean="0">
                <a:cs typeface="Courier New" pitchFamily="49" charset="0"/>
              </a:rPr>
              <a:t>value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 lvl="1"/>
            <a:r>
              <a:rPr lang="en-US" dirty="0" smtClean="0"/>
              <a:t>Format: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dirty="0" smtClean="0"/>
              <a:t> (number)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&amp; I </a:t>
            </a:r>
            <a:r>
              <a:rPr lang="en-US" dirty="0" smtClean="0"/>
              <a:t>(Roman),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 &amp; A </a:t>
            </a:r>
            <a:r>
              <a:rPr lang="en-US" dirty="0" smtClean="0"/>
              <a:t>(Letter)</a:t>
            </a:r>
          </a:p>
          <a:p>
            <a:pPr lvl="1"/>
            <a:r>
              <a:rPr lang="en-US" dirty="0" smtClean="0"/>
              <a:t>Value: a number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Line break &amp; 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700"/>
              </a:spcBef>
            </a:pPr>
            <a:r>
              <a:rPr lang="en-US" sz="2600" dirty="0" smtClean="0"/>
              <a:t>Remark: By default line break and spaces are ignored</a:t>
            </a:r>
          </a:p>
          <a:p>
            <a:pPr>
              <a:spcBef>
                <a:spcPts val="700"/>
              </a:spcBef>
            </a:pPr>
            <a:r>
              <a:rPr lang="en-US" sz="2600" dirty="0"/>
              <a:t>To add line break: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700"/>
              </a:spcBef>
            </a:pPr>
            <a:r>
              <a:rPr lang="en-US" sz="2600" dirty="0"/>
              <a:t>To add space: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700"/>
              </a:spcBef>
            </a:pPr>
            <a:r>
              <a:rPr lang="en-US" sz="2600" dirty="0"/>
              <a:t>Preserving white spaces: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&lt;pre&gt;  &lt;/pre&gt;</a:t>
            </a:r>
          </a:p>
          <a:p>
            <a:pPr>
              <a:spcBef>
                <a:spcPts val="0"/>
              </a:spcBef>
              <a:buNone/>
            </a:pPr>
            <a:endParaRPr lang="en-US" sz="2000" b="1" dirty="0" smtClean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/>
              <a:t>This line is broken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/&gt;</a:t>
            </a:r>
            <a:r>
              <a:rPr lang="en-US" sz="2000" dirty="0" smtClean="0"/>
              <a:t>into two lines.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/&gt;&lt;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0"/>
              </a:spcBef>
              <a:buNone/>
            </a:pPr>
            <a:r>
              <a:rPr lang="en-US" sz="2000" dirty="0" smtClean="0"/>
              <a:t>This    line 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;&amp;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2000" dirty="0" smtClean="0"/>
              <a:t> contains 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dirty="0" smtClean="0"/>
              <a:t>multiple 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dirty="0" smtClean="0"/>
              <a:t>spaces.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4038600"/>
            <a:ext cx="37909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Presentation &amp; Meaning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382000" cy="5181600"/>
          </a:xfrm>
        </p:spPr>
        <p:txBody>
          <a:bodyPr/>
          <a:lstStyle/>
          <a:p>
            <a:r>
              <a:rPr lang="en-US" dirty="0" smtClean="0"/>
              <a:t>Physical appearance for web browsers</a:t>
            </a:r>
          </a:p>
          <a:p>
            <a:pPr lvl="1"/>
            <a:r>
              <a:rPr lang="en-US" dirty="0" smtClean="0"/>
              <a:t>Bold, Italic, Underline, Superscript, Fonts, size, color, …</a:t>
            </a:r>
          </a:p>
          <a:p>
            <a:pPr lvl="1"/>
            <a:r>
              <a:rPr lang="en-US" dirty="0" smtClean="0"/>
              <a:t>In older versions, controlled by HTML tags</a:t>
            </a:r>
          </a:p>
          <a:p>
            <a:pPr lvl="2"/>
            <a:r>
              <a:rPr lang="en-US" dirty="0" smtClean="0"/>
              <a:t>In XHTML, these are deprecated</a:t>
            </a:r>
          </a:p>
          <a:p>
            <a:pPr lvl="3"/>
            <a:r>
              <a:rPr lang="en-US" dirty="0" smtClean="0"/>
              <a:t>Is controlled by CSS</a:t>
            </a:r>
          </a:p>
          <a:p>
            <a:pPr lvl="3"/>
            <a:r>
              <a:rPr lang="en-US" dirty="0" smtClean="0"/>
              <a:t>We will see later</a:t>
            </a:r>
          </a:p>
          <a:p>
            <a:r>
              <a:rPr lang="en-US" dirty="0" smtClean="0"/>
              <a:t>Logical meaning for search engines</a:t>
            </a:r>
          </a:p>
          <a:p>
            <a:pPr lvl="1"/>
            <a:r>
              <a:rPr lang="en-US" dirty="0" smtClean="0"/>
              <a:t>Emphasize, Code, Variable, Citation, …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Physical Appearance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Normal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Bold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&lt;/b&gt;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Italic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&lt;u&gt;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Underline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&lt;/u&gt;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Strikethrough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&lt;/s&gt;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Teletype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Normal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&lt;sup&gt;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Superscript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&lt;/sup&gt;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Normal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&lt;sub&gt;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Subscript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&lt;/sub&gt;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&lt;big&gt;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Big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&lt;/big&gt;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&lt;small&gt;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Small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&lt;/small&gt;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&lt;hr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&lt;u&gt; 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Test1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&lt;/u&gt; 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&lt;/b&gt;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8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&lt;big&gt; &lt;big&gt; &lt;big&gt; &lt;big&gt;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Test2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&lt;/big&gt; &lt;/big&gt; &lt;/big&gt; &lt;/big&gt; 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600"/>
              </a:spcBef>
              <a:buNone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2250" y="1085850"/>
            <a:ext cx="211455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Text: Logical Meaning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 smtClean="0"/>
              <a:t>Mainly used in automatic processing of web page </a:t>
            </a:r>
          </a:p>
          <a:p>
            <a:pPr lvl="1"/>
            <a:r>
              <a:rPr lang="en-US" sz="2400" dirty="0" smtClean="0"/>
              <a:t>Search engines</a:t>
            </a:r>
          </a:p>
          <a:p>
            <a:r>
              <a:rPr lang="en-US" sz="3000" dirty="0" smtClean="0"/>
              <a:t>Appearances are similar to some physical tags</a:t>
            </a:r>
          </a:p>
          <a:p>
            <a:pPr lvl="1"/>
            <a:r>
              <a:rPr lang="en-US" sz="2400" dirty="0" smtClean="0"/>
              <a:t>E.g.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 is like to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sz="20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en-US" sz="1400" dirty="0" smtClean="0"/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dirty="0" smtClean="0">
                <a:latin typeface="+mj-lt"/>
                <a:cs typeface="Courier New" pitchFamily="49" charset="0"/>
              </a:rPr>
              <a:t>Emphasize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&lt;strong&gt; </a:t>
            </a:r>
            <a:r>
              <a:rPr lang="en-US" sz="1700" dirty="0" smtClean="0">
                <a:latin typeface="+mj-lt"/>
                <a:cs typeface="Courier New" pitchFamily="49" charset="0"/>
              </a:rPr>
              <a:t>Strong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&lt;/strong&gt; 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blockquote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dirty="0" err="1" smtClean="0">
                <a:latin typeface="+mj-lt"/>
                <a:cs typeface="Courier New" pitchFamily="49" charset="0"/>
              </a:rPr>
              <a:t>blockquote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&lt;/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blockquote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&lt;cite&gt;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dirty="0" smtClean="0">
                <a:latin typeface="+mj-lt"/>
                <a:cs typeface="Courier New" pitchFamily="49" charset="0"/>
              </a:rPr>
              <a:t>cite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&lt;/cite&gt; 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abbr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title="</a:t>
            </a:r>
            <a:r>
              <a:rPr lang="en-US" sz="1700" dirty="0" smtClean="0">
                <a:latin typeface="+mj-lt"/>
                <a:cs typeface="Courier New" pitchFamily="49" charset="0"/>
              </a:rPr>
              <a:t>Abbreviation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 </a:t>
            </a:r>
            <a:r>
              <a:rPr lang="en-US" sz="1700" dirty="0" err="1" smtClean="0">
                <a:latin typeface="+mj-lt"/>
                <a:cs typeface="Courier New" pitchFamily="49" charset="0"/>
              </a:rPr>
              <a:t>abbr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abbr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 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&lt;code&gt; </a:t>
            </a:r>
            <a:r>
              <a:rPr lang="en-US" sz="1700" dirty="0" smtClean="0">
                <a:latin typeface="+mj-lt"/>
                <a:cs typeface="Courier New" pitchFamily="49" charset="0"/>
              </a:rPr>
              <a:t>code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&lt;/code&gt; 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1700" dirty="0" err="1" smtClean="0">
                <a:latin typeface="+mj-lt"/>
                <a:cs typeface="Courier New" pitchFamily="49" charset="0"/>
              </a:rPr>
              <a:t>var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&gt;, &lt;code&gt;</a:t>
            </a:r>
            <a:r>
              <a:rPr lang="en-US" sz="1700" dirty="0" err="1" smtClean="0">
                <a:latin typeface="+mj-lt"/>
                <a:cs typeface="Courier New" pitchFamily="49" charset="0"/>
              </a:rPr>
              <a:t>int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700" dirty="0" err="1" smtClean="0">
                <a:latin typeface="+mj-lt"/>
                <a:cs typeface="Courier New" pitchFamily="49" charset="0"/>
              </a:rPr>
              <a:t>var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700" dirty="0" smtClean="0">
                <a:latin typeface="+mj-lt"/>
                <a:cs typeface="Courier New" pitchFamily="49" charset="0"/>
              </a:rPr>
              <a:t> ;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&lt;/code&gt;</a:t>
            </a:r>
          </a:p>
          <a:p>
            <a:pPr>
              <a:buNone/>
            </a:pP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2638425"/>
            <a:ext cx="2209800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/>
              <a:t>Images are included by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400" dirty="0" smtClean="0">
                <a:latin typeface="+mj-lt"/>
                <a:cs typeface="Courier New" pitchFamily="49" charset="0"/>
              </a:rPr>
              <a:t>URL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alt="</a:t>
            </a:r>
            <a:r>
              <a:rPr lang="en-US" sz="2400" dirty="0" smtClean="0">
                <a:latin typeface="+mj-lt"/>
                <a:cs typeface="Courier New" pitchFamily="49" charset="0"/>
              </a:rPr>
              <a:t>text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height="</a:t>
            </a:r>
            <a:r>
              <a:rPr lang="en-US" sz="2400" dirty="0" smtClean="0">
                <a:latin typeface="+mj-lt"/>
                <a:cs typeface="Courier New" pitchFamily="49" charset="0"/>
              </a:rPr>
              <a:t>number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width="</a:t>
            </a:r>
            <a:r>
              <a:rPr lang="en-US" sz="2400" dirty="0" smtClean="0">
                <a:latin typeface="+mj-lt"/>
                <a:cs typeface="Courier New" pitchFamily="49" charset="0"/>
              </a:rPr>
              <a:t>number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align="</a:t>
            </a:r>
            <a:r>
              <a:rPr lang="en-US" sz="2400" dirty="0" smtClean="0">
                <a:latin typeface="+mj-lt"/>
                <a:cs typeface="Courier New" pitchFamily="49" charset="0"/>
              </a:rPr>
              <a:t>alignment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"/&gt;</a:t>
            </a:r>
          </a:p>
          <a:p>
            <a:r>
              <a:rPr lang="en-US" sz="32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3200" dirty="0" smtClean="0"/>
              <a:t>: address of file (local or remote) </a:t>
            </a:r>
          </a:p>
          <a:p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alt</a:t>
            </a:r>
            <a:r>
              <a:rPr lang="en-US" sz="3200" dirty="0" smtClean="0"/>
              <a:t>: alternative message shown if image cannot be displayed</a:t>
            </a:r>
          </a:p>
          <a:p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align</a:t>
            </a:r>
            <a:r>
              <a:rPr lang="en-US" sz="3200" dirty="0" smtClean="0"/>
              <a:t>: alignment of image with respect to text line (deprecated)</a:t>
            </a:r>
          </a:p>
          <a:p>
            <a:r>
              <a:rPr lang="en-US" sz="3200" dirty="0" smtClean="0"/>
              <a:t>There is no caption for images!!!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8534400" cy="651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Tables are created by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&lt;table&gt; &lt;/table&gt;</a:t>
            </a:r>
          </a:p>
          <a:p>
            <a:r>
              <a:rPr lang="en-US" sz="2600" dirty="0"/>
              <a:t>Each row is created by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2600" dirty="0"/>
              <a:t>Each column inside a row is created by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&lt;td&gt; &lt;/td&gt;</a:t>
            </a:r>
          </a:p>
          <a:p>
            <a:pPr>
              <a:buNone/>
            </a:pPr>
            <a:endParaRPr lang="en-US" sz="20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&lt;table border="1"&gt;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&lt;td&gt;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Row 1, Column 1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&lt;td&gt;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Row 1, Column 2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&lt;td&gt; </a:t>
            </a:r>
            <a:r>
              <a:rPr lang="en-US" sz="1800" dirty="0" smtClean="0">
                <a:latin typeface="+mj-lt"/>
                <a:cs typeface="Courier New" pitchFamily="49" charset="0"/>
              </a:rPr>
              <a:t>Row 2, Column 1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&lt;td&gt;</a:t>
            </a:r>
            <a:r>
              <a:rPr lang="en-US" sz="18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Row 2, Column 2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3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&lt;/table&gt;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810000"/>
            <a:ext cx="3800475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dirty="0" smtClean="0"/>
              <a:t>Caption is by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&lt;caption&gt; &lt;/caption&gt;</a:t>
            </a:r>
          </a:p>
          <a:p>
            <a:r>
              <a:rPr lang="en-US" dirty="0" smtClean="0"/>
              <a:t>Heading of a column is by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dirty="0" smtClean="0"/>
              <a:t>Table attributes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align</a:t>
            </a:r>
            <a:r>
              <a:rPr lang="en-US" sz="2400" dirty="0" smtClean="0"/>
              <a:t>: table alignment </a:t>
            </a:r>
            <a:endParaRPr lang="en-US" sz="24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frame</a:t>
            </a:r>
            <a:r>
              <a:rPr lang="en-US" sz="2400" dirty="0" smtClean="0"/>
              <a:t>: type of border, “box”, “above”, “blow”, …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border</a:t>
            </a:r>
            <a:r>
              <a:rPr lang="en-US" sz="2400" dirty="0" smtClean="0"/>
              <a:t>: border width</a:t>
            </a:r>
          </a:p>
          <a:p>
            <a:pPr lvl="1"/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bgcolor</a:t>
            </a:r>
            <a:r>
              <a:rPr lang="en-US" sz="2400" dirty="0" smtClean="0"/>
              <a:t>: background color, “red”, “green”, …</a:t>
            </a:r>
          </a:p>
          <a:p>
            <a:pPr lvl="1"/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cellpading</a:t>
            </a:r>
            <a:r>
              <a:rPr lang="en-US" sz="2400" dirty="0" smtClean="0"/>
              <a:t>: extra space in each cell</a:t>
            </a:r>
          </a:p>
          <a:p>
            <a:pPr lvl="1"/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cellspacing</a:t>
            </a:r>
            <a:r>
              <a:rPr lang="en-US" sz="2400" dirty="0" smtClean="0"/>
              <a:t>: vertical space between rows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en-US" sz="2400" dirty="0" smtClean="0"/>
              <a:t>: absolute or % of window width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&lt;table align="</a:t>
            </a:r>
            <a:r>
              <a:rPr lang="en-US" sz="1800" dirty="0" smtClean="0">
                <a:latin typeface="+mj-lt"/>
                <a:cs typeface="Courier New" pitchFamily="49" charset="0"/>
              </a:rPr>
              <a:t>center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frame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800" dirty="0" smtClean="0">
                <a:latin typeface="+mj-lt"/>
                <a:cs typeface="Courier New" pitchFamily="49" charset="0"/>
              </a:rPr>
              <a:t>box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border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800" dirty="0" smtClean="0">
                <a:latin typeface="+mj-lt"/>
                <a:cs typeface="Courier New" pitchFamily="49" charset="0"/>
              </a:rPr>
              <a:t>10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cellspacing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800" dirty="0" smtClean="0">
                <a:latin typeface="+mj-lt"/>
                <a:cs typeface="Courier New" pitchFamily="49" charset="0"/>
              </a:rPr>
              <a:t>30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800" dirty="0" smtClean="0">
                <a:latin typeface="+mj-lt"/>
                <a:cs typeface="Courier New" pitchFamily="49" charset="0"/>
              </a:rPr>
              <a:t>80%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1800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&lt;caption&gt;</a:t>
            </a:r>
            <a:r>
              <a:rPr lang="en-US" sz="1800" dirty="0" smtClean="0">
                <a:latin typeface="+mj-lt"/>
                <a:cs typeface="Courier New" pitchFamily="49" charset="0"/>
              </a:rPr>
              <a:t>Testing table attributes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&lt;/caption&gt;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800" dirty="0" smtClean="0">
                <a:latin typeface="+mj-lt"/>
                <a:cs typeface="Courier New" pitchFamily="49" charset="0"/>
              </a:rPr>
              <a:t>Heading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Column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1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800" dirty="0" smtClean="0">
                <a:latin typeface="+mj-lt"/>
                <a:cs typeface="Courier New" pitchFamily="49" charset="0"/>
              </a:rPr>
              <a:t>Heading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Column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2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800" dirty="0" smtClean="0">
                <a:latin typeface="+mj-lt"/>
                <a:cs typeface="Courier New" pitchFamily="49" charset="0"/>
              </a:rPr>
              <a:t>Heading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Column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 smtClean="0">
                <a:latin typeface="+mj-lt"/>
                <a:cs typeface="Courier New" pitchFamily="49" charset="0"/>
              </a:rPr>
              <a:t>3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&lt;td&gt;</a:t>
            </a:r>
            <a:r>
              <a:rPr lang="en-US" sz="1800" dirty="0" smtClean="0">
                <a:latin typeface="+mj-lt"/>
                <a:cs typeface="Courier New" pitchFamily="49" charset="0"/>
              </a:rPr>
              <a:t>Row1, Column 1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 &lt;td&gt;</a:t>
            </a:r>
            <a:r>
              <a:rPr lang="en-US" sz="1800" dirty="0" smtClean="0">
                <a:latin typeface="+mj-lt"/>
                <a:cs typeface="Courier New" pitchFamily="49" charset="0"/>
              </a:rPr>
              <a:t>Row1, Column 2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&lt;td&gt;</a:t>
            </a:r>
            <a:r>
              <a:rPr lang="en-US" sz="1800" dirty="0" smtClean="0">
                <a:latin typeface="+mj-lt"/>
                <a:cs typeface="Courier New" pitchFamily="49" charset="0"/>
              </a:rPr>
              <a:t>Row1, Column 3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&lt;/td&gt;&lt;td&gt;</a:t>
            </a:r>
            <a:r>
              <a:rPr lang="en-US" sz="1800" dirty="0" smtClean="0">
                <a:latin typeface="+mj-lt"/>
                <a:cs typeface="Courier New" pitchFamily="49" charset="0"/>
              </a:rPr>
              <a:t>Row1, Column 4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&lt;td&gt;</a:t>
            </a:r>
            <a:r>
              <a:rPr lang="en-US" sz="1800" dirty="0" smtClean="0">
                <a:latin typeface="+mj-lt"/>
                <a:cs typeface="Courier New" pitchFamily="49" charset="0"/>
              </a:rPr>
              <a:t>Row2, Column 1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&lt;/td&gt;&lt;td&gt;&lt;/td&gt;&lt;td&gt;</a:t>
            </a:r>
            <a:r>
              <a:rPr lang="en-US" sz="1800" dirty="0" smtClean="0">
                <a:latin typeface="+mj-lt"/>
                <a:cs typeface="Courier New" pitchFamily="49" charset="0"/>
              </a:rPr>
              <a:t>Row2, Column 2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&lt;/td&gt;&lt;/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100"/>
              </a:spcBef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&lt;/table&gt;</a:t>
            </a:r>
          </a:p>
          <a:p>
            <a:pPr>
              <a:spcBef>
                <a:spcPts val="1100"/>
              </a:spcBef>
              <a:buNone/>
            </a:pPr>
            <a:endParaRPr lang="en-US" sz="18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100"/>
              </a:spcBef>
              <a:buNone/>
            </a:pPr>
            <a:endParaRPr lang="en-US" sz="18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752600"/>
            <a:ext cx="8319448" cy="4509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9525000" cy="5181600"/>
          </a:xfrm>
        </p:spPr>
        <p:txBody>
          <a:bodyPr/>
          <a:lstStyle/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 smtClean="0"/>
              <a:t> attributes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align</a:t>
            </a:r>
            <a:r>
              <a:rPr lang="en-US" dirty="0" smtClean="0"/>
              <a:t>: text align in row: "left", "right", "center"</a:t>
            </a:r>
          </a:p>
          <a:p>
            <a:pPr lvl="1"/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valign</a:t>
            </a:r>
            <a:r>
              <a:rPr lang="en-US" dirty="0" smtClean="0"/>
              <a:t>: text vertical align: "top", "middle", …</a:t>
            </a:r>
          </a:p>
          <a:p>
            <a:pPr lvl="1"/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bgcolor</a:t>
            </a:r>
            <a:r>
              <a:rPr lang="en-US" dirty="0" smtClean="0"/>
              <a:t>: Row background color</a:t>
            </a:r>
          </a:p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&lt;td&gt;</a:t>
            </a:r>
            <a:r>
              <a:rPr lang="en-US" dirty="0" smtClean="0"/>
              <a:t> or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 smtClean="0"/>
              <a:t>attributes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align</a:t>
            </a:r>
            <a:r>
              <a:rPr lang="en-US" dirty="0" smtClean="0"/>
              <a:t>, 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valign</a:t>
            </a:r>
            <a:r>
              <a:rPr lang="en-US" dirty="0" smtClean="0"/>
              <a:t>, 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bgcolor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height</a:t>
            </a:r>
            <a:r>
              <a:rPr lang="en-US" dirty="0" smtClean="0"/>
              <a:t> ,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width</a:t>
            </a:r>
            <a:endParaRPr lang="en-US" dirty="0" smtClean="0"/>
          </a:p>
          <a:p>
            <a:pPr lvl="1"/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colspan</a:t>
            </a:r>
            <a:r>
              <a:rPr lang="en-US" dirty="0" smtClean="0"/>
              <a:t>: Span multiple columns</a:t>
            </a:r>
          </a:p>
          <a:p>
            <a:pPr lvl="1"/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rowspan</a:t>
            </a:r>
            <a:r>
              <a:rPr lang="en-US" dirty="0" smtClean="0"/>
              <a:t>: Span multiple rows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839200" cy="5181600"/>
          </a:xfrm>
        </p:spPr>
        <p:txBody>
          <a:bodyPr/>
          <a:lstStyle/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&lt;table border="2"&gt;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Heading of column 1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Heading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of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column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1600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Heading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of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column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align="center"&gt;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Center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&lt;td&gt;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 &lt;td&gt;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 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&lt;td 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rowspan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="2"&gt;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3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align="left" 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bgcolor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="red"&gt;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Left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&lt;td 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valign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="bottom"&gt;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    &lt;td 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bgcolor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="blue"&gt;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align="right"&gt;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Right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th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&lt;td </a:t>
            </a:r>
            <a:r>
              <a:rPr lang="en-US" sz="16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height="50" width="300"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 &lt;td </a:t>
            </a:r>
            <a:r>
              <a:rPr lang="en-US" sz="1600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colspan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="2"&gt;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&lt;/td&gt;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2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&lt;/table&gt;</a:t>
            </a:r>
          </a:p>
          <a:p>
            <a:pPr>
              <a:spcBef>
                <a:spcPts val="200"/>
              </a:spcBef>
              <a:buNone/>
            </a:pPr>
            <a:endParaRPr lang="en-US" sz="1600" b="1" dirty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4025" y="2286000"/>
            <a:ext cx="345757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General Document Contents Summary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Text</a:t>
            </a:r>
          </a:p>
          <a:p>
            <a:pPr lvl="1"/>
            <a:r>
              <a:rPr lang="en-US" sz="2400" dirty="0" smtClean="0"/>
              <a:t>Headings: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&lt;h1&gt; … &lt;h6&gt;</a:t>
            </a:r>
          </a:p>
          <a:p>
            <a:pPr lvl="1"/>
            <a:r>
              <a:rPr lang="en-US" sz="2400" dirty="0" smtClean="0"/>
              <a:t>Paragraphs: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1"/>
            <a:r>
              <a:rPr lang="en-US" sz="2400" dirty="0" smtClean="0"/>
              <a:t>Lists: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r>
              <a:rPr lang="en-US" sz="2400" dirty="0" smtClean="0"/>
              <a:t>Definitions: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&lt;dl&gt; 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dt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 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dd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r>
              <a:rPr lang="en-US" sz="2400" dirty="0" smtClean="0"/>
              <a:t>Spaces &amp; Line break: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&amp;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nbsp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; 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 lvl="1"/>
            <a:r>
              <a:rPr lang="en-US" sz="2400" dirty="0" smtClean="0"/>
              <a:t>Text presentation (italic) &amp; Meaning (strong):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 &lt;b&gt; &lt;strong&gt; 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  …</a:t>
            </a:r>
          </a:p>
          <a:p>
            <a:r>
              <a:rPr lang="en-US" sz="2800" dirty="0" smtClean="0"/>
              <a:t>Image: </a:t>
            </a:r>
            <a:r>
              <a:rPr lang="en-US" sz="28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8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28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8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2800" dirty="0" smtClean="0"/>
              <a:t>Table: </a:t>
            </a:r>
            <a:r>
              <a:rPr lang="en-US" sz="28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&lt;table&gt; &lt;</a:t>
            </a:r>
            <a:r>
              <a:rPr lang="en-US" sz="28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28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 &lt;td&gt;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dirty="0" smtClean="0"/>
              <a:t>The most important feature of HTML</a:t>
            </a:r>
          </a:p>
          <a:p>
            <a:pPr lvl="1"/>
            <a:r>
              <a:rPr lang="en-US" dirty="0" smtClean="0"/>
              <a:t>Hyperlink (anchor) </a:t>
            </a:r>
            <a:r>
              <a:rPr lang="en-US" dirty="0" smtClean="0">
                <a:sym typeface="Wingdings" pitchFamily="2" charset="2"/>
              </a:rPr>
              <a:t> the Web</a:t>
            </a:r>
          </a:p>
          <a:p>
            <a:pPr>
              <a:spcBef>
                <a:spcPts val="400"/>
              </a:spcBef>
            </a:pP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&lt;a </a:t>
            </a:r>
            <a:r>
              <a:rPr lang="en-US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href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="URL"&gt;</a:t>
            </a:r>
            <a:r>
              <a:rPr lang="en-US" dirty="0" smtClean="0">
                <a:latin typeface="+mj-lt"/>
                <a:cs typeface="Courier New" pitchFamily="49" charset="0"/>
                <a:sym typeface="Wingdings" pitchFamily="2" charset="2"/>
              </a:rPr>
              <a:t>link name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&lt;/a&gt;</a:t>
            </a:r>
            <a:endParaRPr lang="en-US" b="1" dirty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400"/>
              </a:spcBef>
            </a:pPr>
            <a:r>
              <a:rPr lang="en-US" dirty="0" smtClean="0"/>
              <a:t>When </a:t>
            </a:r>
            <a:r>
              <a:rPr lang="en-US" dirty="0" smtClean="0">
                <a:solidFill>
                  <a:srgbClr val="C00000"/>
                </a:solidFill>
              </a:rPr>
              <a:t>scheme</a:t>
            </a:r>
            <a:r>
              <a:rPr lang="en-US" dirty="0" smtClean="0"/>
              <a:t> is not give in the URL &amp;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base</a:t>
            </a:r>
            <a:r>
              <a:rPr lang="en-US" dirty="0" smtClean="0">
                <a:sym typeface="Wingdings" pitchFamily="2" charset="2"/>
              </a:rPr>
              <a:t> is not set in </a:t>
            </a:r>
            <a:r>
              <a:rPr lang="en-US" b="1" dirty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&lt;head</a:t>
            </a:r>
            <a:r>
              <a:rPr lang="en-US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&gt;</a:t>
            </a:r>
            <a:r>
              <a:rPr lang="en-US" dirty="0" smtClean="0"/>
              <a:t>, it is assumed as a file in </a:t>
            </a:r>
            <a:r>
              <a:rPr lang="en-US" i="1" dirty="0" smtClean="0"/>
              <a:t>current domain &amp; path</a:t>
            </a:r>
          </a:p>
          <a:p>
            <a:pPr lvl="1">
              <a:spcBef>
                <a:spcPts val="300"/>
              </a:spcBef>
            </a:pPr>
            <a:r>
              <a:rPr lang="en-US" sz="2400" dirty="0" err="1" smtClean="0">
                <a:sym typeface="Wingdings" pitchFamily="2" charset="2"/>
              </a:rPr>
              <a:t>href</a:t>
            </a:r>
            <a:r>
              <a:rPr lang="en-US" sz="2400" dirty="0" smtClean="0">
                <a:sym typeface="Wingdings" pitchFamily="2" charset="2"/>
              </a:rPr>
              <a:t>=“</a:t>
            </a:r>
            <a:r>
              <a:rPr lang="en-US" sz="2400" dirty="0" smtClean="0">
                <a:solidFill>
                  <a:srgbClr val="C00000"/>
                </a:solidFill>
                <a:sym typeface="Wingdings" pitchFamily="2" charset="2"/>
              </a:rPr>
              <a:t>http://</a:t>
            </a:r>
            <a:r>
              <a:rPr lang="en-US" sz="2400" dirty="0" smtClean="0">
                <a:sym typeface="Wingdings" pitchFamily="2" charset="2"/>
              </a:rPr>
              <a:t>www.google.com”  open Google </a:t>
            </a:r>
          </a:p>
          <a:p>
            <a:pPr lvl="1">
              <a:spcBef>
                <a:spcPts val="300"/>
              </a:spcBef>
            </a:pPr>
            <a:r>
              <a:rPr lang="en-US" sz="2400" dirty="0" err="1" smtClean="0"/>
              <a:t>href</a:t>
            </a:r>
            <a:r>
              <a:rPr lang="en-US" sz="2400" dirty="0" smtClean="0"/>
              <a:t>=“www.google.com” </a:t>
            </a:r>
            <a:r>
              <a:rPr lang="en-US" sz="2400" dirty="0" smtClean="0">
                <a:sym typeface="Wingdings" pitchFamily="2" charset="2"/>
              </a:rPr>
              <a:t> open a file in current directory named www.google.com</a:t>
            </a:r>
          </a:p>
          <a:p>
            <a:pPr lvl="1">
              <a:spcBef>
                <a:spcPts val="300"/>
              </a:spcBef>
            </a:pPr>
            <a:r>
              <a:rPr lang="en-US" sz="2400" dirty="0" err="1" smtClean="0"/>
              <a:t>href</a:t>
            </a:r>
            <a:r>
              <a:rPr lang="en-US" sz="2400" dirty="0" smtClean="0"/>
              <a:t>=“</a:t>
            </a:r>
            <a:r>
              <a:rPr lang="en-US" sz="2400" dirty="0" smtClean="0">
                <a:solidFill>
                  <a:srgbClr val="CC0000"/>
                </a:solidFill>
              </a:rPr>
              <a:t>/</a:t>
            </a:r>
            <a:r>
              <a:rPr lang="en-US" sz="2400" dirty="0" smtClean="0"/>
              <a:t>www.google.com” </a:t>
            </a:r>
            <a:r>
              <a:rPr lang="en-US" sz="2400" dirty="0" smtClean="0">
                <a:sym typeface="Wingdings" pitchFamily="2" charset="2"/>
              </a:rPr>
              <a:t> open a file in the root directory named www.google.com</a:t>
            </a:r>
            <a:endParaRPr lang="en-US" sz="2400" b="1" dirty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Scheme can be any supported protocol</a:t>
            </a:r>
          </a:p>
          <a:p>
            <a:pPr lvl="1"/>
            <a:r>
              <a:rPr lang="en-US" dirty="0" smtClean="0"/>
              <a:t>E.g.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mailto</a:t>
            </a:r>
            <a:r>
              <a:rPr lang="en-US" dirty="0" smtClean="0"/>
              <a:t> for sending email</a:t>
            </a:r>
          </a:p>
          <a:p>
            <a:pPr lvl="1"/>
            <a:r>
              <a:rPr lang="en-US" dirty="0" smtClean="0"/>
              <a:t>E.g. 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en-US" dirty="0" smtClean="0"/>
              <a:t> to run code </a:t>
            </a:r>
          </a:p>
          <a:p>
            <a:r>
              <a:rPr lang="en-US" dirty="0" smtClean="0"/>
              <a:t>By default links are opened in the same window, o open link in new window</a:t>
            </a:r>
          </a:p>
          <a:p>
            <a:pPr lvl="1"/>
            <a:r>
              <a:rPr lang="en-US" dirty="0" smtClean="0"/>
              <a:t>Attribute 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targe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="_blank“</a:t>
            </a:r>
          </a:p>
          <a:p>
            <a:r>
              <a:rPr lang="en-US" dirty="0"/>
              <a:t>Everything between </a:t>
            </a:r>
            <a:r>
              <a:rPr lang="en-US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&lt;a&gt; &lt;/a&gt; </a:t>
            </a:r>
            <a:r>
              <a:rPr lang="en-US" dirty="0"/>
              <a:t>is considered as link name</a:t>
            </a:r>
          </a:p>
          <a:p>
            <a:pPr lvl="1"/>
            <a:r>
              <a:rPr lang="en-US" dirty="0"/>
              <a:t>Avoid spaces after </a:t>
            </a:r>
            <a:r>
              <a:rPr lang="en-US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&lt;a&gt;</a:t>
            </a:r>
            <a:r>
              <a:rPr lang="en-US" dirty="0"/>
              <a:t> and before </a:t>
            </a:r>
            <a:r>
              <a:rPr lang="en-US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endParaRPr lang="en-US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4876800" cy="5181600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Please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http://www.google.com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click here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to go to Google.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To open Google page in new window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http://www.google.com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target="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_blank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click here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&lt;/a&gt;. 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</a:p>
          <a:p>
            <a:pPr>
              <a:buNone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My email address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mailto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:abc@aut.ac.ir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abc@aut.ac.ir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&lt;/body&gt;</a:t>
            </a:r>
          </a:p>
          <a:p>
            <a:pPr>
              <a:buNone/>
            </a:pP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5450" y="2219325"/>
            <a:ext cx="3409950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Links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#</a:t>
            </a:r>
            <a:r>
              <a:rPr lang="en-US" dirty="0" err="1" smtClean="0"/>
              <a:t>frag</a:t>
            </a:r>
            <a:r>
              <a:rPr lang="en-US" dirty="0" smtClean="0"/>
              <a:t> part in URL is used to jump middle of a large document</a:t>
            </a:r>
          </a:p>
          <a:p>
            <a:r>
              <a:rPr lang="en-US" dirty="0" smtClean="0"/>
              <a:t>Step one: assign an ID/name to the part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&lt;h2&gt;&lt;a id="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SctionResult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en-US" sz="2400" dirty="0" smtClean="0">
                <a:latin typeface="+mj-lt"/>
                <a:cs typeface="Courier New" pitchFamily="49" charset="0"/>
              </a:rPr>
              <a:t>Results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&lt;/a&gt;&lt;/h2&gt;</a:t>
            </a:r>
          </a:p>
          <a:p>
            <a:pPr>
              <a:buNone/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&lt;h2&gt;&lt;a name="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SctionResult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en-US" sz="2400" dirty="0" smtClean="0">
                <a:latin typeface="+mj-lt"/>
                <a:cs typeface="Courier New" pitchFamily="49" charset="0"/>
              </a:rPr>
              <a:t>Results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&lt;/a&gt;&lt;/h2&gt;</a:t>
            </a:r>
          </a:p>
          <a:p>
            <a:endParaRPr lang="en-US" sz="2000" dirty="0" smtClean="0"/>
          </a:p>
          <a:p>
            <a:r>
              <a:rPr lang="en-US" dirty="0" smtClean="0"/>
              <a:t>Step two: create link using #</a:t>
            </a:r>
            <a:r>
              <a:rPr lang="en-US" dirty="0" err="1" smtClean="0"/>
              <a:t>frag</a:t>
            </a:r>
            <a:r>
              <a:rPr lang="en-US" dirty="0" smtClean="0"/>
              <a:t> feature</a:t>
            </a:r>
          </a:p>
          <a:p>
            <a:pPr>
              <a:buNone/>
            </a:pPr>
            <a:r>
              <a:rPr lang="en-US" sz="2400" dirty="0" smtClean="0">
                <a:latin typeface="+mj-lt"/>
                <a:cs typeface="Courier New" pitchFamily="49" charset="0"/>
              </a:rPr>
              <a:t>To see result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="#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SctionResult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  <a:r>
              <a:rPr lang="en-US" sz="2400" dirty="0" smtClean="0">
                <a:latin typeface="+mj-lt"/>
                <a:cs typeface="Courier New" pitchFamily="49" charset="0"/>
              </a:rPr>
              <a:t>click here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991600" cy="5181600"/>
          </a:xfrm>
        </p:spPr>
        <p:txBody>
          <a:bodyPr/>
          <a:lstStyle/>
          <a:p>
            <a:r>
              <a:rPr lang="en-US" sz="3200" dirty="0" smtClean="0"/>
              <a:t>Forms are used to get information from user</a:t>
            </a:r>
          </a:p>
          <a:p>
            <a:r>
              <a:rPr lang="en-US" sz="3000" dirty="0" smtClean="0"/>
              <a:t>XHTML is only responsible to gather information from user</a:t>
            </a:r>
          </a:p>
          <a:p>
            <a:pPr lvl="1"/>
            <a:r>
              <a:rPr lang="en-US" sz="2400" dirty="0" smtClean="0"/>
              <a:t>It does not responsible to process</a:t>
            </a:r>
          </a:p>
          <a:p>
            <a:pPr lvl="1"/>
            <a:r>
              <a:rPr lang="en-US" sz="2400" dirty="0" smtClean="0"/>
              <a:t>Data are processed by server side scripts (preprocessing in client)</a:t>
            </a:r>
          </a:p>
          <a:p>
            <a:r>
              <a:rPr lang="en-US" sz="3000" dirty="0" smtClean="0"/>
              <a:t>Major form components</a:t>
            </a:r>
          </a:p>
          <a:p>
            <a:pPr lvl="1"/>
            <a:r>
              <a:rPr lang="en-US" sz="2400" dirty="0" smtClean="0"/>
              <a:t>Text input</a:t>
            </a:r>
          </a:p>
          <a:p>
            <a:pPr lvl="1"/>
            <a:r>
              <a:rPr lang="en-US" sz="2400" dirty="0" smtClean="0"/>
              <a:t>Checkboxes and radio buttons</a:t>
            </a:r>
          </a:p>
          <a:p>
            <a:pPr lvl="1"/>
            <a:r>
              <a:rPr lang="en-US" sz="2400" dirty="0" smtClean="0"/>
              <a:t>Select boxes</a:t>
            </a:r>
          </a:p>
          <a:p>
            <a:pPr lvl="1"/>
            <a:r>
              <a:rPr lang="en-US" sz="2400" dirty="0" smtClean="0"/>
              <a:t>File select boxes</a:t>
            </a:r>
          </a:p>
          <a:p>
            <a:pPr lvl="1"/>
            <a:r>
              <a:rPr lang="en-US" sz="2400" dirty="0" smtClean="0">
                <a:solidFill>
                  <a:srgbClr val="000000"/>
                </a:solidFill>
                <a:ea typeface="+mn-ea"/>
              </a:rPr>
              <a:t>Buttons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181600"/>
          </a:xfrm>
        </p:spPr>
        <p:txBody>
          <a:bodyPr/>
          <a:lstStyle/>
          <a:p>
            <a:r>
              <a:rPr lang="en-US" dirty="0" smtClean="0"/>
              <a:t>Forms are created by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&lt;form&gt;</a:t>
            </a:r>
          </a:p>
          <a:p>
            <a:r>
              <a:rPr lang="en-US" dirty="0" smtClean="0"/>
              <a:t>Each form must have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action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en-US" dirty="0" smtClean="0"/>
              <a:t> attributes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action</a:t>
            </a:r>
            <a:r>
              <a:rPr lang="en-US" dirty="0" smtClean="0"/>
              <a:t> is a URL</a:t>
            </a:r>
          </a:p>
          <a:p>
            <a:pPr lvl="2"/>
            <a:r>
              <a:rPr lang="en-US" dirty="0" smtClean="0"/>
              <a:t>Server side script that process the data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en-US" dirty="0" smtClean="0"/>
              <a:t> is a HTTP method</a:t>
            </a:r>
          </a:p>
          <a:p>
            <a:pPr lvl="2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get</a:t>
            </a:r>
            <a:r>
              <a:rPr lang="en-US" dirty="0" smtClean="0"/>
              <a:t>: User input data is sent through the query part of URL by HTTP GET method</a:t>
            </a:r>
          </a:p>
          <a:p>
            <a:pPr lvl="2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post</a:t>
            </a:r>
            <a:r>
              <a:rPr lang="en-US" dirty="0" smtClean="0"/>
              <a:t>: User input data is sent as the body of HTTP message by HTTP POST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sz="3000" dirty="0" smtClean="0"/>
              <a:t>A from is composed of input components</a:t>
            </a:r>
          </a:p>
          <a:p>
            <a:pPr>
              <a:spcBef>
                <a:spcPts val="200"/>
              </a:spcBef>
            </a:pPr>
            <a:r>
              <a:rPr lang="en-US" sz="3000" dirty="0" smtClean="0"/>
              <a:t>Each component has </a:t>
            </a:r>
            <a:r>
              <a:rPr lang="en-US" sz="3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3000" dirty="0" smtClean="0"/>
              <a:t>, </a:t>
            </a:r>
            <a:r>
              <a:rPr lang="en-US" sz="3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3000" dirty="0" smtClean="0"/>
              <a:t>, and </a:t>
            </a:r>
            <a:r>
              <a:rPr lang="en-US" sz="3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3000" dirty="0" smtClean="0"/>
              <a:t> attributes</a:t>
            </a:r>
          </a:p>
          <a:p>
            <a:pPr lvl="1">
              <a:spcBef>
                <a:spcPts val="200"/>
              </a:spcBef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2400" dirty="0" smtClean="0"/>
              <a:t> specifies the type of component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>
              <a:spcBef>
                <a:spcPts val="200"/>
              </a:spcBef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2400" dirty="0" smtClean="0"/>
              <a:t> is the name of the component</a:t>
            </a:r>
          </a:p>
          <a:p>
            <a:pPr lvl="1">
              <a:spcBef>
                <a:spcPts val="200"/>
              </a:spcBef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 </a:t>
            </a:r>
            <a:r>
              <a:rPr lang="en-US" sz="2400" dirty="0" smtClean="0"/>
              <a:t>(except buttons)</a:t>
            </a:r>
            <a:endParaRPr lang="en-US" sz="24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 lvl="2">
              <a:spcBef>
                <a:spcPts val="200"/>
              </a:spcBef>
            </a:pPr>
            <a:r>
              <a:rPr lang="en-US" sz="2400" dirty="0" smtClean="0"/>
              <a:t>If not empty, is the default value</a:t>
            </a:r>
          </a:p>
          <a:p>
            <a:pPr lvl="2">
              <a:spcBef>
                <a:spcPts val="200"/>
              </a:spcBef>
            </a:pPr>
            <a:r>
              <a:rPr lang="en-US" sz="2400" dirty="0" smtClean="0"/>
              <a:t>Is the input value from user </a:t>
            </a:r>
          </a:p>
          <a:p>
            <a:pPr>
              <a:spcBef>
                <a:spcPts val="200"/>
              </a:spcBef>
            </a:pPr>
            <a:r>
              <a:rPr lang="en-US" sz="3000" dirty="0" smtClean="0"/>
              <a:t>On submission, </a:t>
            </a:r>
            <a:r>
              <a:rPr lang="en-US" sz="3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name=value</a:t>
            </a:r>
            <a:r>
              <a:rPr lang="en-US" sz="3000" dirty="0" smtClean="0"/>
              <a:t> of components (except buttons) are sent to server (POST, GET)</a:t>
            </a:r>
          </a:p>
          <a:p>
            <a:pPr lvl="1">
              <a:spcBef>
                <a:spcPts val="200"/>
              </a:spcBef>
            </a:pPr>
            <a:r>
              <a:rPr lang="en-US" sz="2600" dirty="0" smtClean="0"/>
              <a:t>Server processes the values according to the names</a:t>
            </a:r>
          </a:p>
          <a:p>
            <a:pPr lvl="2">
              <a:spcBef>
                <a:spcPts val="200"/>
              </a:spcBef>
            </a:pPr>
            <a:r>
              <a:rPr lang="en-US" sz="2300" i="1" dirty="0" smtClean="0"/>
              <a:t>It must know the names </a:t>
            </a:r>
            <a:endParaRPr lang="en-US" sz="23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</a:t>
            </a:r>
            <a:r>
              <a:rPr lang="en-US" dirty="0"/>
              <a:t>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Buttons</a:t>
            </a:r>
            <a:r>
              <a:rPr lang="en-US" sz="2400" dirty="0" smtClean="0"/>
              <a:t>: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 type</a:t>
            </a:r>
            <a:r>
              <a:rPr lang="en-US" sz="2400" dirty="0" smtClean="0"/>
              <a:t>=“T”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400" dirty="0" smtClean="0"/>
              <a:t>=“L”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endParaRPr lang="en-US" sz="2400" dirty="0" smtClean="0"/>
          </a:p>
          <a:p>
            <a:pPr lvl="1"/>
            <a:r>
              <a:rPr lang="en-US" sz="2400" dirty="0" smtClean="0"/>
              <a:t>Predefined buttons</a:t>
            </a:r>
          </a:p>
          <a:p>
            <a:pPr lvl="2">
              <a:spcBef>
                <a:spcPts val="0"/>
              </a:spcBef>
            </a:pPr>
            <a:r>
              <a:rPr lang="en-US" sz="2000" dirty="0" smtClean="0"/>
              <a:t>To submit data to server: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type="submit"</a:t>
            </a:r>
          </a:p>
          <a:p>
            <a:pPr lvl="2">
              <a:spcBef>
                <a:spcPts val="0"/>
              </a:spcBef>
            </a:pPr>
            <a:r>
              <a:rPr lang="en-US" sz="2000" dirty="0" smtClean="0"/>
              <a:t>To reset all inputs to default values: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type="reset"</a:t>
            </a:r>
          </a:p>
          <a:p>
            <a:pPr lvl="1"/>
            <a:r>
              <a:rPr lang="en-US" sz="2400" dirty="0" smtClean="0"/>
              <a:t>To run client side script: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type="button"</a:t>
            </a:r>
          </a:p>
          <a:p>
            <a:r>
              <a:rPr lang="en-US" sz="2600" dirty="0"/>
              <a:t>Attribute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400" dirty="0" smtClean="0"/>
              <a:t> </a:t>
            </a:r>
            <a:r>
              <a:rPr lang="en-US" sz="2600" dirty="0"/>
              <a:t>is the label of button</a:t>
            </a:r>
          </a:p>
          <a:p>
            <a:pPr>
              <a:spcBef>
                <a:spcPts val="300"/>
              </a:spcBef>
            </a:pP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 type</a:t>
            </a:r>
            <a:r>
              <a:rPr lang="en-US" sz="2400" dirty="0" smtClean="0"/>
              <a:t>=“T”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400" dirty="0" smtClean="0"/>
              <a:t>=“L”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2400" dirty="0" smtClean="0"/>
              <a:t> </a:t>
            </a:r>
            <a:r>
              <a:rPr lang="en-US" sz="2600" dirty="0"/>
              <a:t>can be replaced by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&lt;button type=</a:t>
            </a:r>
            <a:r>
              <a:rPr lang="en-US" sz="2400" dirty="0" smtClean="0"/>
              <a:t>“T”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 L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&lt;/button&gt;</a:t>
            </a:r>
          </a:p>
          <a:p>
            <a:r>
              <a:rPr lang="en-US" sz="2600" dirty="0"/>
              <a:t>Using image as </a:t>
            </a:r>
            <a:r>
              <a:rPr lang="en-US" sz="2600" dirty="0" smtClean="0"/>
              <a:t>a button</a:t>
            </a:r>
            <a:endParaRPr lang="en-US" sz="2600" dirty="0"/>
          </a:p>
          <a:p>
            <a:pPr lvl="1"/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type="image"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000" dirty="0" smtClean="0"/>
              <a:t>"image path"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alt=</a:t>
            </a:r>
            <a:r>
              <a:rPr lang="en-US" sz="2000" dirty="0" smtClean="0"/>
              <a:t>"text"</a:t>
            </a:r>
          </a:p>
          <a:p>
            <a:r>
              <a:rPr lang="en-US" sz="2600" dirty="0"/>
              <a:t>Attribute </a:t>
            </a:r>
            <a:r>
              <a:rPr lang="en-US" sz="2400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2600" dirty="0"/>
              <a:t> is required if more than same type button in a form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Forms: Buttons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5715000" cy="5181600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 action=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http://127.0.0.1/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method=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"get"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&lt;input type="text" name="input" value="Default Value" /&gt; &lt;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 &lt;input type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submit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Submit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 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&lt;button type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reset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Reset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&lt;/button&gt; 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 type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 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 type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image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google_logo.gif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2415027"/>
            <a:ext cx="2692133" cy="3223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Text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9067800" cy="5181600"/>
          </a:xfrm>
        </p:spPr>
        <p:txBody>
          <a:bodyPr/>
          <a:lstStyle/>
          <a:p>
            <a:r>
              <a:rPr lang="en-US" sz="3200" dirty="0" smtClean="0"/>
              <a:t>Text input components</a:t>
            </a:r>
          </a:p>
          <a:p>
            <a:r>
              <a:rPr lang="en-US" sz="3000" dirty="0" smtClean="0"/>
              <a:t>Single-line text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type="text"</a:t>
            </a:r>
          </a:p>
          <a:p>
            <a:r>
              <a:rPr lang="en-US" sz="3000" dirty="0" smtClean="0"/>
              <a:t>Password (</a:t>
            </a:r>
            <a:r>
              <a:rPr lang="en-US" sz="2600" dirty="0" smtClean="0"/>
              <a:t>instead of real input, other character is shown</a:t>
            </a:r>
            <a:r>
              <a:rPr lang="en-US" sz="3000" dirty="0" smtClean="0"/>
              <a:t>) 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type="password"</a:t>
            </a:r>
          </a:p>
          <a:p>
            <a:r>
              <a:rPr lang="en-US" sz="3000" dirty="0" smtClean="0"/>
              <a:t>Multi-line text</a:t>
            </a:r>
          </a:p>
          <a:p>
            <a:pPr lvl="1"/>
            <a:r>
              <a:rPr lang="en-US" sz="2400" dirty="0" smtClean="0"/>
              <a:t>Instead of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&lt;input&gt;</a:t>
            </a:r>
            <a:r>
              <a:rPr lang="en-US" sz="2400" dirty="0" smtClean="0"/>
              <a:t>, we use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cols</a:t>
            </a:r>
            <a:r>
              <a:rPr lang="en-US" sz="2400" dirty="0" smtClean="0"/>
              <a:t> &amp;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rows</a:t>
            </a:r>
            <a:r>
              <a:rPr lang="en-US" sz="2400" dirty="0" smtClean="0"/>
              <a:t> specifies # of columns &amp; rows </a:t>
            </a:r>
          </a:p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name=value</a:t>
            </a:r>
            <a:r>
              <a:rPr lang="en-US" sz="2800" dirty="0" smtClean="0"/>
              <a:t> </a:t>
            </a:r>
            <a:r>
              <a:rPr lang="en-US" sz="3000" dirty="0" smtClean="0"/>
              <a:t>of component is sent to server</a:t>
            </a:r>
          </a:p>
          <a:p>
            <a:pPr lvl="1"/>
            <a:r>
              <a:rPr lang="en-US" sz="2400" dirty="0" smtClean="0"/>
              <a:t>Password in plain text format </a:t>
            </a:r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Text </a:t>
            </a:r>
            <a:r>
              <a:rPr lang="en-US" dirty="0"/>
              <a:t>Input 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6248400" cy="5181600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 action=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"http://127.0.0.1"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="get"&gt;</a:t>
            </a:r>
          </a:p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Search:</a:t>
            </a:r>
          </a:p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input type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="text"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txtSearch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="20"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maxlength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="64"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 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Password:</a:t>
            </a:r>
          </a:p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 type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="password"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="pass"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size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="20" 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maxlength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="64"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 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Text:</a:t>
            </a:r>
          </a:p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name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inputtext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cols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="30"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rows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="3"&gt;Please enter your message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20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300"/>
              </a:spcBef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spcBef>
                <a:spcPts val="300"/>
              </a:spcBef>
              <a:buNone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5096" y="2247900"/>
            <a:ext cx="2566504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Checkbox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sz="3200" dirty="0" smtClean="0"/>
              <a:t>Check boxes</a:t>
            </a:r>
          </a:p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type="checkbox"</a:t>
            </a:r>
          </a:p>
          <a:p>
            <a:r>
              <a:rPr lang="en-US" sz="2800" dirty="0" smtClean="0"/>
              <a:t>If checked, its 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name=value</a:t>
            </a:r>
            <a:r>
              <a:rPr lang="en-US" sz="2800" dirty="0" smtClean="0"/>
              <a:t> is sent to server</a:t>
            </a:r>
          </a:p>
          <a:p>
            <a:r>
              <a:rPr lang="en-US" sz="2800" dirty="0" smtClean="0"/>
              <a:t>To be checked by default: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checked="checked"</a:t>
            </a:r>
          </a:p>
          <a:p>
            <a:r>
              <a:rPr lang="en-US" sz="2800" dirty="0" smtClean="0"/>
              <a:t>To draw border around a group of components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fieldset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&lt;/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fieldset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sz="2800" dirty="0" smtClean="0"/>
              <a:t>To assign name to the group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&lt;legend&gt; &lt;/legend&gt;</a:t>
            </a:r>
          </a:p>
          <a:p>
            <a:endParaRPr lang="en-US" sz="2800" b="1" dirty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Forms: Checkbox 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6096000" cy="5181600"/>
          </a:xfrm>
        </p:spPr>
        <p:txBody>
          <a:bodyPr/>
          <a:lstStyle/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 action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="http://www.google.com"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="get"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frmCV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fieldset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&lt;legend&gt;&lt;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Web Development Skills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&gt;&lt;/legend&gt;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   &lt;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input type=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"checkbox"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="skill_1"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="html"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HTML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  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 type=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"checkbox"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="skill_2"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xhtml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checked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="checked"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XHTML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&lt;input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="checkbox"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="skill_3" 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="CSS"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/&gt;CSS&lt;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 type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="checkbox"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="skill_4"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="JavaScript"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/&gt;JavaScript&lt;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 type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="checkbox"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="skill_5"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aspnet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ASP.Net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 type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="checkbox"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="skill_6" 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php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PHP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type="submit" 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="Submit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  &lt;/</a:t>
            </a:r>
            <a:r>
              <a:rPr lang="en-US" sz="16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fieldset</a:t>
            </a: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Bef>
                <a:spcPts val="100"/>
              </a:spcBef>
              <a:buNone/>
            </a:pPr>
            <a:r>
              <a:rPr lang="en-US" sz="16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spcBef>
                <a:spcPts val="100"/>
              </a:spcBef>
              <a:buNone/>
            </a:pP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8918" y="2743200"/>
            <a:ext cx="2738882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Radio Buttons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Radio buttons</a:t>
            </a:r>
          </a:p>
          <a:p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type="radio"</a:t>
            </a:r>
          </a:p>
          <a:p>
            <a:r>
              <a:rPr lang="en-US" dirty="0" smtClean="0"/>
              <a:t>Only one of button can be selected in a group of buttons with the same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</a:p>
          <a:p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name=value</a:t>
            </a:r>
            <a:r>
              <a:rPr lang="en-US" dirty="0" smtClean="0"/>
              <a:t> of the selected button will sent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Radio </a:t>
            </a:r>
            <a:r>
              <a:rPr lang="en-US" dirty="0"/>
              <a:t>Buttons 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 action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www.aut.ac.ir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method="get"&gt;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fieldset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&lt;legend&gt;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University Grade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&lt;/legend&gt;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="grade"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="B"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BS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="grade"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="M"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MS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="grade"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="P"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PhD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65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</a:t>
            </a:r>
            <a:r>
              <a:rPr lang="en-US" sz="165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5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650" b="1" dirty="0" smtClean="0">
                <a:latin typeface="Courier New" pitchFamily="49" charset="0"/>
                <a:cs typeface="Courier New" pitchFamily="49" charset="0"/>
              </a:rPr>
              <a:t>="radio" </a:t>
            </a:r>
            <a:r>
              <a:rPr lang="en-US" sz="165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650" b="1" dirty="0" smtClean="0">
                <a:latin typeface="Courier New" pitchFamily="49" charset="0"/>
                <a:cs typeface="Courier New" pitchFamily="49" charset="0"/>
              </a:rPr>
              <a:t>="grade" </a:t>
            </a:r>
            <a:r>
              <a:rPr lang="en-US" sz="165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650" b="1" dirty="0" smtClean="0">
                <a:latin typeface="Courier New" pitchFamily="49" charset="0"/>
                <a:cs typeface="Courier New" pitchFamily="49" charset="0"/>
              </a:rPr>
              <a:t>="PD" </a:t>
            </a:r>
            <a:r>
              <a:rPr lang="en-US" sz="165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  <a:r>
              <a:rPr lang="en-US" sz="165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50" dirty="0" smtClean="0">
                <a:latin typeface="Courier New" pitchFamily="49" charset="0"/>
                <a:cs typeface="Courier New" pitchFamily="49" charset="0"/>
              </a:rPr>
              <a:t>Post</a:t>
            </a:r>
            <a:r>
              <a:rPr lang="en-US" sz="165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50" dirty="0" smtClean="0">
                <a:latin typeface="Courier New" pitchFamily="49" charset="0"/>
                <a:cs typeface="Courier New" pitchFamily="49" charset="0"/>
              </a:rPr>
              <a:t>Doc</a:t>
            </a:r>
            <a:r>
              <a:rPr lang="en-US" sz="165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5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165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65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   &lt;input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="submit"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sz="1700" b="1" dirty="0" smtClean="0">
                <a:latin typeface="Courier New" pitchFamily="49" charset="0"/>
                <a:cs typeface="Courier New" pitchFamily="49" charset="0"/>
              </a:rPr>
              <a:t>="Submit" 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</a:t>
            </a:r>
            <a:r>
              <a:rPr lang="en-US" sz="17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fieldset</a:t>
            </a: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en-US" sz="17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buNone/>
            </a:pPr>
            <a:endParaRPr lang="en-US" sz="17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3961837"/>
            <a:ext cx="2495550" cy="2841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Select Boxes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sz="3600" dirty="0" smtClean="0"/>
              <a:t>Select boxes</a:t>
            </a:r>
          </a:p>
          <a:p>
            <a:r>
              <a:rPr lang="en-US" dirty="0" smtClean="0"/>
              <a:t>The same functionality of radio buttons</a:t>
            </a:r>
          </a:p>
          <a:p>
            <a:pPr lvl="1"/>
            <a:r>
              <a:rPr lang="en-US" dirty="0" smtClean="0"/>
              <a:t>Just save spaces</a:t>
            </a:r>
          </a:p>
          <a:p>
            <a:r>
              <a:rPr lang="en-US" dirty="0" smtClean="0"/>
              <a:t>Created by </a:t>
            </a: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&lt;select name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dirty="0" err="1" smtClean="0"/>
              <a:t>selname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&lt;/select&gt;</a:t>
            </a:r>
          </a:p>
          <a:p>
            <a:r>
              <a:rPr lang="en-US" dirty="0" smtClean="0"/>
              <a:t>Options are given by </a:t>
            </a: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&lt;option value=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3200" dirty="0" err="1" smtClean="0"/>
              <a:t>val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200" dirty="0" smtClean="0"/>
              <a:t>text</a:t>
            </a:r>
            <a:r>
              <a:rPr lang="en-US" sz="3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2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&lt;/option&gt;</a:t>
            </a:r>
          </a:p>
          <a:p>
            <a:r>
              <a:rPr lang="en-US" i="1" dirty="0" err="1" smtClean="0"/>
              <a:t>slename</a:t>
            </a:r>
            <a:r>
              <a:rPr lang="en-US" i="1" dirty="0" smtClean="0"/>
              <a:t>=value</a:t>
            </a:r>
            <a:r>
              <a:rPr lang="en-US" dirty="0" smtClean="0"/>
              <a:t> of selected item sent to server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Select </a:t>
            </a:r>
            <a:r>
              <a:rPr lang="en-US" dirty="0"/>
              <a:t>Boxes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 action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="http://127.0.0.1/"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method="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get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name="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frmColors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	Select color: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&lt;select name="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selColor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&lt;option 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="r"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&lt;/option&gt;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&lt;option 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="g"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Green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&lt;/option&gt;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	&lt;option 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="b"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Blue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&lt;/option&gt;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&lt;/select&gt;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&lt;input type="submit" value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="Submit" 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buNone/>
            </a:pPr>
            <a:endParaRPr lang="en-US" sz="2000" b="1" dirty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1752600"/>
            <a:ext cx="2438400" cy="1960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File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File select &amp; upload</a:t>
            </a:r>
          </a:p>
          <a:p>
            <a:r>
              <a:rPr lang="en-US" dirty="0" smtClean="0"/>
              <a:t>In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&lt;input&gt;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type="file"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accept</a:t>
            </a:r>
            <a:r>
              <a:rPr lang="en-US" dirty="0" smtClean="0"/>
              <a:t>= A MIME type to specify default acceptable file format </a:t>
            </a:r>
          </a:p>
          <a:p>
            <a:r>
              <a:rPr lang="en-US" dirty="0" smtClean="0"/>
              <a:t>In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&lt;form&gt;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method="post" </a:t>
            </a:r>
          </a:p>
          <a:p>
            <a:pPr lvl="1"/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enctype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="multipart/form-data"</a:t>
            </a:r>
          </a:p>
          <a:p>
            <a:pPr lvl="2"/>
            <a:r>
              <a:rPr lang="en-US" sz="2800" dirty="0" smtClean="0"/>
              <a:t>To encode file as MIME message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Forms: File Input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&lt;form action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="http://127.0.0.1"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="post"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name="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fromImageUpload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enctype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="multipart/form-data"&gt;</a:t>
            </a:r>
          </a:p>
          <a:p>
            <a:pPr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&lt;input type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="file"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fileUpload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accept="image/*" /&gt;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/&gt;&lt;</a:t>
            </a:r>
            <a:r>
              <a:rPr lang="en-US" sz="18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/&gt; 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	&lt;input type="submit" value="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Submit</a:t>
            </a: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buNone/>
            </a:pPr>
            <a:r>
              <a:rPr lang="en-US" sz="1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&lt;/form&gt;</a:t>
            </a:r>
          </a:p>
          <a:p>
            <a:pPr>
              <a:buNone/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4038600"/>
            <a:ext cx="31623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6775" y="4114800"/>
            <a:ext cx="32861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Examples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Capture form submission </a:t>
            </a:r>
          </a:p>
          <a:p>
            <a:r>
              <a:rPr lang="en-US" dirty="0" smtClean="0"/>
              <a:t>GET</a:t>
            </a:r>
          </a:p>
          <a:p>
            <a:r>
              <a:rPr lang="en-US" dirty="0" smtClean="0"/>
              <a:t>POST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546416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sz="2400" dirty="0" smtClean="0"/>
              <a:t>Form: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&lt;form action=</a:t>
            </a:r>
            <a:r>
              <a:rPr lang="en-US" sz="2400" dirty="0" smtClean="0"/>
              <a:t>“”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method</a:t>
            </a:r>
            <a:r>
              <a:rPr lang="en-US" sz="2400" dirty="0" smtClean="0"/>
              <a:t>=“”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en-US" sz="2400" dirty="0" smtClean="0"/>
          </a:p>
          <a:p>
            <a:r>
              <a:rPr lang="en-US" sz="2400" dirty="0" smtClean="0"/>
              <a:t>Button: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&lt;input type="button"&gt;</a:t>
            </a:r>
            <a:r>
              <a:rPr lang="en-US" sz="2400" dirty="0" smtClean="0"/>
              <a:t> or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&lt;button&gt;</a:t>
            </a:r>
          </a:p>
          <a:p>
            <a:r>
              <a:rPr lang="en-US" sz="2400" dirty="0" smtClean="0"/>
              <a:t>Text:</a:t>
            </a:r>
          </a:p>
          <a:p>
            <a:pPr lvl="1"/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&lt;input type="text" …</a:t>
            </a:r>
          </a:p>
          <a:p>
            <a:pPr lvl="1"/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&lt;input type="password" …</a:t>
            </a:r>
          </a:p>
          <a:p>
            <a:pPr lvl="1"/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0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en-US" sz="20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…</a:t>
            </a:r>
          </a:p>
          <a:p>
            <a:r>
              <a:rPr lang="en-US" sz="2400" dirty="0" smtClean="0"/>
              <a:t>Checkbox: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&lt;input type="checkbox" …</a:t>
            </a:r>
          </a:p>
          <a:p>
            <a:r>
              <a:rPr lang="en-US" sz="2400" dirty="0" smtClean="0"/>
              <a:t>Radio: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&lt;input type="radio" …</a:t>
            </a:r>
          </a:p>
          <a:p>
            <a:r>
              <a:rPr lang="en-US" sz="2400" dirty="0" smtClean="0"/>
              <a:t>Select box: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&lt;select name= …  </a:t>
            </a:r>
            <a:r>
              <a:rPr lang="en-US" sz="2400" dirty="0" smtClean="0"/>
              <a:t>and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&lt;option value= </a:t>
            </a:r>
          </a:p>
          <a:p>
            <a:r>
              <a:rPr lang="en-US" sz="2400" dirty="0" smtClean="0"/>
              <a:t>File: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&lt;select type="file" …</a:t>
            </a:r>
          </a:p>
          <a:p>
            <a:endParaRPr lang="en-US" sz="2000" b="1" dirty="0" smtClean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2000" b="1" dirty="0" smtClean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sz="2000" b="1" dirty="0" smtClean="0">
              <a:solidFill>
                <a:srgbClr val="0033CC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Multimedia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9144000" cy="5181600"/>
          </a:xfrm>
        </p:spPr>
        <p:txBody>
          <a:bodyPr/>
          <a:lstStyle/>
          <a:p>
            <a:r>
              <a:rPr lang="en-US" dirty="0" smtClean="0"/>
              <a:t>XHTML (HTML 4) does not support multimedia</a:t>
            </a:r>
          </a:p>
          <a:p>
            <a:r>
              <a:rPr lang="en-US" dirty="0" smtClean="0"/>
              <a:t>Browser plug-in needs to be used</a:t>
            </a:r>
          </a:p>
          <a:p>
            <a:pPr lvl="1"/>
            <a:r>
              <a:rPr lang="en-US" dirty="0" smtClean="0"/>
              <a:t>Flash</a:t>
            </a:r>
          </a:p>
          <a:p>
            <a:pPr lvl="1"/>
            <a:r>
              <a:rPr lang="en-US" dirty="0" err="1" smtClean="0"/>
              <a:t>Quicktime</a:t>
            </a:r>
            <a:endParaRPr lang="en-US" dirty="0" smtClean="0"/>
          </a:p>
          <a:p>
            <a:pPr lvl="1"/>
            <a:r>
              <a:rPr lang="en-US" dirty="0" smtClean="0"/>
              <a:t>…</a:t>
            </a:r>
          </a:p>
          <a:p>
            <a:r>
              <a:rPr lang="en-US" dirty="0" smtClean="0"/>
              <a:t>Next version of HTML (HTML 5) supports multimedia without any plug-in</a:t>
            </a:r>
          </a:p>
          <a:p>
            <a:pPr lvl="1"/>
            <a:r>
              <a:rPr lang="en-US" dirty="0" smtClean="0"/>
              <a:t>We will see later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Inline &amp; Block-level Elements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9067800" cy="5181600"/>
          </a:xfrm>
        </p:spPr>
        <p:txBody>
          <a:bodyPr/>
          <a:lstStyle/>
          <a:p>
            <a:r>
              <a:rPr lang="en-US" sz="2800" dirty="0" smtClean="0"/>
              <a:t>Block-level: Line break before &amp; after elements </a:t>
            </a:r>
          </a:p>
          <a:p>
            <a:pPr lvl="1"/>
            <a:r>
              <a:rPr lang="en-US" sz="2400" dirty="0" smtClean="0"/>
              <a:t>Next block-level goes underneath of this block</a:t>
            </a:r>
          </a:p>
          <a:p>
            <a:pPr lvl="1"/>
            <a:r>
              <a:rPr lang="en-US" sz="2400" dirty="0" smtClean="0"/>
              <a:t>Examples: Paragraphs: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en-US" sz="2400" dirty="0" smtClean="0"/>
              <a:t>, Headings: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&lt;h1&gt;</a:t>
            </a:r>
            <a:r>
              <a:rPr lang="en-US" sz="2400" dirty="0" smtClean="0"/>
              <a:t>, …,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&lt;h6&gt;</a:t>
            </a:r>
            <a:r>
              <a:rPr lang="en-US" sz="2400" dirty="0" smtClean="0"/>
              <a:t>, Lists: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&lt;dl&gt;</a:t>
            </a:r>
            <a:r>
              <a:rPr lang="en-US" sz="2400" dirty="0" smtClean="0"/>
              <a:t>, Blocks: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&lt;pre&gt;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blockquote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 lvl="2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&lt;div&gt;</a:t>
            </a:r>
            <a:r>
              <a:rPr lang="en-US" sz="2400" dirty="0"/>
              <a:t> </a:t>
            </a:r>
            <a:r>
              <a:rPr lang="en-US" sz="2400" dirty="0" smtClean="0"/>
              <a:t>is used to create a block </a:t>
            </a:r>
          </a:p>
          <a:p>
            <a:pPr lvl="3"/>
            <a:r>
              <a:rPr lang="en-US" sz="2100" dirty="0" smtClean="0"/>
              <a:t>Without any presentation</a:t>
            </a:r>
          </a:p>
          <a:p>
            <a:pPr lvl="3"/>
            <a:r>
              <a:rPr lang="en-US" sz="2100" dirty="0" smtClean="0"/>
              <a:t>Nested &lt;div&gt; are used to define structure of complex pages, e.g., Gmail</a:t>
            </a:r>
            <a:endParaRPr lang="en-US" sz="2400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800" dirty="0" smtClean="0"/>
              <a:t>Inline: No line break</a:t>
            </a:r>
          </a:p>
          <a:p>
            <a:pPr lvl="1"/>
            <a:r>
              <a:rPr lang="en-US" sz="2400" dirty="0" smtClean="0"/>
              <a:t>Next inline elements goes right after this element</a:t>
            </a:r>
          </a:p>
          <a:p>
            <a:pPr lvl="1"/>
            <a:r>
              <a:rPr lang="en-US" sz="2400" dirty="0" smtClean="0"/>
              <a:t>Example: Text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, &lt;b&gt;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&lt;strong&gt;</a:t>
            </a:r>
            <a:r>
              <a:rPr lang="en-US" sz="2400" dirty="0" smtClean="0"/>
              <a:t>, …</a:t>
            </a:r>
          </a:p>
          <a:p>
            <a:pPr lvl="2"/>
            <a:r>
              <a:rPr lang="en-US" sz="2000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&lt;span</a:t>
            </a:r>
            <a:r>
              <a:rPr lang="en-US" sz="20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sz="2100" dirty="0" smtClean="0"/>
              <a:t>is  used to create an inline element without any presentation</a:t>
            </a:r>
            <a:endParaRPr 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2C2C2"/>
                </a:solidFill>
              </a:rPr>
              <a:t>Introduction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XHTML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Body </a:t>
            </a:r>
          </a:p>
          <a:p>
            <a:r>
              <a:rPr lang="en-US" dirty="0" smtClean="0"/>
              <a:t>Head</a:t>
            </a:r>
            <a:endParaRPr lang="en-US" dirty="0" smtClean="0">
              <a:solidFill>
                <a:srgbClr val="C2C2C2"/>
              </a:solidFill>
            </a:endParaRPr>
          </a:p>
          <a:p>
            <a:r>
              <a:rPr lang="en-US" dirty="0" smtClean="0">
                <a:solidFill>
                  <a:srgbClr val="C2C2C2"/>
                </a:solidFill>
              </a:rPr>
              <a:t>XHTML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&lt;head&gt; &lt;/head&gt;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dirty="0" smtClean="0"/>
              <a:t>The element not for displaying</a:t>
            </a:r>
          </a:p>
          <a:p>
            <a:pPr lvl="1"/>
            <a:r>
              <a:rPr lang="en-US" dirty="0" smtClean="0"/>
              <a:t>Usually, the info in head is not for user</a:t>
            </a:r>
          </a:p>
          <a:p>
            <a:pPr>
              <a:spcBef>
                <a:spcPts val="800"/>
              </a:spcBef>
            </a:pPr>
            <a:r>
              <a:rPr lang="en-US" dirty="0" smtClean="0"/>
              <a:t>This element is additional information for </a:t>
            </a:r>
          </a:p>
          <a:p>
            <a:pPr lvl="1">
              <a:spcBef>
                <a:spcPts val="400"/>
              </a:spcBef>
            </a:pPr>
            <a:r>
              <a:rPr lang="en-US" dirty="0" smtClean="0"/>
              <a:t>Web browsers: How to render the page</a:t>
            </a:r>
          </a:p>
          <a:p>
            <a:pPr lvl="2">
              <a:spcBef>
                <a:spcPts val="400"/>
              </a:spcBef>
            </a:pPr>
            <a:r>
              <a:rPr lang="en-US" dirty="0" smtClean="0"/>
              <a:t>CSS rules definitions and inclusions</a:t>
            </a:r>
          </a:p>
          <a:p>
            <a:pPr lvl="2">
              <a:spcBef>
                <a:spcPts val="400"/>
              </a:spcBef>
            </a:pPr>
            <a:r>
              <a:rPr lang="en-US" dirty="0" smtClean="0"/>
              <a:t>JavaScript codes</a:t>
            </a:r>
          </a:p>
          <a:p>
            <a:pPr lvl="2">
              <a:spcBef>
                <a:spcPts val="400"/>
              </a:spcBef>
            </a:pPr>
            <a:r>
              <a:rPr lang="en-US" dirty="0" smtClean="0"/>
              <a:t>…</a:t>
            </a:r>
          </a:p>
          <a:p>
            <a:pPr lvl="1">
              <a:spcBef>
                <a:spcPts val="400"/>
              </a:spcBef>
            </a:pPr>
            <a:r>
              <a:rPr lang="en-US" dirty="0" smtClean="0"/>
              <a:t>Search engines: Control the ranking of the page</a:t>
            </a:r>
          </a:p>
          <a:p>
            <a:pPr lvl="2">
              <a:spcBef>
                <a:spcPts val="400"/>
              </a:spcBef>
            </a:pPr>
            <a:r>
              <a:rPr lang="en-US" dirty="0" smtClean="0"/>
              <a:t>Keywords for the page</a:t>
            </a:r>
          </a:p>
          <a:p>
            <a:pPr lvl="2">
              <a:spcBef>
                <a:spcPts val="400"/>
              </a:spcBef>
            </a:pPr>
            <a:r>
              <a:rPr lang="en-US" dirty="0" smtClean="0"/>
              <a:t>Extra description for the page</a:t>
            </a:r>
          </a:p>
          <a:p>
            <a:pPr lvl="1">
              <a:spcBef>
                <a:spcPts val="400"/>
              </a:spcBef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70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&lt;head&gt; &lt;/head&gt;</a:t>
            </a:r>
            <a:r>
              <a:rPr lang="en-US" dirty="0" smtClean="0">
                <a:cs typeface="Courier New" pitchFamily="49" charset="0"/>
              </a:rPr>
              <a:t> (cont’d)</a:t>
            </a:r>
            <a:endParaRPr lang="en-US" dirty="0"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&lt;title&gt;</a:t>
            </a:r>
            <a:r>
              <a:rPr lang="en-US" sz="2800" dirty="0" smtClean="0"/>
              <a:t>: Page title</a:t>
            </a:r>
          </a:p>
          <a:p>
            <a:pPr lvl="1"/>
            <a:r>
              <a:rPr lang="en-US" sz="2400" dirty="0" smtClean="0"/>
              <a:t>Browser dependent</a:t>
            </a:r>
          </a:p>
          <a:p>
            <a:pPr lvl="2"/>
            <a:r>
              <a:rPr lang="en-US" sz="2400" dirty="0" smtClean="0"/>
              <a:t>Usually displayed as the browser window name</a:t>
            </a:r>
          </a:p>
          <a:p>
            <a:pPr lvl="2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&lt;title&gt;</a:t>
            </a:r>
            <a:r>
              <a:rPr lang="en-US" sz="2400" dirty="0" smtClean="0"/>
              <a:t>My page Title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&lt;/title&gt;</a:t>
            </a:r>
            <a:endParaRPr lang="en-US" sz="2400" dirty="0" smtClean="0"/>
          </a:p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&lt;base&gt;</a:t>
            </a:r>
            <a:r>
              <a:rPr lang="en-US" sz="2800" dirty="0" smtClean="0"/>
              <a:t>:</a:t>
            </a:r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800" dirty="0" smtClean="0"/>
              <a:t>Base URL for all links in the document, e.g.,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&lt;base 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dirty="0" smtClean="0">
                <a:latin typeface="+mj-lt"/>
                <a:cs typeface="Courier New" pitchFamily="49" charset="0"/>
              </a:rPr>
              <a:t>http://www.abc.com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dirty="0" smtClean="0">
                <a:cs typeface="Courier New" pitchFamily="49" charset="0"/>
              </a:rPr>
              <a:t>test.html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>
                <a:cs typeface="Courier New" pitchFamily="49" charset="0"/>
              </a:rPr>
              <a:t>link1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</a:t>
            </a:r>
            <a:r>
              <a:rPr lang="en-US" sz="24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  <a:sym typeface="Wingdings" pitchFamily="2" charset="2"/>
              </a:rPr>
              <a:t>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     				</a:t>
            </a:r>
            <a:r>
              <a:rPr lang="en-US" sz="2400" dirty="0" smtClean="0">
                <a:cs typeface="Courier New" pitchFamily="49" charset="0"/>
                <a:sym typeface="Wingdings" pitchFamily="2" charset="2"/>
              </a:rPr>
              <a:t>http://www.abc.com/test.html</a:t>
            </a:r>
          </a:p>
          <a:p>
            <a:pPr lvl="1"/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400" b="1" dirty="0" err="1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dirty="0" smtClean="0">
                <a:solidFill>
                  <a:srgbClr val="C00000"/>
                </a:solidFill>
                <a:cs typeface="Courier New" pitchFamily="49" charset="0"/>
              </a:rPr>
              <a:t>http://</a:t>
            </a:r>
            <a:r>
              <a:rPr lang="en-US" sz="2400" dirty="0" smtClean="0">
                <a:cs typeface="Courier New" pitchFamily="49" charset="0"/>
              </a:rPr>
              <a:t>test.html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"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>
                <a:cs typeface="Courier New" pitchFamily="49" charset="0"/>
              </a:rPr>
              <a:t>link2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&lt;/a&gt;</a:t>
            </a:r>
            <a:r>
              <a:rPr lang="en-US" sz="2400" dirty="0" smtClean="0">
                <a:cs typeface="Courier New" pitchFamily="49" charset="0"/>
              </a:rPr>
              <a:t> </a:t>
            </a:r>
            <a:r>
              <a:rPr lang="en-US" sz="2400" dirty="0" smtClean="0">
                <a:cs typeface="Courier New" pitchFamily="49" charset="0"/>
                <a:sym typeface="Wingdings" pitchFamily="2" charset="2"/>
              </a:rPr>
              <a:t></a:t>
            </a:r>
            <a:r>
              <a:rPr lang="en-US" sz="24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 				</a:t>
            </a:r>
            <a:r>
              <a:rPr lang="en-US" sz="2400" dirty="0" smtClean="0">
                <a:cs typeface="Courier New" pitchFamily="49" charset="0"/>
                <a:sym typeface="Wingdings" pitchFamily="2" charset="2"/>
              </a:rPr>
              <a:t>http://test.html</a:t>
            </a:r>
            <a:endParaRPr lang="en-US" sz="2400" dirty="0" smtClean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&lt;head&gt; &lt;/head&gt;</a:t>
            </a:r>
            <a:r>
              <a:rPr lang="en-US" dirty="0" smtClean="0">
                <a:cs typeface="Courier New" pitchFamily="49" charset="0"/>
              </a:rPr>
              <a:t> (cont’d)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&lt;meta&gt;</a:t>
            </a:r>
            <a:r>
              <a:rPr lang="en-US" dirty="0" smtClean="0"/>
              <a:t>: Information </a:t>
            </a:r>
            <a:r>
              <a:rPr lang="en-US" i="1" dirty="0" smtClean="0"/>
              <a:t>about</a:t>
            </a:r>
            <a:r>
              <a:rPr lang="en-US" dirty="0" smtClean="0"/>
              <a:t> the document </a:t>
            </a:r>
          </a:p>
          <a:p>
            <a:pPr lvl="1"/>
            <a:r>
              <a:rPr lang="en-US" dirty="0" smtClean="0"/>
              <a:t>HTTP parameters, Search engine optimization (keywords), Description, …</a:t>
            </a:r>
          </a:p>
          <a:p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&lt;meta&gt;</a:t>
            </a:r>
            <a:r>
              <a:rPr lang="en-US" dirty="0" smtClean="0"/>
              <a:t> attributes</a:t>
            </a:r>
          </a:p>
          <a:p>
            <a:pPr lvl="1"/>
            <a:r>
              <a:rPr lang="en-US" sz="2800" dirty="0" smtClean="0"/>
              <a:t>(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name</a:t>
            </a:r>
            <a:r>
              <a:rPr lang="en-US" dirty="0" smtClean="0">
                <a:ea typeface="+mn-ea"/>
              </a:rPr>
              <a:t>,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content</a:t>
            </a:r>
            <a:r>
              <a:rPr lang="en-US" dirty="0" smtClean="0">
                <a:ea typeface="+mn-ea"/>
              </a:rPr>
              <a:t>), (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http-</a:t>
            </a:r>
            <a:r>
              <a:rPr lang="en-US" b="1" dirty="0" err="1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equiv</a:t>
            </a:r>
            <a:r>
              <a:rPr lang="en-US" sz="2800" dirty="0" smtClean="0"/>
              <a:t> </a:t>
            </a:r>
            <a:r>
              <a:rPr lang="en-US" sz="2800" dirty="0"/>
              <a:t>, </a:t>
            </a:r>
            <a:r>
              <a:rPr lang="en-US" b="1" dirty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content</a:t>
            </a:r>
            <a:r>
              <a:rPr lang="en-US" sz="3400" dirty="0">
                <a:solidFill>
                  <a:srgbClr val="000000"/>
                </a:solidFill>
                <a:ea typeface="+mn-ea"/>
              </a:rPr>
              <a:t>)</a:t>
            </a:r>
            <a:endParaRPr lang="en-US" dirty="0" smtClean="0">
              <a:ea typeface="+mn-ea"/>
            </a:endParaRPr>
          </a:p>
          <a:p>
            <a:pPr lvl="2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name</a:t>
            </a:r>
            <a:r>
              <a:rPr lang="en-US" dirty="0" smtClean="0">
                <a:ea typeface="+mn-ea"/>
              </a:rPr>
              <a:t> &amp;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content</a:t>
            </a:r>
            <a:r>
              <a:rPr lang="en-US" dirty="0" smtClean="0">
                <a:ea typeface="+mn-ea"/>
              </a:rPr>
              <a:t>,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http-equiv</a:t>
            </a:r>
            <a:r>
              <a:rPr lang="en-US" dirty="0" smtClean="0">
                <a:ea typeface="+mn-ea"/>
              </a:rPr>
              <a:t> &amp;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content</a:t>
            </a:r>
            <a:r>
              <a:rPr lang="en-US" dirty="0" smtClean="0">
                <a:ea typeface="+mn-ea"/>
              </a:rPr>
              <a:t> pairs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name</a:t>
            </a:r>
            <a:r>
              <a:rPr lang="en-US" dirty="0" smtClean="0">
                <a:ea typeface="+mn-ea"/>
              </a:rPr>
              <a:t> can be anything, e.g., author, description, ...</a:t>
            </a:r>
          </a:p>
          <a:p>
            <a:pPr lvl="1"/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ea typeface="+mn-ea"/>
                <a:cs typeface="Courier New" pitchFamily="49" charset="0"/>
              </a:rPr>
              <a:t>http-equiv</a:t>
            </a:r>
            <a:r>
              <a:rPr lang="en-US" dirty="0" smtClean="0">
                <a:ea typeface="+mn-ea"/>
              </a:rPr>
              <a:t> is the name of a HTTP header field</a:t>
            </a:r>
          </a:p>
          <a:p>
            <a:pPr lvl="2"/>
            <a:r>
              <a:rPr lang="en-US" dirty="0" smtClean="0">
                <a:ea typeface="+mn-ea"/>
              </a:rPr>
              <a:t>Content-Type, Expire, Cache-Control, Refresh, …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72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&lt;head&gt; &lt;/head&gt;</a:t>
            </a:r>
            <a:r>
              <a:rPr lang="en-US" dirty="0" smtClean="0">
                <a:cs typeface="Courier New" pitchFamily="49" charset="0"/>
              </a:rPr>
              <a:t>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dirty="0" smtClean="0"/>
              <a:t>Example of </a:t>
            </a:r>
            <a:r>
              <a:rPr lang="en-US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&lt;meta&gt;</a:t>
            </a:r>
          </a:p>
          <a:p>
            <a:pPr lvl="7"/>
            <a:endParaRPr lang="en-US" b="1" dirty="0" smtClean="0">
              <a:solidFill>
                <a:srgbClr val="003399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None/>
            </a:pP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&lt;head&gt;</a:t>
            </a:r>
          </a:p>
          <a:p>
            <a:pPr>
              <a:spcBef>
                <a:spcPts val="500"/>
              </a:spcBef>
              <a:buNone/>
            </a:pPr>
            <a:r>
              <a:rPr lang="en-US" sz="21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 name="</a:t>
            </a:r>
            <a:r>
              <a:rPr lang="en-US" sz="2100" dirty="0" smtClean="0">
                <a:latin typeface="+mj-lt"/>
                <a:cs typeface="Courier New" pitchFamily="49" charset="0"/>
              </a:rPr>
              <a:t>description</a:t>
            </a:r>
            <a:r>
              <a:rPr lang="en-US" sz="21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content="</a:t>
            </a:r>
            <a:r>
              <a:rPr lang="en-US" sz="2100" dirty="0" smtClean="0">
                <a:latin typeface="+mj-lt"/>
                <a:cs typeface="Courier New" pitchFamily="49" charset="0"/>
              </a:rPr>
              <a:t>Ali </a:t>
            </a:r>
            <a:r>
              <a:rPr lang="en-US" sz="2100" dirty="0" err="1" smtClean="0">
                <a:latin typeface="+mj-lt"/>
                <a:cs typeface="Courier New" pitchFamily="49" charset="0"/>
              </a:rPr>
              <a:t>Karimi’s</a:t>
            </a:r>
            <a:r>
              <a:rPr lang="en-US" sz="2100" dirty="0" smtClean="0">
                <a:latin typeface="+mj-lt"/>
                <a:cs typeface="Courier New" pitchFamily="49" charset="0"/>
              </a:rPr>
              <a:t> home page</a:t>
            </a:r>
            <a:r>
              <a:rPr lang="en-US" sz="21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spcBef>
                <a:spcPts val="500"/>
              </a:spcBef>
              <a:buNone/>
            </a:pP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 name="</a:t>
            </a:r>
            <a:r>
              <a:rPr lang="en-US" sz="2300" dirty="0" smtClean="0">
                <a:latin typeface="+mj-lt"/>
                <a:cs typeface="Courier New" pitchFamily="49" charset="0"/>
              </a:rPr>
              <a:t>author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content="</a:t>
            </a:r>
            <a:r>
              <a:rPr lang="en-US" sz="2300" dirty="0" smtClean="0">
                <a:latin typeface="+mj-lt"/>
                <a:cs typeface="Courier New" pitchFamily="49" charset="0"/>
              </a:rPr>
              <a:t>Ali </a:t>
            </a:r>
            <a:r>
              <a:rPr lang="en-US" sz="2300" dirty="0" err="1" smtClean="0">
                <a:latin typeface="+mj-lt"/>
                <a:cs typeface="Courier New" pitchFamily="49" charset="0"/>
              </a:rPr>
              <a:t>Karimi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 lvl="0">
              <a:spcBef>
                <a:spcPts val="500"/>
              </a:spcBef>
              <a:buNone/>
            </a:pPr>
            <a:r>
              <a:rPr lang="en-US" sz="2300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 name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en-US" sz="2300" dirty="0" smtClean="0">
                <a:solidFill>
                  <a:srgbClr val="000000"/>
                </a:solidFill>
                <a:latin typeface="Arial"/>
                <a:cs typeface="Courier New" pitchFamily="49" charset="0"/>
              </a:rPr>
              <a:t>keyword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content="</a:t>
            </a:r>
            <a:r>
              <a:rPr lang="en-US" sz="2300" dirty="0" smtClean="0">
                <a:solidFill>
                  <a:srgbClr val="000000"/>
                </a:solidFill>
                <a:latin typeface="Arial"/>
                <a:cs typeface="Courier New" pitchFamily="49" charset="0"/>
              </a:rPr>
              <a:t>Football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en-US" sz="2300" b="1" dirty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/&gt;</a:t>
            </a:r>
          </a:p>
          <a:p>
            <a:pPr>
              <a:spcBef>
                <a:spcPts val="500"/>
              </a:spcBef>
              <a:buNone/>
            </a:pP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 http-equiv="</a:t>
            </a:r>
            <a:r>
              <a:rPr lang="en-US" sz="2300" dirty="0" smtClean="0">
                <a:latin typeface="+mj-lt"/>
                <a:cs typeface="Courier New" pitchFamily="49" charset="0"/>
              </a:rPr>
              <a:t>expires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content="</a:t>
            </a:r>
            <a:r>
              <a:rPr lang="en-US" sz="2300" dirty="0" smtClean="0">
                <a:latin typeface="+mj-lt"/>
                <a:cs typeface="Courier New" pitchFamily="49" charset="0"/>
              </a:rPr>
              <a:t>6 April 2015 23:59:59 GMT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spcBef>
                <a:spcPts val="500"/>
              </a:spcBef>
              <a:buNone/>
            </a:pP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 http-equiv="</a:t>
            </a:r>
            <a:r>
              <a:rPr lang="en-US" sz="2300" dirty="0" smtClean="0">
                <a:latin typeface="+mj-lt"/>
                <a:cs typeface="Courier New" pitchFamily="49" charset="0"/>
              </a:rPr>
              <a:t>refresh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content="</a:t>
            </a:r>
            <a:r>
              <a:rPr lang="en-US" sz="2300" dirty="0" smtClean="0">
                <a:latin typeface="+mj-lt"/>
                <a:cs typeface="Courier New" pitchFamily="49" charset="0"/>
              </a:rPr>
              <a:t>10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spcBef>
                <a:spcPts val="500"/>
              </a:spcBef>
              <a:buNone/>
            </a:pP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&lt;meta http-equiv="</a:t>
            </a:r>
            <a:r>
              <a:rPr lang="en-US" sz="2300" dirty="0" smtClean="0">
                <a:latin typeface="+mj-lt"/>
                <a:cs typeface="Courier New" pitchFamily="49" charset="0"/>
              </a:rPr>
              <a:t>Content-Type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content="</a:t>
            </a:r>
            <a:r>
              <a:rPr lang="en-US" sz="2300" dirty="0" smtClean="0">
                <a:latin typeface="+mj-lt"/>
                <a:cs typeface="Courier New" pitchFamily="49" charset="0"/>
              </a:rPr>
              <a:t>text/html</a:t>
            </a: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" /&gt;</a:t>
            </a:r>
          </a:p>
          <a:p>
            <a:pPr>
              <a:spcBef>
                <a:spcPts val="500"/>
              </a:spcBef>
              <a:buNone/>
            </a:pPr>
            <a:r>
              <a:rPr lang="en-US" sz="23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&lt;/head&gt;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&lt;head&gt; &lt;/head&gt;</a:t>
            </a:r>
            <a:r>
              <a:rPr lang="en-US" dirty="0" smtClean="0">
                <a:cs typeface="Courier New" pitchFamily="49" charset="0"/>
              </a:rPr>
              <a:t> (cont’d)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&lt;script&gt;</a:t>
            </a:r>
            <a:r>
              <a:rPr lang="en-US" sz="2800" dirty="0" smtClean="0"/>
              <a:t>: Introduce scripts used in the document</a:t>
            </a:r>
          </a:p>
          <a:p>
            <a:pPr lvl="1"/>
            <a:r>
              <a:rPr lang="en-US" sz="2400" dirty="0" smtClean="0"/>
              <a:t>The script can be internal (defined in the document) or external (somewhere on web)</a:t>
            </a:r>
          </a:p>
          <a:p>
            <a:pPr lvl="1"/>
            <a:r>
              <a:rPr lang="en-US" sz="2400" dirty="0"/>
              <a:t>We will discussed in </a:t>
            </a:r>
            <a:r>
              <a:rPr lang="en-US" sz="2400" dirty="0" smtClean="0"/>
              <a:t>next lectures</a:t>
            </a:r>
          </a:p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&lt;style&gt;</a:t>
            </a:r>
            <a:r>
              <a:rPr lang="en-US" sz="2800" dirty="0" smtClean="0"/>
              <a:t>: Enclose document-wide styles</a:t>
            </a:r>
          </a:p>
          <a:p>
            <a:pPr lvl="1"/>
            <a:r>
              <a:rPr lang="en-US" sz="2400" dirty="0" smtClean="0"/>
              <a:t>CSS rules</a:t>
            </a:r>
          </a:p>
          <a:p>
            <a:pPr lvl="1"/>
            <a:r>
              <a:rPr lang="en-US" sz="2400" dirty="0" smtClean="0"/>
              <a:t>Either internal or external</a:t>
            </a:r>
          </a:p>
          <a:p>
            <a:pPr lvl="1"/>
            <a:r>
              <a:rPr lang="en-US" sz="2400" dirty="0" smtClean="0"/>
              <a:t>We will discussed in the next lecture</a:t>
            </a:r>
          </a:p>
          <a:p>
            <a:r>
              <a:rPr lang="en-US" sz="2800" b="1" dirty="0" smtClean="0">
                <a:solidFill>
                  <a:srgbClr val="003399"/>
                </a:solidFill>
                <a:latin typeface="Courier New" pitchFamily="49" charset="0"/>
                <a:cs typeface="Courier New" pitchFamily="49" charset="0"/>
              </a:rPr>
              <a:t>&lt;link&gt;</a:t>
            </a:r>
            <a:r>
              <a:rPr lang="en-US" sz="2800" dirty="0" smtClean="0"/>
              <a:t>: To link some other documents to this HTML file</a:t>
            </a:r>
            <a:endParaRPr lang="en-US" sz="2800" dirty="0"/>
          </a:p>
          <a:p>
            <a:pPr lvl="1"/>
            <a:r>
              <a:rPr lang="en-US" sz="2400" dirty="0" smtClean="0"/>
              <a:t>External CSS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2C2C2"/>
                </a:solidFill>
              </a:rPr>
              <a:t>Introduction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XHTML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Body</a:t>
            </a:r>
          </a:p>
          <a:p>
            <a:r>
              <a:rPr lang="en-US" dirty="0" smtClean="0">
                <a:solidFill>
                  <a:srgbClr val="C2C2C2"/>
                </a:solidFill>
              </a:rPr>
              <a:t>Head</a:t>
            </a:r>
          </a:p>
          <a:p>
            <a:r>
              <a:rPr lang="en-US" dirty="0" smtClean="0"/>
              <a:t>XHTML in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Remarks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r>
              <a:rPr lang="en-US" dirty="0" smtClean="0"/>
              <a:t>HTML is open source</a:t>
            </a:r>
          </a:p>
          <a:p>
            <a:pPr lvl="1"/>
            <a:r>
              <a:rPr lang="en-US" dirty="0" smtClean="0"/>
              <a:t>We can find how others do amazing things in web</a:t>
            </a:r>
          </a:p>
          <a:p>
            <a:pPr lvl="1"/>
            <a:r>
              <a:rPr lang="en-US" dirty="0" smtClean="0"/>
              <a:t>Learning by reading others’ codes</a:t>
            </a:r>
          </a:p>
          <a:p>
            <a:pPr lvl="2"/>
            <a:r>
              <a:rPr lang="en-US" dirty="0" smtClean="0"/>
              <a:t>Copy/Past is strictly prohibited (copyright) </a:t>
            </a:r>
          </a:p>
          <a:p>
            <a:r>
              <a:rPr lang="en-US" dirty="0" smtClean="0"/>
              <a:t>XHTML is not a programming language</a:t>
            </a:r>
          </a:p>
          <a:p>
            <a:pPr lvl="1"/>
            <a:r>
              <a:rPr lang="en-US" dirty="0" smtClean="0"/>
              <a:t>No compiler or interpreter </a:t>
            </a:r>
          </a:p>
          <a:p>
            <a:pPr lvl="1"/>
            <a:r>
              <a:rPr lang="en-US" dirty="0" smtClean="0"/>
              <a:t>What happen if there is an error ….</a:t>
            </a:r>
          </a:p>
          <a:p>
            <a:pPr lvl="2"/>
            <a:r>
              <a:rPr lang="en-US" dirty="0" smtClean="0"/>
              <a:t>Depends on browser</a:t>
            </a:r>
          </a:p>
          <a:p>
            <a:pPr lvl="2"/>
            <a:r>
              <a:rPr lang="en-US" dirty="0" smtClean="0"/>
              <a:t>Developer should check with multiple browsers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76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Development Toolbox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sz="2800" dirty="0" smtClean="0"/>
              <a:t>A HTML editor </a:t>
            </a:r>
            <a:r>
              <a:rPr lang="en-US" sz="2000" dirty="0" smtClean="0"/>
              <a:t>(</a:t>
            </a:r>
            <a:r>
              <a:rPr lang="en-US" sz="2000" dirty="0">
                <a:hlinkClick r:id="rId2"/>
              </a:rPr>
              <a:t>http://</a:t>
            </a:r>
            <a:r>
              <a:rPr lang="en-US" sz="2000" dirty="0" smtClean="0">
                <a:hlinkClick r:id="rId2"/>
              </a:rPr>
              <a:t>en.wikipedia.org/wiki/List_of_HTML_editors</a:t>
            </a:r>
            <a:r>
              <a:rPr lang="en-US" sz="2000" dirty="0" smtClean="0"/>
              <a:t>)</a:t>
            </a:r>
            <a:endParaRPr lang="en-US" sz="2800" dirty="0" smtClean="0"/>
          </a:p>
          <a:p>
            <a:pPr lvl="1">
              <a:spcBef>
                <a:spcPts val="300"/>
              </a:spcBef>
            </a:pPr>
            <a:r>
              <a:rPr lang="en-US" sz="2400" dirty="0" smtClean="0"/>
              <a:t>A simple text editor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e.g. notepad :-P, …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HTML source code editor (syntax highlight, …)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E.g. </a:t>
            </a:r>
            <a:r>
              <a:rPr lang="en-US" sz="2400" dirty="0" err="1" smtClean="0"/>
              <a:t>Aptana</a:t>
            </a:r>
            <a:r>
              <a:rPr lang="en-US" sz="2400" dirty="0" smtClean="0"/>
              <a:t>, ….</a:t>
            </a:r>
            <a:endParaRPr lang="en-US" sz="2400" dirty="0"/>
          </a:p>
          <a:p>
            <a:pPr lvl="1">
              <a:spcBef>
                <a:spcPts val="300"/>
              </a:spcBef>
            </a:pPr>
            <a:r>
              <a:rPr lang="en-US" sz="2400" dirty="0" smtClean="0"/>
              <a:t>WYSIWYG editors (you have not work with tags)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E.g. MS. FrontPage, Word (export to HTML), …</a:t>
            </a:r>
          </a:p>
          <a:p>
            <a:pPr>
              <a:spcBef>
                <a:spcPts val="300"/>
              </a:spcBef>
            </a:pPr>
            <a:r>
              <a:rPr lang="en-US" sz="2800" dirty="0" smtClean="0"/>
              <a:t>A rendering software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Common browsers</a:t>
            </a:r>
          </a:p>
          <a:p>
            <a:pPr lvl="2">
              <a:spcBef>
                <a:spcPts val="300"/>
              </a:spcBef>
            </a:pPr>
            <a:r>
              <a:rPr lang="en-US" sz="2400" dirty="0" smtClean="0"/>
              <a:t>Try different browsers</a:t>
            </a:r>
          </a:p>
          <a:p>
            <a:pPr>
              <a:spcBef>
                <a:spcPts val="300"/>
              </a:spcBef>
            </a:pPr>
            <a:r>
              <a:rPr lang="en-US" sz="2800" dirty="0" smtClean="0"/>
              <a:t>Additional debugging tools</a:t>
            </a:r>
          </a:p>
          <a:p>
            <a:pPr lvl="1">
              <a:spcBef>
                <a:spcPts val="300"/>
              </a:spcBef>
            </a:pPr>
            <a:r>
              <a:rPr lang="en-US" sz="2400" dirty="0" smtClean="0"/>
              <a:t>E.g. Firebug, …</a:t>
            </a:r>
          </a:p>
          <a:p>
            <a:pPr lvl="1">
              <a:spcBef>
                <a:spcPts val="300"/>
              </a:spcBef>
            </a:pPr>
            <a:endParaRPr lang="en-US" sz="2400" dirty="0" smtClean="0"/>
          </a:p>
          <a:p>
            <a:pPr lvl="1">
              <a:spcBef>
                <a:spcPts val="300"/>
              </a:spcBef>
            </a:pPr>
            <a:endParaRPr lang="en-US" sz="2400" dirty="0" smtClean="0"/>
          </a:p>
          <a:p>
            <a:pPr lvl="1">
              <a:spcBef>
                <a:spcPts val="300"/>
              </a:spcBef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95178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Debugging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Browser reads XHTML document</a:t>
            </a:r>
          </a:p>
          <a:p>
            <a:pPr lvl="1"/>
            <a:r>
              <a:rPr lang="en-US" dirty="0" smtClean="0"/>
              <a:t>Parses it </a:t>
            </a:r>
            <a:r>
              <a:rPr lang="en-US" dirty="0" smtClean="0">
                <a:sym typeface="Wingdings" pitchFamily="2" charset="2"/>
              </a:rPr>
              <a:t> tree 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Document Object Model (DOM) tree </a:t>
            </a:r>
          </a:p>
          <a:p>
            <a:pPr lvl="2"/>
            <a:r>
              <a:rPr lang="en-US" dirty="0" smtClean="0">
                <a:sym typeface="Wingdings" pitchFamily="2" charset="2"/>
              </a:rPr>
              <a:t>Shows how browser interprets your XHTML file</a:t>
            </a:r>
            <a:endParaRPr lang="en-US" dirty="0" smtClean="0"/>
          </a:p>
          <a:p>
            <a:r>
              <a:rPr lang="en-US" dirty="0" smtClean="0"/>
              <a:t>Google Chrome “Inspect element”</a:t>
            </a:r>
          </a:p>
          <a:p>
            <a:r>
              <a:rPr lang="en-US" dirty="0" smtClean="0"/>
              <a:t>Firefox extensions</a:t>
            </a:r>
          </a:p>
          <a:p>
            <a:pPr lvl="1"/>
            <a:r>
              <a:rPr lang="en-US" dirty="0" smtClean="0"/>
              <a:t>Firebug </a:t>
            </a:r>
          </a:p>
          <a:p>
            <a:pPr lvl="1"/>
            <a:r>
              <a:rPr lang="en-US" dirty="0" smtClean="0"/>
              <a:t>Web </a:t>
            </a:r>
            <a:r>
              <a:rPr lang="en-US" dirty="0"/>
              <a:t>Developer toolbar</a:t>
            </a:r>
          </a:p>
          <a:p>
            <a:pPr lvl="1"/>
            <a:r>
              <a:rPr lang="en-US" dirty="0" smtClean="0"/>
              <a:t>Total Validator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Firefox: Firebug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112690"/>
            <a:ext cx="7000875" cy="513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Chrome: Inspect Element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152" y="1107744"/>
            <a:ext cx="8382000" cy="5169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Validation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validator.w3.org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81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857375"/>
            <a:ext cx="7639050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06295099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Answers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18160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2400" dirty="0" smtClean="0"/>
              <a:t>Q2.1) What language is used for web pages? HTML</a:t>
            </a:r>
          </a:p>
          <a:p>
            <a:pPr>
              <a:spcBef>
                <a:spcPts val="1000"/>
              </a:spcBef>
            </a:pPr>
            <a:r>
              <a:rPr lang="en-US" sz="2400" dirty="0" smtClean="0"/>
              <a:t>Q2.2) What are major parts of a web page?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&lt;head&gt; </a:t>
            </a:r>
            <a:r>
              <a:rPr lang="en-US" sz="2400" dirty="0" smtClean="0"/>
              <a:t>&amp;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&lt;body&gt;</a:t>
            </a:r>
          </a:p>
          <a:p>
            <a:pPr>
              <a:spcBef>
                <a:spcPts val="1000"/>
              </a:spcBef>
            </a:pPr>
            <a:r>
              <a:rPr lang="en-US" sz="2400" dirty="0" smtClean="0"/>
              <a:t>Q2.3) How to organize text?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&lt;p&gt;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h</a:t>
            </a:r>
            <a:r>
              <a:rPr lang="en-US" sz="2400" dirty="0" err="1" smtClean="0"/>
              <a:t>x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,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ol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,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ul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sz="2400" dirty="0" smtClean="0"/>
              <a:t>, …</a:t>
            </a:r>
          </a:p>
          <a:p>
            <a:pPr>
              <a:spcBef>
                <a:spcPts val="1000"/>
              </a:spcBef>
            </a:pPr>
            <a:r>
              <a:rPr lang="en-US" sz="2400" dirty="0" smtClean="0"/>
              <a:t>Q2.4) How to insert link?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&lt;a 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href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=""&gt;&lt;/a&gt;</a:t>
            </a:r>
          </a:p>
          <a:p>
            <a:pPr>
              <a:spcBef>
                <a:spcPts val="1000"/>
              </a:spcBef>
            </a:pPr>
            <a:r>
              <a:rPr lang="en-US" sz="2400" dirty="0" smtClean="0"/>
              <a:t>Q2.5) How to insert images?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="" /&gt;</a:t>
            </a:r>
          </a:p>
          <a:p>
            <a:pPr>
              <a:spcBef>
                <a:spcPts val="1000"/>
              </a:spcBef>
            </a:pPr>
            <a:r>
              <a:rPr lang="en-US" sz="2400" dirty="0" smtClean="0"/>
              <a:t>Q2.6) How to insert tables?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&lt;table&gt;&lt;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&gt;&lt;td&gt;&lt;/td&gt;&lt;/</a:t>
            </a:r>
            <a:r>
              <a:rPr lang="en-US" sz="2400" b="1" dirty="0" err="1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&gt;&lt;/table&gt;</a:t>
            </a:r>
          </a:p>
          <a:p>
            <a:pPr>
              <a:spcBef>
                <a:spcPts val="1000"/>
              </a:spcBef>
            </a:pPr>
            <a:r>
              <a:rPr lang="en-US" sz="2400" dirty="0" smtClean="0"/>
              <a:t>Q2.7) How to get data from user? </a:t>
            </a:r>
            <a:r>
              <a:rPr lang="en-US" sz="2400" b="1" dirty="0" smtClean="0">
                <a:solidFill>
                  <a:srgbClr val="0033CC"/>
                </a:solidFill>
                <a:latin typeface="Courier New" pitchFamily="49" charset="0"/>
                <a:cs typeface="Courier New" pitchFamily="49" charset="0"/>
              </a:rPr>
              <a:t>&lt;form action="" method=""&gt; &lt;input type=""&gt; &lt;file&gt;… &lt;/form&gt;</a:t>
            </a:r>
          </a:p>
          <a:p>
            <a:pPr>
              <a:spcBef>
                <a:spcPts val="1000"/>
              </a:spcBef>
            </a:pPr>
            <a:r>
              <a:rPr lang="en-US" sz="2400" dirty="0" smtClean="0"/>
              <a:t> Q2.8) Syntax / Semantic error? Validation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82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C0000"/>
                </a:solidFill>
              </a:rPr>
              <a:t>Reading Assignment</a:t>
            </a:r>
            <a:r>
              <a:rPr lang="en-US" dirty="0" smtClean="0"/>
              <a:t>: Chapter 2 of “Programming the World Wide Web”</a:t>
            </a:r>
          </a:p>
          <a:p>
            <a:r>
              <a:rPr lang="en-US" dirty="0" smtClean="0"/>
              <a:t>Additional References</a:t>
            </a:r>
          </a:p>
          <a:p>
            <a:pPr lvl="1"/>
            <a:r>
              <a:rPr lang="en-US" dirty="0" smtClean="0"/>
              <a:t>Jon </a:t>
            </a:r>
            <a:r>
              <a:rPr lang="en-US" dirty="0" err="1" smtClean="0"/>
              <a:t>Duckett</a:t>
            </a:r>
            <a:r>
              <a:rPr lang="en-US" dirty="0" smtClean="0"/>
              <a:t>, “Beginning HTML, XHTML, CSS, and JavaScript”, Chapters 1-6 </a:t>
            </a:r>
          </a:p>
          <a:p>
            <a:pPr lvl="1"/>
            <a:r>
              <a:rPr lang="en-US" dirty="0" smtClean="0"/>
              <a:t>Thomas A. Powell, “HTML &amp; </a:t>
            </a:r>
            <a:r>
              <a:rPr lang="en-US" dirty="0" err="1" smtClean="0"/>
              <a:t>CSS</a:t>
            </a:r>
            <a:r>
              <a:rPr lang="en-US" dirty="0" smtClean="0"/>
              <a:t>: The Complete Reference, 5</a:t>
            </a:r>
            <a:r>
              <a:rPr lang="en-US" baseline="30000" dirty="0" smtClean="0"/>
              <a:t>th</a:t>
            </a:r>
            <a:r>
              <a:rPr lang="en-US" dirty="0" smtClean="0"/>
              <a:t> Edition”, Chapters 1 and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801DCE-B9BA-4E03-9E27-F95A86438FEE}" type="slidenum">
              <a:rPr lang="en-US" smtClean="0"/>
              <a:pPr>
                <a:defRPr/>
              </a:pPr>
              <a:t>83</a:t>
            </a:fld>
            <a:endParaRPr lang="en-US" dirty="0"/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9324881d0abebc99da25fb35dd837f32ba91cd"/>
</p:tagLst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28826</TotalTime>
  <Words>4571</Words>
  <Application>Microsoft Office PowerPoint</Application>
  <PresentationFormat>On-screen Show (4:3)</PresentationFormat>
  <Paragraphs>863</Paragraphs>
  <Slides>83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1" baseType="lpstr">
      <vt:lpstr>MS PGothic</vt:lpstr>
      <vt:lpstr>Arial</vt:lpstr>
      <vt:lpstr>Calibri</vt:lpstr>
      <vt:lpstr>Courier New</vt:lpstr>
      <vt:lpstr>SymbolPS</vt:lpstr>
      <vt:lpstr>Times New Roman</vt:lpstr>
      <vt:lpstr>Wingdings</vt:lpstr>
      <vt:lpstr>Edge</vt:lpstr>
      <vt:lpstr>(X)HTML</vt:lpstr>
      <vt:lpstr>Questions </vt:lpstr>
      <vt:lpstr>Homework</vt:lpstr>
      <vt:lpstr>Outline</vt:lpstr>
      <vt:lpstr>Outline</vt:lpstr>
      <vt:lpstr>Introduction</vt:lpstr>
      <vt:lpstr>Introduction (cont’d) </vt:lpstr>
      <vt:lpstr>Introduction (cont’d) </vt:lpstr>
      <vt:lpstr>Outline</vt:lpstr>
      <vt:lpstr>HTML Basics: Tags</vt:lpstr>
      <vt:lpstr>HTML Basics: Attributes</vt:lpstr>
      <vt:lpstr>HTML Basics: Tag &amp; Attribute &amp; Element</vt:lpstr>
      <vt:lpstr>HTML Processing</vt:lpstr>
      <vt:lpstr>HTML Processing: Rendering</vt:lpstr>
      <vt:lpstr>HTML Processing: Rendering (cont’d)</vt:lpstr>
      <vt:lpstr>The “Hello World” Example</vt:lpstr>
      <vt:lpstr>Nested Tags</vt:lpstr>
      <vt:lpstr>Special Characters/Symbols</vt:lpstr>
      <vt:lpstr>Outline</vt:lpstr>
      <vt:lpstr>XHTML</vt:lpstr>
      <vt:lpstr>XHTML Rules (vs. HTML)</vt:lpstr>
      <vt:lpstr>XHTML Skeleton</vt:lpstr>
      <vt:lpstr>Document Types</vt:lpstr>
      <vt:lpstr>XHTML Document Template</vt:lpstr>
      <vt:lpstr>Outline</vt:lpstr>
      <vt:lpstr>&lt;body&gt; &lt;/body&gt;</vt:lpstr>
      <vt:lpstr>Text Layout</vt:lpstr>
      <vt:lpstr>Text Elements</vt:lpstr>
      <vt:lpstr>Text: Headings</vt:lpstr>
      <vt:lpstr>Text: Paragraphs</vt:lpstr>
      <vt:lpstr>Text: Lists &amp; Definitions</vt:lpstr>
      <vt:lpstr>Text: Lists &amp; Definitions (cont’d)</vt:lpstr>
      <vt:lpstr>Text: Lists &amp; Definitions (cont’d) </vt:lpstr>
      <vt:lpstr>Text: Line break &amp; Spaces</vt:lpstr>
      <vt:lpstr>Text: Presentation &amp; Meaning</vt:lpstr>
      <vt:lpstr>Text: Physical Appearance </vt:lpstr>
      <vt:lpstr>Text: Logical Meaning</vt:lpstr>
      <vt:lpstr>Images</vt:lpstr>
      <vt:lpstr>PowerPoint Presentation</vt:lpstr>
      <vt:lpstr>Tables</vt:lpstr>
      <vt:lpstr>Tables (cont’d)</vt:lpstr>
      <vt:lpstr>Tables (cont’d)</vt:lpstr>
      <vt:lpstr>Tables (cont’d)</vt:lpstr>
      <vt:lpstr>Tables (cont’d)</vt:lpstr>
      <vt:lpstr>General Document Contents Summary</vt:lpstr>
      <vt:lpstr>Links</vt:lpstr>
      <vt:lpstr>Links (cont’d)</vt:lpstr>
      <vt:lpstr>Links (cont’d)</vt:lpstr>
      <vt:lpstr>Links (cont’d)</vt:lpstr>
      <vt:lpstr>Forms </vt:lpstr>
      <vt:lpstr>Forms (cont’d)</vt:lpstr>
      <vt:lpstr>Forms (cont’d)</vt:lpstr>
      <vt:lpstr>Forms: Buttons</vt:lpstr>
      <vt:lpstr>Forms: Buttons (cont’d)</vt:lpstr>
      <vt:lpstr>Forms: Text Input</vt:lpstr>
      <vt:lpstr>Forms: Text Input  (cont’d)</vt:lpstr>
      <vt:lpstr>Forms: Checkbox</vt:lpstr>
      <vt:lpstr>Forms: Checkbox  (cont’d)</vt:lpstr>
      <vt:lpstr>Forms: Radio Buttons</vt:lpstr>
      <vt:lpstr>Forms: Radio Buttons  (cont’d)</vt:lpstr>
      <vt:lpstr>Forms: Select Boxes</vt:lpstr>
      <vt:lpstr>Forms: Select Boxes (cont’d)</vt:lpstr>
      <vt:lpstr>Forms: File Input</vt:lpstr>
      <vt:lpstr>Forms: File Input (cont’d)</vt:lpstr>
      <vt:lpstr>Real Examples </vt:lpstr>
      <vt:lpstr>Form Summary</vt:lpstr>
      <vt:lpstr>Multimedia</vt:lpstr>
      <vt:lpstr>Inline &amp; Block-level Elements </vt:lpstr>
      <vt:lpstr>Outline</vt:lpstr>
      <vt:lpstr>&lt;head&gt; &lt;/head&gt;</vt:lpstr>
      <vt:lpstr>&lt;head&gt; &lt;/head&gt; (cont’d)</vt:lpstr>
      <vt:lpstr>&lt;head&gt; &lt;/head&gt; (cont’d)</vt:lpstr>
      <vt:lpstr>&lt;head&gt; &lt;/head&gt; (cont’d)</vt:lpstr>
      <vt:lpstr>&lt;head&gt; &lt;/head&gt; (cont’d)</vt:lpstr>
      <vt:lpstr>Outline</vt:lpstr>
      <vt:lpstr>HTML Remarks</vt:lpstr>
      <vt:lpstr>HTML Development Toolbox</vt:lpstr>
      <vt:lpstr>HTML Debugging</vt:lpstr>
      <vt:lpstr>Firefox: Firebug</vt:lpstr>
      <vt:lpstr>Chrome: Inspect Element</vt:lpstr>
      <vt:lpstr>HTML Validation</vt:lpstr>
      <vt:lpstr>Answers</vt:lpstr>
      <vt:lpstr>References</vt:lpstr>
    </vt:vector>
  </TitlesOfParts>
  <Company>AUT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subject>Internet Engineering</dc:subject>
  <dc:creator>Bahador Bakhshi</dc:creator>
  <cp:lastModifiedBy>Account</cp:lastModifiedBy>
  <cp:revision>2172</cp:revision>
  <dcterms:created xsi:type="dcterms:W3CDTF">2007-10-07T13:27:00Z</dcterms:created>
  <dcterms:modified xsi:type="dcterms:W3CDTF">2014-11-17T06:24:57Z</dcterms:modified>
</cp:coreProperties>
</file>