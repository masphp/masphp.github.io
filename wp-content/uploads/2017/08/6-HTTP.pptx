
<file path=[Content_Types].xml><?xml version="1.0" encoding="utf-8"?>
<Types xmlns="http://schemas.openxmlformats.org/package/2006/content-types"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30"/>
  </p:notesMasterIdLst>
  <p:handoutMasterIdLst>
    <p:handoutMasterId r:id="rId31"/>
  </p:handoutMasterIdLst>
  <p:sldIdLst>
    <p:sldId id="572" r:id="rId2"/>
    <p:sldId id="576" r:id="rId3"/>
    <p:sldId id="597" r:id="rId4"/>
    <p:sldId id="598" r:id="rId5"/>
    <p:sldId id="600" r:id="rId6"/>
    <p:sldId id="599" r:id="rId7"/>
    <p:sldId id="601" r:id="rId8"/>
    <p:sldId id="581" r:id="rId9"/>
    <p:sldId id="582" r:id="rId10"/>
    <p:sldId id="602" r:id="rId11"/>
    <p:sldId id="603" r:id="rId12"/>
    <p:sldId id="586" r:id="rId13"/>
    <p:sldId id="584" r:id="rId14"/>
    <p:sldId id="604" r:id="rId15"/>
    <p:sldId id="585" r:id="rId16"/>
    <p:sldId id="587" r:id="rId17"/>
    <p:sldId id="583" r:id="rId18"/>
    <p:sldId id="579" r:id="rId19"/>
    <p:sldId id="588" r:id="rId20"/>
    <p:sldId id="580" r:id="rId21"/>
    <p:sldId id="589" r:id="rId22"/>
    <p:sldId id="590" r:id="rId23"/>
    <p:sldId id="591" r:id="rId24"/>
    <p:sldId id="592" r:id="rId25"/>
    <p:sldId id="593" r:id="rId26"/>
    <p:sldId id="594" r:id="rId27"/>
    <p:sldId id="595" r:id="rId28"/>
    <p:sldId id="596" r:id="rId2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00"/>
    <a:srgbClr val="FF0000"/>
    <a:srgbClr val="000066"/>
    <a:srgbClr val="006666"/>
    <a:srgbClr val="C2E1B6"/>
    <a:srgbClr val="B1DDC8"/>
    <a:srgbClr val="008080"/>
    <a:srgbClr val="B4EAD9"/>
    <a:srgbClr val="D3FD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41" autoAdjust="0"/>
    <p:restoredTop sz="94660"/>
  </p:normalViewPr>
  <p:slideViewPr>
    <p:cSldViewPr>
      <p:cViewPr varScale="1">
        <p:scale>
          <a:sx n="73" d="100"/>
          <a:sy n="73" d="100"/>
        </p:scale>
        <p:origin x="-1080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8" d="100"/>
          <a:sy n="58" d="100"/>
        </p:scale>
        <p:origin x="-1302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8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4218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4218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4218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2D6D881-6E46-4542-AB2D-9B223811907A}" type="slidenum">
              <a:rPr lang="ar-SA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57420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0D8A1F36-545F-4529-9CE4-88BB5F400F25}" type="slidenum">
              <a:rPr lang="ar-SA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07865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8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مهر 85</a:t>
            </a:r>
            <a:endParaRPr lang="en-US" b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729F56C-900F-4D18-9F69-353702BF47DF}" type="slidenum">
              <a:rPr lang="ar-SA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999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مهر 85</a:t>
            </a:r>
            <a:endParaRPr lang="en-US" b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10BAEB2-4BCC-45D4-BD5D-29E8E980573E}" type="slidenum">
              <a:rPr lang="ar-SA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727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مهر 85</a:t>
            </a:r>
            <a:endParaRPr lang="en-US" b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6C8DB0C-C66C-4CC5-B1C5-0259A734DD1C}" type="slidenum">
              <a:rPr lang="ar-SA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271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مهر 85</a:t>
            </a:r>
            <a:endParaRPr lang="en-US" b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43DA188-70A0-4173-BB20-D1D089D6A41B}" type="slidenum">
              <a:rPr lang="ar-SA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6126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مهر 85</a:t>
            </a:r>
            <a:endParaRPr lang="en-US" b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A9055B3-61B2-4946-9D74-14142FCFA798}" type="slidenum">
              <a:rPr lang="ar-SA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179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مهر 85</a:t>
            </a:r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E4D5480-A874-40E0-840B-FD45C4E1B0D3}" type="slidenum">
              <a:rPr lang="ar-SA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095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مهر 85</a:t>
            </a:r>
            <a:endParaRPr lang="en-US" b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5577009-44F2-4233-8330-9A67D8864F17}" type="slidenum">
              <a:rPr lang="ar-SA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416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مهر 85</a:t>
            </a:r>
            <a:endParaRPr lang="en-US" b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0BD52B0-D0B4-4290-8240-90A4ADB17F56}" type="slidenum">
              <a:rPr lang="ar-SA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0513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مهر 85</a:t>
            </a:r>
            <a:endParaRPr lang="en-US" b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8B21976-52A9-4BCD-BD5B-AFC2EBF0B048}" type="slidenum">
              <a:rPr lang="ar-SA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190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مهر 85</a:t>
            </a:r>
            <a:endParaRPr lang="en-US" b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0DAB6D4-93F9-428E-996B-18073AFE07B1}" type="slidenum">
              <a:rPr lang="ar-SA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168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مهر 85</a:t>
            </a:r>
            <a:endParaRPr lang="en-US" b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F534704-A1C9-4735-8F1C-37DA9AD48967}" type="slidenum">
              <a:rPr lang="ar-SA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7311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-82550" y="638175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مهر 85</a:t>
            </a:r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B34A1BDC-DB1E-4021-9907-B17276827A5C}" type="slidenum">
              <a:rPr lang="ar-SA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246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0">
          <a:gsLst>
            <a:gs pos="0">
              <a:srgbClr val="D3FDF0"/>
            </a:gs>
            <a:gs pos="100000">
              <a:schemeClr val="bg1"/>
            </a:gs>
          </a:gsLst>
          <a:path path="rect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96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-82550" y="6381750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1">
                <a:solidFill>
                  <a:srgbClr val="006666"/>
                </a:solidFill>
              </a:defRPr>
            </a:lvl1pPr>
          </a:lstStyle>
          <a:p>
            <a:r>
              <a:rPr lang="en-US" smtClean="0"/>
              <a:t>مهر 85</a:t>
            </a:r>
            <a:endParaRPr lang="en-US" b="0"/>
          </a:p>
        </p:txBody>
      </p:sp>
      <p:sp>
        <p:nvSpPr>
          <p:cNvPr id="42496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8F3C6A8C-8B1E-46F2-83EE-C011C9FF1D41}" type="slidenum">
              <a:rPr lang="ar-SA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emf"/><Relationship Id="rId3" Type="http://schemas.openxmlformats.org/officeDocument/2006/relationships/image" Target="../media/image5.png"/><Relationship Id="rId7" Type="http://schemas.openxmlformats.org/officeDocument/2006/relationships/image" Target="../media/image9.e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emf"/><Relationship Id="rId5" Type="http://schemas.openxmlformats.org/officeDocument/2006/relationships/image" Target="../media/image7.emf"/><Relationship Id="rId4" Type="http://schemas.openxmlformats.org/officeDocument/2006/relationships/image" Target="../media/image6.emf"/><Relationship Id="rId9" Type="http://schemas.openxmlformats.org/officeDocument/2006/relationships/image" Target="../media/image11.e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e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6594" name="Group 2"/>
          <p:cNvGrpSpPr>
            <a:grpSpLocks/>
          </p:cNvGrpSpPr>
          <p:nvPr/>
        </p:nvGrpSpPr>
        <p:grpSpPr bwMode="auto">
          <a:xfrm>
            <a:off x="971550" y="476250"/>
            <a:ext cx="7272338" cy="647700"/>
            <a:chOff x="612" y="391"/>
            <a:chExt cx="4581" cy="408"/>
          </a:xfrm>
        </p:grpSpPr>
        <p:sp>
          <p:nvSpPr>
            <p:cNvPr id="366595" name="AutoShape 3"/>
            <p:cNvSpPr>
              <a:spLocks noChangeArrowheads="1"/>
            </p:cNvSpPr>
            <p:nvPr/>
          </p:nvSpPr>
          <p:spPr bwMode="auto">
            <a:xfrm>
              <a:off x="612" y="391"/>
              <a:ext cx="4581" cy="40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BFDEB8"/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>
              <a:solidFill>
                <a:srgbClr val="006666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6596" name="Text Box 4"/>
            <p:cNvSpPr txBox="1">
              <a:spLocks noChangeArrowheads="1"/>
            </p:cNvSpPr>
            <p:nvPr/>
          </p:nvSpPr>
          <p:spPr bwMode="auto">
            <a:xfrm>
              <a:off x="657" y="482"/>
              <a:ext cx="444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66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 rtl="1">
                <a:spcBef>
                  <a:spcPct val="50000"/>
                </a:spcBef>
              </a:pPr>
              <a:r>
                <a:rPr lang="fa-IR" dirty="0" smtClean="0">
                  <a:solidFill>
                    <a:srgbClr val="006666"/>
                  </a:solidFill>
                  <a:cs typeface="B Titr" pitchFamily="2" charset="-78"/>
                </a:rPr>
                <a:t>پروتکلها و استانداردهای وب (</a:t>
              </a:r>
              <a:r>
                <a:rPr lang="fa-IR" dirty="0" smtClean="0">
                  <a:solidFill>
                    <a:srgbClr val="FF0000"/>
                  </a:solidFill>
                  <a:cs typeface="B Titr" pitchFamily="2" charset="-78"/>
                </a:rPr>
                <a:t>فصل نهم</a:t>
              </a:r>
              <a:r>
                <a:rPr lang="fa-IR" dirty="0" smtClean="0">
                  <a:solidFill>
                    <a:srgbClr val="006666"/>
                  </a:solidFill>
                  <a:cs typeface="B Titr" pitchFamily="2" charset="-78"/>
                </a:rPr>
                <a:t>)</a:t>
              </a:r>
              <a:endParaRPr lang="en-US" b="1" dirty="0">
                <a:solidFill>
                  <a:srgbClr val="006666"/>
                </a:solidFill>
                <a:cs typeface="B Titr" pitchFamily="2" charset="-78"/>
              </a:endParaRPr>
            </a:p>
          </p:txBody>
        </p:sp>
      </p:grpSp>
      <p:sp>
        <p:nvSpPr>
          <p:cNvPr id="366597" name="Text Box 5"/>
          <p:cNvSpPr txBox="1">
            <a:spLocks noChangeArrowheads="1"/>
          </p:cNvSpPr>
          <p:nvPr/>
        </p:nvSpPr>
        <p:spPr bwMode="auto">
          <a:xfrm>
            <a:off x="1116013" y="2205038"/>
            <a:ext cx="4319587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285750" indent="-285750" algn="r" rtl="1">
              <a:spcBef>
                <a:spcPct val="50000"/>
              </a:spcBef>
              <a:buFont typeface="Wingdings" pitchFamily="2" charset="2"/>
              <a:buChar char="ü"/>
            </a:pPr>
            <a:r>
              <a:rPr lang="fa-IR" sz="1800" b="1" dirty="0" smtClean="0">
                <a:solidFill>
                  <a:schemeClr val="accent2"/>
                </a:solidFill>
                <a:latin typeface="Times New Roman" pitchFamily="18" charset="0"/>
                <a:cs typeface="B Nazanin" pitchFamily="2" charset="-78"/>
              </a:rPr>
              <a:t>مفاهیم و معماری سیستم وب</a:t>
            </a:r>
          </a:p>
          <a:p>
            <a:pPr marL="285750" indent="-285750" algn="r" rtl="1">
              <a:spcBef>
                <a:spcPct val="50000"/>
              </a:spcBef>
              <a:buFont typeface="Wingdings" pitchFamily="2" charset="2"/>
              <a:buChar char="q"/>
            </a:pPr>
            <a:r>
              <a:rPr lang="fa-IR" sz="1800" b="1" dirty="0" smtClean="0">
                <a:solidFill>
                  <a:srgbClr val="FF0000"/>
                </a:solidFill>
                <a:latin typeface="Times New Roman" pitchFamily="18" charset="0"/>
                <a:cs typeface="B Nazanin" pitchFamily="2" charset="-78"/>
              </a:rPr>
              <a:t>پروتکل انتقال </a:t>
            </a:r>
            <a:r>
              <a:rPr lang="en-US" sz="1800" b="1" dirty="0" smtClean="0">
                <a:solidFill>
                  <a:srgbClr val="FF0000"/>
                </a:solidFill>
                <a:latin typeface="Times New Roman" pitchFamily="18" charset="0"/>
                <a:cs typeface="B Nazanin" pitchFamily="2" charset="-78"/>
              </a:rPr>
              <a:t>HTTP</a:t>
            </a:r>
            <a:endParaRPr lang="fa-IR" sz="1800" b="1" dirty="0" smtClean="0">
              <a:solidFill>
                <a:srgbClr val="FF0000"/>
              </a:solidFill>
              <a:latin typeface="Times New Roman" pitchFamily="18" charset="0"/>
              <a:cs typeface="B Nazanin" pitchFamily="2" charset="-78"/>
            </a:endParaRPr>
          </a:p>
          <a:p>
            <a:pPr marL="285750" indent="-285750" algn="r" rtl="1">
              <a:spcBef>
                <a:spcPct val="50000"/>
              </a:spcBef>
              <a:buFont typeface="Wingdings" pitchFamily="2" charset="2"/>
              <a:buChar char="q"/>
            </a:pPr>
            <a:r>
              <a:rPr lang="fa-IR" sz="18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زبانهای نشانه گذاری وب</a:t>
            </a:r>
          </a:p>
          <a:p>
            <a:pPr marL="742950" lvl="1" indent="-285750" algn="r" rtl="1">
              <a:spcBef>
                <a:spcPct val="50000"/>
              </a:spcBef>
              <a:buFont typeface="Wingdings" pitchFamily="2" charset="2"/>
              <a:buChar char="q"/>
            </a:pPr>
            <a:r>
              <a:rPr lang="en-US" sz="18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HTML</a:t>
            </a:r>
          </a:p>
          <a:p>
            <a:pPr marL="742950" lvl="1" indent="-285750" algn="r" rtl="1">
              <a:spcBef>
                <a:spcPct val="50000"/>
              </a:spcBef>
              <a:buFont typeface="Wingdings" pitchFamily="2" charset="2"/>
              <a:buChar char="q"/>
            </a:pPr>
            <a:r>
              <a:rPr lang="fa-IR" sz="18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زبانهای دیگر</a:t>
            </a:r>
            <a:endParaRPr lang="en-US" sz="1800" b="1" dirty="0" smtClean="0">
              <a:solidFill>
                <a:schemeClr val="accent6"/>
              </a:solidFill>
              <a:latin typeface="Times New Roman" pitchFamily="18" charset="0"/>
              <a:cs typeface="B Nazanin" pitchFamily="2" charset="-78"/>
            </a:endParaRPr>
          </a:p>
          <a:p>
            <a:pPr marL="285750" indent="-285750" algn="r" rtl="1">
              <a:spcBef>
                <a:spcPct val="50000"/>
              </a:spcBef>
              <a:buFont typeface="Wingdings" pitchFamily="2" charset="2"/>
              <a:buChar char="q"/>
            </a:pPr>
            <a:r>
              <a:rPr lang="fa-IR" sz="18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تحویل داده به برنامه سمت سرور</a:t>
            </a:r>
          </a:p>
          <a:p>
            <a:pPr marL="285750" indent="-285750" algn="r" rtl="1">
              <a:spcBef>
                <a:spcPct val="50000"/>
              </a:spcBef>
              <a:buFont typeface="Wingdings" pitchFamily="2" charset="2"/>
              <a:buChar char="q"/>
            </a:pPr>
            <a:r>
              <a:rPr lang="fa-IR" sz="18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سرورهای وب</a:t>
            </a:r>
            <a:endParaRPr lang="fa-IR" sz="1800" b="1" dirty="0">
              <a:solidFill>
                <a:schemeClr val="accent6"/>
              </a:solidFill>
              <a:latin typeface="Times New Roman" pitchFamily="18" charset="0"/>
              <a:cs typeface="B Nazanin" pitchFamily="2" charset="-78"/>
            </a:endParaRPr>
          </a:p>
        </p:txBody>
      </p:sp>
      <p:grpSp>
        <p:nvGrpSpPr>
          <p:cNvPr id="366598" name="Group 6"/>
          <p:cNvGrpSpPr>
            <a:grpSpLocks/>
          </p:cNvGrpSpPr>
          <p:nvPr/>
        </p:nvGrpSpPr>
        <p:grpSpPr bwMode="auto">
          <a:xfrm>
            <a:off x="4932363" y="1412875"/>
            <a:ext cx="3816350" cy="1565275"/>
            <a:chOff x="3107" y="890"/>
            <a:chExt cx="2404" cy="986"/>
          </a:xfrm>
        </p:grpSpPr>
        <p:pic>
          <p:nvPicPr>
            <p:cNvPr id="366599" name="Picture 7" descr="j030125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58" y="890"/>
              <a:ext cx="1153" cy="9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366600" name="Group 8"/>
            <p:cNvGrpSpPr>
              <a:grpSpLocks/>
            </p:cNvGrpSpPr>
            <p:nvPr/>
          </p:nvGrpSpPr>
          <p:grpSpPr bwMode="auto">
            <a:xfrm>
              <a:off x="3107" y="1026"/>
              <a:ext cx="1133" cy="227"/>
              <a:chOff x="431" y="2024"/>
              <a:chExt cx="1133" cy="227"/>
            </a:xfrm>
          </p:grpSpPr>
          <p:sp>
            <p:nvSpPr>
              <p:cNvPr id="366601" name="AutoShape 9"/>
              <p:cNvSpPr>
                <a:spLocks noChangeArrowheads="1"/>
              </p:cNvSpPr>
              <p:nvPr/>
            </p:nvSpPr>
            <p:spPr bwMode="auto">
              <a:xfrm>
                <a:off x="521" y="2024"/>
                <a:ext cx="1043" cy="227"/>
              </a:xfrm>
              <a:prstGeom prst="roundRect">
                <a:avLst>
                  <a:gd name="adj" fmla="val 16667"/>
                </a:avLst>
              </a:prstGeom>
              <a:gradFill rotWithShape="1">
                <a:gsLst>
                  <a:gs pos="0">
                    <a:srgbClr val="BFDEB8"/>
                  </a:gs>
                  <a:gs pos="100000">
                    <a:schemeClr val="bg1"/>
                  </a:gs>
                </a:gsLst>
                <a:path path="rect">
                  <a:fillToRect l="100000" t="100000"/>
                </a:path>
              </a:gradFill>
              <a:ln w="9525">
                <a:solidFill>
                  <a:srgbClr val="00666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6602" name="Text Box 10"/>
              <p:cNvSpPr txBox="1">
                <a:spLocks noChangeArrowheads="1"/>
              </p:cNvSpPr>
              <p:nvPr/>
            </p:nvSpPr>
            <p:spPr bwMode="auto">
              <a:xfrm>
                <a:off x="431" y="2024"/>
                <a:ext cx="1089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r">
                  <a:spcBef>
                    <a:spcPct val="50000"/>
                  </a:spcBef>
                </a:pPr>
                <a:r>
                  <a:rPr lang="fa-IR" sz="1600" dirty="0">
                    <a:solidFill>
                      <a:srgbClr val="FF0000"/>
                    </a:solidFill>
                    <a:cs typeface="B Titr" pitchFamily="2" charset="-78"/>
                  </a:rPr>
                  <a:t>هدفهاي آموزشي :</a:t>
                </a:r>
                <a:endParaRPr lang="en-US" sz="1600" dirty="0">
                  <a:solidFill>
                    <a:srgbClr val="FF0000"/>
                  </a:solidFill>
                  <a:cs typeface="B Titr" pitchFamily="2" charset="-78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27711676"/>
      </p:ext>
    </p:extLst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2"/>
          <p:cNvGrpSpPr>
            <a:grpSpLocks/>
          </p:cNvGrpSpPr>
          <p:nvPr/>
        </p:nvGrpSpPr>
        <p:grpSpPr bwMode="auto">
          <a:xfrm>
            <a:off x="4788024" y="328983"/>
            <a:ext cx="3503061" cy="530811"/>
            <a:chOff x="3651" y="935"/>
            <a:chExt cx="1406" cy="318"/>
          </a:xfrm>
        </p:grpSpPr>
        <p:sp>
          <p:nvSpPr>
            <p:cNvPr id="8" name="AutoShape 3"/>
            <p:cNvSpPr>
              <a:spLocks noChangeArrowheads="1"/>
            </p:cNvSpPr>
            <p:nvPr/>
          </p:nvSpPr>
          <p:spPr bwMode="auto">
            <a:xfrm>
              <a:off x="3651" y="935"/>
              <a:ext cx="1406" cy="31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BFDEB8"/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>
              <a:solidFill>
                <a:srgbClr val="006666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Text Box 4"/>
            <p:cNvSpPr txBox="1">
              <a:spLocks noChangeArrowheads="1"/>
            </p:cNvSpPr>
            <p:nvPr/>
          </p:nvSpPr>
          <p:spPr bwMode="auto">
            <a:xfrm>
              <a:off x="3673" y="987"/>
              <a:ext cx="1361" cy="2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 rtl="1">
                <a:spcBef>
                  <a:spcPct val="50000"/>
                </a:spcBef>
              </a:pPr>
              <a:r>
                <a:rPr lang="fa-IR" sz="1800" b="1" dirty="0" smtClean="0">
                  <a:solidFill>
                    <a:srgbClr val="FF0000"/>
                  </a:solidFill>
                  <a:latin typeface="Times New Roman" pitchFamily="18" charset="0"/>
                  <a:cs typeface="B Titr" pitchFamily="2" charset="-78"/>
                </a:rPr>
                <a:t>پروتکل انتقال </a:t>
              </a:r>
              <a:r>
                <a:rPr lang="en-US" sz="1800" b="1" dirty="0" smtClean="0">
                  <a:solidFill>
                    <a:srgbClr val="FF0000"/>
                  </a:solidFill>
                  <a:latin typeface="Times New Roman" pitchFamily="18" charset="0"/>
                  <a:cs typeface="B Titr" pitchFamily="2" charset="-78"/>
                </a:rPr>
                <a:t>HTTP</a:t>
              </a:r>
              <a:endParaRPr lang="en-US" sz="1800" dirty="0">
                <a:solidFill>
                  <a:srgbClr val="FF0000"/>
                </a:solidFill>
                <a:cs typeface="B Titr" pitchFamily="2" charset="-78"/>
              </a:endParaRPr>
            </a:p>
          </p:txBody>
        </p:sp>
      </p:grpSp>
      <p:sp>
        <p:nvSpPr>
          <p:cNvPr id="10" name="AutoShape 6"/>
          <p:cNvSpPr>
            <a:spLocks noChangeArrowheads="1"/>
          </p:cNvSpPr>
          <p:nvPr/>
        </p:nvSpPr>
        <p:spPr bwMode="auto">
          <a:xfrm>
            <a:off x="295387" y="1124744"/>
            <a:ext cx="8358480" cy="2736304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BFDEB8"/>
              </a:gs>
              <a:gs pos="100000">
                <a:schemeClr val="bg1"/>
              </a:gs>
            </a:gsLst>
            <a:path path="rect">
              <a:fillToRect l="100000" t="100000"/>
            </a:path>
          </a:gradFill>
          <a:ln w="9525">
            <a:solidFill>
              <a:srgbClr val="006666"/>
            </a:solidFill>
            <a:prstDash val="sysDot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461992" y="1273693"/>
            <a:ext cx="8070448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algn="r" rtl="1">
              <a:spcBef>
                <a:spcPct val="50000"/>
              </a:spcBef>
              <a:buFont typeface="Arial" pitchFamily="34" charset="0"/>
              <a:buChar char="•"/>
            </a:pP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پروتکلی برای دسترسی به مستندات موجود در وب</a:t>
            </a:r>
          </a:p>
          <a:p>
            <a:pPr marL="342900" indent="-342900" algn="r" rtl="1">
              <a:spcBef>
                <a:spcPct val="50000"/>
              </a:spcBef>
              <a:buFont typeface="Arial" pitchFamily="34" charset="0"/>
              <a:buChar char="•"/>
            </a:pP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شامل مجموعه ای از عملیات در قالب فرامین مابین مشتری و سرور</a:t>
            </a:r>
          </a:p>
          <a:p>
            <a:pPr marL="342900" indent="-342900" algn="r" rtl="1">
              <a:spcBef>
                <a:spcPct val="50000"/>
              </a:spcBef>
              <a:buFont typeface="Arial" pitchFamily="34" charset="0"/>
              <a:buChar char="•"/>
            </a:pP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استفاده از سرویس </a:t>
            </a:r>
            <a:r>
              <a:rPr lang="en-US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TCP</a:t>
            </a: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 روی پورت 80</a:t>
            </a:r>
          </a:p>
          <a:p>
            <a:pPr marL="342900" indent="-342900" algn="r" rtl="1">
              <a:spcBef>
                <a:spcPct val="50000"/>
              </a:spcBef>
              <a:buFont typeface="Arial" pitchFamily="34" charset="0"/>
              <a:buChar char="•"/>
            </a:pP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عملیات بصورت پرسش و پاسخ</a:t>
            </a:r>
            <a:endParaRPr lang="fa-IR" sz="1600" b="1" dirty="0">
              <a:solidFill>
                <a:schemeClr val="accent6"/>
              </a:solidFill>
              <a:latin typeface="Times New Roman" pitchFamily="18" charset="0"/>
              <a:cs typeface="B Nazanin" pitchFamily="2" charset="-78"/>
            </a:endParaRPr>
          </a:p>
        </p:txBody>
      </p:sp>
      <p:pic>
        <p:nvPicPr>
          <p:cNvPr id="14" name="Picture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25251"/>
            <a:ext cx="4949219" cy="24327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9219" y="4582777"/>
            <a:ext cx="4194781" cy="17582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73030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2"/>
          <p:cNvGrpSpPr>
            <a:grpSpLocks/>
          </p:cNvGrpSpPr>
          <p:nvPr/>
        </p:nvGrpSpPr>
        <p:grpSpPr bwMode="auto">
          <a:xfrm>
            <a:off x="4788024" y="328983"/>
            <a:ext cx="3503061" cy="530811"/>
            <a:chOff x="3651" y="935"/>
            <a:chExt cx="1406" cy="318"/>
          </a:xfrm>
        </p:grpSpPr>
        <p:sp>
          <p:nvSpPr>
            <p:cNvPr id="8" name="AutoShape 3"/>
            <p:cNvSpPr>
              <a:spLocks noChangeArrowheads="1"/>
            </p:cNvSpPr>
            <p:nvPr/>
          </p:nvSpPr>
          <p:spPr bwMode="auto">
            <a:xfrm>
              <a:off x="3651" y="935"/>
              <a:ext cx="1406" cy="31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BFDEB8"/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>
              <a:solidFill>
                <a:srgbClr val="006666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Text Box 4"/>
            <p:cNvSpPr txBox="1">
              <a:spLocks noChangeArrowheads="1"/>
            </p:cNvSpPr>
            <p:nvPr/>
          </p:nvSpPr>
          <p:spPr bwMode="auto">
            <a:xfrm>
              <a:off x="3673" y="987"/>
              <a:ext cx="1361" cy="2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 rtl="1">
                <a:spcBef>
                  <a:spcPct val="50000"/>
                </a:spcBef>
              </a:pPr>
              <a:r>
                <a:rPr lang="fa-IR" sz="1800" b="1" dirty="0" smtClean="0">
                  <a:solidFill>
                    <a:srgbClr val="FF0000"/>
                  </a:solidFill>
                  <a:latin typeface="Times New Roman" pitchFamily="18" charset="0"/>
                  <a:cs typeface="B Titr" pitchFamily="2" charset="-78"/>
                </a:rPr>
                <a:t>معماری پروتکل </a:t>
              </a:r>
              <a:r>
                <a:rPr lang="en-US" sz="1800" b="1" dirty="0" smtClean="0">
                  <a:solidFill>
                    <a:srgbClr val="FF0000"/>
                  </a:solidFill>
                  <a:latin typeface="Times New Roman" pitchFamily="18" charset="0"/>
                  <a:cs typeface="B Titr" pitchFamily="2" charset="-78"/>
                </a:rPr>
                <a:t>HTTP</a:t>
              </a:r>
              <a:r>
                <a:rPr lang="fa-IR" sz="1800" b="1" dirty="0" smtClean="0">
                  <a:solidFill>
                    <a:srgbClr val="FF0000"/>
                  </a:solidFill>
                  <a:latin typeface="Times New Roman" pitchFamily="18" charset="0"/>
                  <a:cs typeface="B Titr" pitchFamily="2" charset="-78"/>
                </a:rPr>
                <a:t> در </a:t>
              </a:r>
              <a:r>
                <a:rPr lang="fa-IR" sz="1800" b="1" dirty="0" err="1" smtClean="0">
                  <a:solidFill>
                    <a:srgbClr val="FF0000"/>
                  </a:solidFill>
                  <a:latin typeface="Times New Roman" pitchFamily="18" charset="0"/>
                  <a:cs typeface="B Titr" pitchFamily="2" charset="-78"/>
                </a:rPr>
                <a:t>وب</a:t>
              </a:r>
              <a:endParaRPr lang="en-US" sz="1800" dirty="0">
                <a:solidFill>
                  <a:srgbClr val="FF0000"/>
                </a:solidFill>
                <a:cs typeface="B Titr" pitchFamily="2" charset="-78"/>
              </a:endParaRPr>
            </a:p>
          </p:txBody>
        </p:sp>
      </p:grpSp>
      <p:pic>
        <p:nvPicPr>
          <p:cNvPr id="8194" name="Picture 2" descr="http://www.tcpipguide.com/free/diagrams/httpclientserver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6" y="548680"/>
            <a:ext cx="4667250" cy="1333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972270"/>
            <a:ext cx="8345488" cy="4337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1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724" y="3261320"/>
            <a:ext cx="2741612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1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549" y="3699470"/>
            <a:ext cx="2770187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" name="Picture 1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136" y="4277320"/>
            <a:ext cx="2760663" cy="35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" name="Picture 1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599" y="4861520"/>
            <a:ext cx="2751137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" name="Picture 16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136" y="5359995"/>
            <a:ext cx="5521325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" name="Picture 17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536" y="5817195"/>
            <a:ext cx="5530850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57456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2"/>
          <p:cNvGrpSpPr>
            <a:grpSpLocks/>
          </p:cNvGrpSpPr>
          <p:nvPr/>
        </p:nvGrpSpPr>
        <p:grpSpPr bwMode="auto">
          <a:xfrm>
            <a:off x="4788024" y="328983"/>
            <a:ext cx="3503061" cy="530811"/>
            <a:chOff x="3651" y="935"/>
            <a:chExt cx="1406" cy="318"/>
          </a:xfrm>
        </p:grpSpPr>
        <p:sp>
          <p:nvSpPr>
            <p:cNvPr id="8" name="AutoShape 3"/>
            <p:cNvSpPr>
              <a:spLocks noChangeArrowheads="1"/>
            </p:cNvSpPr>
            <p:nvPr/>
          </p:nvSpPr>
          <p:spPr bwMode="auto">
            <a:xfrm>
              <a:off x="3651" y="935"/>
              <a:ext cx="1406" cy="31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BFDEB8"/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>
              <a:solidFill>
                <a:srgbClr val="006666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Text Box 4"/>
            <p:cNvSpPr txBox="1">
              <a:spLocks noChangeArrowheads="1"/>
            </p:cNvSpPr>
            <p:nvPr/>
          </p:nvSpPr>
          <p:spPr bwMode="auto">
            <a:xfrm>
              <a:off x="3673" y="987"/>
              <a:ext cx="1361" cy="2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 rtl="1">
                <a:spcBef>
                  <a:spcPct val="50000"/>
                </a:spcBef>
              </a:pPr>
              <a:r>
                <a:rPr lang="fa-IR" sz="1800" b="1" dirty="0" smtClean="0">
                  <a:solidFill>
                    <a:srgbClr val="FF0000"/>
                  </a:solidFill>
                  <a:latin typeface="Times New Roman" pitchFamily="18" charset="0"/>
                  <a:cs typeface="B Titr" pitchFamily="2" charset="-78"/>
                </a:rPr>
                <a:t>روند دسترسی به اسناد در </a:t>
              </a:r>
              <a:r>
                <a:rPr lang="fa-IR" sz="1800" b="1" dirty="0" err="1" smtClean="0">
                  <a:solidFill>
                    <a:srgbClr val="FF0000"/>
                  </a:solidFill>
                  <a:latin typeface="Times New Roman" pitchFamily="18" charset="0"/>
                  <a:cs typeface="B Titr" pitchFamily="2" charset="-78"/>
                </a:rPr>
                <a:t>وب</a:t>
              </a:r>
              <a:endParaRPr lang="en-US" sz="1800" dirty="0">
                <a:solidFill>
                  <a:srgbClr val="FF0000"/>
                </a:solidFill>
                <a:cs typeface="B Titr" pitchFamily="2" charset="-78"/>
              </a:endParaRPr>
            </a:p>
          </p:txBody>
        </p:sp>
      </p:grpSp>
      <p:sp>
        <p:nvSpPr>
          <p:cNvPr id="14" name="AutoShape 6"/>
          <p:cNvSpPr>
            <a:spLocks noChangeArrowheads="1"/>
          </p:cNvSpPr>
          <p:nvPr/>
        </p:nvSpPr>
        <p:spPr bwMode="auto">
          <a:xfrm>
            <a:off x="295387" y="1124744"/>
            <a:ext cx="8358480" cy="5288818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BFDEB8"/>
              </a:gs>
              <a:gs pos="100000">
                <a:schemeClr val="bg1"/>
              </a:gs>
            </a:gsLst>
            <a:path path="rect">
              <a:fillToRect l="100000" t="100000"/>
            </a:path>
          </a:gradFill>
          <a:ln w="9525">
            <a:solidFill>
              <a:srgbClr val="006666"/>
            </a:solidFill>
            <a:prstDash val="sysDot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" name="Text Box 7"/>
          <p:cNvSpPr txBox="1">
            <a:spLocks noChangeArrowheads="1"/>
          </p:cNvSpPr>
          <p:nvPr/>
        </p:nvSpPr>
        <p:spPr bwMode="auto">
          <a:xfrm>
            <a:off x="461992" y="1273693"/>
            <a:ext cx="8070448" cy="51398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algn="r" rtl="1">
              <a:spcBef>
                <a:spcPct val="50000"/>
              </a:spcBef>
              <a:buFont typeface="Arial" pitchFamily="34" charset="0"/>
              <a:buChar char="•"/>
            </a:pP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سمت مشتری</a:t>
            </a:r>
          </a:p>
          <a:p>
            <a:pPr marL="800100" lvl="1" indent="-342900" algn="r" rtl="1">
              <a:spcBef>
                <a:spcPct val="50000"/>
              </a:spcBef>
              <a:buFont typeface="Arial" pitchFamily="34" charset="0"/>
              <a:buChar char="•"/>
            </a:pP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تحلیل آدرس وارد شده توسط </a:t>
            </a:r>
            <a:r>
              <a:rPr lang="fa-IR" sz="1600" b="1" dirty="0" err="1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مرورگر</a:t>
            </a:r>
            <a:endParaRPr lang="fa-IR" sz="1600" b="1" dirty="0">
              <a:solidFill>
                <a:schemeClr val="accent6"/>
              </a:solidFill>
              <a:latin typeface="Times New Roman" pitchFamily="18" charset="0"/>
              <a:cs typeface="B Nazanin" pitchFamily="2" charset="-78"/>
            </a:endParaRPr>
          </a:p>
          <a:p>
            <a:pPr marL="800100" lvl="1" indent="-342900" algn="r" rtl="1">
              <a:spcBef>
                <a:spcPct val="50000"/>
              </a:spcBef>
              <a:buFont typeface="Arial" pitchFamily="34" charset="0"/>
              <a:buChar char="•"/>
            </a:pP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تقاضای ترجمه نام به آدرس </a:t>
            </a:r>
            <a:r>
              <a:rPr lang="en-US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IP</a:t>
            </a:r>
            <a:endParaRPr lang="fa-IR" sz="1600" b="1" dirty="0" smtClean="0">
              <a:solidFill>
                <a:schemeClr val="accent6"/>
              </a:solidFill>
              <a:latin typeface="Times New Roman" pitchFamily="18" charset="0"/>
              <a:cs typeface="B Nazanin" pitchFamily="2" charset="-78"/>
            </a:endParaRPr>
          </a:p>
          <a:p>
            <a:pPr marL="800100" lvl="1" indent="-342900" algn="r" rtl="1">
              <a:spcBef>
                <a:spcPct val="50000"/>
              </a:spcBef>
              <a:buFont typeface="Arial" pitchFamily="34" charset="0"/>
              <a:buChar char="•"/>
            </a:pP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برقراری اتصال </a:t>
            </a:r>
            <a:r>
              <a:rPr lang="en-US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TCP</a:t>
            </a: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 با آدرس مورد نظر</a:t>
            </a:r>
          </a:p>
          <a:p>
            <a:pPr marL="800100" lvl="1" indent="-342900" algn="r" rtl="1">
              <a:spcBef>
                <a:spcPct val="50000"/>
              </a:spcBef>
              <a:buFont typeface="Arial" pitchFamily="34" charset="0"/>
              <a:buChar char="•"/>
            </a:pP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ارسال یک درخواست توسط پروتکل لایه کاربرد</a:t>
            </a:r>
          </a:p>
          <a:p>
            <a:pPr marL="342900" indent="-342900" algn="r" rtl="1">
              <a:spcBef>
                <a:spcPct val="50000"/>
              </a:spcBef>
              <a:buFont typeface="Arial" pitchFamily="34" charset="0"/>
              <a:buChar char="•"/>
            </a:pP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سمت سرور</a:t>
            </a:r>
          </a:p>
          <a:p>
            <a:pPr marL="800100" lvl="1" indent="-342900" algn="r" rtl="1">
              <a:spcBef>
                <a:spcPct val="50000"/>
              </a:spcBef>
              <a:buFont typeface="Arial" pitchFamily="34" charset="0"/>
              <a:buChar char="•"/>
            </a:pP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دریافت و پردازش درخواست</a:t>
            </a:r>
          </a:p>
          <a:p>
            <a:pPr marL="800100" lvl="1" indent="-342900" algn="r" rtl="1">
              <a:spcBef>
                <a:spcPct val="50000"/>
              </a:spcBef>
              <a:buFont typeface="Arial" pitchFamily="34" charset="0"/>
              <a:buChar char="•"/>
            </a:pP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استخراج سند مورد درخواست</a:t>
            </a:r>
          </a:p>
          <a:p>
            <a:pPr marL="800100" lvl="1" indent="-342900" algn="r" rtl="1">
              <a:spcBef>
                <a:spcPct val="50000"/>
              </a:spcBef>
              <a:buFont typeface="Arial" pitchFamily="34" charset="0"/>
              <a:buChar char="•"/>
            </a:pP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ارسال سند به مشتری</a:t>
            </a:r>
          </a:p>
          <a:p>
            <a:pPr marL="342900" indent="-342900" algn="r" rtl="1">
              <a:spcBef>
                <a:spcPct val="50000"/>
              </a:spcBef>
              <a:buFont typeface="Arial" pitchFamily="34" charset="0"/>
              <a:buChar char="•"/>
            </a:pP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سمت مشتری</a:t>
            </a:r>
          </a:p>
          <a:p>
            <a:pPr marL="800100" lvl="1" indent="-342900" algn="r" rtl="1">
              <a:spcBef>
                <a:spcPct val="50000"/>
              </a:spcBef>
              <a:buFont typeface="Arial" pitchFamily="34" charset="0"/>
              <a:buChar char="•"/>
            </a:pP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دریافت سند درخواست شده</a:t>
            </a:r>
          </a:p>
          <a:p>
            <a:pPr marL="800100" lvl="1" indent="-342900" algn="r" rtl="1">
              <a:spcBef>
                <a:spcPct val="50000"/>
              </a:spcBef>
              <a:buFont typeface="Arial" pitchFamily="34" charset="0"/>
              <a:buChar char="•"/>
            </a:pP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تفسیر سند دریافت شده</a:t>
            </a:r>
          </a:p>
          <a:p>
            <a:pPr marL="800100" lvl="1" indent="-342900" algn="r" rtl="1">
              <a:spcBef>
                <a:spcPct val="50000"/>
              </a:spcBef>
              <a:buFont typeface="Arial" pitchFamily="34" charset="0"/>
              <a:buChar char="•"/>
            </a:pP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درصورت وجود بخش های دیگر، برقراری اتصال برای دریافت آن ها</a:t>
            </a:r>
            <a:endParaRPr lang="fa-IR" sz="1600" b="1" dirty="0">
              <a:solidFill>
                <a:schemeClr val="accent6"/>
              </a:solidFill>
              <a:latin typeface="Times New Roman" pitchFamily="18" charset="0"/>
              <a:cs typeface="B Nazanin" pitchFamily="2" charset="-78"/>
            </a:endParaRPr>
          </a:p>
          <a:p>
            <a:pPr lvl="1" algn="ctr" rtl="1">
              <a:spcBef>
                <a:spcPct val="50000"/>
              </a:spcBef>
            </a:pP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نکته: اجزاء مختلف سند ممکن است دریک درخواست انتقال دریافت شود</a:t>
            </a:r>
          </a:p>
        </p:txBody>
      </p:sp>
    </p:spTree>
    <p:extLst>
      <p:ext uri="{BB962C8B-B14F-4D97-AF65-F5344CB8AC3E}">
        <p14:creationId xmlns:p14="http://schemas.microsoft.com/office/powerpoint/2010/main" val="3708918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2"/>
          <p:cNvGrpSpPr>
            <a:grpSpLocks/>
          </p:cNvGrpSpPr>
          <p:nvPr/>
        </p:nvGrpSpPr>
        <p:grpSpPr bwMode="auto">
          <a:xfrm>
            <a:off x="4788024" y="328983"/>
            <a:ext cx="3503061" cy="530811"/>
            <a:chOff x="3651" y="935"/>
            <a:chExt cx="1406" cy="318"/>
          </a:xfrm>
        </p:grpSpPr>
        <p:sp>
          <p:nvSpPr>
            <p:cNvPr id="8" name="AutoShape 3"/>
            <p:cNvSpPr>
              <a:spLocks noChangeArrowheads="1"/>
            </p:cNvSpPr>
            <p:nvPr/>
          </p:nvSpPr>
          <p:spPr bwMode="auto">
            <a:xfrm>
              <a:off x="3651" y="935"/>
              <a:ext cx="1406" cy="31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BFDEB8"/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>
              <a:solidFill>
                <a:srgbClr val="006666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Text Box 4"/>
            <p:cNvSpPr txBox="1">
              <a:spLocks noChangeArrowheads="1"/>
            </p:cNvSpPr>
            <p:nvPr/>
          </p:nvSpPr>
          <p:spPr bwMode="auto">
            <a:xfrm>
              <a:off x="3673" y="987"/>
              <a:ext cx="1361" cy="2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 rtl="1">
                <a:spcBef>
                  <a:spcPct val="50000"/>
                </a:spcBef>
              </a:pPr>
              <a:r>
                <a:rPr lang="fa-IR" sz="1800" b="1" dirty="0" smtClean="0">
                  <a:solidFill>
                    <a:srgbClr val="FF0000"/>
                  </a:solidFill>
                  <a:latin typeface="Times New Roman" pitchFamily="18" charset="0"/>
                  <a:cs typeface="B Titr" pitchFamily="2" charset="-78"/>
                </a:rPr>
                <a:t>اجزا </a:t>
              </a:r>
              <a:r>
                <a:rPr lang="fa-IR" sz="1800" b="1" dirty="0" err="1" smtClean="0">
                  <a:solidFill>
                    <a:srgbClr val="FF0000"/>
                  </a:solidFill>
                  <a:latin typeface="Times New Roman" pitchFamily="18" charset="0"/>
                  <a:cs typeface="B Titr" pitchFamily="2" charset="-78"/>
                </a:rPr>
                <a:t>وب</a:t>
              </a:r>
              <a:endParaRPr lang="en-US" sz="1800" dirty="0">
                <a:solidFill>
                  <a:srgbClr val="FF0000"/>
                </a:solidFill>
                <a:cs typeface="B Titr" pitchFamily="2" charset="-78"/>
              </a:endParaRPr>
            </a:p>
          </p:txBody>
        </p:sp>
      </p:grpSp>
      <p:sp>
        <p:nvSpPr>
          <p:cNvPr id="14" name="AutoShape 6"/>
          <p:cNvSpPr>
            <a:spLocks noChangeArrowheads="1"/>
          </p:cNvSpPr>
          <p:nvPr/>
        </p:nvSpPr>
        <p:spPr bwMode="auto">
          <a:xfrm>
            <a:off x="295387" y="1124744"/>
            <a:ext cx="8358480" cy="3319048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BFDEB8"/>
              </a:gs>
              <a:gs pos="100000">
                <a:schemeClr val="bg1"/>
              </a:gs>
            </a:gsLst>
            <a:path path="rect">
              <a:fillToRect l="100000" t="100000"/>
            </a:path>
          </a:gradFill>
          <a:ln w="9525">
            <a:solidFill>
              <a:srgbClr val="006666"/>
            </a:solidFill>
            <a:prstDash val="sysDot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" name="Text Box 7"/>
          <p:cNvSpPr txBox="1">
            <a:spLocks noChangeArrowheads="1"/>
          </p:cNvSpPr>
          <p:nvPr/>
        </p:nvSpPr>
        <p:spPr bwMode="auto">
          <a:xfrm>
            <a:off x="461992" y="1273693"/>
            <a:ext cx="8070448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algn="r" rtl="1">
              <a:spcBef>
                <a:spcPct val="50000"/>
              </a:spcBef>
              <a:buFont typeface="Arial" pitchFamily="34" charset="0"/>
              <a:buChar char="•"/>
            </a:pP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با توجه به مدل پرسش و پاسخ بودن پروتکل انتقال دارای دو جزء اصلی است</a:t>
            </a:r>
          </a:p>
          <a:p>
            <a:pPr marL="342900" indent="-342900" algn="r" rtl="1">
              <a:spcBef>
                <a:spcPct val="50000"/>
              </a:spcBef>
              <a:buFont typeface="Arial" pitchFamily="34" charset="0"/>
              <a:buChar char="•"/>
            </a:pP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مشتری(</a:t>
            </a:r>
            <a:r>
              <a:rPr lang="fa-IR" sz="1600" b="1" dirty="0" err="1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مرورگر</a:t>
            </a: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)</a:t>
            </a:r>
          </a:p>
          <a:p>
            <a:pPr marL="800100" lvl="1" indent="-342900" algn="r" rtl="1">
              <a:spcBef>
                <a:spcPct val="50000"/>
              </a:spcBef>
              <a:buFont typeface="Arial" pitchFamily="34" charset="0"/>
              <a:buChar char="•"/>
            </a:pP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تقریبا تمامی </a:t>
            </a:r>
            <a:r>
              <a:rPr lang="fa-IR" sz="1600" b="1" dirty="0" err="1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مرورگر</a:t>
            </a: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 ها از یک معماری واحد بهره میگیرند</a:t>
            </a:r>
          </a:p>
          <a:p>
            <a:pPr marL="800100" lvl="1" indent="-342900" algn="r" rtl="1">
              <a:spcBef>
                <a:spcPct val="50000"/>
              </a:spcBef>
              <a:buFont typeface="Arial" pitchFamily="34" charset="0"/>
              <a:buChar char="•"/>
            </a:pP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شامل سه بخش اصلی: </a:t>
            </a:r>
          </a:p>
          <a:p>
            <a:pPr marL="1257300" lvl="2" indent="-342900" algn="r" rtl="1">
              <a:spcBef>
                <a:spcPct val="50000"/>
              </a:spcBef>
              <a:buFont typeface="Arial" pitchFamily="34" charset="0"/>
              <a:buChar char="•"/>
            </a:pP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کنترل کننده: دریافت فرمان از کاربر و استفاده از برنامه مشتری برای دسترسی به سند مورد نیاز</a:t>
            </a:r>
          </a:p>
          <a:p>
            <a:pPr marL="1257300" lvl="2" indent="-342900" algn="r" rtl="1">
              <a:spcBef>
                <a:spcPct val="50000"/>
              </a:spcBef>
              <a:buFont typeface="Arial" pitchFamily="34" charset="0"/>
              <a:buChar char="•"/>
            </a:pP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پروتکل مشتری: برنامه کاربردی سمت مشتری برای انتقال</a:t>
            </a:r>
          </a:p>
          <a:p>
            <a:pPr marL="1257300" lvl="2" indent="-342900" algn="r" rtl="1">
              <a:spcBef>
                <a:spcPct val="50000"/>
              </a:spcBef>
              <a:buFont typeface="Arial" pitchFamily="34" charset="0"/>
              <a:buChar char="•"/>
            </a:pP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مفسر: تفسیر سند دریافت شده از کنترل کننده و نمایش آن</a:t>
            </a:r>
          </a:p>
          <a:p>
            <a:pPr marL="342900" indent="-342900" algn="r" rtl="1">
              <a:spcBef>
                <a:spcPct val="50000"/>
              </a:spcBef>
              <a:buFont typeface="Arial" pitchFamily="34" charset="0"/>
              <a:buChar char="•"/>
            </a:pP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سرور: </a:t>
            </a:r>
            <a:r>
              <a:rPr lang="fa-IR" sz="1600" b="1" dirty="0" err="1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سوکتی</a:t>
            </a: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 همیشه در حال گوش دادن به درخواست های رسیده از مشتری است تا سندهای درخواستی ذخیره شده را به مشتری ارسال کند.</a:t>
            </a:r>
            <a:endParaRPr lang="fa-IR" sz="1600" b="1" dirty="0">
              <a:solidFill>
                <a:schemeClr val="accent6"/>
              </a:solidFill>
              <a:latin typeface="Times New Roman" pitchFamily="18" charset="0"/>
              <a:cs typeface="B Nazanin" pitchFamily="2" charset="-78"/>
            </a:endParaRPr>
          </a:p>
        </p:txBody>
      </p:sp>
      <p:pic>
        <p:nvPicPr>
          <p:cNvPr id="22" name="Picture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499" y="4529637"/>
            <a:ext cx="5992055" cy="22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65722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2"/>
          <p:cNvGrpSpPr>
            <a:grpSpLocks/>
          </p:cNvGrpSpPr>
          <p:nvPr/>
        </p:nvGrpSpPr>
        <p:grpSpPr bwMode="auto">
          <a:xfrm>
            <a:off x="4788024" y="328983"/>
            <a:ext cx="3503061" cy="530811"/>
            <a:chOff x="3651" y="935"/>
            <a:chExt cx="1406" cy="318"/>
          </a:xfrm>
        </p:grpSpPr>
        <p:sp>
          <p:nvSpPr>
            <p:cNvPr id="8" name="AutoShape 3"/>
            <p:cNvSpPr>
              <a:spLocks noChangeArrowheads="1"/>
            </p:cNvSpPr>
            <p:nvPr/>
          </p:nvSpPr>
          <p:spPr bwMode="auto">
            <a:xfrm>
              <a:off x="3651" y="935"/>
              <a:ext cx="1406" cy="31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BFDEB8"/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>
              <a:solidFill>
                <a:srgbClr val="006666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Text Box 4"/>
            <p:cNvSpPr txBox="1">
              <a:spLocks noChangeArrowheads="1"/>
            </p:cNvSpPr>
            <p:nvPr/>
          </p:nvSpPr>
          <p:spPr bwMode="auto">
            <a:xfrm>
              <a:off x="3673" y="987"/>
              <a:ext cx="1361" cy="2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 rtl="1">
                <a:spcBef>
                  <a:spcPct val="50000"/>
                </a:spcBef>
              </a:pPr>
              <a:r>
                <a:rPr lang="fa-IR" sz="1800" b="1" dirty="0" smtClean="0">
                  <a:solidFill>
                    <a:srgbClr val="FF0000"/>
                  </a:solidFill>
                  <a:latin typeface="Times New Roman" pitchFamily="18" charset="0"/>
                  <a:cs typeface="B Titr" pitchFamily="2" charset="-78"/>
                </a:rPr>
                <a:t>مفهوم </a:t>
              </a:r>
              <a:r>
                <a:rPr lang="en-US" sz="1800" b="1" dirty="0" smtClean="0">
                  <a:solidFill>
                    <a:srgbClr val="FF0000"/>
                  </a:solidFill>
                  <a:latin typeface="Times New Roman" pitchFamily="18" charset="0"/>
                  <a:cs typeface="B Titr" pitchFamily="2" charset="-78"/>
                </a:rPr>
                <a:t>URL</a:t>
              </a:r>
              <a:endParaRPr lang="en-US" sz="1800" dirty="0">
                <a:solidFill>
                  <a:srgbClr val="FF0000"/>
                </a:solidFill>
                <a:cs typeface="B Titr" pitchFamily="2" charset="-78"/>
              </a:endParaRPr>
            </a:p>
          </p:txBody>
        </p:sp>
      </p:grpSp>
      <p:sp>
        <p:nvSpPr>
          <p:cNvPr id="14" name="AutoShape 6"/>
          <p:cNvSpPr>
            <a:spLocks noChangeArrowheads="1"/>
          </p:cNvSpPr>
          <p:nvPr/>
        </p:nvSpPr>
        <p:spPr bwMode="auto">
          <a:xfrm>
            <a:off x="295387" y="1124744"/>
            <a:ext cx="8358480" cy="3319048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BFDEB8"/>
              </a:gs>
              <a:gs pos="100000">
                <a:schemeClr val="bg1"/>
              </a:gs>
            </a:gsLst>
            <a:path path="rect">
              <a:fillToRect l="100000" t="100000"/>
            </a:path>
          </a:gradFill>
          <a:ln w="9525">
            <a:solidFill>
              <a:srgbClr val="006666"/>
            </a:solidFill>
            <a:prstDash val="sysDot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" name="Text Box 7"/>
          <p:cNvSpPr txBox="1">
            <a:spLocks noChangeArrowheads="1"/>
          </p:cNvSpPr>
          <p:nvPr/>
        </p:nvSpPr>
        <p:spPr bwMode="auto">
          <a:xfrm>
            <a:off x="461992" y="1273693"/>
            <a:ext cx="8070448" cy="2923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algn="r" rtl="1">
              <a:spcBef>
                <a:spcPct val="50000"/>
              </a:spcBef>
              <a:buFont typeface="Arial" pitchFamily="34" charset="0"/>
              <a:buChar char="•"/>
            </a:pP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دسترسی به صفحات و مستندات ذخیره شده در سرور</a:t>
            </a:r>
          </a:p>
          <a:p>
            <a:pPr marL="800100" lvl="1" indent="-342900" algn="r" rtl="1">
              <a:spcBef>
                <a:spcPct val="50000"/>
              </a:spcBef>
              <a:buFont typeface="Arial" pitchFamily="34" charset="0"/>
              <a:buChar char="•"/>
            </a:pP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آدرس محل ذخیره شده</a:t>
            </a:r>
          </a:p>
          <a:p>
            <a:pPr marL="800100" lvl="1" indent="-342900" algn="r" rtl="1">
              <a:spcBef>
                <a:spcPct val="50000"/>
              </a:spcBef>
              <a:buFont typeface="Arial" pitchFamily="34" charset="0"/>
              <a:buChar char="•"/>
            </a:pP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نام سند مورد نظر</a:t>
            </a:r>
            <a:endParaRPr lang="fa-IR" sz="1600" b="1" dirty="0">
              <a:solidFill>
                <a:schemeClr val="accent6"/>
              </a:solidFill>
              <a:latin typeface="Times New Roman" pitchFamily="18" charset="0"/>
              <a:cs typeface="B Nazanin" pitchFamily="2" charset="-78"/>
            </a:endParaRPr>
          </a:p>
          <a:p>
            <a:pPr marL="342900" indent="-342900" algn="r" rtl="1">
              <a:spcBef>
                <a:spcPct val="50000"/>
              </a:spcBef>
              <a:buFont typeface="Arial" pitchFamily="34" charset="0"/>
              <a:buChar char="•"/>
            </a:pP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اجزاء فرم استاندارد </a:t>
            </a:r>
            <a:r>
              <a:rPr lang="en-US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URL</a:t>
            </a:r>
            <a:endParaRPr lang="fa-IR" sz="1600" b="1" dirty="0" smtClean="0">
              <a:solidFill>
                <a:schemeClr val="accent6"/>
              </a:solidFill>
              <a:latin typeface="Times New Roman" pitchFamily="18" charset="0"/>
              <a:cs typeface="B Nazanin" pitchFamily="2" charset="-78"/>
            </a:endParaRPr>
          </a:p>
          <a:p>
            <a:pPr marL="800100" lvl="1" indent="-342900" algn="r" rtl="1">
              <a:spcBef>
                <a:spcPct val="50000"/>
              </a:spcBef>
              <a:buFont typeface="Arial" pitchFamily="34" charset="0"/>
              <a:buChar char="•"/>
            </a:pP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پروتکل</a:t>
            </a:r>
          </a:p>
          <a:p>
            <a:pPr marL="800100" lvl="1" indent="-342900" algn="r" rtl="1">
              <a:spcBef>
                <a:spcPct val="50000"/>
              </a:spcBef>
              <a:buFont typeface="Arial" pitchFamily="34" charset="0"/>
              <a:buChar char="•"/>
            </a:pP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ماشین میزبان (سرور): نام دامنه یا آدرس </a:t>
            </a:r>
            <a:r>
              <a:rPr lang="en-US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IP</a:t>
            </a:r>
            <a:endParaRPr lang="fa-IR" sz="1600" b="1" dirty="0" smtClean="0">
              <a:solidFill>
                <a:schemeClr val="accent6"/>
              </a:solidFill>
              <a:latin typeface="Times New Roman" pitchFamily="18" charset="0"/>
              <a:cs typeface="B Nazanin" pitchFamily="2" charset="-78"/>
            </a:endParaRPr>
          </a:p>
          <a:p>
            <a:pPr marL="800100" lvl="1" indent="-342900" algn="r" rtl="1">
              <a:spcBef>
                <a:spcPct val="50000"/>
              </a:spcBef>
              <a:buFont typeface="Arial" pitchFamily="34" charset="0"/>
              <a:buChar char="•"/>
            </a:pP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شماره </a:t>
            </a:r>
            <a:r>
              <a:rPr lang="fa-IR" sz="1600" b="1" dirty="0" err="1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پورت</a:t>
            </a: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: آدرس سرویس </a:t>
            </a:r>
            <a:r>
              <a:rPr lang="en-US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TCP</a:t>
            </a: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 (</a:t>
            </a:r>
            <a:r>
              <a:rPr lang="en-US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TSAP</a:t>
            </a: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) معمولا شماره 80</a:t>
            </a:r>
          </a:p>
          <a:p>
            <a:pPr marL="800100" lvl="1" indent="-342900" algn="r" rtl="1">
              <a:spcBef>
                <a:spcPct val="50000"/>
              </a:spcBef>
              <a:buFont typeface="Arial" pitchFamily="34" charset="0"/>
              <a:buChar char="•"/>
            </a:pP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مکان قرارگیری سند در ماشین سرور</a:t>
            </a:r>
            <a:endParaRPr lang="fa-IR" sz="1600" b="1" dirty="0">
              <a:solidFill>
                <a:schemeClr val="accent6"/>
              </a:solidFill>
              <a:latin typeface="Times New Roman" pitchFamily="18" charset="0"/>
              <a:cs typeface="B Nazanin" pitchFamily="2" charset="-78"/>
            </a:endParaRPr>
          </a:p>
        </p:txBody>
      </p:sp>
      <p:pic>
        <p:nvPicPr>
          <p:cNvPr id="10" name="Picture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1831" y="4869160"/>
            <a:ext cx="5942012" cy="433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72492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2"/>
          <p:cNvGrpSpPr>
            <a:grpSpLocks/>
          </p:cNvGrpSpPr>
          <p:nvPr/>
        </p:nvGrpSpPr>
        <p:grpSpPr bwMode="auto">
          <a:xfrm>
            <a:off x="4788024" y="328983"/>
            <a:ext cx="3503061" cy="530811"/>
            <a:chOff x="3651" y="935"/>
            <a:chExt cx="1406" cy="318"/>
          </a:xfrm>
        </p:grpSpPr>
        <p:sp>
          <p:nvSpPr>
            <p:cNvPr id="8" name="AutoShape 3"/>
            <p:cNvSpPr>
              <a:spLocks noChangeArrowheads="1"/>
            </p:cNvSpPr>
            <p:nvPr/>
          </p:nvSpPr>
          <p:spPr bwMode="auto">
            <a:xfrm>
              <a:off x="3651" y="935"/>
              <a:ext cx="1406" cy="31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BFDEB8"/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>
              <a:solidFill>
                <a:srgbClr val="006666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Text Box 4"/>
            <p:cNvSpPr txBox="1">
              <a:spLocks noChangeArrowheads="1"/>
            </p:cNvSpPr>
            <p:nvPr/>
          </p:nvSpPr>
          <p:spPr bwMode="auto">
            <a:xfrm>
              <a:off x="3673" y="987"/>
              <a:ext cx="1361" cy="2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 rtl="1">
                <a:spcBef>
                  <a:spcPct val="50000"/>
                </a:spcBef>
              </a:pPr>
              <a:r>
                <a:rPr lang="fa-IR" sz="1800" b="1" dirty="0" smtClean="0">
                  <a:solidFill>
                    <a:srgbClr val="FF0000"/>
                  </a:solidFill>
                  <a:latin typeface="Times New Roman" pitchFamily="18" charset="0"/>
                  <a:cs typeface="B Titr" pitchFamily="2" charset="-78"/>
                </a:rPr>
                <a:t>پروتکل </a:t>
              </a:r>
              <a:r>
                <a:rPr lang="en-US" sz="1800" b="1" dirty="0" smtClean="0">
                  <a:solidFill>
                    <a:srgbClr val="FF0000"/>
                  </a:solidFill>
                  <a:latin typeface="Times New Roman" pitchFamily="18" charset="0"/>
                  <a:cs typeface="B Titr" pitchFamily="2" charset="-78"/>
                </a:rPr>
                <a:t>HTTP</a:t>
              </a:r>
              <a:endParaRPr lang="en-US" sz="1800" dirty="0">
                <a:solidFill>
                  <a:srgbClr val="FF0000"/>
                </a:solidFill>
                <a:cs typeface="B Titr" pitchFamily="2" charset="-78"/>
              </a:endParaRPr>
            </a:p>
          </p:txBody>
        </p:sp>
      </p:grpSp>
      <p:sp>
        <p:nvSpPr>
          <p:cNvPr id="14" name="AutoShape 6"/>
          <p:cNvSpPr>
            <a:spLocks noChangeArrowheads="1"/>
          </p:cNvSpPr>
          <p:nvPr/>
        </p:nvSpPr>
        <p:spPr bwMode="auto">
          <a:xfrm>
            <a:off x="295387" y="1124744"/>
            <a:ext cx="8358480" cy="1965324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BFDEB8"/>
              </a:gs>
              <a:gs pos="100000">
                <a:schemeClr val="bg1"/>
              </a:gs>
            </a:gsLst>
            <a:path path="rect">
              <a:fillToRect l="100000" t="100000"/>
            </a:path>
          </a:gradFill>
          <a:ln w="9525">
            <a:solidFill>
              <a:srgbClr val="006666"/>
            </a:solidFill>
            <a:prstDash val="sysDot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" name="Text Box 7"/>
          <p:cNvSpPr txBox="1">
            <a:spLocks noChangeArrowheads="1"/>
          </p:cNvSpPr>
          <p:nvPr/>
        </p:nvSpPr>
        <p:spPr bwMode="auto">
          <a:xfrm>
            <a:off x="461992" y="1273693"/>
            <a:ext cx="8070448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algn="r" rtl="1">
              <a:spcBef>
                <a:spcPct val="50000"/>
              </a:spcBef>
              <a:buFont typeface="Arial" pitchFamily="34" charset="0"/>
              <a:buChar char="•"/>
            </a:pPr>
            <a:r>
              <a:rPr lang="fa-IR" sz="1600" b="1" dirty="0" err="1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پروتکلی</a:t>
            </a: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 برای تعیین نحوه تبادل اسناد </a:t>
            </a:r>
            <a:r>
              <a:rPr lang="fa-IR" sz="1600" b="1" dirty="0" err="1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وب</a:t>
            </a: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 بین مشتری و سرور</a:t>
            </a:r>
          </a:p>
          <a:p>
            <a:pPr marL="342900" indent="-342900" algn="r" rtl="1">
              <a:spcBef>
                <a:spcPct val="50000"/>
              </a:spcBef>
              <a:buFont typeface="Arial" pitchFamily="34" charset="0"/>
              <a:buChar char="•"/>
            </a:pP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ترکیبی از پروتکل های </a:t>
            </a:r>
            <a:r>
              <a:rPr lang="en-US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FTP</a:t>
            </a: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 و </a:t>
            </a:r>
            <a:r>
              <a:rPr lang="en-US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SMTP</a:t>
            </a: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: انتقال فایل در قالب های درخواست شبیه </a:t>
            </a:r>
            <a:r>
              <a:rPr lang="en-US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SMTP</a:t>
            </a:r>
            <a:endParaRPr lang="fa-IR" sz="1600" b="1" dirty="0" smtClean="0">
              <a:solidFill>
                <a:schemeClr val="accent6"/>
              </a:solidFill>
              <a:latin typeface="Times New Roman" pitchFamily="18" charset="0"/>
              <a:cs typeface="B Nazanin" pitchFamily="2" charset="-78"/>
            </a:endParaRPr>
          </a:p>
          <a:p>
            <a:pPr marL="342900" indent="-342900" algn="r" rtl="1">
              <a:spcBef>
                <a:spcPct val="50000"/>
              </a:spcBef>
              <a:buFont typeface="Arial" pitchFamily="34" charset="0"/>
              <a:buChar char="•"/>
            </a:pP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در </a:t>
            </a:r>
            <a:r>
              <a:rPr lang="en-US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HTTP</a:t>
            </a: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 سرور اطلاعاتی از مشتری را ذخیره نمیکند</a:t>
            </a:r>
          </a:p>
          <a:p>
            <a:pPr marL="342900" indent="-342900" algn="r" rtl="1">
              <a:spcBef>
                <a:spcPct val="50000"/>
              </a:spcBef>
              <a:buFont typeface="Arial" pitchFamily="34" charset="0"/>
              <a:buChar char="•"/>
            </a:pP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مبتنی بر درخواست-پاسخ است</a:t>
            </a:r>
            <a:endParaRPr lang="fa-IR" sz="1600" b="1" dirty="0">
              <a:solidFill>
                <a:schemeClr val="accent6"/>
              </a:solidFill>
              <a:latin typeface="Times New Roman" pitchFamily="18" charset="0"/>
              <a:cs typeface="B Nazanin" pitchFamily="2" charset="-78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533401" y="3090068"/>
            <a:ext cx="5622776" cy="3012281"/>
            <a:chOff x="533400" y="1519238"/>
            <a:chExt cx="7751763" cy="4583112"/>
          </a:xfrm>
        </p:grpSpPr>
        <p:pic>
          <p:nvPicPr>
            <p:cNvPr id="15" name="Picture 1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3400" y="1519238"/>
              <a:ext cx="7751763" cy="36623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6" name="Picture 1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00" y="2078038"/>
              <a:ext cx="7085013" cy="20240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7" name="Picture 1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31875" y="4054475"/>
              <a:ext cx="7121525" cy="2047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672047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2"/>
          <p:cNvGrpSpPr>
            <a:grpSpLocks/>
          </p:cNvGrpSpPr>
          <p:nvPr/>
        </p:nvGrpSpPr>
        <p:grpSpPr bwMode="auto">
          <a:xfrm>
            <a:off x="4788024" y="328983"/>
            <a:ext cx="3503061" cy="530811"/>
            <a:chOff x="3651" y="935"/>
            <a:chExt cx="1406" cy="318"/>
          </a:xfrm>
        </p:grpSpPr>
        <p:sp>
          <p:nvSpPr>
            <p:cNvPr id="8" name="AutoShape 3"/>
            <p:cNvSpPr>
              <a:spLocks noChangeArrowheads="1"/>
            </p:cNvSpPr>
            <p:nvPr/>
          </p:nvSpPr>
          <p:spPr bwMode="auto">
            <a:xfrm>
              <a:off x="3651" y="935"/>
              <a:ext cx="1406" cy="31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BFDEB8"/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>
              <a:solidFill>
                <a:srgbClr val="006666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Text Box 4"/>
            <p:cNvSpPr txBox="1">
              <a:spLocks noChangeArrowheads="1"/>
            </p:cNvSpPr>
            <p:nvPr/>
          </p:nvSpPr>
          <p:spPr bwMode="auto">
            <a:xfrm>
              <a:off x="3673" y="987"/>
              <a:ext cx="1361" cy="2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 rtl="1">
                <a:spcBef>
                  <a:spcPct val="50000"/>
                </a:spcBef>
              </a:pPr>
              <a:r>
                <a:rPr lang="fa-IR" sz="1800" b="1" dirty="0" smtClean="0">
                  <a:solidFill>
                    <a:srgbClr val="FF0000"/>
                  </a:solidFill>
                  <a:latin typeface="Times New Roman" pitchFamily="18" charset="0"/>
                  <a:cs typeface="B Titr" pitchFamily="2" charset="-78"/>
                </a:rPr>
                <a:t>سرآیند</a:t>
              </a:r>
              <a:endParaRPr lang="en-US" sz="1800" dirty="0">
                <a:solidFill>
                  <a:srgbClr val="FF0000"/>
                </a:solidFill>
                <a:cs typeface="B Titr" pitchFamily="2" charset="-78"/>
              </a:endParaRPr>
            </a:p>
          </p:txBody>
        </p:sp>
      </p:grpSp>
      <p:sp>
        <p:nvSpPr>
          <p:cNvPr id="10" name="AutoShape 6"/>
          <p:cNvSpPr>
            <a:spLocks noChangeArrowheads="1"/>
          </p:cNvSpPr>
          <p:nvPr/>
        </p:nvSpPr>
        <p:spPr bwMode="auto">
          <a:xfrm>
            <a:off x="295387" y="1124744"/>
            <a:ext cx="8358480" cy="4824536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BFDEB8"/>
              </a:gs>
              <a:gs pos="100000">
                <a:schemeClr val="bg1"/>
              </a:gs>
            </a:gsLst>
            <a:path path="rect">
              <a:fillToRect l="100000" t="100000"/>
            </a:path>
          </a:gradFill>
          <a:ln w="9525">
            <a:solidFill>
              <a:srgbClr val="006666"/>
            </a:solidFill>
            <a:prstDash val="sysDot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539552" y="1343670"/>
            <a:ext cx="7882219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algn="r" rtl="1">
              <a:spcBef>
                <a:spcPct val="50000"/>
              </a:spcBef>
              <a:buFont typeface="Arial" pitchFamily="34" charset="0"/>
              <a:buChar char="•"/>
            </a:pP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تمامی سطرهای سرآیند دارای قالب عمومی زیر هستند</a:t>
            </a:r>
          </a:p>
          <a:p>
            <a:pPr marL="342900" indent="-342900" algn="r" rtl="1">
              <a:spcBef>
                <a:spcPct val="50000"/>
              </a:spcBef>
              <a:buFont typeface="Arial" pitchFamily="34" charset="0"/>
              <a:buChar char="•"/>
            </a:pPr>
            <a:endParaRPr lang="fa-IR" sz="1600" b="1" dirty="0">
              <a:solidFill>
                <a:schemeClr val="accent6"/>
              </a:solidFill>
              <a:latin typeface="Times New Roman" pitchFamily="18" charset="0"/>
              <a:cs typeface="B Nazanin" pitchFamily="2" charset="-78"/>
            </a:endParaRPr>
          </a:p>
          <a:p>
            <a:pPr marL="342900" indent="-342900" algn="r" rtl="1">
              <a:spcBef>
                <a:spcPct val="50000"/>
              </a:spcBef>
              <a:buFont typeface="Arial" pitchFamily="34" charset="0"/>
              <a:buChar char="•"/>
            </a:pPr>
            <a:endParaRPr lang="fa-IR" sz="1600" b="1" dirty="0" smtClean="0">
              <a:solidFill>
                <a:schemeClr val="accent6"/>
              </a:solidFill>
              <a:latin typeface="Times New Roman" pitchFamily="18" charset="0"/>
              <a:cs typeface="B Nazanin" pitchFamily="2" charset="-78"/>
            </a:endParaRPr>
          </a:p>
          <a:p>
            <a:pPr marL="342900" indent="-342900" algn="r" rtl="1">
              <a:spcBef>
                <a:spcPct val="50000"/>
              </a:spcBef>
              <a:buFont typeface="Arial" pitchFamily="34" charset="0"/>
              <a:buChar char="•"/>
            </a:pPr>
            <a:endParaRPr lang="fa-IR" sz="1600" b="1" dirty="0">
              <a:solidFill>
                <a:schemeClr val="accent6"/>
              </a:solidFill>
              <a:latin typeface="Times New Roman" pitchFamily="18" charset="0"/>
              <a:cs typeface="B Nazanin" pitchFamily="2" charset="-78"/>
            </a:endParaRPr>
          </a:p>
          <a:p>
            <a:pPr marL="342900" indent="-342900" algn="r" rtl="1">
              <a:spcBef>
                <a:spcPct val="50000"/>
              </a:spcBef>
              <a:buFont typeface="Arial" pitchFamily="34" charset="0"/>
              <a:buChar char="•"/>
            </a:pPr>
            <a:endParaRPr lang="fa-IR" sz="1600" b="1" dirty="0" smtClean="0">
              <a:solidFill>
                <a:schemeClr val="accent6"/>
              </a:solidFill>
              <a:latin typeface="Times New Roman" pitchFamily="18" charset="0"/>
              <a:cs typeface="B Nazanin" pitchFamily="2" charset="-78"/>
            </a:endParaRPr>
          </a:p>
          <a:p>
            <a:pPr marL="342900" indent="-342900" algn="r" rtl="1">
              <a:spcBef>
                <a:spcPct val="50000"/>
              </a:spcBef>
              <a:buFont typeface="Arial" pitchFamily="34" charset="0"/>
              <a:buChar char="•"/>
            </a:pP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انواع سرآیند</a:t>
            </a:r>
          </a:p>
          <a:p>
            <a:pPr marL="800100" lvl="1" indent="-342900" algn="r" rtl="1">
              <a:spcBef>
                <a:spcPct val="50000"/>
              </a:spcBef>
              <a:buFont typeface="Arial" pitchFamily="34" charset="0"/>
              <a:buChar char="•"/>
            </a:pP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سرآیند عمومی: شامل اطلاعات مربوط به خود پیام، برای کنترل پردازش پیام (مشترک برای هر دو نوع پیام)</a:t>
            </a:r>
          </a:p>
          <a:p>
            <a:pPr marL="800100" lvl="1" indent="-342900" algn="r" rtl="1">
              <a:spcBef>
                <a:spcPct val="50000"/>
              </a:spcBef>
              <a:buFont typeface="Arial" pitchFamily="34" charset="0"/>
              <a:buChar char="•"/>
            </a:pP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سرآیند درخواست: توصیف کننده ماهیت درخواست ، اطلاعات اضافه در مورد  نحوه پردازش درخواست</a:t>
            </a:r>
          </a:p>
          <a:p>
            <a:pPr marL="800100" lvl="1" indent="-342900" algn="r" rtl="1">
              <a:spcBef>
                <a:spcPct val="50000"/>
              </a:spcBef>
              <a:buFont typeface="Arial" pitchFamily="34" charset="0"/>
              <a:buChar char="•"/>
            </a:pP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سرآیند پاسخ: توصیف کننده ماهیت پاسخ، اطلاعاتی در مورد نتیجه پردازش درخواست</a:t>
            </a:r>
          </a:p>
          <a:p>
            <a:pPr marL="800100" lvl="1" indent="-342900" algn="r" rtl="1">
              <a:spcBef>
                <a:spcPct val="50000"/>
              </a:spcBef>
              <a:buFont typeface="Arial" pitchFamily="34" charset="0"/>
              <a:buChar char="•"/>
            </a:pP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سرآیند داده: توصیف کننده ماهیت داده های قرار گرفته در پیام (در صورت وجود)</a:t>
            </a:r>
            <a:endParaRPr lang="fa-IR" sz="1600" b="1" dirty="0">
              <a:solidFill>
                <a:schemeClr val="accent6"/>
              </a:solidFill>
              <a:latin typeface="Times New Roman" pitchFamily="18" charset="0"/>
              <a:cs typeface="B Nazanin" pitchFamily="2" charset="-78"/>
            </a:endParaRPr>
          </a:p>
        </p:txBody>
      </p:sp>
      <p:pic>
        <p:nvPicPr>
          <p:cNvPr id="12" name="Picture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6377" y="1800703"/>
            <a:ext cx="5016500" cy="1252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82604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2"/>
          <p:cNvGrpSpPr>
            <a:grpSpLocks/>
          </p:cNvGrpSpPr>
          <p:nvPr/>
        </p:nvGrpSpPr>
        <p:grpSpPr bwMode="auto">
          <a:xfrm>
            <a:off x="4788024" y="328983"/>
            <a:ext cx="3503061" cy="530811"/>
            <a:chOff x="3651" y="935"/>
            <a:chExt cx="1406" cy="318"/>
          </a:xfrm>
        </p:grpSpPr>
        <p:sp>
          <p:nvSpPr>
            <p:cNvPr id="8" name="AutoShape 3"/>
            <p:cNvSpPr>
              <a:spLocks noChangeArrowheads="1"/>
            </p:cNvSpPr>
            <p:nvPr/>
          </p:nvSpPr>
          <p:spPr bwMode="auto">
            <a:xfrm>
              <a:off x="3651" y="935"/>
              <a:ext cx="1406" cy="31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BFDEB8"/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>
              <a:solidFill>
                <a:srgbClr val="006666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Text Box 4"/>
            <p:cNvSpPr txBox="1">
              <a:spLocks noChangeArrowheads="1"/>
            </p:cNvSpPr>
            <p:nvPr/>
          </p:nvSpPr>
          <p:spPr bwMode="auto">
            <a:xfrm>
              <a:off x="3673" y="987"/>
              <a:ext cx="1361" cy="2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 rtl="1">
                <a:spcBef>
                  <a:spcPct val="50000"/>
                </a:spcBef>
              </a:pPr>
              <a:r>
                <a:rPr lang="fa-IR" sz="1800" b="1" dirty="0" smtClean="0">
                  <a:solidFill>
                    <a:srgbClr val="FF0000"/>
                  </a:solidFill>
                  <a:latin typeface="Times New Roman" pitchFamily="18" charset="0"/>
                  <a:cs typeface="B Titr" pitchFamily="2" charset="-78"/>
                </a:rPr>
                <a:t>سرآیند عمومی</a:t>
              </a:r>
              <a:endParaRPr lang="en-US" sz="1800" dirty="0">
                <a:solidFill>
                  <a:srgbClr val="FF0000"/>
                </a:solidFill>
                <a:cs typeface="B Titr" pitchFamily="2" charset="-78"/>
              </a:endParaRPr>
            </a:p>
          </p:txBody>
        </p:sp>
      </p:grpSp>
      <p:pic>
        <p:nvPicPr>
          <p:cNvPr id="15" name="Picture 4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738" y="1943100"/>
            <a:ext cx="8518525" cy="297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41433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2"/>
          <p:cNvGrpSpPr>
            <a:grpSpLocks/>
          </p:cNvGrpSpPr>
          <p:nvPr/>
        </p:nvGrpSpPr>
        <p:grpSpPr bwMode="auto">
          <a:xfrm>
            <a:off x="4788024" y="328983"/>
            <a:ext cx="3503061" cy="530811"/>
            <a:chOff x="3651" y="935"/>
            <a:chExt cx="1406" cy="318"/>
          </a:xfrm>
        </p:grpSpPr>
        <p:sp>
          <p:nvSpPr>
            <p:cNvPr id="8" name="AutoShape 3"/>
            <p:cNvSpPr>
              <a:spLocks noChangeArrowheads="1"/>
            </p:cNvSpPr>
            <p:nvPr/>
          </p:nvSpPr>
          <p:spPr bwMode="auto">
            <a:xfrm>
              <a:off x="3651" y="935"/>
              <a:ext cx="1406" cy="31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BFDEB8"/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>
              <a:solidFill>
                <a:srgbClr val="006666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Text Box 4"/>
            <p:cNvSpPr txBox="1">
              <a:spLocks noChangeArrowheads="1"/>
            </p:cNvSpPr>
            <p:nvPr/>
          </p:nvSpPr>
          <p:spPr bwMode="auto">
            <a:xfrm>
              <a:off x="3673" y="987"/>
              <a:ext cx="1361" cy="2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 rtl="1">
                <a:spcBef>
                  <a:spcPct val="50000"/>
                </a:spcBef>
              </a:pPr>
              <a:r>
                <a:rPr lang="fa-IR" sz="1800" b="1" dirty="0" smtClean="0">
                  <a:solidFill>
                    <a:srgbClr val="FF0000"/>
                  </a:solidFill>
                  <a:latin typeface="Times New Roman" pitchFamily="18" charset="0"/>
                  <a:cs typeface="B Titr" pitchFamily="2" charset="-78"/>
                </a:rPr>
                <a:t>قالب پیام های درخواست </a:t>
              </a:r>
              <a:r>
                <a:rPr lang="en-US" sz="1800" b="1" dirty="0" smtClean="0">
                  <a:solidFill>
                    <a:srgbClr val="FF0000"/>
                  </a:solidFill>
                  <a:latin typeface="Times New Roman" pitchFamily="18" charset="0"/>
                  <a:cs typeface="B Titr" pitchFamily="2" charset="-78"/>
                </a:rPr>
                <a:t>HTTP</a:t>
              </a:r>
              <a:endParaRPr lang="en-US" sz="1800" dirty="0">
                <a:solidFill>
                  <a:srgbClr val="FF0000"/>
                </a:solidFill>
                <a:cs typeface="B Titr" pitchFamily="2" charset="-78"/>
              </a:endParaRPr>
            </a:p>
          </p:txBody>
        </p:sp>
      </p:grpSp>
      <p:pic>
        <p:nvPicPr>
          <p:cNvPr id="11" name="Picture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188" y="1284186"/>
            <a:ext cx="7910252" cy="50971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99741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2"/>
          <p:cNvGrpSpPr>
            <a:grpSpLocks/>
          </p:cNvGrpSpPr>
          <p:nvPr/>
        </p:nvGrpSpPr>
        <p:grpSpPr bwMode="auto">
          <a:xfrm>
            <a:off x="4788024" y="328983"/>
            <a:ext cx="3503061" cy="530811"/>
            <a:chOff x="3651" y="935"/>
            <a:chExt cx="1406" cy="318"/>
          </a:xfrm>
        </p:grpSpPr>
        <p:sp>
          <p:nvSpPr>
            <p:cNvPr id="8" name="AutoShape 3"/>
            <p:cNvSpPr>
              <a:spLocks noChangeArrowheads="1"/>
            </p:cNvSpPr>
            <p:nvPr/>
          </p:nvSpPr>
          <p:spPr bwMode="auto">
            <a:xfrm>
              <a:off x="3651" y="935"/>
              <a:ext cx="1406" cy="31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BFDEB8"/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>
              <a:solidFill>
                <a:srgbClr val="006666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Text Box 4"/>
            <p:cNvSpPr txBox="1">
              <a:spLocks noChangeArrowheads="1"/>
            </p:cNvSpPr>
            <p:nvPr/>
          </p:nvSpPr>
          <p:spPr bwMode="auto">
            <a:xfrm>
              <a:off x="3673" y="987"/>
              <a:ext cx="1361" cy="2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 rtl="1">
                <a:spcBef>
                  <a:spcPct val="50000"/>
                </a:spcBef>
              </a:pPr>
              <a:r>
                <a:rPr lang="fa-IR" sz="1800" b="1" dirty="0" smtClean="0">
                  <a:solidFill>
                    <a:srgbClr val="FF0000"/>
                  </a:solidFill>
                  <a:latin typeface="Times New Roman" pitchFamily="18" charset="0"/>
                  <a:cs typeface="B Titr" pitchFamily="2" charset="-78"/>
                </a:rPr>
                <a:t>متدهای  </a:t>
              </a:r>
              <a:r>
                <a:rPr lang="en-US" sz="1800" b="1" dirty="0" smtClean="0">
                  <a:solidFill>
                    <a:srgbClr val="FF0000"/>
                  </a:solidFill>
                  <a:latin typeface="Times New Roman" pitchFamily="18" charset="0"/>
                  <a:cs typeface="B Titr" pitchFamily="2" charset="-78"/>
                </a:rPr>
                <a:t>HTTP</a:t>
              </a:r>
              <a:endParaRPr lang="en-US" sz="1800" dirty="0">
                <a:solidFill>
                  <a:srgbClr val="FF0000"/>
                </a:solidFill>
                <a:cs typeface="B Titr" pitchFamily="2" charset="-78"/>
              </a:endParaRPr>
            </a:p>
          </p:txBody>
        </p:sp>
      </p:grp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2233223"/>
            <a:ext cx="8427911" cy="27799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78412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2"/>
          <p:cNvGrpSpPr>
            <a:grpSpLocks/>
          </p:cNvGrpSpPr>
          <p:nvPr/>
        </p:nvGrpSpPr>
        <p:grpSpPr bwMode="auto">
          <a:xfrm>
            <a:off x="4788024" y="328983"/>
            <a:ext cx="3503061" cy="530811"/>
            <a:chOff x="3651" y="935"/>
            <a:chExt cx="1406" cy="318"/>
          </a:xfrm>
        </p:grpSpPr>
        <p:sp>
          <p:nvSpPr>
            <p:cNvPr id="8" name="AutoShape 3"/>
            <p:cNvSpPr>
              <a:spLocks noChangeArrowheads="1"/>
            </p:cNvSpPr>
            <p:nvPr/>
          </p:nvSpPr>
          <p:spPr bwMode="auto">
            <a:xfrm>
              <a:off x="3651" y="935"/>
              <a:ext cx="1406" cy="31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BFDEB8"/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>
              <a:solidFill>
                <a:srgbClr val="006666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Text Box 4"/>
            <p:cNvSpPr txBox="1">
              <a:spLocks noChangeArrowheads="1"/>
            </p:cNvSpPr>
            <p:nvPr/>
          </p:nvSpPr>
          <p:spPr bwMode="auto">
            <a:xfrm>
              <a:off x="3673" y="987"/>
              <a:ext cx="1361" cy="2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 rtl="1">
                <a:spcBef>
                  <a:spcPct val="50000"/>
                </a:spcBef>
              </a:pPr>
              <a:r>
                <a:rPr lang="fa-IR" sz="1800" b="1" dirty="0" smtClean="0">
                  <a:solidFill>
                    <a:srgbClr val="FF0000"/>
                  </a:solidFill>
                  <a:latin typeface="Times New Roman" pitchFamily="18" charset="0"/>
                  <a:cs typeface="B Titr" pitchFamily="2" charset="-78"/>
                </a:rPr>
                <a:t>سرآیند درخواست</a:t>
              </a:r>
              <a:endParaRPr lang="en-US" sz="1800" dirty="0">
                <a:solidFill>
                  <a:srgbClr val="FF0000"/>
                </a:solidFill>
                <a:cs typeface="B Titr" pitchFamily="2" charset="-78"/>
              </a:endParaRPr>
            </a:p>
          </p:txBody>
        </p:sp>
      </p:grpSp>
      <p:pic>
        <p:nvPicPr>
          <p:cNvPr id="14" name="Picture 4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588" y="1132730"/>
            <a:ext cx="7450137" cy="5608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57455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2"/>
          <p:cNvGrpSpPr>
            <a:grpSpLocks/>
          </p:cNvGrpSpPr>
          <p:nvPr/>
        </p:nvGrpSpPr>
        <p:grpSpPr bwMode="auto">
          <a:xfrm>
            <a:off x="4788024" y="328983"/>
            <a:ext cx="3503061" cy="530811"/>
            <a:chOff x="3651" y="935"/>
            <a:chExt cx="1406" cy="318"/>
          </a:xfrm>
        </p:grpSpPr>
        <p:sp>
          <p:nvSpPr>
            <p:cNvPr id="8" name="AutoShape 3"/>
            <p:cNvSpPr>
              <a:spLocks noChangeArrowheads="1"/>
            </p:cNvSpPr>
            <p:nvPr/>
          </p:nvSpPr>
          <p:spPr bwMode="auto">
            <a:xfrm>
              <a:off x="3651" y="935"/>
              <a:ext cx="1406" cy="31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BFDEB8"/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>
              <a:solidFill>
                <a:srgbClr val="006666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Text Box 4"/>
            <p:cNvSpPr txBox="1">
              <a:spLocks noChangeArrowheads="1"/>
            </p:cNvSpPr>
            <p:nvPr/>
          </p:nvSpPr>
          <p:spPr bwMode="auto">
            <a:xfrm>
              <a:off x="3673" y="987"/>
              <a:ext cx="1361" cy="2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 rtl="1">
                <a:spcBef>
                  <a:spcPct val="50000"/>
                </a:spcBef>
              </a:pPr>
              <a:r>
                <a:rPr lang="fa-IR" sz="1800" b="1" dirty="0" smtClean="0">
                  <a:solidFill>
                    <a:srgbClr val="FF0000"/>
                  </a:solidFill>
                  <a:latin typeface="Times New Roman" pitchFamily="18" charset="0"/>
                  <a:cs typeface="B Titr" pitchFamily="2" charset="-78"/>
                </a:rPr>
                <a:t>مثال: پیام درخواست</a:t>
              </a:r>
              <a:endParaRPr lang="en-US" sz="1800" dirty="0">
                <a:solidFill>
                  <a:srgbClr val="FF0000"/>
                </a:solidFill>
                <a:cs typeface="B Titr" pitchFamily="2" charset="-78"/>
              </a:endParaRPr>
            </a:p>
          </p:txBody>
        </p:sp>
      </p:grpSp>
      <p:pic>
        <p:nvPicPr>
          <p:cNvPr id="12290" name="Picture 2" descr="http://www.tcpipguide.com/free/diagrams/httprequest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818877"/>
            <a:ext cx="8580823" cy="3770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6116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2"/>
          <p:cNvGrpSpPr>
            <a:grpSpLocks/>
          </p:cNvGrpSpPr>
          <p:nvPr/>
        </p:nvGrpSpPr>
        <p:grpSpPr bwMode="auto">
          <a:xfrm>
            <a:off x="4788024" y="328983"/>
            <a:ext cx="3503061" cy="530811"/>
            <a:chOff x="3651" y="935"/>
            <a:chExt cx="1406" cy="318"/>
          </a:xfrm>
        </p:grpSpPr>
        <p:sp>
          <p:nvSpPr>
            <p:cNvPr id="8" name="AutoShape 3"/>
            <p:cNvSpPr>
              <a:spLocks noChangeArrowheads="1"/>
            </p:cNvSpPr>
            <p:nvPr/>
          </p:nvSpPr>
          <p:spPr bwMode="auto">
            <a:xfrm>
              <a:off x="3651" y="935"/>
              <a:ext cx="1406" cy="31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BFDEB8"/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>
              <a:solidFill>
                <a:srgbClr val="006666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Text Box 4"/>
            <p:cNvSpPr txBox="1">
              <a:spLocks noChangeArrowheads="1"/>
            </p:cNvSpPr>
            <p:nvPr/>
          </p:nvSpPr>
          <p:spPr bwMode="auto">
            <a:xfrm>
              <a:off x="3673" y="987"/>
              <a:ext cx="1361" cy="2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 rtl="1">
                <a:spcBef>
                  <a:spcPct val="50000"/>
                </a:spcBef>
              </a:pPr>
              <a:r>
                <a:rPr lang="fa-IR" sz="1800" b="1" dirty="0" smtClean="0">
                  <a:solidFill>
                    <a:srgbClr val="FF0000"/>
                  </a:solidFill>
                  <a:latin typeface="Times New Roman" pitchFamily="18" charset="0"/>
                  <a:cs typeface="B Titr" pitchFamily="2" charset="-78"/>
                </a:rPr>
                <a:t>قالب پیام های پاسخ </a:t>
              </a:r>
              <a:r>
                <a:rPr lang="en-US" sz="1800" b="1" dirty="0" smtClean="0">
                  <a:solidFill>
                    <a:srgbClr val="FF0000"/>
                  </a:solidFill>
                  <a:latin typeface="Times New Roman" pitchFamily="18" charset="0"/>
                  <a:cs typeface="B Titr" pitchFamily="2" charset="-78"/>
                </a:rPr>
                <a:t>HTTP</a:t>
              </a:r>
              <a:endParaRPr lang="en-US" sz="1800" dirty="0">
                <a:solidFill>
                  <a:srgbClr val="FF0000"/>
                </a:solidFill>
                <a:cs typeface="B Titr" pitchFamily="2" charset="-78"/>
              </a:endParaRPr>
            </a:p>
          </p:txBody>
        </p:sp>
      </p:grpSp>
      <p:pic>
        <p:nvPicPr>
          <p:cNvPr id="6" name="Picture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513" y="1066800"/>
            <a:ext cx="8116887" cy="5108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24991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2"/>
          <p:cNvGrpSpPr>
            <a:grpSpLocks/>
          </p:cNvGrpSpPr>
          <p:nvPr/>
        </p:nvGrpSpPr>
        <p:grpSpPr bwMode="auto">
          <a:xfrm>
            <a:off x="4788024" y="328983"/>
            <a:ext cx="3503061" cy="530811"/>
            <a:chOff x="3651" y="935"/>
            <a:chExt cx="1406" cy="318"/>
          </a:xfrm>
        </p:grpSpPr>
        <p:sp>
          <p:nvSpPr>
            <p:cNvPr id="8" name="AutoShape 3"/>
            <p:cNvSpPr>
              <a:spLocks noChangeArrowheads="1"/>
            </p:cNvSpPr>
            <p:nvPr/>
          </p:nvSpPr>
          <p:spPr bwMode="auto">
            <a:xfrm>
              <a:off x="3651" y="935"/>
              <a:ext cx="1406" cy="31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BFDEB8"/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>
              <a:solidFill>
                <a:srgbClr val="006666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Text Box 4"/>
            <p:cNvSpPr txBox="1">
              <a:spLocks noChangeArrowheads="1"/>
            </p:cNvSpPr>
            <p:nvPr/>
          </p:nvSpPr>
          <p:spPr bwMode="auto">
            <a:xfrm>
              <a:off x="3673" y="987"/>
              <a:ext cx="1361" cy="2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 rtl="1">
                <a:spcBef>
                  <a:spcPct val="50000"/>
                </a:spcBef>
              </a:pPr>
              <a:r>
                <a:rPr lang="fa-IR" sz="1800" b="1" dirty="0" err="1" smtClean="0">
                  <a:solidFill>
                    <a:srgbClr val="FF0000"/>
                  </a:solidFill>
                  <a:latin typeface="Times New Roman" pitchFamily="18" charset="0"/>
                  <a:cs typeface="B Titr" pitchFamily="2" charset="-78"/>
                </a:rPr>
                <a:t>کدهای</a:t>
              </a:r>
              <a:r>
                <a:rPr lang="fa-IR" sz="1800" b="1" dirty="0" smtClean="0">
                  <a:solidFill>
                    <a:srgbClr val="FF0000"/>
                  </a:solidFill>
                  <a:latin typeface="Times New Roman" pitchFamily="18" charset="0"/>
                  <a:cs typeface="B Titr" pitchFamily="2" charset="-78"/>
                </a:rPr>
                <a:t> وضعیت</a:t>
              </a:r>
              <a:endParaRPr lang="en-US" sz="1800" dirty="0">
                <a:solidFill>
                  <a:srgbClr val="FF0000"/>
                </a:solidFill>
                <a:cs typeface="B Titr" pitchFamily="2" charset="-78"/>
              </a:endParaRPr>
            </a:p>
          </p:txBody>
        </p:sp>
      </p:grp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939502"/>
            <a:ext cx="6480720" cy="5797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87944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2"/>
          <p:cNvGrpSpPr>
            <a:grpSpLocks/>
          </p:cNvGrpSpPr>
          <p:nvPr/>
        </p:nvGrpSpPr>
        <p:grpSpPr bwMode="auto">
          <a:xfrm>
            <a:off x="4788024" y="328983"/>
            <a:ext cx="3503061" cy="530811"/>
            <a:chOff x="3651" y="935"/>
            <a:chExt cx="1406" cy="318"/>
          </a:xfrm>
        </p:grpSpPr>
        <p:sp>
          <p:nvSpPr>
            <p:cNvPr id="8" name="AutoShape 3"/>
            <p:cNvSpPr>
              <a:spLocks noChangeArrowheads="1"/>
            </p:cNvSpPr>
            <p:nvPr/>
          </p:nvSpPr>
          <p:spPr bwMode="auto">
            <a:xfrm>
              <a:off x="3651" y="935"/>
              <a:ext cx="1406" cy="31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BFDEB8"/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>
              <a:solidFill>
                <a:srgbClr val="006666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Text Box 4"/>
            <p:cNvSpPr txBox="1">
              <a:spLocks noChangeArrowheads="1"/>
            </p:cNvSpPr>
            <p:nvPr/>
          </p:nvSpPr>
          <p:spPr bwMode="auto">
            <a:xfrm>
              <a:off x="3673" y="987"/>
              <a:ext cx="1361" cy="2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 rtl="1">
                <a:spcBef>
                  <a:spcPct val="50000"/>
                </a:spcBef>
              </a:pPr>
              <a:r>
                <a:rPr lang="fa-IR" sz="1800" b="1" dirty="0" smtClean="0">
                  <a:solidFill>
                    <a:srgbClr val="FF0000"/>
                  </a:solidFill>
                  <a:latin typeface="Times New Roman" pitchFamily="18" charset="0"/>
                  <a:cs typeface="B Titr" pitchFamily="2" charset="-78"/>
                </a:rPr>
                <a:t>سرآیند داده</a:t>
              </a:r>
              <a:endParaRPr lang="en-US" sz="1800" dirty="0">
                <a:solidFill>
                  <a:srgbClr val="FF0000"/>
                </a:solidFill>
                <a:cs typeface="B Titr" pitchFamily="2" charset="-78"/>
              </a:endParaRPr>
            </a:p>
          </p:txBody>
        </p:sp>
      </p:grpSp>
      <p:pic>
        <p:nvPicPr>
          <p:cNvPr id="10" name="Picture 4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113" y="1657945"/>
            <a:ext cx="8218487" cy="4651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19227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2"/>
          <p:cNvGrpSpPr>
            <a:grpSpLocks/>
          </p:cNvGrpSpPr>
          <p:nvPr/>
        </p:nvGrpSpPr>
        <p:grpSpPr bwMode="auto">
          <a:xfrm>
            <a:off x="4788024" y="328983"/>
            <a:ext cx="3503061" cy="530811"/>
            <a:chOff x="3651" y="935"/>
            <a:chExt cx="1406" cy="318"/>
          </a:xfrm>
        </p:grpSpPr>
        <p:sp>
          <p:nvSpPr>
            <p:cNvPr id="8" name="AutoShape 3"/>
            <p:cNvSpPr>
              <a:spLocks noChangeArrowheads="1"/>
            </p:cNvSpPr>
            <p:nvPr/>
          </p:nvSpPr>
          <p:spPr bwMode="auto">
            <a:xfrm>
              <a:off x="3651" y="935"/>
              <a:ext cx="1406" cy="31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BFDEB8"/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>
              <a:solidFill>
                <a:srgbClr val="006666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Text Box 4"/>
            <p:cNvSpPr txBox="1">
              <a:spLocks noChangeArrowheads="1"/>
            </p:cNvSpPr>
            <p:nvPr/>
          </p:nvSpPr>
          <p:spPr bwMode="auto">
            <a:xfrm>
              <a:off x="3673" y="987"/>
              <a:ext cx="1361" cy="2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 rtl="1">
                <a:spcBef>
                  <a:spcPct val="50000"/>
                </a:spcBef>
              </a:pPr>
              <a:r>
                <a:rPr lang="fa-IR" sz="1800" b="1" dirty="0" smtClean="0">
                  <a:solidFill>
                    <a:srgbClr val="FF0000"/>
                  </a:solidFill>
                  <a:latin typeface="Times New Roman" pitchFamily="18" charset="0"/>
                  <a:cs typeface="B Titr" pitchFamily="2" charset="-78"/>
                </a:rPr>
                <a:t>مثال: پیام پاسخ</a:t>
              </a:r>
              <a:endParaRPr lang="en-US" sz="1800" dirty="0">
                <a:solidFill>
                  <a:srgbClr val="FF0000"/>
                </a:solidFill>
                <a:cs typeface="B Titr" pitchFamily="2" charset="-78"/>
              </a:endParaRPr>
            </a:p>
          </p:txBody>
        </p:sp>
      </p:grpSp>
      <p:pic>
        <p:nvPicPr>
          <p:cNvPr id="1026" name="Picture 2" descr="http://www.tcpipguide.com/free/diagrams/httprespons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916832"/>
            <a:ext cx="8723693" cy="4123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8536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2"/>
          <p:cNvGrpSpPr>
            <a:grpSpLocks/>
          </p:cNvGrpSpPr>
          <p:nvPr/>
        </p:nvGrpSpPr>
        <p:grpSpPr bwMode="auto">
          <a:xfrm>
            <a:off x="4788024" y="328983"/>
            <a:ext cx="3503061" cy="530811"/>
            <a:chOff x="3651" y="935"/>
            <a:chExt cx="1406" cy="318"/>
          </a:xfrm>
        </p:grpSpPr>
        <p:sp>
          <p:nvSpPr>
            <p:cNvPr id="8" name="AutoShape 3"/>
            <p:cNvSpPr>
              <a:spLocks noChangeArrowheads="1"/>
            </p:cNvSpPr>
            <p:nvPr/>
          </p:nvSpPr>
          <p:spPr bwMode="auto">
            <a:xfrm>
              <a:off x="3651" y="935"/>
              <a:ext cx="1406" cy="31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BFDEB8"/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>
              <a:solidFill>
                <a:srgbClr val="006666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Text Box 4"/>
            <p:cNvSpPr txBox="1">
              <a:spLocks noChangeArrowheads="1"/>
            </p:cNvSpPr>
            <p:nvPr/>
          </p:nvSpPr>
          <p:spPr bwMode="auto">
            <a:xfrm>
              <a:off x="3673" y="987"/>
              <a:ext cx="1361" cy="2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 rtl="1">
                <a:spcBef>
                  <a:spcPct val="50000"/>
                </a:spcBef>
              </a:pPr>
              <a:r>
                <a:rPr lang="fa-IR" sz="1800" b="1" dirty="0" smtClean="0">
                  <a:solidFill>
                    <a:srgbClr val="FF0000"/>
                  </a:solidFill>
                  <a:latin typeface="Times New Roman" pitchFamily="18" charset="0"/>
                  <a:cs typeface="B Titr" pitchFamily="2" charset="-78"/>
                </a:rPr>
                <a:t>کدهای وضعیت</a:t>
              </a:r>
              <a:endParaRPr lang="en-US" sz="1800" dirty="0">
                <a:solidFill>
                  <a:srgbClr val="FF0000"/>
                </a:solidFill>
                <a:cs typeface="B Titr" pitchFamily="2" charset="-78"/>
              </a:endParaRPr>
            </a:p>
          </p:txBody>
        </p:sp>
      </p:grpSp>
      <p:sp>
        <p:nvSpPr>
          <p:cNvPr id="10" name="AutoShape 6"/>
          <p:cNvSpPr>
            <a:spLocks noChangeArrowheads="1"/>
          </p:cNvSpPr>
          <p:nvPr/>
        </p:nvSpPr>
        <p:spPr bwMode="auto">
          <a:xfrm>
            <a:off x="295387" y="1124745"/>
            <a:ext cx="8358480" cy="1542364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BFDEB8"/>
              </a:gs>
              <a:gs pos="100000">
                <a:schemeClr val="bg1"/>
              </a:gs>
            </a:gsLst>
            <a:path path="rect">
              <a:fillToRect l="100000" t="100000"/>
            </a:path>
          </a:gradFill>
          <a:ln w="9525">
            <a:solidFill>
              <a:srgbClr val="006666"/>
            </a:solidFill>
            <a:prstDash val="sysDot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539552" y="1343670"/>
            <a:ext cx="7882219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algn="r" rtl="1">
              <a:spcBef>
                <a:spcPct val="50000"/>
              </a:spcBef>
              <a:buFont typeface="Arial" pitchFamily="34" charset="0"/>
              <a:buChar char="•"/>
            </a:pP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اولین سطر پاسخ در ازای هر درخواستی و بلا فاصله به متقاضی ارسال میشود تا کاربر را از وضعیت درخواست آگاه سازد</a:t>
            </a:r>
          </a:p>
          <a:p>
            <a:pPr marL="342900" indent="-342900" algn="r" rtl="1">
              <a:spcBef>
                <a:spcPct val="50000"/>
              </a:spcBef>
              <a:buFont typeface="Arial" pitchFamily="34" charset="0"/>
              <a:buChar char="•"/>
            </a:pP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همانند </a:t>
            </a:r>
            <a:r>
              <a:rPr lang="en-US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SMTP</a:t>
            </a: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 و </a:t>
            </a:r>
            <a:r>
              <a:rPr lang="en-US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FTP</a:t>
            </a: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، این سطر دارای شماره و توصیفی از آن میباشد</a:t>
            </a:r>
          </a:p>
          <a:p>
            <a:pPr marL="342900" indent="-342900" algn="r" rtl="1">
              <a:spcBef>
                <a:spcPct val="50000"/>
              </a:spcBef>
              <a:buFont typeface="Arial" pitchFamily="34" charset="0"/>
              <a:buChar char="•"/>
            </a:pP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بر حسب اولین رقم، شماره ها به 5 دسته اصلی تقسیم میشوند</a:t>
            </a:r>
            <a:endParaRPr lang="fa-IR" sz="1600" b="1" dirty="0">
              <a:solidFill>
                <a:schemeClr val="accent6"/>
              </a:solidFill>
              <a:latin typeface="Times New Roman" pitchFamily="18" charset="0"/>
              <a:cs typeface="B Nazanin" pitchFamily="2" charset="-78"/>
            </a:endParaRP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172278"/>
              </p:ext>
            </p:extLst>
          </p:nvPr>
        </p:nvGraphicFramePr>
        <p:xfrm>
          <a:off x="327257" y="4437112"/>
          <a:ext cx="8208912" cy="22466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2168"/>
                <a:gridCol w="1656184"/>
                <a:gridCol w="5040560"/>
              </a:tblGrid>
              <a:tr h="374442">
                <a:tc>
                  <a:txBody>
                    <a:bodyPr/>
                    <a:lstStyle/>
                    <a:p>
                      <a:pPr algn="ctr"/>
                      <a:r>
                        <a:rPr lang="fa-IR" dirty="0" smtClean="0">
                          <a:solidFill>
                            <a:schemeClr val="accent6"/>
                          </a:solidFill>
                          <a:cs typeface="B Nazanin" pitchFamily="2" charset="-78"/>
                        </a:rPr>
                        <a:t>نوع کد</a:t>
                      </a:r>
                      <a:endParaRPr lang="en-US" dirty="0">
                        <a:solidFill>
                          <a:schemeClr val="accent6"/>
                        </a:solidFill>
                        <a:cs typeface="B Nazanin" pitchFamily="2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a-IR" dirty="0" smtClean="0">
                          <a:solidFill>
                            <a:schemeClr val="accent6"/>
                          </a:solidFill>
                          <a:cs typeface="B Nazanin" pitchFamily="2" charset="-78"/>
                        </a:rPr>
                        <a:t>مفهوم</a:t>
                      </a:r>
                      <a:endParaRPr lang="en-US" dirty="0">
                        <a:solidFill>
                          <a:schemeClr val="accent6"/>
                        </a:solidFill>
                        <a:cs typeface="B Nazanin" pitchFamily="2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a-IR" dirty="0" smtClean="0">
                          <a:solidFill>
                            <a:schemeClr val="accent6"/>
                          </a:solidFill>
                          <a:cs typeface="B Nazanin" pitchFamily="2" charset="-78"/>
                        </a:rPr>
                        <a:t>توصیف</a:t>
                      </a:r>
                      <a:endParaRPr lang="en-US" dirty="0">
                        <a:solidFill>
                          <a:schemeClr val="accent6"/>
                        </a:solidFill>
                        <a:cs typeface="B Nazanin" pitchFamily="2" charset="-78"/>
                      </a:endParaRPr>
                    </a:p>
                  </a:txBody>
                  <a:tcPr/>
                </a:tc>
              </a:tr>
              <a:tr h="374442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1yy</a:t>
                      </a:r>
                      <a:endParaRPr lang="en-US" sz="1600" b="1" dirty="0">
                        <a:solidFill>
                          <a:schemeClr val="bg1">
                            <a:lumMod val="8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b="1" dirty="0" smtClean="0">
                          <a:solidFill>
                            <a:schemeClr val="bg1">
                              <a:lumMod val="85000"/>
                            </a:schemeClr>
                          </a:solidFill>
                          <a:cs typeface="B Nazanin" pitchFamily="2" charset="-78"/>
                        </a:rPr>
                        <a:t>اطلاعاتی</a:t>
                      </a:r>
                      <a:endParaRPr lang="en-US" b="1" dirty="0">
                        <a:solidFill>
                          <a:schemeClr val="bg1">
                            <a:lumMod val="85000"/>
                          </a:schemeClr>
                        </a:solidFill>
                        <a:cs typeface="B Nazanin" pitchFamily="2" charset="-78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fa-IR" dirty="0" smtClean="0">
                          <a:solidFill>
                            <a:schemeClr val="bg1">
                              <a:lumMod val="85000"/>
                            </a:schemeClr>
                          </a:solidFill>
                          <a:cs typeface="B Nazanin" pitchFamily="2" charset="-78"/>
                        </a:rPr>
                        <a:t>شامل اطلاعات عمومی، بدون اطلاعات نتیجه</a:t>
                      </a:r>
                      <a:endParaRPr lang="en-US" dirty="0">
                        <a:solidFill>
                          <a:schemeClr val="bg1">
                            <a:lumMod val="85000"/>
                          </a:schemeClr>
                        </a:solidFill>
                        <a:cs typeface="B Nazanin" pitchFamily="2" charset="-78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</a:tr>
              <a:tr h="374442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>
                          <a:solidFill>
                            <a:schemeClr val="accent6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2yy</a:t>
                      </a:r>
                      <a:endParaRPr lang="en-US" sz="1600" b="1" dirty="0">
                        <a:solidFill>
                          <a:schemeClr val="accent6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b="1" dirty="0" smtClean="0">
                          <a:solidFill>
                            <a:schemeClr val="accent6"/>
                          </a:solidFill>
                          <a:cs typeface="B Nazanin" pitchFamily="2" charset="-78"/>
                        </a:rPr>
                        <a:t>موفق</a:t>
                      </a:r>
                      <a:endParaRPr lang="en-US" b="1" dirty="0">
                        <a:solidFill>
                          <a:schemeClr val="accent6"/>
                        </a:solidFill>
                        <a:cs typeface="B Nazanin" pitchFamily="2" charset="-78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fa-IR" dirty="0" smtClean="0">
                          <a:solidFill>
                            <a:schemeClr val="accent6"/>
                          </a:solidFill>
                          <a:cs typeface="B Nazanin" pitchFamily="2" charset="-78"/>
                        </a:rPr>
                        <a:t>متد توسط سرور دریافت و پذیرش شد</a:t>
                      </a:r>
                      <a:endParaRPr lang="en-US" dirty="0">
                        <a:solidFill>
                          <a:schemeClr val="accent6"/>
                        </a:solidFill>
                        <a:cs typeface="B Nazanin" pitchFamily="2" charset="-78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</a:tr>
              <a:tr h="374442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3yy</a:t>
                      </a:r>
                      <a:endParaRPr lang="en-US" sz="1600" b="1" dirty="0">
                        <a:solidFill>
                          <a:schemeClr val="bg1">
                            <a:lumMod val="9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b="1" dirty="0" smtClean="0">
                          <a:solidFill>
                            <a:schemeClr val="bg1">
                              <a:lumMod val="95000"/>
                            </a:schemeClr>
                          </a:solidFill>
                          <a:cs typeface="B Nazanin" pitchFamily="2" charset="-78"/>
                        </a:rPr>
                        <a:t>تغییر</a:t>
                      </a:r>
                      <a:r>
                        <a:rPr lang="fa-IR" b="1" baseline="0" dirty="0" smtClean="0">
                          <a:solidFill>
                            <a:schemeClr val="bg1">
                              <a:lumMod val="95000"/>
                            </a:schemeClr>
                          </a:solidFill>
                          <a:cs typeface="B Nazanin" pitchFamily="2" charset="-78"/>
                        </a:rPr>
                        <a:t> مسیر</a:t>
                      </a:r>
                      <a:endParaRPr lang="en-US" b="1" dirty="0">
                        <a:solidFill>
                          <a:schemeClr val="bg1">
                            <a:lumMod val="95000"/>
                          </a:schemeClr>
                        </a:solidFill>
                        <a:cs typeface="B Nazanin" pitchFamily="2" charset="-78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fa-IR" dirty="0" smtClean="0">
                          <a:solidFill>
                            <a:schemeClr val="bg1">
                              <a:lumMod val="95000"/>
                            </a:schemeClr>
                          </a:solidFill>
                          <a:cs typeface="B Nazanin" pitchFamily="2" charset="-78"/>
                        </a:rPr>
                        <a:t>نیاز به عملیات بیشتر قبل از پذیرش درخواست</a:t>
                      </a:r>
                      <a:endParaRPr lang="en-US" dirty="0">
                        <a:solidFill>
                          <a:schemeClr val="bg1">
                            <a:lumMod val="95000"/>
                          </a:schemeClr>
                        </a:solidFill>
                        <a:cs typeface="B Nazanin" pitchFamily="2" charset="-78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</a:tr>
              <a:tr h="374442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>
                          <a:solidFill>
                            <a:schemeClr val="accent6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4yy</a:t>
                      </a:r>
                      <a:endParaRPr lang="en-US" sz="1600" b="1" dirty="0">
                        <a:solidFill>
                          <a:schemeClr val="accent6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b="1" dirty="0" smtClean="0">
                          <a:solidFill>
                            <a:schemeClr val="accent6"/>
                          </a:solidFill>
                          <a:cs typeface="B Nazanin" pitchFamily="2" charset="-78"/>
                        </a:rPr>
                        <a:t>خطای کاربر</a:t>
                      </a:r>
                      <a:endParaRPr lang="en-US" b="1" dirty="0">
                        <a:solidFill>
                          <a:schemeClr val="accent6"/>
                        </a:solidFill>
                        <a:cs typeface="B Nazanin" pitchFamily="2" charset="-78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fa-IR" dirty="0" smtClean="0">
                          <a:solidFill>
                            <a:schemeClr val="accent6"/>
                          </a:solidFill>
                          <a:cs typeface="B Nazanin" pitchFamily="2" charset="-78"/>
                        </a:rPr>
                        <a:t>درخواست نامعتبر، عدم دریافت کامل یا دارای خطای دستوری</a:t>
                      </a:r>
                      <a:endParaRPr lang="en-US" dirty="0">
                        <a:solidFill>
                          <a:schemeClr val="accent6"/>
                        </a:solidFill>
                        <a:cs typeface="B Nazanin" pitchFamily="2" charset="-78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</a:tr>
              <a:tr h="374442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5yy</a:t>
                      </a:r>
                      <a:endParaRPr lang="en-US" sz="1600" b="1" dirty="0">
                        <a:solidFill>
                          <a:schemeClr val="bg1">
                            <a:lumMod val="9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b="1" dirty="0" smtClean="0">
                          <a:solidFill>
                            <a:schemeClr val="bg1">
                              <a:lumMod val="95000"/>
                            </a:schemeClr>
                          </a:solidFill>
                          <a:cs typeface="B Nazanin" pitchFamily="2" charset="-78"/>
                        </a:rPr>
                        <a:t>خطای سرور</a:t>
                      </a:r>
                      <a:endParaRPr lang="en-US" b="1" dirty="0">
                        <a:solidFill>
                          <a:schemeClr val="bg1">
                            <a:lumMod val="95000"/>
                          </a:schemeClr>
                        </a:solidFill>
                        <a:cs typeface="B Nazanin" pitchFamily="2" charset="-78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fa-IR" dirty="0" smtClean="0">
                          <a:solidFill>
                            <a:schemeClr val="bg1">
                              <a:lumMod val="95000"/>
                            </a:schemeClr>
                          </a:solidFill>
                          <a:cs typeface="B Nazanin" pitchFamily="2" charset="-78"/>
                        </a:rPr>
                        <a:t>درخواست معتبر، عدم پذیرش بدلیل مشکلات سرور</a:t>
                      </a:r>
                      <a:endParaRPr lang="en-US" dirty="0">
                        <a:solidFill>
                          <a:schemeClr val="bg1">
                            <a:lumMod val="95000"/>
                          </a:schemeClr>
                        </a:solidFill>
                        <a:cs typeface="B Nazanin" pitchFamily="2" charset="-78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</a:tr>
            </a:tbl>
          </a:graphicData>
        </a:graphic>
      </p:graphicFrame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7286" y="3171268"/>
            <a:ext cx="4786749" cy="9185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91150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2"/>
          <p:cNvGrpSpPr>
            <a:grpSpLocks/>
          </p:cNvGrpSpPr>
          <p:nvPr/>
        </p:nvGrpSpPr>
        <p:grpSpPr bwMode="auto">
          <a:xfrm>
            <a:off x="4788024" y="328983"/>
            <a:ext cx="3503061" cy="530811"/>
            <a:chOff x="3651" y="935"/>
            <a:chExt cx="1406" cy="318"/>
          </a:xfrm>
        </p:grpSpPr>
        <p:sp>
          <p:nvSpPr>
            <p:cNvPr id="8" name="AutoShape 3"/>
            <p:cNvSpPr>
              <a:spLocks noChangeArrowheads="1"/>
            </p:cNvSpPr>
            <p:nvPr/>
          </p:nvSpPr>
          <p:spPr bwMode="auto">
            <a:xfrm>
              <a:off x="3651" y="935"/>
              <a:ext cx="1406" cy="31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BFDEB8"/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>
              <a:solidFill>
                <a:srgbClr val="006666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Text Box 4"/>
            <p:cNvSpPr txBox="1">
              <a:spLocks noChangeArrowheads="1"/>
            </p:cNvSpPr>
            <p:nvPr/>
          </p:nvSpPr>
          <p:spPr bwMode="auto">
            <a:xfrm>
              <a:off x="3673" y="987"/>
              <a:ext cx="1361" cy="2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 rtl="1">
                <a:spcBef>
                  <a:spcPct val="50000"/>
                </a:spcBef>
              </a:pPr>
              <a:r>
                <a:rPr lang="fa-IR" sz="1800" b="1" dirty="0" smtClean="0">
                  <a:solidFill>
                    <a:srgbClr val="FF0000"/>
                  </a:solidFill>
                  <a:latin typeface="Times New Roman" pitchFamily="18" charset="0"/>
                  <a:cs typeface="B Titr" pitchFamily="2" charset="-78"/>
                </a:rPr>
                <a:t>کدهای وضعیت  (اطلاعاتی و موفق)</a:t>
              </a:r>
              <a:endParaRPr lang="en-US" sz="1800" dirty="0">
                <a:solidFill>
                  <a:srgbClr val="FF0000"/>
                </a:solidFill>
                <a:cs typeface="B Titr" pitchFamily="2" charset="-78"/>
              </a:endParaRPr>
            </a:p>
          </p:txBody>
        </p:sp>
      </p:grpSp>
      <p:pic>
        <p:nvPicPr>
          <p:cNvPr id="12" name="Picture 4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025" y="1844824"/>
            <a:ext cx="7916863" cy="2098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314" y="3845074"/>
            <a:ext cx="7982712" cy="21846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33893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2"/>
          <p:cNvGrpSpPr>
            <a:grpSpLocks/>
          </p:cNvGrpSpPr>
          <p:nvPr/>
        </p:nvGrpSpPr>
        <p:grpSpPr bwMode="auto">
          <a:xfrm>
            <a:off x="4788024" y="328983"/>
            <a:ext cx="3503061" cy="530811"/>
            <a:chOff x="3651" y="935"/>
            <a:chExt cx="1406" cy="318"/>
          </a:xfrm>
        </p:grpSpPr>
        <p:sp>
          <p:nvSpPr>
            <p:cNvPr id="8" name="AutoShape 3"/>
            <p:cNvSpPr>
              <a:spLocks noChangeArrowheads="1"/>
            </p:cNvSpPr>
            <p:nvPr/>
          </p:nvSpPr>
          <p:spPr bwMode="auto">
            <a:xfrm>
              <a:off x="3651" y="935"/>
              <a:ext cx="1406" cy="31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BFDEB8"/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>
              <a:solidFill>
                <a:srgbClr val="006666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Text Box 4"/>
            <p:cNvSpPr txBox="1">
              <a:spLocks noChangeArrowheads="1"/>
            </p:cNvSpPr>
            <p:nvPr/>
          </p:nvSpPr>
          <p:spPr bwMode="auto">
            <a:xfrm>
              <a:off x="3673" y="987"/>
              <a:ext cx="1361" cy="2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 rtl="1">
                <a:spcBef>
                  <a:spcPct val="50000"/>
                </a:spcBef>
              </a:pPr>
              <a:r>
                <a:rPr lang="fa-IR" sz="1800" b="1" dirty="0" smtClean="0">
                  <a:solidFill>
                    <a:srgbClr val="FF0000"/>
                  </a:solidFill>
                  <a:latin typeface="Times New Roman" pitchFamily="18" charset="0"/>
                  <a:cs typeface="B Titr" pitchFamily="2" charset="-78"/>
                </a:rPr>
                <a:t>کدهای وضعیت (بدون پاسخ)</a:t>
              </a:r>
              <a:endParaRPr lang="en-US" sz="1800" dirty="0">
                <a:solidFill>
                  <a:srgbClr val="FF0000"/>
                </a:solidFill>
                <a:cs typeface="B Titr" pitchFamily="2" charset="-78"/>
              </a:endParaRPr>
            </a:p>
          </p:txBody>
        </p:sp>
      </p:grpSp>
      <p:pic>
        <p:nvPicPr>
          <p:cNvPr id="1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113" y="1344439"/>
            <a:ext cx="7486650" cy="5468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855" y="892132"/>
            <a:ext cx="7486650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31056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2"/>
          <p:cNvGrpSpPr>
            <a:grpSpLocks/>
          </p:cNvGrpSpPr>
          <p:nvPr/>
        </p:nvGrpSpPr>
        <p:grpSpPr bwMode="auto">
          <a:xfrm>
            <a:off x="4788024" y="328983"/>
            <a:ext cx="3503061" cy="530811"/>
            <a:chOff x="3651" y="935"/>
            <a:chExt cx="1406" cy="318"/>
          </a:xfrm>
        </p:grpSpPr>
        <p:sp>
          <p:nvSpPr>
            <p:cNvPr id="8" name="AutoShape 3"/>
            <p:cNvSpPr>
              <a:spLocks noChangeArrowheads="1"/>
            </p:cNvSpPr>
            <p:nvPr/>
          </p:nvSpPr>
          <p:spPr bwMode="auto">
            <a:xfrm>
              <a:off x="3651" y="935"/>
              <a:ext cx="1406" cy="31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BFDEB8"/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>
              <a:solidFill>
                <a:srgbClr val="006666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Text Box 4"/>
            <p:cNvSpPr txBox="1">
              <a:spLocks noChangeArrowheads="1"/>
            </p:cNvSpPr>
            <p:nvPr/>
          </p:nvSpPr>
          <p:spPr bwMode="auto">
            <a:xfrm>
              <a:off x="3673" y="987"/>
              <a:ext cx="1361" cy="2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 rtl="1">
                <a:spcBef>
                  <a:spcPct val="50000"/>
                </a:spcBef>
              </a:pPr>
              <a:r>
                <a:rPr lang="fa-IR" sz="1800" b="1" dirty="0" smtClean="0">
                  <a:solidFill>
                    <a:srgbClr val="FF0000"/>
                  </a:solidFill>
                  <a:latin typeface="Times New Roman" pitchFamily="18" charset="0"/>
                  <a:cs typeface="B Titr" pitchFamily="2" charset="-78"/>
                </a:rPr>
                <a:t>مثال</a:t>
              </a:r>
              <a:endParaRPr lang="en-US" sz="1800" dirty="0">
                <a:solidFill>
                  <a:srgbClr val="FF0000"/>
                </a:solidFill>
                <a:cs typeface="B Titr" pitchFamily="2" charset="-78"/>
              </a:endParaRPr>
            </a:p>
          </p:txBody>
        </p:sp>
      </p:grpSp>
      <p:sp>
        <p:nvSpPr>
          <p:cNvPr id="10" name="AutoShape 6"/>
          <p:cNvSpPr>
            <a:spLocks noChangeArrowheads="1"/>
          </p:cNvSpPr>
          <p:nvPr/>
        </p:nvSpPr>
        <p:spPr bwMode="auto">
          <a:xfrm>
            <a:off x="295387" y="1124745"/>
            <a:ext cx="8358480" cy="771182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BFDEB8"/>
              </a:gs>
              <a:gs pos="100000">
                <a:schemeClr val="bg1"/>
              </a:gs>
            </a:gsLst>
            <a:path path="rect">
              <a:fillToRect l="100000" t="100000"/>
            </a:path>
          </a:gradFill>
          <a:ln w="9525">
            <a:solidFill>
              <a:srgbClr val="006666"/>
            </a:solidFill>
            <a:prstDash val="sysDot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539552" y="1343670"/>
            <a:ext cx="7882219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algn="r" rtl="1">
              <a:spcBef>
                <a:spcPct val="50000"/>
              </a:spcBef>
              <a:buFont typeface="Arial" pitchFamily="34" charset="0"/>
              <a:buChar char="•"/>
            </a:pP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درخواست تصویر قرار گرفته در مسیر </a:t>
            </a:r>
            <a:r>
              <a:rPr lang="en-US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/user/bin/image1</a:t>
            </a: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 با پروتکل </a:t>
            </a:r>
            <a:r>
              <a:rPr lang="en-US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HTTP 1.1</a:t>
            </a:r>
            <a:endParaRPr lang="fa-IR" sz="1600" b="1" dirty="0" smtClean="0">
              <a:solidFill>
                <a:schemeClr val="accent6"/>
              </a:solidFill>
              <a:latin typeface="Times New Roman" pitchFamily="18" charset="0"/>
              <a:cs typeface="B Nazanin" pitchFamily="2" charset="-78"/>
            </a:endParaRPr>
          </a:p>
          <a:p>
            <a:pPr marL="342900" indent="-342900" algn="r" rtl="1">
              <a:spcBef>
                <a:spcPct val="50000"/>
              </a:spcBef>
              <a:buFont typeface="Arial" pitchFamily="34" charset="0"/>
              <a:buChar char="•"/>
            </a:pPr>
            <a:endParaRPr lang="fa-IR" sz="1600" b="1" dirty="0">
              <a:solidFill>
                <a:schemeClr val="accent6"/>
              </a:solidFill>
              <a:latin typeface="Times New Roman" pitchFamily="18" charset="0"/>
              <a:cs typeface="B Nazanin" pitchFamily="2" charset="-78"/>
            </a:endParaRPr>
          </a:p>
        </p:txBody>
      </p:sp>
      <p:pic>
        <p:nvPicPr>
          <p:cNvPr id="12" name="Picture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288" y="2126654"/>
            <a:ext cx="6947048" cy="4686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00605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2"/>
          <p:cNvGrpSpPr>
            <a:grpSpLocks/>
          </p:cNvGrpSpPr>
          <p:nvPr/>
        </p:nvGrpSpPr>
        <p:grpSpPr bwMode="auto">
          <a:xfrm>
            <a:off x="4788024" y="328983"/>
            <a:ext cx="3503061" cy="530811"/>
            <a:chOff x="3651" y="935"/>
            <a:chExt cx="1406" cy="318"/>
          </a:xfrm>
        </p:grpSpPr>
        <p:sp>
          <p:nvSpPr>
            <p:cNvPr id="8" name="AutoShape 3"/>
            <p:cNvSpPr>
              <a:spLocks noChangeArrowheads="1"/>
            </p:cNvSpPr>
            <p:nvPr/>
          </p:nvSpPr>
          <p:spPr bwMode="auto">
            <a:xfrm>
              <a:off x="3651" y="935"/>
              <a:ext cx="1406" cy="31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BFDEB8"/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>
              <a:solidFill>
                <a:srgbClr val="006666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Text Box 4"/>
            <p:cNvSpPr txBox="1">
              <a:spLocks noChangeArrowheads="1"/>
            </p:cNvSpPr>
            <p:nvPr/>
          </p:nvSpPr>
          <p:spPr bwMode="auto">
            <a:xfrm>
              <a:off x="3673" y="987"/>
              <a:ext cx="1361" cy="2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 rtl="1">
                <a:spcBef>
                  <a:spcPct val="50000"/>
                </a:spcBef>
              </a:pPr>
              <a:r>
                <a:rPr lang="fa-IR" sz="1800" b="1" dirty="0" smtClean="0">
                  <a:solidFill>
                    <a:srgbClr val="FF0000"/>
                  </a:solidFill>
                  <a:latin typeface="Times New Roman" pitchFamily="18" charset="0"/>
                  <a:cs typeface="B Titr" pitchFamily="2" charset="-78"/>
                </a:rPr>
                <a:t>زبانهای نشانه گذاری، </a:t>
              </a:r>
              <a:r>
                <a:rPr lang="en-US" sz="1800" b="1" dirty="0" smtClean="0">
                  <a:solidFill>
                    <a:srgbClr val="FF0000"/>
                  </a:solidFill>
                  <a:latin typeface="Times New Roman" pitchFamily="18" charset="0"/>
                  <a:cs typeface="B Titr" pitchFamily="2" charset="-78"/>
                </a:rPr>
                <a:t>HTML</a:t>
              </a:r>
              <a:endParaRPr lang="en-US" sz="1800" dirty="0">
                <a:solidFill>
                  <a:srgbClr val="FF0000"/>
                </a:solidFill>
                <a:cs typeface="B Titr" pitchFamily="2" charset="-78"/>
              </a:endParaRPr>
            </a:p>
          </p:txBody>
        </p:sp>
      </p:grpSp>
      <p:sp>
        <p:nvSpPr>
          <p:cNvPr id="10" name="AutoShape 6"/>
          <p:cNvSpPr>
            <a:spLocks noChangeArrowheads="1"/>
          </p:cNvSpPr>
          <p:nvPr/>
        </p:nvSpPr>
        <p:spPr bwMode="auto">
          <a:xfrm>
            <a:off x="295387" y="1124744"/>
            <a:ext cx="8358480" cy="4896544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BFDEB8"/>
              </a:gs>
              <a:gs pos="100000">
                <a:schemeClr val="bg1"/>
              </a:gs>
            </a:gsLst>
            <a:path path="rect">
              <a:fillToRect l="100000" t="100000"/>
            </a:path>
          </a:gradFill>
          <a:ln w="9525">
            <a:solidFill>
              <a:srgbClr val="006666"/>
            </a:solidFill>
            <a:prstDash val="sysDot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539552" y="1343670"/>
            <a:ext cx="7882219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algn="r" rtl="1">
              <a:spcBef>
                <a:spcPct val="50000"/>
              </a:spcBef>
              <a:buFont typeface="Arial" pitchFamily="34" charset="0"/>
              <a:buChar char="•"/>
            </a:pP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برای تدوین و تبادل اطلاعات و اسناد نیاز به زبان مشترک برای پوشاندن تفاوتهای ماشینهای ناسازگار است</a:t>
            </a:r>
          </a:p>
          <a:p>
            <a:pPr marL="800100" lvl="1" indent="-342900" algn="r" rtl="1">
              <a:spcBef>
                <a:spcPct val="50000"/>
              </a:spcBef>
              <a:buFont typeface="Arial" pitchFamily="34" charset="0"/>
              <a:buChar char="•"/>
            </a:pP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تفسیر این زبان باید مستقل از سخت افزار و نرم افزار باشد</a:t>
            </a:r>
          </a:p>
          <a:p>
            <a:pPr marL="342900" indent="-342900" algn="r" rtl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HTML</a:t>
            </a: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: اولین و متداول ترین زبان نشانه گذاری، نسخه رایج: 4، نسخه درحال آزمایش: 5</a:t>
            </a:r>
          </a:p>
          <a:p>
            <a:pPr marL="342900" indent="-342900" algn="r" rtl="1">
              <a:spcBef>
                <a:spcPct val="50000"/>
              </a:spcBef>
              <a:buFont typeface="Arial" pitchFamily="34" charset="0"/>
              <a:buChar char="•"/>
            </a:pP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روشی برای صفحه آرائی متون ساده و ورود اشیاء دیگر (صدا، تصویر، فهرست، فرم) به یک سند وب</a:t>
            </a:r>
          </a:p>
          <a:p>
            <a:pPr marL="800100" lvl="1" indent="-342900" algn="r" rtl="1">
              <a:spcBef>
                <a:spcPct val="50000"/>
              </a:spcBef>
              <a:buFont typeface="Arial" pitchFamily="34" charset="0"/>
              <a:buChar char="•"/>
            </a:pP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شامل متن هائی برای ارائه اشیاء موجود در یک سند وب بصورت سازمان یافته و صفحه آرائی شده</a:t>
            </a:r>
          </a:p>
          <a:p>
            <a:pPr marL="800100" lvl="1" indent="-342900" algn="r" rtl="1">
              <a:spcBef>
                <a:spcPct val="50000"/>
              </a:spcBef>
              <a:buFont typeface="Arial" pitchFamily="34" charset="0"/>
              <a:buChar char="•"/>
            </a:pP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دارای قابلیت پیوند دادن اسناد مختلف با ارائه متون برجسته در صفحه</a:t>
            </a:r>
          </a:p>
          <a:p>
            <a:pPr marL="800100" lvl="1" indent="-342900" algn="r" rtl="1">
              <a:spcBef>
                <a:spcPct val="50000"/>
              </a:spcBef>
              <a:buFont typeface="Arial" pitchFamily="34" charset="0"/>
              <a:buChar char="•"/>
            </a:pP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شامل برچسبها، عوامل و اشیاء ورود و خروج اطلاعات</a:t>
            </a:r>
          </a:p>
          <a:p>
            <a:pPr marL="342900" indent="-342900" algn="r" rtl="1">
              <a:spcBef>
                <a:spcPct val="50000"/>
              </a:spcBef>
              <a:buFont typeface="Arial" pitchFamily="34" charset="0"/>
              <a:buChar char="•"/>
            </a:pP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عملیات برچسبها با علامت&lt; ...&gt;  شروع و با &lt;.../&gt; تمام میشوند</a:t>
            </a:r>
          </a:p>
          <a:p>
            <a:pPr marL="342900" indent="-342900" algn="r" rtl="1">
              <a:spcBef>
                <a:spcPct val="50000"/>
              </a:spcBef>
              <a:buFont typeface="Arial" pitchFamily="34" charset="0"/>
              <a:buChar char="•"/>
            </a:pP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نکته: </a:t>
            </a:r>
            <a:r>
              <a:rPr lang="en-US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HTML</a:t>
            </a: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 زبان سازمان یافته ای نیست</a:t>
            </a:r>
          </a:p>
          <a:p>
            <a:pPr marL="800100" lvl="1" indent="-342900" algn="r" rtl="1">
              <a:spcBef>
                <a:spcPct val="50000"/>
              </a:spcBef>
              <a:buFont typeface="Arial" pitchFamily="34" charset="0"/>
              <a:buChar char="•"/>
            </a:pP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ارتباط بین عناوین استفاده شده و ماهیت داده های موجود در یک سند در اختیار کاربر است</a:t>
            </a:r>
          </a:p>
          <a:p>
            <a:pPr marL="800100" lvl="1" indent="-342900" algn="r" rtl="1">
              <a:spcBef>
                <a:spcPct val="50000"/>
              </a:spcBef>
              <a:buFont typeface="Arial" pitchFamily="34" charset="0"/>
              <a:buChar char="•"/>
            </a:pP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ممکن است برچسب هائی بدون علامت اتمام وجود داشته باشد</a:t>
            </a:r>
            <a:endParaRPr lang="fa-IR" sz="1600" b="1" dirty="0">
              <a:solidFill>
                <a:schemeClr val="accent6"/>
              </a:solidFill>
              <a:latin typeface="Times New Roman" pitchFamily="18" charset="0"/>
              <a:cs typeface="B Nazanin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748375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2"/>
          <p:cNvGrpSpPr>
            <a:grpSpLocks/>
          </p:cNvGrpSpPr>
          <p:nvPr/>
        </p:nvGrpSpPr>
        <p:grpSpPr bwMode="auto">
          <a:xfrm>
            <a:off x="4788024" y="328983"/>
            <a:ext cx="3503061" cy="530811"/>
            <a:chOff x="3651" y="935"/>
            <a:chExt cx="1406" cy="318"/>
          </a:xfrm>
        </p:grpSpPr>
        <p:sp>
          <p:nvSpPr>
            <p:cNvPr id="8" name="AutoShape 3"/>
            <p:cNvSpPr>
              <a:spLocks noChangeArrowheads="1"/>
            </p:cNvSpPr>
            <p:nvPr/>
          </p:nvSpPr>
          <p:spPr bwMode="auto">
            <a:xfrm>
              <a:off x="3651" y="935"/>
              <a:ext cx="1406" cy="31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BFDEB8"/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>
              <a:solidFill>
                <a:srgbClr val="006666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Text Box 4"/>
            <p:cNvSpPr txBox="1">
              <a:spLocks noChangeArrowheads="1"/>
            </p:cNvSpPr>
            <p:nvPr/>
          </p:nvSpPr>
          <p:spPr bwMode="auto">
            <a:xfrm>
              <a:off x="3673" y="987"/>
              <a:ext cx="1361" cy="2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 rtl="1">
                <a:spcBef>
                  <a:spcPct val="50000"/>
                </a:spcBef>
              </a:pPr>
              <a:r>
                <a:rPr lang="en-US" sz="1800" b="1" dirty="0" smtClean="0">
                  <a:solidFill>
                    <a:srgbClr val="FF0000"/>
                  </a:solidFill>
                  <a:latin typeface="Times New Roman" pitchFamily="18" charset="0"/>
                  <a:cs typeface="B Titr" pitchFamily="2" charset="-78"/>
                </a:rPr>
                <a:t>HTML</a:t>
              </a:r>
              <a:endParaRPr lang="en-US" sz="1800" dirty="0">
                <a:solidFill>
                  <a:srgbClr val="FF0000"/>
                </a:solidFill>
                <a:cs typeface="B Titr" pitchFamily="2" charset="-78"/>
              </a:endParaRPr>
            </a:p>
          </p:txBody>
        </p:sp>
      </p:grpSp>
      <p:sp>
        <p:nvSpPr>
          <p:cNvPr id="10" name="AutoShape 6"/>
          <p:cNvSpPr>
            <a:spLocks noChangeArrowheads="1"/>
          </p:cNvSpPr>
          <p:nvPr/>
        </p:nvSpPr>
        <p:spPr bwMode="auto">
          <a:xfrm>
            <a:off x="295387" y="1124744"/>
            <a:ext cx="8358480" cy="4896544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BFDEB8"/>
              </a:gs>
              <a:gs pos="100000">
                <a:schemeClr val="bg1"/>
              </a:gs>
            </a:gsLst>
            <a:path path="rect">
              <a:fillToRect l="100000" t="100000"/>
            </a:path>
          </a:gradFill>
          <a:ln w="9525">
            <a:solidFill>
              <a:srgbClr val="006666"/>
            </a:solidFill>
            <a:prstDash val="sysDot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4788024" y="1343670"/>
            <a:ext cx="3633747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algn="r" rtl="1">
              <a:spcBef>
                <a:spcPct val="50000"/>
              </a:spcBef>
              <a:buFont typeface="Arial" pitchFamily="34" charset="0"/>
              <a:buChar char="•"/>
            </a:pP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فرم عمومی یک سند </a:t>
            </a:r>
            <a:r>
              <a:rPr lang="en-US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HTML</a:t>
            </a:r>
            <a:endParaRPr lang="fa-IR" sz="1600" b="1" dirty="0" smtClean="0">
              <a:solidFill>
                <a:schemeClr val="accent6"/>
              </a:solidFill>
              <a:latin typeface="Times New Roman" pitchFamily="18" charset="0"/>
              <a:cs typeface="B Nazanin" pitchFamily="2" charset="-78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18561" y="2295743"/>
            <a:ext cx="504056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&lt;HTML&gt;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&lt;head&gt;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	&lt;TITLE&gt;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	The title goes here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	&lt;/TITLE&gt;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&lt;/HEAD&gt;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&lt;BODY&gt;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&lt;p&gt; The body goes here&lt;/p&gt;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&lt;/body&gt;</a:t>
            </a: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&lt;/html&gt;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2614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2"/>
          <p:cNvGrpSpPr>
            <a:grpSpLocks/>
          </p:cNvGrpSpPr>
          <p:nvPr/>
        </p:nvGrpSpPr>
        <p:grpSpPr bwMode="auto">
          <a:xfrm>
            <a:off x="4788024" y="328983"/>
            <a:ext cx="3503061" cy="530811"/>
            <a:chOff x="3651" y="935"/>
            <a:chExt cx="1406" cy="318"/>
          </a:xfrm>
        </p:grpSpPr>
        <p:sp>
          <p:nvSpPr>
            <p:cNvPr id="8" name="AutoShape 3"/>
            <p:cNvSpPr>
              <a:spLocks noChangeArrowheads="1"/>
            </p:cNvSpPr>
            <p:nvPr/>
          </p:nvSpPr>
          <p:spPr bwMode="auto">
            <a:xfrm>
              <a:off x="3651" y="935"/>
              <a:ext cx="1406" cy="31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BFDEB8"/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>
              <a:solidFill>
                <a:srgbClr val="006666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Text Box 4"/>
            <p:cNvSpPr txBox="1">
              <a:spLocks noChangeArrowheads="1"/>
            </p:cNvSpPr>
            <p:nvPr/>
          </p:nvSpPr>
          <p:spPr bwMode="auto">
            <a:xfrm>
              <a:off x="3673" y="987"/>
              <a:ext cx="1361" cy="2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 rtl="1">
                <a:spcBef>
                  <a:spcPct val="50000"/>
                </a:spcBef>
              </a:pPr>
              <a:r>
                <a:rPr lang="fa-IR" sz="1800" b="1" dirty="0" smtClean="0">
                  <a:solidFill>
                    <a:srgbClr val="FF0000"/>
                  </a:solidFill>
                  <a:latin typeface="Times New Roman" pitchFamily="18" charset="0"/>
                  <a:cs typeface="B Titr" pitchFamily="2" charset="-78"/>
                </a:rPr>
                <a:t>برچسبهای متن</a:t>
              </a:r>
              <a:endParaRPr lang="en-US" sz="1800" dirty="0">
                <a:solidFill>
                  <a:srgbClr val="FF0000"/>
                </a:solidFill>
                <a:cs typeface="B Titr" pitchFamily="2" charset="-78"/>
              </a:endParaRPr>
            </a:p>
          </p:txBody>
        </p:sp>
      </p:grpSp>
      <p:sp>
        <p:nvSpPr>
          <p:cNvPr id="10" name="AutoShape 6"/>
          <p:cNvSpPr>
            <a:spLocks noChangeArrowheads="1"/>
          </p:cNvSpPr>
          <p:nvPr/>
        </p:nvSpPr>
        <p:spPr bwMode="auto">
          <a:xfrm>
            <a:off x="295387" y="1124744"/>
            <a:ext cx="8358480" cy="5616624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BFDEB8"/>
              </a:gs>
              <a:gs pos="100000">
                <a:schemeClr val="bg1"/>
              </a:gs>
            </a:gsLst>
            <a:path path="rect">
              <a:fillToRect l="100000" t="100000"/>
            </a:path>
          </a:gradFill>
          <a:ln w="9525">
            <a:solidFill>
              <a:srgbClr val="006666"/>
            </a:solidFill>
            <a:prstDash val="sysDot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827584" y="1343670"/>
            <a:ext cx="7594187" cy="4278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algn="r" rtl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&lt;B&gt;,&lt;I&gt;,&lt;U&gt;</a:t>
            </a: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: تنظیم فونت نوشتار</a:t>
            </a:r>
          </a:p>
          <a:p>
            <a:pPr marL="342900" indent="-342900" algn="r" rtl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&lt;P&gt;</a:t>
            </a: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: تنظیم پاراگراف براساس عرض پنجره نمایش</a:t>
            </a:r>
          </a:p>
          <a:p>
            <a:pPr marL="342900" indent="-342900" algn="r" rtl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&lt;</a:t>
            </a:r>
            <a:r>
              <a:rPr lang="en-US" sz="1600" b="1" dirty="0" err="1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br</a:t>
            </a:r>
            <a:r>
              <a:rPr lang="en-US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&gt;</a:t>
            </a: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: برای قطع یک سطر و شروع سطر بعدی</a:t>
            </a:r>
          </a:p>
          <a:p>
            <a:pPr marL="800100" lvl="1" indent="-342900" algn="r" rtl="1">
              <a:spcBef>
                <a:spcPct val="50000"/>
              </a:spcBef>
              <a:buFont typeface="Arial" pitchFamily="34" charset="0"/>
              <a:buChar char="•"/>
            </a:pP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کنترل های </a:t>
            </a:r>
            <a:r>
              <a:rPr lang="en-US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Clear=left/right/all</a:t>
            </a:r>
            <a:r>
              <a:rPr lang="fa-IR" sz="1600" b="1" dirty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 </a:t>
            </a: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برای شروع سطر بعد از چپ براست/راست بچپ/در کل عرض</a:t>
            </a:r>
            <a:endParaRPr lang="fa-IR" sz="1600" b="1" dirty="0">
              <a:solidFill>
                <a:schemeClr val="accent6"/>
              </a:solidFill>
              <a:latin typeface="Times New Roman" pitchFamily="18" charset="0"/>
              <a:cs typeface="B Nazanin" pitchFamily="2" charset="-78"/>
            </a:endParaRPr>
          </a:p>
          <a:p>
            <a:pPr marL="800100" lvl="1" indent="-342900" algn="r" rtl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&lt;center&gt;</a:t>
            </a: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: برای قرار دادن متن نوشته شده در وسط صفحه</a:t>
            </a:r>
          </a:p>
          <a:p>
            <a:pPr marL="800100" lvl="1" indent="-342900" algn="r" rtl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&lt;font&gt;</a:t>
            </a: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: تعیین نوع فونت (شامل کنترلهای نوع، رنگ، اندازه)</a:t>
            </a:r>
          </a:p>
          <a:p>
            <a:pPr marL="342900" indent="-342900" algn="r" rtl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&lt;A&gt;</a:t>
            </a: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: همراه با کنترل </a:t>
            </a:r>
            <a:r>
              <a:rPr lang="en-US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HREF</a:t>
            </a: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 برای پیوند دادن متن مورد نظر به سندی دیگر</a:t>
            </a:r>
            <a:endParaRPr lang="en-US" sz="1600" b="1" dirty="0" smtClean="0">
              <a:solidFill>
                <a:schemeClr val="accent6"/>
              </a:solidFill>
              <a:latin typeface="Times New Roman" pitchFamily="18" charset="0"/>
              <a:cs typeface="B Nazanin" pitchFamily="2" charset="-78"/>
            </a:endParaRPr>
          </a:p>
          <a:p>
            <a:pPr marL="342900" indent="-342900" algn="r" rtl="1">
              <a:spcBef>
                <a:spcPct val="50000"/>
              </a:spcBef>
              <a:buFont typeface="Arial" pitchFamily="34" charset="0"/>
              <a:buChar char="•"/>
            </a:pPr>
            <a:endParaRPr lang="en-US" sz="1600" b="1" dirty="0" smtClean="0">
              <a:solidFill>
                <a:schemeClr val="accent6"/>
              </a:solidFill>
              <a:latin typeface="Times New Roman" pitchFamily="18" charset="0"/>
              <a:cs typeface="B Nazanin" pitchFamily="2" charset="-78"/>
            </a:endParaRPr>
          </a:p>
          <a:p>
            <a:pPr marL="342900" indent="-342900" algn="r" rtl="1">
              <a:spcBef>
                <a:spcPct val="50000"/>
              </a:spcBef>
              <a:buFont typeface="Arial" pitchFamily="34" charset="0"/>
              <a:buChar char="•"/>
            </a:pPr>
            <a:endParaRPr lang="en-US" sz="1600" b="1" dirty="0" smtClean="0">
              <a:solidFill>
                <a:schemeClr val="accent6"/>
              </a:solidFill>
              <a:latin typeface="Times New Roman" pitchFamily="18" charset="0"/>
              <a:cs typeface="B Nazanin" pitchFamily="2" charset="-78"/>
            </a:endParaRPr>
          </a:p>
          <a:p>
            <a:pPr marL="342900" indent="-342900" algn="r" rtl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&lt;IMG&gt;</a:t>
            </a: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: برای نمایش تصاویر، همراه با کنترل های نحوه قرارگیری در صفحه</a:t>
            </a:r>
          </a:p>
          <a:p>
            <a:pPr marL="800100" lvl="1" indent="-342900" algn="r" rtl="1">
              <a:spcBef>
                <a:spcPct val="50000"/>
              </a:spcBef>
              <a:buFont typeface="Arial" pitchFamily="34" charset="0"/>
              <a:buChar char="•"/>
            </a:pP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مثال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4183" y="5517232"/>
            <a:ext cx="722179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&lt;IMG SRC= “</a:t>
            </a:r>
            <a:r>
              <a:rPr lang="en-US" sz="1600" i="1" dirty="0" smtClean="0">
                <a:latin typeface="Courier New" pitchFamily="49" charset="0"/>
                <a:cs typeface="Courier New" pitchFamily="49" charset="0"/>
              </a:rPr>
              <a:t>http</a:t>
            </a:r>
            <a:r>
              <a:rPr lang="en-US" sz="1600" i="1" dirty="0">
                <a:latin typeface="Courier New" pitchFamily="49" charset="0"/>
                <a:cs typeface="Courier New" pitchFamily="49" charset="0"/>
              </a:rPr>
              <a:t>://</a:t>
            </a:r>
            <a:r>
              <a:rPr lang="en-US" sz="1600" i="1" dirty="0" smtClean="0">
                <a:latin typeface="Courier New" pitchFamily="49" charset="0"/>
                <a:cs typeface="Courier New" pitchFamily="49" charset="0"/>
              </a:rPr>
              <a:t>www.greyware.com/</a:t>
            </a:r>
            <a:r>
              <a:rPr lang="en-US" sz="1600" i="1" dirty="0" err="1" smtClean="0">
                <a:latin typeface="Courier New" pitchFamily="49" charset="0"/>
                <a:cs typeface="Courier New" pitchFamily="49" charset="0"/>
              </a:rPr>
              <a:t>dtgfx</a:t>
            </a:r>
            <a:r>
              <a:rPr lang="en-US" sz="1600" i="1" dirty="0" smtClean="0">
                <a:latin typeface="Courier New" pitchFamily="49" charset="0"/>
                <a:cs typeface="Courier New" pitchFamily="49" charset="0"/>
              </a:rPr>
              <a:t>/technical/network/FirewallC.gif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” ALT= “Firewall Diagram” WIDTH=“” HIGH=“” BORDER=“” ALIGN=“”&gt; &lt;/IMG&gt;</a:t>
            </a:r>
            <a:endParaRPr lang="en-US" sz="16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95387" y="4221088"/>
            <a:ext cx="72217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&lt;A HREF= </a:t>
            </a:r>
            <a:r>
              <a:rPr lang="en-US" sz="1600" i="1" dirty="0" smtClean="0">
                <a:latin typeface="Courier New" pitchFamily="49" charset="0"/>
                <a:cs typeface="Courier New" pitchFamily="49" charset="0"/>
              </a:rPr>
              <a:t>mailto:info@it.uut.ac.ir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&gt; Contact us &lt;/A&gt;</a:t>
            </a:r>
            <a:endParaRPr lang="en-US" sz="1600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7552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2"/>
          <p:cNvGrpSpPr>
            <a:grpSpLocks/>
          </p:cNvGrpSpPr>
          <p:nvPr/>
        </p:nvGrpSpPr>
        <p:grpSpPr bwMode="auto">
          <a:xfrm>
            <a:off x="4788024" y="328983"/>
            <a:ext cx="3503061" cy="530811"/>
            <a:chOff x="3651" y="935"/>
            <a:chExt cx="1406" cy="318"/>
          </a:xfrm>
        </p:grpSpPr>
        <p:sp>
          <p:nvSpPr>
            <p:cNvPr id="8" name="AutoShape 3"/>
            <p:cNvSpPr>
              <a:spLocks noChangeArrowheads="1"/>
            </p:cNvSpPr>
            <p:nvPr/>
          </p:nvSpPr>
          <p:spPr bwMode="auto">
            <a:xfrm>
              <a:off x="3651" y="935"/>
              <a:ext cx="1406" cy="31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BFDEB8"/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>
              <a:solidFill>
                <a:srgbClr val="006666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Text Box 4"/>
            <p:cNvSpPr txBox="1">
              <a:spLocks noChangeArrowheads="1"/>
            </p:cNvSpPr>
            <p:nvPr/>
          </p:nvSpPr>
          <p:spPr bwMode="auto">
            <a:xfrm>
              <a:off x="3673" y="987"/>
              <a:ext cx="1361" cy="2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 rtl="1">
                <a:spcBef>
                  <a:spcPct val="50000"/>
                </a:spcBef>
              </a:pPr>
              <a:r>
                <a:rPr lang="fa-IR" sz="1800" b="1" dirty="0" smtClean="0">
                  <a:solidFill>
                    <a:srgbClr val="FF0000"/>
                  </a:solidFill>
                  <a:latin typeface="Times New Roman" pitchFamily="18" charset="0"/>
                  <a:cs typeface="B Titr" pitchFamily="2" charset="-78"/>
                </a:rPr>
                <a:t>برچسب</a:t>
              </a:r>
              <a:r>
                <a:rPr lang="fa-IR" sz="1800" b="1" dirty="0">
                  <a:solidFill>
                    <a:srgbClr val="FF0000"/>
                  </a:solidFill>
                  <a:latin typeface="Times New Roman" pitchFamily="18" charset="0"/>
                  <a:cs typeface="B Titr" pitchFamily="2" charset="-78"/>
                </a:rPr>
                <a:t> </a:t>
              </a:r>
              <a:r>
                <a:rPr lang="fa-IR" sz="1800" b="1" dirty="0" smtClean="0">
                  <a:solidFill>
                    <a:srgbClr val="FF0000"/>
                  </a:solidFill>
                  <a:latin typeface="Times New Roman" pitchFamily="18" charset="0"/>
                  <a:cs typeface="B Titr" pitchFamily="2" charset="-78"/>
                </a:rPr>
                <a:t>ها (2)</a:t>
              </a:r>
              <a:endParaRPr lang="en-US" sz="1800" dirty="0">
                <a:solidFill>
                  <a:srgbClr val="FF0000"/>
                </a:solidFill>
                <a:cs typeface="B Titr" pitchFamily="2" charset="-78"/>
              </a:endParaRPr>
            </a:p>
          </p:txBody>
        </p:sp>
      </p:grpSp>
      <p:sp>
        <p:nvSpPr>
          <p:cNvPr id="10" name="AutoShape 6"/>
          <p:cNvSpPr>
            <a:spLocks noChangeArrowheads="1"/>
          </p:cNvSpPr>
          <p:nvPr/>
        </p:nvSpPr>
        <p:spPr bwMode="auto">
          <a:xfrm>
            <a:off x="295387" y="1124744"/>
            <a:ext cx="8358480" cy="4896544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BFDEB8"/>
              </a:gs>
              <a:gs pos="100000">
                <a:schemeClr val="bg1"/>
              </a:gs>
            </a:gsLst>
            <a:path path="rect">
              <a:fillToRect l="100000" t="100000"/>
            </a:path>
          </a:gradFill>
          <a:ln w="9525">
            <a:solidFill>
              <a:srgbClr val="006666"/>
            </a:solidFill>
            <a:prstDash val="sysDot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827584" y="1343670"/>
            <a:ext cx="7594187" cy="36625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algn="r" rtl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&lt;OL&gt;, &lt;UL&gt;</a:t>
            </a: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: برای ساختن فهرست بصورت </a:t>
            </a:r>
            <a:r>
              <a:rPr lang="en-US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bullet</a:t>
            </a: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و </a:t>
            </a:r>
            <a:r>
              <a:rPr lang="en-US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number</a:t>
            </a:r>
            <a:endParaRPr lang="fa-IR" sz="1600" b="1" dirty="0" smtClean="0">
              <a:solidFill>
                <a:schemeClr val="accent6"/>
              </a:solidFill>
              <a:latin typeface="Times New Roman" pitchFamily="18" charset="0"/>
              <a:cs typeface="B Nazanin" pitchFamily="2" charset="-78"/>
            </a:endParaRPr>
          </a:p>
          <a:p>
            <a:pPr marL="800100" lvl="1" indent="-342900" algn="r" rtl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&lt;LI&gt;</a:t>
            </a: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: تعیین هر سطر فهرست</a:t>
            </a:r>
            <a:endParaRPr lang="fa-IR" sz="1600" b="1" dirty="0">
              <a:solidFill>
                <a:schemeClr val="accent6"/>
              </a:solidFill>
              <a:latin typeface="Times New Roman" pitchFamily="18" charset="0"/>
              <a:cs typeface="B Nazanin" pitchFamily="2" charset="-78"/>
            </a:endParaRPr>
          </a:p>
          <a:p>
            <a:pPr marL="342900" indent="-342900" algn="r" rtl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&lt;TABLE…&gt;</a:t>
            </a: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: برای رسم جدول</a:t>
            </a:r>
            <a:r>
              <a:rPr lang="en-US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 </a:t>
            </a: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 یا تقسیم کردن صفحه</a:t>
            </a:r>
          </a:p>
          <a:p>
            <a:pPr marL="342900" indent="-342900" algn="r" rtl="1">
              <a:spcBef>
                <a:spcPct val="50000"/>
              </a:spcBef>
              <a:buFont typeface="Arial" pitchFamily="34" charset="0"/>
              <a:buChar char="•"/>
            </a:pPr>
            <a:endParaRPr lang="fa-IR" sz="1600" b="1" dirty="0">
              <a:solidFill>
                <a:schemeClr val="accent6"/>
              </a:solidFill>
              <a:latin typeface="Times New Roman" pitchFamily="18" charset="0"/>
              <a:cs typeface="B Nazanin" pitchFamily="2" charset="-78"/>
            </a:endParaRPr>
          </a:p>
          <a:p>
            <a:pPr marL="342900" indent="-342900" algn="r" rtl="1">
              <a:spcBef>
                <a:spcPct val="50000"/>
              </a:spcBef>
              <a:buFont typeface="Arial" pitchFamily="34" charset="0"/>
              <a:buChar char="•"/>
            </a:pPr>
            <a:endParaRPr lang="fa-IR" sz="1600" b="1" dirty="0" smtClean="0">
              <a:solidFill>
                <a:schemeClr val="accent6"/>
              </a:solidFill>
              <a:latin typeface="Times New Roman" pitchFamily="18" charset="0"/>
              <a:cs typeface="B Nazanin" pitchFamily="2" charset="-78"/>
            </a:endParaRPr>
          </a:p>
          <a:p>
            <a:pPr marL="342900" indent="-342900" algn="r" rtl="1">
              <a:spcBef>
                <a:spcPct val="50000"/>
              </a:spcBef>
              <a:buFont typeface="Arial" pitchFamily="34" charset="0"/>
              <a:buChar char="•"/>
            </a:pPr>
            <a:endParaRPr lang="fa-IR" sz="1600" b="1" dirty="0">
              <a:solidFill>
                <a:schemeClr val="accent6"/>
              </a:solidFill>
              <a:latin typeface="Times New Roman" pitchFamily="18" charset="0"/>
              <a:cs typeface="B Nazanin" pitchFamily="2" charset="-78"/>
            </a:endParaRPr>
          </a:p>
          <a:p>
            <a:pPr marL="342900" indent="-342900" algn="r" rtl="1">
              <a:spcBef>
                <a:spcPct val="50000"/>
              </a:spcBef>
              <a:buFont typeface="Arial" pitchFamily="34" charset="0"/>
              <a:buChar char="•"/>
            </a:pPr>
            <a:endParaRPr lang="fa-IR" sz="1600" b="1" dirty="0" smtClean="0">
              <a:solidFill>
                <a:schemeClr val="accent6"/>
              </a:solidFill>
              <a:latin typeface="Times New Roman" pitchFamily="18" charset="0"/>
              <a:cs typeface="B Nazanin" pitchFamily="2" charset="-78"/>
            </a:endParaRPr>
          </a:p>
          <a:p>
            <a:pPr marL="342900" indent="-342900" algn="r" rtl="1">
              <a:spcBef>
                <a:spcPct val="50000"/>
              </a:spcBef>
              <a:buFont typeface="Arial" pitchFamily="34" charset="0"/>
              <a:buChar char="•"/>
            </a:pPr>
            <a:endParaRPr lang="fa-IR" sz="1600" b="1" dirty="0">
              <a:solidFill>
                <a:schemeClr val="accent6"/>
              </a:solidFill>
              <a:latin typeface="Times New Roman" pitchFamily="18" charset="0"/>
              <a:cs typeface="B Nazanin" pitchFamily="2" charset="-78"/>
            </a:endParaRPr>
          </a:p>
          <a:p>
            <a:pPr marL="342900" indent="-342900" algn="r" rtl="1">
              <a:spcBef>
                <a:spcPct val="50000"/>
              </a:spcBef>
              <a:buFont typeface="Arial" pitchFamily="34" charset="0"/>
              <a:buChar char="•"/>
            </a:pPr>
            <a:endParaRPr lang="fa-IR" sz="1600" b="1" dirty="0" smtClean="0">
              <a:solidFill>
                <a:schemeClr val="accent6"/>
              </a:solidFill>
              <a:latin typeface="Times New Roman" pitchFamily="18" charset="0"/>
              <a:cs typeface="B Nazanin" pitchFamily="2" charset="-78"/>
            </a:endParaRPr>
          </a:p>
          <a:p>
            <a:pPr marL="342900" indent="-342900" algn="r" rtl="1">
              <a:spcBef>
                <a:spcPct val="50000"/>
              </a:spcBef>
              <a:buFont typeface="Arial" pitchFamily="34" charset="0"/>
              <a:buChar char="•"/>
            </a:pPr>
            <a:endParaRPr lang="fa-IR" sz="1600" b="1" dirty="0" smtClean="0">
              <a:solidFill>
                <a:schemeClr val="accent6"/>
              </a:solidFill>
              <a:latin typeface="Times New Roman" pitchFamily="18" charset="0"/>
              <a:cs typeface="B Nazanin" pitchFamily="2" charset="-78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9223" y="2759441"/>
            <a:ext cx="722179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&lt;TABLE BODER= “” COLS=“” …&gt;</a:t>
            </a:r>
          </a:p>
          <a:p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&lt;CAPTION&gt;	…	&lt;/CAPTION&gt;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&lt;TH&gt;	…	&lt;/TH&gt;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&lt;TR&gt;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&lt;TD&gt;	…	&lt;/TD&gt;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&lt;TD&gt;	…	&lt;/TD&gt;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&lt;/TR&gt;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&lt;TR&gt;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		&lt;TD&gt;	…	&lt;/TD&gt;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		&lt;TD&gt;	…	&lt;/TD&gt;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&lt;/TR&gt;</a:t>
            </a:r>
          </a:p>
          <a:p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&lt;/TABLE&gt;</a:t>
            </a:r>
            <a:endParaRPr lang="en-US" sz="1600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3622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2"/>
          <p:cNvGrpSpPr>
            <a:grpSpLocks/>
          </p:cNvGrpSpPr>
          <p:nvPr/>
        </p:nvGrpSpPr>
        <p:grpSpPr bwMode="auto">
          <a:xfrm>
            <a:off x="4788024" y="328983"/>
            <a:ext cx="3503061" cy="530811"/>
            <a:chOff x="3651" y="935"/>
            <a:chExt cx="1406" cy="318"/>
          </a:xfrm>
        </p:grpSpPr>
        <p:sp>
          <p:nvSpPr>
            <p:cNvPr id="8" name="AutoShape 3"/>
            <p:cNvSpPr>
              <a:spLocks noChangeArrowheads="1"/>
            </p:cNvSpPr>
            <p:nvPr/>
          </p:nvSpPr>
          <p:spPr bwMode="auto">
            <a:xfrm>
              <a:off x="3651" y="935"/>
              <a:ext cx="1406" cy="31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BFDEB8"/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>
              <a:solidFill>
                <a:srgbClr val="006666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Text Box 4"/>
            <p:cNvSpPr txBox="1">
              <a:spLocks noChangeArrowheads="1"/>
            </p:cNvSpPr>
            <p:nvPr/>
          </p:nvSpPr>
          <p:spPr bwMode="auto">
            <a:xfrm>
              <a:off x="3673" y="987"/>
              <a:ext cx="1361" cy="2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 rtl="1">
                <a:spcBef>
                  <a:spcPct val="50000"/>
                </a:spcBef>
              </a:pPr>
              <a:r>
                <a:rPr lang="fa-IR" sz="1800" b="1" dirty="0" smtClean="0">
                  <a:solidFill>
                    <a:srgbClr val="FF0000"/>
                  </a:solidFill>
                  <a:latin typeface="Times New Roman" pitchFamily="18" charset="0"/>
                  <a:cs typeface="B Titr" pitchFamily="2" charset="-78"/>
                </a:rPr>
                <a:t>فرمهای ورود اطلاعات</a:t>
              </a:r>
              <a:endParaRPr lang="en-US" sz="1800" dirty="0">
                <a:solidFill>
                  <a:srgbClr val="FF0000"/>
                </a:solidFill>
                <a:cs typeface="B Titr" pitchFamily="2" charset="-78"/>
              </a:endParaRPr>
            </a:p>
          </p:txBody>
        </p:sp>
      </p:grpSp>
      <p:sp>
        <p:nvSpPr>
          <p:cNvPr id="10" name="AutoShape 6"/>
          <p:cNvSpPr>
            <a:spLocks noChangeArrowheads="1"/>
          </p:cNvSpPr>
          <p:nvPr/>
        </p:nvSpPr>
        <p:spPr bwMode="auto">
          <a:xfrm>
            <a:off x="295387" y="1124744"/>
            <a:ext cx="8358480" cy="4896544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BFDEB8"/>
              </a:gs>
              <a:gs pos="100000">
                <a:schemeClr val="bg1"/>
              </a:gs>
            </a:gsLst>
            <a:path path="rect">
              <a:fillToRect l="100000" t="100000"/>
            </a:path>
          </a:gradFill>
          <a:ln w="9525">
            <a:solidFill>
              <a:srgbClr val="006666"/>
            </a:solidFill>
            <a:prstDash val="sysDot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827584" y="1343670"/>
            <a:ext cx="7594187" cy="47397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algn="r" rtl="1">
              <a:lnSpc>
                <a:spcPct val="150000"/>
              </a:lnSpc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&lt;FORM&gt;</a:t>
            </a: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: مهمترین کنترل ها:</a:t>
            </a:r>
          </a:p>
          <a:p>
            <a:pPr marL="800100" lvl="1" indent="-342900" algn="r" rtl="1">
              <a:lnSpc>
                <a:spcPct val="150000"/>
              </a:lnSpc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METHOD</a:t>
            </a: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: متد </a:t>
            </a:r>
            <a:r>
              <a:rPr lang="en-US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HTTP</a:t>
            </a: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 مورد استفاده برای ارسال اطلاعات</a:t>
            </a:r>
          </a:p>
          <a:p>
            <a:pPr marL="800100" lvl="1" indent="-342900" algn="r" rtl="1">
              <a:lnSpc>
                <a:spcPct val="150000"/>
              </a:lnSpc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ACTION</a:t>
            </a: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: آدرس </a:t>
            </a:r>
            <a:r>
              <a:rPr lang="en-US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URL</a:t>
            </a: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 برنامه ای در سرور برای پردازش اطلاعات دریافتی </a:t>
            </a:r>
          </a:p>
          <a:p>
            <a:pPr marL="800100" lvl="1" indent="-342900" algn="r" rtl="1">
              <a:lnSpc>
                <a:spcPct val="150000"/>
              </a:lnSpc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ENCTYPE</a:t>
            </a: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: نوع کدگذاری استفاده شده</a:t>
            </a:r>
            <a:endParaRPr lang="fa-IR" sz="1600" b="1" dirty="0">
              <a:solidFill>
                <a:schemeClr val="accent6"/>
              </a:solidFill>
              <a:latin typeface="Times New Roman" pitchFamily="18" charset="0"/>
              <a:cs typeface="B Nazanin" pitchFamily="2" charset="-78"/>
            </a:endParaRPr>
          </a:p>
          <a:p>
            <a:pPr marL="342900" indent="-342900" algn="r" rtl="1">
              <a:lnSpc>
                <a:spcPct val="150000"/>
              </a:lnSpc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&lt;INPUT&gt;</a:t>
            </a: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: تعریف یک فیلد دریافت اطلاعات، با کنترل های</a:t>
            </a:r>
          </a:p>
          <a:p>
            <a:pPr marL="800100" lvl="1" indent="-342900" algn="r" rtl="1">
              <a:lnSpc>
                <a:spcPct val="150000"/>
              </a:lnSpc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TYPE</a:t>
            </a: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: ماهیت اطلاعات ورودی شامل: </a:t>
            </a:r>
          </a:p>
          <a:p>
            <a:pPr marL="1257300" lvl="2" indent="-342900" algn="r" rtl="1">
              <a:lnSpc>
                <a:spcPct val="150000"/>
              </a:lnSpc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TEXT, CHECKBOX, RADIO, PASSWORD, SUBMIT, RESET</a:t>
            </a:r>
            <a:endParaRPr lang="fa-IR" sz="1600" b="1" dirty="0">
              <a:solidFill>
                <a:schemeClr val="accent6"/>
              </a:solidFill>
              <a:latin typeface="Times New Roman" pitchFamily="18" charset="0"/>
              <a:cs typeface="B Nazanin" pitchFamily="2" charset="-78"/>
            </a:endParaRPr>
          </a:p>
          <a:p>
            <a:pPr marL="1257300" lvl="2" indent="-342900" algn="r" rtl="1">
              <a:lnSpc>
                <a:spcPct val="150000"/>
              </a:lnSpc>
              <a:spcBef>
                <a:spcPct val="50000"/>
              </a:spcBef>
              <a:buFont typeface="Arial" pitchFamily="34" charset="0"/>
              <a:buChar char="•"/>
            </a:pP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آرگومان های اضافه استفاده شده در کنترل ها: </a:t>
            </a:r>
            <a:r>
              <a:rPr lang="en-US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NAME</a:t>
            </a: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 و </a:t>
            </a:r>
            <a:r>
              <a:rPr lang="en-US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VALUE</a:t>
            </a:r>
            <a:endParaRPr lang="fa-IR" sz="1600" b="1" dirty="0" smtClean="0">
              <a:solidFill>
                <a:schemeClr val="accent6"/>
              </a:solidFill>
              <a:latin typeface="Times New Roman" pitchFamily="18" charset="0"/>
              <a:cs typeface="B Nazanin" pitchFamily="2" charset="-78"/>
            </a:endParaRPr>
          </a:p>
          <a:p>
            <a:pPr marL="1257300" lvl="2" indent="-342900" algn="r" rtl="1">
              <a:lnSpc>
                <a:spcPct val="150000"/>
              </a:lnSpc>
              <a:spcBef>
                <a:spcPct val="50000"/>
              </a:spcBef>
              <a:buFont typeface="Arial" pitchFamily="34" charset="0"/>
              <a:buChar char="•"/>
            </a:pP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برای </a:t>
            </a:r>
            <a:r>
              <a:rPr lang="en-US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RESET</a:t>
            </a: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 و </a:t>
            </a:r>
            <a:r>
              <a:rPr lang="en-US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SUBMIT</a:t>
            </a: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 مقدار </a:t>
            </a:r>
            <a:r>
              <a:rPr lang="en-US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VALUE</a:t>
            </a: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 نام نمایش داده شده، برای بقیه مقدار یا انتخاب پیشفرض</a:t>
            </a:r>
          </a:p>
        </p:txBody>
      </p:sp>
    </p:spTree>
    <p:extLst>
      <p:ext uri="{BB962C8B-B14F-4D97-AF65-F5344CB8AC3E}">
        <p14:creationId xmlns:p14="http://schemas.microsoft.com/office/powerpoint/2010/main" val="3879512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2"/>
          <p:cNvGrpSpPr>
            <a:grpSpLocks/>
          </p:cNvGrpSpPr>
          <p:nvPr/>
        </p:nvGrpSpPr>
        <p:grpSpPr bwMode="auto">
          <a:xfrm>
            <a:off x="4788024" y="328983"/>
            <a:ext cx="3503061" cy="530811"/>
            <a:chOff x="3651" y="935"/>
            <a:chExt cx="1406" cy="318"/>
          </a:xfrm>
        </p:grpSpPr>
        <p:sp>
          <p:nvSpPr>
            <p:cNvPr id="8" name="AutoShape 3"/>
            <p:cNvSpPr>
              <a:spLocks noChangeArrowheads="1"/>
            </p:cNvSpPr>
            <p:nvPr/>
          </p:nvSpPr>
          <p:spPr bwMode="auto">
            <a:xfrm>
              <a:off x="3651" y="935"/>
              <a:ext cx="1406" cy="31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BFDEB8"/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>
              <a:solidFill>
                <a:srgbClr val="006666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Text Box 4"/>
            <p:cNvSpPr txBox="1">
              <a:spLocks noChangeArrowheads="1"/>
            </p:cNvSpPr>
            <p:nvPr/>
          </p:nvSpPr>
          <p:spPr bwMode="auto">
            <a:xfrm>
              <a:off x="3673" y="987"/>
              <a:ext cx="1361" cy="2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 rtl="1">
                <a:spcBef>
                  <a:spcPct val="50000"/>
                </a:spcBef>
              </a:pPr>
              <a:r>
                <a:rPr lang="fa-IR" sz="1800" b="1" dirty="0" smtClean="0">
                  <a:solidFill>
                    <a:srgbClr val="FF0000"/>
                  </a:solidFill>
                  <a:latin typeface="Times New Roman" pitchFamily="18" charset="0"/>
                  <a:cs typeface="B Titr" pitchFamily="2" charset="-78"/>
                </a:rPr>
                <a:t>فریم ها</a:t>
              </a:r>
              <a:endParaRPr lang="en-US" sz="1800" dirty="0">
                <a:solidFill>
                  <a:srgbClr val="FF0000"/>
                </a:solidFill>
                <a:cs typeface="B Titr" pitchFamily="2" charset="-78"/>
              </a:endParaRPr>
            </a:p>
          </p:txBody>
        </p:sp>
      </p:grpSp>
      <p:sp>
        <p:nvSpPr>
          <p:cNvPr id="10" name="AutoShape 6"/>
          <p:cNvSpPr>
            <a:spLocks noChangeArrowheads="1"/>
          </p:cNvSpPr>
          <p:nvPr/>
        </p:nvSpPr>
        <p:spPr bwMode="auto">
          <a:xfrm>
            <a:off x="295387" y="1124743"/>
            <a:ext cx="8358480" cy="5616625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BFDEB8"/>
              </a:gs>
              <a:gs pos="100000">
                <a:schemeClr val="bg1"/>
              </a:gs>
            </a:gsLst>
            <a:path path="rect">
              <a:fillToRect l="100000" t="100000"/>
            </a:path>
          </a:gradFill>
          <a:ln w="9525">
            <a:solidFill>
              <a:srgbClr val="006666"/>
            </a:solidFill>
            <a:prstDash val="sysDot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827584" y="1343670"/>
            <a:ext cx="7594187" cy="4278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algn="r" rtl="1">
              <a:lnSpc>
                <a:spcPct val="150000"/>
              </a:lnSpc>
              <a:spcBef>
                <a:spcPct val="50000"/>
              </a:spcBef>
              <a:buFont typeface="Arial" pitchFamily="34" charset="0"/>
              <a:buChar char="•"/>
            </a:pP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برای نمایش چند سند </a:t>
            </a:r>
            <a:r>
              <a:rPr lang="en-US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HTML</a:t>
            </a: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 در یک صفحه استفاده میشود</a:t>
            </a:r>
          </a:p>
          <a:p>
            <a:pPr marL="342900" indent="-342900" algn="r" rtl="1">
              <a:lnSpc>
                <a:spcPct val="150000"/>
              </a:lnSpc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&lt;FRAMESET&gt;</a:t>
            </a: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: دربرگیرنده چند فریم که خود میتواند شامل چند </a:t>
            </a:r>
            <a:r>
              <a:rPr lang="en-US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FRAMESET</a:t>
            </a: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 نیز باشد</a:t>
            </a:r>
          </a:p>
          <a:p>
            <a:pPr marL="342900" indent="-342900" algn="r" rtl="1">
              <a:lnSpc>
                <a:spcPct val="150000"/>
              </a:lnSpc>
              <a:spcBef>
                <a:spcPct val="50000"/>
              </a:spcBef>
              <a:buFont typeface="Arial" pitchFamily="34" charset="0"/>
              <a:buChar char="•"/>
            </a:pP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برای تعریف </a:t>
            </a:r>
            <a:r>
              <a:rPr lang="en-US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FRAMESET</a:t>
            </a: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 ابتدا یک سند اصلی (</a:t>
            </a:r>
            <a:r>
              <a:rPr lang="en-US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HTML</a:t>
            </a: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) تعریف میشود و سپس اسناد دیگر قرار میگیرد</a:t>
            </a:r>
          </a:p>
          <a:p>
            <a:pPr marL="342900" indent="-342900" algn="r" rtl="1">
              <a:lnSpc>
                <a:spcPct val="150000"/>
              </a:lnSpc>
              <a:spcBef>
                <a:spcPct val="50000"/>
              </a:spcBef>
              <a:buFont typeface="Arial" pitchFamily="34" charset="0"/>
              <a:buChar char="•"/>
            </a:pP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فریم های میتوانند بصورت افقی (</a:t>
            </a:r>
            <a:r>
              <a:rPr lang="en-US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ROW</a:t>
            </a: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) یا عمودی (</a:t>
            </a:r>
            <a:r>
              <a:rPr lang="en-US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COLS</a:t>
            </a: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)طراحی شوند</a:t>
            </a:r>
          </a:p>
          <a:p>
            <a:pPr marL="342900" indent="-342900" algn="r" rtl="1">
              <a:lnSpc>
                <a:spcPct val="150000"/>
              </a:lnSpc>
              <a:spcBef>
                <a:spcPct val="50000"/>
              </a:spcBef>
              <a:buFont typeface="Arial" pitchFamily="34" charset="0"/>
              <a:buChar char="•"/>
            </a:pP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کنترل های دیگر:</a:t>
            </a:r>
          </a:p>
          <a:p>
            <a:pPr marL="800100" lvl="1" indent="-342900" algn="r" rtl="1">
              <a:lnSpc>
                <a:spcPct val="150000"/>
              </a:lnSpc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NORESIZE</a:t>
            </a: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: عدم امکان تغییر اندازه با ماوس</a:t>
            </a:r>
          </a:p>
          <a:p>
            <a:pPr marL="800100" lvl="1" indent="-342900" algn="r" rtl="1">
              <a:lnSpc>
                <a:spcPct val="150000"/>
              </a:lnSpc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SCROLLING</a:t>
            </a: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: فعال یا غیرفعال کردن </a:t>
            </a:r>
            <a:r>
              <a:rPr lang="en-US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Scroll bar</a:t>
            </a:r>
            <a:endParaRPr lang="fa-IR" sz="1600" b="1" dirty="0" smtClean="0">
              <a:solidFill>
                <a:schemeClr val="accent6"/>
              </a:solidFill>
              <a:latin typeface="Times New Roman" pitchFamily="18" charset="0"/>
              <a:cs typeface="B Nazanin" pitchFamily="2" charset="-78"/>
            </a:endParaRPr>
          </a:p>
          <a:p>
            <a:pPr marL="342900" indent="-342900" algn="r" rtl="1">
              <a:lnSpc>
                <a:spcPct val="150000"/>
              </a:lnSpc>
              <a:spcBef>
                <a:spcPct val="50000"/>
              </a:spcBef>
              <a:buFont typeface="Arial" pitchFamily="34" charset="0"/>
              <a:buChar char="•"/>
            </a:pPr>
            <a:endParaRPr lang="fa-IR" sz="1600" b="1" dirty="0" smtClean="0">
              <a:solidFill>
                <a:schemeClr val="accent6"/>
              </a:solidFill>
              <a:latin typeface="Times New Roman" pitchFamily="18" charset="0"/>
              <a:cs typeface="B Nazanin" pitchFamily="2" charset="-78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90569" y="5013176"/>
            <a:ext cx="722179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&lt;FRAMESET ROWS=“10%”&gt;</a:t>
            </a:r>
          </a:p>
          <a:p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&lt;FRAME SRC=“title.html” SCROLLING= NO NORESIZE&gt;</a:t>
            </a:r>
          </a:p>
          <a:p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&lt;FRAMESET COLS= “20%”&gt;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&lt;FRAME SRC= “menu.html” SCROLLING= NO NORESIZE&gt;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&lt;FRAME SRC= “about.html” RESIZE&gt;</a:t>
            </a:r>
          </a:p>
          <a:p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&lt;/FRAMESET&gt;</a:t>
            </a:r>
            <a:endParaRPr lang="en-US" sz="1600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9638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2"/>
          <p:cNvGrpSpPr>
            <a:grpSpLocks/>
          </p:cNvGrpSpPr>
          <p:nvPr/>
        </p:nvGrpSpPr>
        <p:grpSpPr bwMode="auto">
          <a:xfrm>
            <a:off x="4788024" y="328983"/>
            <a:ext cx="3503061" cy="530811"/>
            <a:chOff x="3651" y="935"/>
            <a:chExt cx="1406" cy="318"/>
          </a:xfrm>
        </p:grpSpPr>
        <p:sp>
          <p:nvSpPr>
            <p:cNvPr id="8" name="AutoShape 3"/>
            <p:cNvSpPr>
              <a:spLocks noChangeArrowheads="1"/>
            </p:cNvSpPr>
            <p:nvPr/>
          </p:nvSpPr>
          <p:spPr bwMode="auto">
            <a:xfrm>
              <a:off x="3651" y="935"/>
              <a:ext cx="1406" cy="31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BFDEB8"/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>
              <a:solidFill>
                <a:srgbClr val="006666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Text Box 4"/>
            <p:cNvSpPr txBox="1">
              <a:spLocks noChangeArrowheads="1"/>
            </p:cNvSpPr>
            <p:nvPr/>
          </p:nvSpPr>
          <p:spPr bwMode="auto">
            <a:xfrm>
              <a:off x="3673" y="987"/>
              <a:ext cx="1361" cy="2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 rtl="1">
                <a:spcBef>
                  <a:spcPct val="50000"/>
                </a:spcBef>
              </a:pPr>
              <a:r>
                <a:rPr lang="fa-IR" sz="1800" b="1" dirty="0" smtClean="0">
                  <a:solidFill>
                    <a:srgbClr val="FF0000"/>
                  </a:solidFill>
                  <a:latin typeface="Times New Roman" pitchFamily="18" charset="0"/>
                  <a:cs typeface="B Titr" pitchFamily="2" charset="-78"/>
                </a:rPr>
                <a:t>برچسبهای دیگر</a:t>
              </a:r>
              <a:endParaRPr lang="en-US" sz="1800" dirty="0">
                <a:solidFill>
                  <a:srgbClr val="FF0000"/>
                </a:solidFill>
                <a:cs typeface="B Titr" pitchFamily="2" charset="-78"/>
              </a:endParaRPr>
            </a:p>
          </p:txBody>
        </p:sp>
      </p:grpSp>
      <p:sp>
        <p:nvSpPr>
          <p:cNvPr id="10" name="AutoShape 6"/>
          <p:cNvSpPr>
            <a:spLocks noChangeArrowheads="1"/>
          </p:cNvSpPr>
          <p:nvPr/>
        </p:nvSpPr>
        <p:spPr bwMode="auto">
          <a:xfrm>
            <a:off x="295387" y="1124743"/>
            <a:ext cx="8358480" cy="5358795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BFDEB8"/>
              </a:gs>
              <a:gs pos="100000">
                <a:schemeClr val="bg1"/>
              </a:gs>
            </a:gsLst>
            <a:path path="rect">
              <a:fillToRect l="100000" t="100000"/>
            </a:path>
          </a:gradFill>
          <a:ln w="9525">
            <a:solidFill>
              <a:srgbClr val="006666"/>
            </a:solidFill>
            <a:prstDash val="sysDot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827584" y="1343670"/>
            <a:ext cx="7594187" cy="51398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algn="r" rtl="1">
              <a:lnSpc>
                <a:spcPct val="150000"/>
              </a:lnSpc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&lt;TEXTAREA&gt;</a:t>
            </a: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: برای تعیین محلی برای ورود متن (نظرسنجی، توضیحات...)، شامل کنترل های</a:t>
            </a:r>
          </a:p>
          <a:p>
            <a:pPr marL="800100" lvl="1" indent="-342900" algn="r" rtl="1">
              <a:lnSpc>
                <a:spcPct val="150000"/>
              </a:lnSpc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NAME, ROWS, COLS, DISABLED</a:t>
            </a:r>
            <a:endParaRPr lang="fa-IR" sz="1600" b="1" dirty="0">
              <a:solidFill>
                <a:schemeClr val="accent6"/>
              </a:solidFill>
              <a:latin typeface="Times New Roman" pitchFamily="18" charset="0"/>
              <a:cs typeface="B Nazanin" pitchFamily="2" charset="-78"/>
            </a:endParaRPr>
          </a:p>
          <a:p>
            <a:pPr marL="342900" indent="-342900" algn="r" rtl="1">
              <a:lnSpc>
                <a:spcPct val="150000"/>
              </a:lnSpc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&lt;SCRIPT&gt;</a:t>
            </a: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: برای نوشتن اسکریپت، این اسکریپت پس از انتقال به گیرنده توسط مرورگر اجرا میشود، کنترل:</a:t>
            </a:r>
          </a:p>
          <a:p>
            <a:pPr marL="800100" lvl="1" indent="-342900" algn="r" rtl="1">
              <a:lnSpc>
                <a:spcPct val="150000"/>
              </a:lnSpc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LANGUAGE</a:t>
            </a: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: دربرگیرنده زبانهای اسکریپت نویسی شامل: </a:t>
            </a:r>
            <a:r>
              <a:rPr lang="en-US" sz="1600" b="1" dirty="0" err="1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Javascript</a:t>
            </a:r>
            <a:r>
              <a:rPr lang="en-US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, </a:t>
            </a:r>
            <a:r>
              <a:rPr lang="en-US" sz="1600" b="1" dirty="0" err="1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VBscript</a:t>
            </a:r>
            <a:r>
              <a:rPr lang="en-US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, Jscript, XML</a:t>
            </a:r>
            <a:endParaRPr lang="fa-IR" sz="1600" b="1" dirty="0">
              <a:solidFill>
                <a:schemeClr val="accent6"/>
              </a:solidFill>
              <a:latin typeface="Times New Roman" pitchFamily="18" charset="0"/>
              <a:cs typeface="B Nazanin" pitchFamily="2" charset="-78"/>
            </a:endParaRPr>
          </a:p>
          <a:p>
            <a:pPr marL="342900" indent="-342900" algn="r" rtl="1">
              <a:lnSpc>
                <a:spcPct val="150000"/>
              </a:lnSpc>
              <a:spcBef>
                <a:spcPct val="50000"/>
              </a:spcBef>
              <a:buFont typeface="Arial" pitchFamily="34" charset="0"/>
              <a:buChar char="•"/>
            </a:pP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فرمول نویسی</a:t>
            </a:r>
          </a:p>
          <a:p>
            <a:pPr marL="800100" lvl="1" indent="-342900" algn="r" rtl="1">
              <a:lnSpc>
                <a:spcPct val="150000"/>
              </a:lnSpc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&lt;SUB&gt;</a:t>
            </a: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: برای اندیس گذاری</a:t>
            </a:r>
          </a:p>
          <a:p>
            <a:pPr marL="800100" lvl="1" indent="-342900" algn="r" rtl="1">
              <a:lnSpc>
                <a:spcPct val="150000"/>
              </a:lnSpc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&lt;SUP&gt;</a:t>
            </a: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: برای توان گذاری</a:t>
            </a:r>
          </a:p>
          <a:p>
            <a:pPr marL="800100" lvl="1" indent="-342900" algn="r" rtl="1">
              <a:lnSpc>
                <a:spcPct val="150000"/>
              </a:lnSpc>
              <a:spcBef>
                <a:spcPct val="50000"/>
              </a:spcBef>
              <a:buFont typeface="Arial" pitchFamily="34" charset="0"/>
              <a:buChar char="•"/>
            </a:pPr>
            <a:r>
              <a:rPr lang="fa-IR" sz="1600" b="1" dirty="0" smtClean="0">
                <a:solidFill>
                  <a:schemeClr val="accent6"/>
                </a:solidFill>
                <a:latin typeface="Times New Roman" pitchFamily="18" charset="0"/>
                <a:cs typeface="B Nazanin" pitchFamily="2" charset="-78"/>
              </a:rPr>
              <a:t>مثال:</a:t>
            </a:r>
          </a:p>
          <a:p>
            <a:pPr marL="800100" lvl="1" indent="-342900" algn="r" rtl="1">
              <a:lnSpc>
                <a:spcPct val="150000"/>
              </a:lnSpc>
              <a:spcBef>
                <a:spcPct val="50000"/>
              </a:spcBef>
              <a:buFont typeface="Arial" pitchFamily="34" charset="0"/>
              <a:buChar char="•"/>
            </a:pPr>
            <a:endParaRPr lang="fa-IR" sz="1600" b="1" dirty="0" smtClean="0">
              <a:solidFill>
                <a:schemeClr val="accent6"/>
              </a:solidFill>
              <a:latin typeface="Times New Roman" pitchFamily="18" charset="0"/>
              <a:cs typeface="B Nazanin" pitchFamily="2" charset="-78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90569" y="5852011"/>
            <a:ext cx="72217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2 × &lt;SUB&gt; 2 &lt;/SUB&gt; &lt;SUP&gt; 3 &lt;/SUP&gt;</a:t>
            </a:r>
            <a:endParaRPr lang="en-US" sz="1600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6438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ustom Design">
  <a:themeElements>
    <a:clrScheme name="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ustom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13061</TotalTime>
  <Words>1241</Words>
  <Application>Microsoft Office PowerPoint</Application>
  <PresentationFormat>On-screen Show (4:3)</PresentationFormat>
  <Paragraphs>192</Paragraphs>
  <Slides>28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>VS</Manager>
  <Company>UUT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subject>IT Eng.</dc:subject>
  <dc:creator>VS</dc:creator>
  <cp:lastModifiedBy>Vahid</cp:lastModifiedBy>
  <cp:revision>245</cp:revision>
  <dcterms:created xsi:type="dcterms:W3CDTF">2006-07-14T11:39:21Z</dcterms:created>
  <dcterms:modified xsi:type="dcterms:W3CDTF">2011-12-10T22:40:07Z</dcterms:modified>
  <cp:version>2</cp:version>
</cp:coreProperties>
</file>