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1"/>
  </p:sldMasterIdLst>
  <p:sldIdLst>
    <p:sldId id="291" r:id="rId2"/>
    <p:sldId id="547" r:id="rId3"/>
    <p:sldId id="548" r:id="rId4"/>
    <p:sldId id="546" r:id="rId5"/>
    <p:sldId id="549" r:id="rId6"/>
    <p:sldId id="260" r:id="rId7"/>
    <p:sldId id="263" r:id="rId8"/>
    <p:sldId id="264" r:id="rId9"/>
    <p:sldId id="261" r:id="rId10"/>
    <p:sldId id="265" r:id="rId11"/>
    <p:sldId id="262" r:id="rId12"/>
    <p:sldId id="267" r:id="rId13"/>
    <p:sldId id="268" r:id="rId14"/>
    <p:sldId id="271" r:id="rId15"/>
    <p:sldId id="272" r:id="rId16"/>
    <p:sldId id="273" r:id="rId17"/>
    <p:sldId id="550" r:id="rId18"/>
    <p:sldId id="275" r:id="rId19"/>
    <p:sldId id="276" r:id="rId20"/>
    <p:sldId id="277" r:id="rId21"/>
    <p:sldId id="278" r:id="rId22"/>
    <p:sldId id="279" r:id="rId23"/>
    <p:sldId id="281" r:id="rId24"/>
    <p:sldId id="282" r:id="rId25"/>
    <p:sldId id="283" r:id="rId26"/>
    <p:sldId id="284" r:id="rId27"/>
    <p:sldId id="285" r:id="rId28"/>
    <p:sldId id="286" r:id="rId29"/>
    <p:sldId id="288" r:id="rId30"/>
    <p:sldId id="289" r:id="rId31"/>
    <p:sldId id="290" r:id="rId32"/>
    <p:sldId id="551" r:id="rId33"/>
    <p:sldId id="293" r:id="rId34"/>
    <p:sldId id="294" r:id="rId35"/>
    <p:sldId id="296" r:id="rId36"/>
    <p:sldId id="297" r:id="rId37"/>
    <p:sldId id="298" r:id="rId38"/>
    <p:sldId id="299" r:id="rId39"/>
    <p:sldId id="300" r:id="rId40"/>
    <p:sldId id="301" r:id="rId41"/>
    <p:sldId id="302" r:id="rId42"/>
    <p:sldId id="303" r:id="rId43"/>
    <p:sldId id="304" r:id="rId44"/>
    <p:sldId id="305" r:id="rId45"/>
    <p:sldId id="306" r:id="rId46"/>
    <p:sldId id="307" r:id="rId47"/>
    <p:sldId id="309" r:id="rId48"/>
    <p:sldId id="311" r:id="rId49"/>
    <p:sldId id="312" r:id="rId50"/>
    <p:sldId id="552" r:id="rId51"/>
    <p:sldId id="313" r:id="rId52"/>
    <p:sldId id="314" r:id="rId53"/>
    <p:sldId id="315" r:id="rId54"/>
    <p:sldId id="316" r:id="rId55"/>
    <p:sldId id="317" r:id="rId56"/>
    <p:sldId id="318" r:id="rId57"/>
    <p:sldId id="319" r:id="rId58"/>
    <p:sldId id="320" r:id="rId59"/>
    <p:sldId id="321" r:id="rId60"/>
    <p:sldId id="322" r:id="rId61"/>
    <p:sldId id="323" r:id="rId62"/>
    <p:sldId id="324" r:id="rId63"/>
    <p:sldId id="325" r:id="rId64"/>
    <p:sldId id="326" r:id="rId65"/>
    <p:sldId id="327" r:id="rId66"/>
    <p:sldId id="329" r:id="rId67"/>
    <p:sldId id="553" r:id="rId68"/>
    <p:sldId id="330" r:id="rId69"/>
    <p:sldId id="331" r:id="rId70"/>
    <p:sldId id="332" r:id="rId71"/>
    <p:sldId id="333" r:id="rId72"/>
    <p:sldId id="334" r:id="rId73"/>
    <p:sldId id="335" r:id="rId74"/>
    <p:sldId id="336" r:id="rId75"/>
    <p:sldId id="337" r:id="rId76"/>
    <p:sldId id="338" r:id="rId77"/>
    <p:sldId id="339" r:id="rId78"/>
    <p:sldId id="340" r:id="rId79"/>
    <p:sldId id="341" r:id="rId80"/>
    <p:sldId id="342" r:id="rId81"/>
    <p:sldId id="347" r:id="rId82"/>
    <p:sldId id="554" r:id="rId83"/>
    <p:sldId id="343" r:id="rId84"/>
    <p:sldId id="345" r:id="rId85"/>
    <p:sldId id="349" r:id="rId86"/>
    <p:sldId id="346" r:id="rId87"/>
    <p:sldId id="350" r:id="rId88"/>
    <p:sldId id="344" r:id="rId89"/>
    <p:sldId id="351" r:id="rId90"/>
    <p:sldId id="352" r:id="rId91"/>
    <p:sldId id="353" r:id="rId92"/>
    <p:sldId id="354" r:id="rId93"/>
    <p:sldId id="355" r:id="rId94"/>
    <p:sldId id="357" r:id="rId95"/>
    <p:sldId id="356" r:id="rId96"/>
    <p:sldId id="358" r:id="rId97"/>
    <p:sldId id="359" r:id="rId98"/>
    <p:sldId id="361" r:id="rId99"/>
    <p:sldId id="555" r:id="rId100"/>
    <p:sldId id="363" r:id="rId101"/>
    <p:sldId id="364" r:id="rId102"/>
    <p:sldId id="365" r:id="rId103"/>
    <p:sldId id="367" r:id="rId104"/>
    <p:sldId id="368" r:id="rId105"/>
    <p:sldId id="369" r:id="rId106"/>
    <p:sldId id="370" r:id="rId107"/>
    <p:sldId id="371" r:id="rId108"/>
    <p:sldId id="390" r:id="rId109"/>
    <p:sldId id="372" r:id="rId110"/>
    <p:sldId id="373" r:id="rId111"/>
    <p:sldId id="374" r:id="rId112"/>
    <p:sldId id="375" r:id="rId113"/>
    <p:sldId id="376" r:id="rId114"/>
    <p:sldId id="556" r:id="rId115"/>
    <p:sldId id="378" r:id="rId116"/>
    <p:sldId id="379" r:id="rId117"/>
    <p:sldId id="380" r:id="rId118"/>
    <p:sldId id="381" r:id="rId119"/>
    <p:sldId id="382" r:id="rId120"/>
    <p:sldId id="383" r:id="rId121"/>
    <p:sldId id="391" r:id="rId122"/>
    <p:sldId id="384" r:id="rId123"/>
    <p:sldId id="385" r:id="rId124"/>
    <p:sldId id="386" r:id="rId125"/>
    <p:sldId id="387" r:id="rId126"/>
    <p:sldId id="388" r:id="rId127"/>
    <p:sldId id="389" r:id="rId128"/>
    <p:sldId id="366" r:id="rId129"/>
    <p:sldId id="392" r:id="rId130"/>
    <p:sldId id="404" r:id="rId131"/>
    <p:sldId id="406" r:id="rId132"/>
    <p:sldId id="557" r:id="rId133"/>
    <p:sldId id="395" r:id="rId134"/>
    <p:sldId id="396" r:id="rId135"/>
    <p:sldId id="397" r:id="rId136"/>
    <p:sldId id="398" r:id="rId137"/>
    <p:sldId id="399" r:id="rId138"/>
    <p:sldId id="400" r:id="rId139"/>
    <p:sldId id="401" r:id="rId140"/>
    <p:sldId id="402" r:id="rId141"/>
    <p:sldId id="429" r:id="rId142"/>
    <p:sldId id="408" r:id="rId143"/>
    <p:sldId id="430" r:id="rId144"/>
    <p:sldId id="558" r:id="rId145"/>
    <p:sldId id="409" r:id="rId146"/>
    <p:sldId id="410" r:id="rId147"/>
    <p:sldId id="411" r:id="rId148"/>
    <p:sldId id="412" r:id="rId149"/>
    <p:sldId id="414" r:id="rId150"/>
    <p:sldId id="415" r:id="rId151"/>
    <p:sldId id="432" r:id="rId152"/>
    <p:sldId id="431" r:id="rId153"/>
    <p:sldId id="417" r:id="rId154"/>
    <p:sldId id="418" r:id="rId155"/>
    <p:sldId id="433" r:id="rId156"/>
    <p:sldId id="434" r:id="rId157"/>
    <p:sldId id="437" r:id="rId158"/>
    <p:sldId id="441" r:id="rId159"/>
    <p:sldId id="438" r:id="rId160"/>
    <p:sldId id="439" r:id="rId161"/>
    <p:sldId id="440" r:id="rId162"/>
    <p:sldId id="436" r:id="rId163"/>
    <p:sldId id="422" r:id="rId164"/>
    <p:sldId id="423" r:id="rId165"/>
    <p:sldId id="424" r:id="rId166"/>
    <p:sldId id="425" r:id="rId167"/>
    <p:sldId id="426" r:id="rId168"/>
    <p:sldId id="427" r:id="rId169"/>
    <p:sldId id="559" r:id="rId170"/>
    <p:sldId id="443" r:id="rId171"/>
    <p:sldId id="444" r:id="rId172"/>
    <p:sldId id="445" r:id="rId173"/>
    <p:sldId id="446" r:id="rId174"/>
    <p:sldId id="447" r:id="rId175"/>
    <p:sldId id="448" r:id="rId176"/>
    <p:sldId id="449" r:id="rId177"/>
    <p:sldId id="450" r:id="rId178"/>
    <p:sldId id="451" r:id="rId179"/>
    <p:sldId id="452" r:id="rId180"/>
    <p:sldId id="453" r:id="rId181"/>
    <p:sldId id="454" r:id="rId182"/>
    <p:sldId id="455" r:id="rId183"/>
    <p:sldId id="456" r:id="rId184"/>
    <p:sldId id="457" r:id="rId185"/>
    <p:sldId id="458" r:id="rId186"/>
    <p:sldId id="560" r:id="rId187"/>
    <p:sldId id="460" r:id="rId188"/>
    <p:sldId id="461" r:id="rId189"/>
    <p:sldId id="462" r:id="rId190"/>
    <p:sldId id="463" r:id="rId191"/>
    <p:sldId id="464" r:id="rId192"/>
    <p:sldId id="465" r:id="rId193"/>
    <p:sldId id="466" r:id="rId194"/>
    <p:sldId id="469" r:id="rId195"/>
    <p:sldId id="468" r:id="rId196"/>
    <p:sldId id="470" r:id="rId197"/>
    <p:sldId id="471" r:id="rId198"/>
    <p:sldId id="472" r:id="rId199"/>
    <p:sldId id="473" r:id="rId200"/>
    <p:sldId id="474" r:id="rId201"/>
    <p:sldId id="482" r:id="rId202"/>
    <p:sldId id="475" r:id="rId203"/>
    <p:sldId id="476" r:id="rId204"/>
    <p:sldId id="561" r:id="rId205"/>
    <p:sldId id="478" r:id="rId206"/>
    <p:sldId id="479" r:id="rId207"/>
    <p:sldId id="480" r:id="rId208"/>
    <p:sldId id="481" r:id="rId209"/>
    <p:sldId id="498" r:id="rId210"/>
    <p:sldId id="483" r:id="rId211"/>
    <p:sldId id="484" r:id="rId212"/>
    <p:sldId id="485" r:id="rId213"/>
    <p:sldId id="486" r:id="rId214"/>
    <p:sldId id="487" r:id="rId215"/>
    <p:sldId id="488" r:id="rId216"/>
    <p:sldId id="489" r:id="rId217"/>
    <p:sldId id="490" r:id="rId218"/>
    <p:sldId id="491" r:id="rId219"/>
    <p:sldId id="492" r:id="rId220"/>
    <p:sldId id="494" r:id="rId221"/>
    <p:sldId id="562" r:id="rId222"/>
    <p:sldId id="495" r:id="rId223"/>
    <p:sldId id="496" r:id="rId224"/>
    <p:sldId id="497" r:id="rId225"/>
    <p:sldId id="499" r:id="rId226"/>
    <p:sldId id="500" r:id="rId227"/>
    <p:sldId id="501" r:id="rId228"/>
    <p:sldId id="502" r:id="rId229"/>
    <p:sldId id="503" r:id="rId230"/>
    <p:sldId id="504" r:id="rId231"/>
    <p:sldId id="505" r:id="rId232"/>
    <p:sldId id="506" r:id="rId233"/>
    <p:sldId id="507" r:id="rId234"/>
    <p:sldId id="508" r:id="rId235"/>
    <p:sldId id="509" r:id="rId236"/>
    <p:sldId id="563" r:id="rId237"/>
    <p:sldId id="511" r:id="rId238"/>
    <p:sldId id="512" r:id="rId239"/>
    <p:sldId id="513" r:id="rId240"/>
    <p:sldId id="514" r:id="rId241"/>
    <p:sldId id="515" r:id="rId242"/>
    <p:sldId id="516" r:id="rId243"/>
    <p:sldId id="517" r:id="rId244"/>
    <p:sldId id="536" r:id="rId245"/>
    <p:sldId id="518" r:id="rId246"/>
    <p:sldId id="519" r:id="rId247"/>
    <p:sldId id="520" r:id="rId248"/>
    <p:sldId id="521" r:id="rId249"/>
    <p:sldId id="522" r:id="rId250"/>
    <p:sldId id="523" r:id="rId251"/>
    <p:sldId id="524" r:id="rId252"/>
    <p:sldId id="525" r:id="rId253"/>
    <p:sldId id="564" r:id="rId254"/>
    <p:sldId id="527" r:id="rId255"/>
    <p:sldId id="528" r:id="rId256"/>
    <p:sldId id="529" r:id="rId257"/>
    <p:sldId id="537" r:id="rId258"/>
    <p:sldId id="530" r:id="rId259"/>
    <p:sldId id="531" r:id="rId260"/>
    <p:sldId id="532" r:id="rId261"/>
    <p:sldId id="533" r:id="rId262"/>
    <p:sldId id="534" r:id="rId263"/>
    <p:sldId id="535" r:id="rId264"/>
    <p:sldId id="538" r:id="rId265"/>
    <p:sldId id="539" r:id="rId266"/>
    <p:sldId id="540" r:id="rId267"/>
    <p:sldId id="541" r:id="rId268"/>
    <p:sldId id="543" r:id="rId269"/>
    <p:sldId id="542" r:id="rId270"/>
    <p:sldId id="544" r:id="rId271"/>
    <p:sldId id="545" r:id="rId272"/>
  </p:sldIdLst>
  <p:sldSz cx="9144000" cy="6858000" type="screen4x3"/>
  <p:notesSz cx="6858000" cy="9144000"/>
  <p:defaultTextStyle>
    <a:defPPr>
      <a:defRPr lang="en-US"/>
    </a:defPPr>
    <a:lvl1pPr algn="ctr" rtl="0" fontAlgn="base">
      <a:spcBef>
        <a:spcPct val="0"/>
      </a:spcBef>
      <a:spcAft>
        <a:spcPct val="0"/>
      </a:spcAft>
      <a:defRPr b="1" kern="1200">
        <a:solidFill>
          <a:schemeClr val="bg2"/>
        </a:solidFill>
        <a:latin typeface="Arial" charset="0"/>
        <a:ea typeface="+mn-ea"/>
        <a:cs typeface="Arial" charset="0"/>
      </a:defRPr>
    </a:lvl1pPr>
    <a:lvl2pPr marL="457200" algn="ctr" rtl="0" fontAlgn="base">
      <a:spcBef>
        <a:spcPct val="0"/>
      </a:spcBef>
      <a:spcAft>
        <a:spcPct val="0"/>
      </a:spcAft>
      <a:defRPr b="1" kern="1200">
        <a:solidFill>
          <a:schemeClr val="bg2"/>
        </a:solidFill>
        <a:latin typeface="Arial" charset="0"/>
        <a:ea typeface="+mn-ea"/>
        <a:cs typeface="Arial" charset="0"/>
      </a:defRPr>
    </a:lvl2pPr>
    <a:lvl3pPr marL="914400" algn="ctr" rtl="0" fontAlgn="base">
      <a:spcBef>
        <a:spcPct val="0"/>
      </a:spcBef>
      <a:spcAft>
        <a:spcPct val="0"/>
      </a:spcAft>
      <a:defRPr b="1" kern="1200">
        <a:solidFill>
          <a:schemeClr val="bg2"/>
        </a:solidFill>
        <a:latin typeface="Arial" charset="0"/>
        <a:ea typeface="+mn-ea"/>
        <a:cs typeface="Arial" charset="0"/>
      </a:defRPr>
    </a:lvl3pPr>
    <a:lvl4pPr marL="1371600" algn="ctr" rtl="0" fontAlgn="base">
      <a:spcBef>
        <a:spcPct val="0"/>
      </a:spcBef>
      <a:spcAft>
        <a:spcPct val="0"/>
      </a:spcAft>
      <a:defRPr b="1" kern="1200">
        <a:solidFill>
          <a:schemeClr val="bg2"/>
        </a:solidFill>
        <a:latin typeface="Arial" charset="0"/>
        <a:ea typeface="+mn-ea"/>
        <a:cs typeface="Arial" charset="0"/>
      </a:defRPr>
    </a:lvl4pPr>
    <a:lvl5pPr marL="1828800" algn="ctr" rtl="0" fontAlgn="base">
      <a:spcBef>
        <a:spcPct val="0"/>
      </a:spcBef>
      <a:spcAft>
        <a:spcPct val="0"/>
      </a:spcAft>
      <a:defRPr b="1" kern="1200">
        <a:solidFill>
          <a:schemeClr val="bg2"/>
        </a:solidFill>
        <a:latin typeface="Arial" charset="0"/>
        <a:ea typeface="+mn-ea"/>
        <a:cs typeface="Arial" charset="0"/>
      </a:defRPr>
    </a:lvl5pPr>
    <a:lvl6pPr marL="2286000" algn="l" defTabSz="914400" rtl="0" eaLnBrk="1" latinLnBrk="0" hangingPunct="1">
      <a:defRPr b="1" kern="1200">
        <a:solidFill>
          <a:schemeClr val="bg2"/>
        </a:solidFill>
        <a:latin typeface="Arial" charset="0"/>
        <a:ea typeface="+mn-ea"/>
        <a:cs typeface="Arial" charset="0"/>
      </a:defRPr>
    </a:lvl6pPr>
    <a:lvl7pPr marL="2743200" algn="l" defTabSz="914400" rtl="0" eaLnBrk="1" latinLnBrk="0" hangingPunct="1">
      <a:defRPr b="1" kern="1200">
        <a:solidFill>
          <a:schemeClr val="bg2"/>
        </a:solidFill>
        <a:latin typeface="Arial" charset="0"/>
        <a:ea typeface="+mn-ea"/>
        <a:cs typeface="Arial" charset="0"/>
      </a:defRPr>
    </a:lvl7pPr>
    <a:lvl8pPr marL="3200400" algn="l" defTabSz="914400" rtl="0" eaLnBrk="1" latinLnBrk="0" hangingPunct="1">
      <a:defRPr b="1" kern="1200">
        <a:solidFill>
          <a:schemeClr val="bg2"/>
        </a:solidFill>
        <a:latin typeface="Arial" charset="0"/>
        <a:ea typeface="+mn-ea"/>
        <a:cs typeface="Arial" charset="0"/>
      </a:defRPr>
    </a:lvl8pPr>
    <a:lvl9pPr marL="3657600" algn="l" defTabSz="914400" rtl="0" eaLnBrk="1" latinLnBrk="0" hangingPunct="1">
      <a:defRPr b="1" kern="1200">
        <a:solidFill>
          <a:schemeClr val="bg2"/>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CC"/>
    <a:srgbClr val="30238D"/>
    <a:srgbClr val="392AA8"/>
    <a:srgbClr val="29A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96" autoAdjust="0"/>
    <p:restoredTop sz="99274" autoAdjust="0"/>
  </p:normalViewPr>
  <p:slideViewPr>
    <p:cSldViewPr>
      <p:cViewPr varScale="1">
        <p:scale>
          <a:sx n="73" d="100"/>
          <a:sy n="73" d="100"/>
        </p:scale>
        <p:origin x="1170"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presProps" Target="pres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theme" Target="theme/theme1.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tableStyles" Target="tableStyles.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11" name="Date Placeholder 29"/>
          <p:cNvSpPr>
            <a:spLocks noGrp="1"/>
          </p:cNvSpPr>
          <p:nvPr>
            <p:ph type="dt" sz="half" idx="10"/>
          </p:nvPr>
        </p:nvSpPr>
        <p:spPr/>
        <p:txBody>
          <a:bodyPr/>
          <a:lstStyle>
            <a:lvl1pPr>
              <a:defRPr>
                <a:solidFill>
                  <a:schemeClr val="tx1">
                    <a:lumMod val="75000"/>
                    <a:lumOff val="25000"/>
                  </a:schemeClr>
                </a:solidFill>
              </a:defRPr>
            </a:lvl1pPr>
            <a:extLst/>
          </a:lstStyle>
          <a:p>
            <a:pPr>
              <a:defRPr/>
            </a:pPr>
            <a:endParaRPr lang="en-US"/>
          </a:p>
        </p:txBody>
      </p:sp>
      <p:sp>
        <p:nvSpPr>
          <p:cNvPr id="12" name="Footer Placeholder 18"/>
          <p:cNvSpPr>
            <a:spLocks noGrp="1"/>
          </p:cNvSpPr>
          <p:nvPr>
            <p:ph type="ftr" sz="quarter" idx="11"/>
          </p:nvPr>
        </p:nvSpPr>
        <p:spPr/>
        <p:txBody>
          <a:bodyPr/>
          <a:lstStyle>
            <a:lvl1pPr>
              <a:defRPr>
                <a:solidFill>
                  <a:schemeClr val="tx1">
                    <a:lumMod val="75000"/>
                    <a:lumOff val="25000"/>
                  </a:schemeClr>
                </a:solidFill>
              </a:defRPr>
            </a:lvl1pPr>
            <a:extLst/>
          </a:lstStyle>
          <a:p>
            <a:pPr>
              <a:defRPr/>
            </a:pPr>
            <a:endParaRPr lang="en-US" dirty="0"/>
          </a:p>
        </p:txBody>
      </p:sp>
      <p:sp>
        <p:nvSpPr>
          <p:cNvPr id="13" name="Slide Number Placeholder 26"/>
          <p:cNvSpPr>
            <a:spLocks noGrp="1"/>
          </p:cNvSpPr>
          <p:nvPr>
            <p:ph type="sldNum" sz="quarter" idx="12"/>
          </p:nvPr>
        </p:nvSpPr>
        <p:spPr/>
        <p:txBody>
          <a:bodyPr/>
          <a:lstStyle>
            <a:lvl1pPr>
              <a:defRPr>
                <a:solidFill>
                  <a:schemeClr val="tx1">
                    <a:lumMod val="75000"/>
                    <a:lumOff val="25000"/>
                  </a:schemeClr>
                </a:solidFill>
              </a:defRPr>
            </a:lvl1pPr>
            <a:extLst/>
          </a:lstStyle>
          <a:p>
            <a:pPr>
              <a:defRPr/>
            </a:pPr>
            <a:fld id="{D02925D9-DDB1-41A2-AE56-9C913119213D}" type="slidenum">
              <a:rPr lang="en-US" smtClean="0"/>
              <a:pPr>
                <a:defRPr/>
              </a:pPr>
              <a:t>‹#›</a:t>
            </a:fld>
            <a:endParaRPr lang="en-US"/>
          </a:p>
        </p:txBody>
      </p:sp>
    </p:spTree>
  </p:cSld>
  <p:clrMapOvr>
    <a:masterClrMapping/>
  </p:clrMapOvr>
  <p:transition spd="med">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itle 6"/>
          <p:cNvSpPr>
            <a:spLocks noGrp="1"/>
          </p:cNvSpPr>
          <p:nvPr>
            <p:ph type="title"/>
          </p:nvPr>
        </p:nvSpPr>
        <p:spPr/>
        <p:txBody>
          <a:bodyPr rtlCol="0"/>
          <a:lstStyle/>
          <a:p>
            <a:r>
              <a:rPr lang="en-US" smtClean="0"/>
              <a:t>Click to edit Master title style</a:t>
            </a:r>
            <a:endParaRPr lang="en-US"/>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21AD6699-5716-4499-ACB9-1DF4EA12D136}" type="slidenum">
              <a:rPr lang="en-US"/>
              <a:pPr>
                <a:defRPr/>
              </a:pPr>
              <a:t>‹#›</a:t>
            </a:fld>
            <a:endParaRPr lang="en-US"/>
          </a:p>
        </p:txBody>
      </p:sp>
    </p:spTree>
  </p:cSld>
  <p:clrMapOvr>
    <a:masterClrMapping/>
  </p:clrMapOvr>
  <p:transition spd="med">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a:p>
        </p:txBody>
      </p:sp>
      <p:sp>
        <p:nvSpPr>
          <p:cNvPr id="7" name="Footer Placeholder 4"/>
          <p:cNvSpPr>
            <a:spLocks noGrp="1"/>
          </p:cNvSpPr>
          <p:nvPr>
            <p:ph type="ftr" sz="quarter" idx="11"/>
          </p:nvPr>
        </p:nvSpPr>
        <p:spPr/>
        <p:txBody>
          <a:bodyPr/>
          <a:lstStyle>
            <a:lvl1pPr>
              <a:defRPr/>
            </a:lvl1pPr>
            <a:extLst/>
          </a:lstStyle>
          <a:p>
            <a:pPr>
              <a:defRPr/>
            </a:pPr>
            <a:endParaRPr lang="en-US"/>
          </a:p>
        </p:txBody>
      </p:sp>
      <p:sp>
        <p:nvSpPr>
          <p:cNvPr id="8" name="Slide Number Placeholder 5"/>
          <p:cNvSpPr>
            <a:spLocks noGrp="1"/>
          </p:cNvSpPr>
          <p:nvPr>
            <p:ph type="sldNum" sz="quarter" idx="12"/>
          </p:nvPr>
        </p:nvSpPr>
        <p:spPr/>
        <p:txBody>
          <a:bodyPr/>
          <a:lstStyle>
            <a:lvl1pPr>
              <a:defRPr/>
            </a:lvl1pPr>
            <a:extLst/>
          </a:lstStyle>
          <a:p>
            <a:pPr>
              <a:defRPr/>
            </a:pPr>
            <a:fld id="{F2EEAC65-9373-444A-920F-4B1E686D314B}" type="slidenum">
              <a:rPr lang="en-US"/>
              <a:pPr>
                <a:defRPr/>
              </a:pPr>
              <a:t>‹#›</a:t>
            </a:fld>
            <a:endParaRPr lang="en-US"/>
          </a:p>
        </p:txBody>
      </p:sp>
    </p:spTree>
  </p:cSld>
  <p:clrMapOvr>
    <a:masterClrMapping/>
  </p:clrMapOvr>
  <p:transition spd="med">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p>
            <a:r>
              <a:rPr lang="en-US" smtClean="0"/>
              <a:t>Click to edit Master title style</a:t>
            </a:r>
            <a:endParaRPr lang="en-US"/>
          </a:p>
        </p:txBody>
      </p:sp>
      <p:sp>
        <p:nvSpPr>
          <p:cNvPr id="5" name="Date Placeholder 9"/>
          <p:cNvSpPr>
            <a:spLocks noGrp="1"/>
          </p:cNvSpPr>
          <p:nvPr>
            <p:ph type="dt" sz="half" idx="10"/>
          </p:nvPr>
        </p:nvSpPr>
        <p:spPr/>
        <p:txBody>
          <a:bodyPr/>
          <a:lstStyle>
            <a:lvl1pPr>
              <a:defRPr/>
            </a:lvl1pPr>
          </a:lstStyle>
          <a:p>
            <a:pPr>
              <a:defRPr/>
            </a:pPr>
            <a:endParaRPr lang="en-US"/>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78DA01F9-B7AA-4008-96E6-C878EE4DC4C3}" type="slidenum">
              <a:rPr lang="en-US"/>
              <a:pPr>
                <a:defRPr/>
              </a:pPr>
              <a:t>‹#›</a:t>
            </a:fld>
            <a:endParaRPr lang="en-US"/>
          </a:p>
        </p:txBody>
      </p:sp>
    </p:spTree>
  </p:cSld>
  <p:clrMapOvr>
    <a:masterClrMapping/>
  </p:clrMapOvr>
  <p:transition spd="med">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endParaRPr lang="en-US"/>
          </a:p>
        </p:txBody>
      </p:sp>
      <p:sp>
        <p:nvSpPr>
          <p:cNvPr id="8" name="Footer Placeholder 7"/>
          <p:cNvSpPr>
            <a:spLocks noGrp="1"/>
          </p:cNvSpPr>
          <p:nvPr>
            <p:ph type="ftr" sz="quarter" idx="11"/>
          </p:nvPr>
        </p:nvSpPr>
        <p:spPr/>
        <p:txBody>
          <a:bodyPr/>
          <a:lstStyle>
            <a:lvl1pPr>
              <a:defRPr/>
            </a:lvl1pPr>
            <a:extLst/>
          </a:lstStyle>
          <a:p>
            <a:pPr>
              <a:defRPr/>
            </a:pPr>
            <a:endParaRPr lang="en-US"/>
          </a:p>
        </p:txBody>
      </p:sp>
      <p:sp>
        <p:nvSpPr>
          <p:cNvPr id="9" name="Slide Number Placeholder 8"/>
          <p:cNvSpPr>
            <a:spLocks noGrp="1"/>
          </p:cNvSpPr>
          <p:nvPr>
            <p:ph type="sldNum" sz="quarter" idx="12"/>
          </p:nvPr>
        </p:nvSpPr>
        <p:spPr/>
        <p:txBody>
          <a:bodyPr/>
          <a:lstStyle>
            <a:lvl1pPr>
              <a:defRPr/>
            </a:lvl1pPr>
            <a:extLst/>
          </a:lstStyle>
          <a:p>
            <a:pPr>
              <a:defRPr/>
            </a:pPr>
            <a:fld id="{716731DF-BD98-4B00-B012-6535E434C5B9}" type="slidenum">
              <a:rPr lang="en-US"/>
              <a:pPr>
                <a:defRPr/>
              </a:pPr>
              <a:t>‹#›</a:t>
            </a:fld>
            <a:endParaRPr lang="en-US"/>
          </a:p>
        </p:txBody>
      </p:sp>
    </p:spTree>
  </p:cSld>
  <p:clrMapOvr>
    <a:masterClrMapping/>
  </p:clrMapOvr>
  <p:transition spd="med">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smtClean="0"/>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endParaRPr lang="en-US"/>
          </a:p>
        </p:txBody>
      </p:sp>
      <p:sp>
        <p:nvSpPr>
          <p:cNvPr id="4" name="Footer Placeholder 21"/>
          <p:cNvSpPr>
            <a:spLocks noGrp="1"/>
          </p:cNvSpPr>
          <p:nvPr>
            <p:ph type="ftr" sz="quarter" idx="11"/>
          </p:nvPr>
        </p:nvSpPr>
        <p:spPr/>
        <p:txBody>
          <a:bodyPr/>
          <a:lstStyle>
            <a:lvl1pPr>
              <a:defRPr/>
            </a:lvl1pPr>
          </a:lstStyle>
          <a:p>
            <a:pPr>
              <a:defRPr/>
            </a:pPr>
            <a:endParaRPr lang="en-US"/>
          </a:p>
        </p:txBody>
      </p:sp>
      <p:sp>
        <p:nvSpPr>
          <p:cNvPr id="5" name="Slide Number Placeholder 17"/>
          <p:cNvSpPr>
            <a:spLocks noGrp="1"/>
          </p:cNvSpPr>
          <p:nvPr>
            <p:ph type="sldNum" sz="quarter" idx="12"/>
          </p:nvPr>
        </p:nvSpPr>
        <p:spPr/>
        <p:txBody>
          <a:bodyPr/>
          <a:lstStyle>
            <a:lvl1pPr>
              <a:defRPr/>
            </a:lvl1pPr>
          </a:lstStyle>
          <a:p>
            <a:pPr>
              <a:defRPr/>
            </a:pPr>
            <a:fld id="{4D0F2305-8935-4CC2-B6DE-B8CA6566E533}" type="slidenum">
              <a:rPr lang="en-US"/>
              <a:pPr>
                <a:defRPr/>
              </a:pPr>
              <a:t>‹#›</a:t>
            </a:fld>
            <a:endParaRPr lang="en-US"/>
          </a:p>
        </p:txBody>
      </p:sp>
    </p:spTree>
  </p:cSld>
  <p:clrMapOvr>
    <a:masterClrMapping/>
  </p:clrMapOvr>
  <p:transition spd="med">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pPr>
              <a:defRPr/>
            </a:pPr>
            <a:fld id="{C6E0B159-DA18-4305-8698-47BACB9B05DA}" type="slidenum">
              <a:rPr lang="en-US"/>
              <a:pPr>
                <a:defRPr/>
              </a:pPr>
              <a:t>‹#›</a:t>
            </a:fld>
            <a:endParaRPr lang="en-US"/>
          </a:p>
        </p:txBody>
      </p:sp>
    </p:spTree>
  </p:cSld>
  <p:clrMapOvr>
    <a:masterClrMapping/>
  </p:clrMapOvr>
  <p:transition spd="med">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extLst/>
          </a:lstStyle>
          <a:p>
            <a:pPr>
              <a:defRPr/>
            </a:pPr>
            <a:fld id="{FCC2B380-8E39-46EC-85A9-BE1D6820BA83}" type="slidenum">
              <a:rPr lang="en-US"/>
              <a:pPr>
                <a:defRPr/>
              </a:pPr>
              <a:t>‹#›</a:t>
            </a:fld>
            <a:endParaRPr lang="en-US"/>
          </a:p>
        </p:txBody>
      </p:sp>
    </p:spTree>
  </p:cSld>
  <p:clrMapOvr>
    <a:masterClrMapping/>
  </p:clrMapOvr>
  <p:transition spd="med">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7" name="Right Triangle 6"/>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smtClean="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endParaRPr lang="en-US"/>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F3375236-831F-4819-BB35-725BB03F81FF}" type="slidenum">
              <a:rPr lang="en-US"/>
              <a:pPr>
                <a:defRPr/>
              </a:pPr>
              <a:t>‹#›</a:t>
            </a:fld>
            <a:endParaRPr lang="en-US"/>
          </a:p>
        </p:txBody>
      </p:sp>
    </p:spTree>
  </p:cSld>
  <p:clrMapOvr>
    <a:masterClrMapping/>
  </p:clrMapOvr>
  <p:transition spd="med">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F806BC7A-B2D6-41E9-862F-94A3657D97BB}" type="slidenum">
              <a:rPr lang="en-US"/>
              <a:pPr>
                <a:defRPr/>
              </a:pPr>
              <a:t>‹#›</a:t>
            </a:fld>
            <a:endParaRPr lang="en-US"/>
          </a:p>
        </p:txBody>
      </p:sp>
    </p:spTree>
  </p:cSld>
  <p:clrMapOvr>
    <a:masterClrMapping/>
  </p:clrMapOvr>
  <p:transition spd="med">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0C822BFD-FF80-4380-BB4A-063917837624}" type="slidenum">
              <a:rPr lang="en-US"/>
              <a:pPr>
                <a:defRPr/>
              </a:pPr>
              <a:t>‹#›</a:t>
            </a:fld>
            <a:endParaRPr lang="en-US"/>
          </a:p>
        </p:txBody>
      </p:sp>
    </p:spTree>
  </p:cSld>
  <p:clrMapOvr>
    <a:masterClrMapping/>
  </p:clrMapOvr>
  <p:transition spd="med">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44475"/>
            <a:ext cx="8388350" cy="5851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Date Placeholder 9"/>
          <p:cNvSpPr>
            <a:spLocks noGrp="1"/>
          </p:cNvSpPr>
          <p:nvPr>
            <p:ph type="dt" sz="half" idx="10"/>
          </p:nvPr>
        </p:nvSpPr>
        <p:spPr/>
        <p:txBody>
          <a:bodyPr/>
          <a:lstStyle>
            <a:lvl1pPr>
              <a:defRPr/>
            </a:lvl1pPr>
          </a:lstStyle>
          <a:p>
            <a:pPr>
              <a:defRPr/>
            </a:pPr>
            <a:endParaRPr lang="en-US"/>
          </a:p>
        </p:txBody>
      </p:sp>
      <p:sp>
        <p:nvSpPr>
          <p:cNvPr id="4" name="Footer Placeholder 21"/>
          <p:cNvSpPr>
            <a:spLocks noGrp="1"/>
          </p:cNvSpPr>
          <p:nvPr>
            <p:ph type="ftr" sz="quarter" idx="11"/>
          </p:nvPr>
        </p:nvSpPr>
        <p:spPr/>
        <p:txBody>
          <a:bodyPr/>
          <a:lstStyle>
            <a:lvl1pPr>
              <a:defRPr/>
            </a:lvl1pPr>
          </a:lstStyle>
          <a:p>
            <a:pPr>
              <a:defRPr/>
            </a:pPr>
            <a:endParaRPr lang="en-US"/>
          </a:p>
        </p:txBody>
      </p:sp>
      <p:sp>
        <p:nvSpPr>
          <p:cNvPr id="5" name="Slide Number Placeholder 17"/>
          <p:cNvSpPr>
            <a:spLocks noGrp="1"/>
          </p:cNvSpPr>
          <p:nvPr>
            <p:ph type="sldNum" sz="quarter" idx="12"/>
          </p:nvPr>
        </p:nvSpPr>
        <p:spPr/>
        <p:txBody>
          <a:bodyPr/>
          <a:lstStyle>
            <a:lvl1pPr>
              <a:defRPr/>
            </a:lvl1pPr>
          </a:lstStyle>
          <a:p>
            <a:pPr>
              <a:defRPr/>
            </a:pPr>
            <a:fld id="{42F25557-103A-44FB-A9FC-98B85E627F7F}" type="slidenum">
              <a:rPr lang="en-US"/>
              <a:pPr>
                <a:defRPr/>
              </a:pPr>
              <a:t>‹#›</a:t>
            </a:fld>
            <a:endParaRPr lang="en-US"/>
          </a:p>
        </p:txBody>
      </p:sp>
    </p:spTree>
  </p:cSld>
  <p:clrMapOvr>
    <a:masterClrMapping/>
  </p:clrMapOvr>
  <p:transition spd="med">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44475"/>
            <a:ext cx="8385175" cy="1431925"/>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838200" y="1905000"/>
            <a:ext cx="8007350" cy="4191000"/>
          </a:xfrm>
        </p:spPr>
        <p:txBody>
          <a:bodyPr>
            <a:normAutofit/>
          </a:bodyPr>
          <a:lstStyle/>
          <a:p>
            <a:pPr lvl="0"/>
            <a:endParaRPr lang="en-US" noProof="0" smtClean="0"/>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4FD3D7BB-69D4-410A-B1A9-1904C96D3F9C}" type="slidenum">
              <a:rPr lang="en-US"/>
              <a:pPr>
                <a:defRPr/>
              </a:pPr>
              <a:t>‹#›</a:t>
            </a:fld>
            <a:endParaRPr lang="en-US"/>
          </a:p>
        </p:txBody>
      </p:sp>
    </p:spTree>
  </p:cSld>
  <p:clrMapOvr>
    <a:masterClrMapping/>
  </p:clrMapOvr>
  <p:transition spd="med">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smtClean="0"/>
              <a:t>Click to edit Master title style</a:t>
            </a:r>
            <a:endParaRPr lang="en-US"/>
          </a:p>
        </p:txBody>
      </p:sp>
      <p:sp>
        <p:nvSpPr>
          <p:cNvPr id="2057"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endParaRPr lang="en-US"/>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E757B6C4-6F70-4B30-9640-9F293AC937A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49" r:id="rId1"/>
    <p:sldLayoutId id="2147483840" r:id="rId2"/>
    <p:sldLayoutId id="2147483850" r:id="rId3"/>
    <p:sldLayoutId id="2147483841" r:id="rId4"/>
    <p:sldLayoutId id="2147483851" r:id="rId5"/>
    <p:sldLayoutId id="2147483842" r:id="rId6"/>
    <p:sldLayoutId id="2147483843" r:id="rId7"/>
    <p:sldLayoutId id="2147483852" r:id="rId8"/>
    <p:sldLayoutId id="2147483853" r:id="rId9"/>
    <p:sldLayoutId id="2147483844" r:id="rId10"/>
    <p:sldLayoutId id="2147483845" r:id="rId11"/>
    <p:sldLayoutId id="2147483846" r:id="rId12"/>
    <p:sldLayoutId id="2147483847" r:id="rId13"/>
  </p:sldLayoutIdLst>
  <p:transition spd="med">
    <p:wipe dir="d"/>
  </p:transition>
  <p:timing>
    <p:tnLst>
      <p:par>
        <p:cTn id="1" dur="indefinite" restart="never" nodeType="tmRoot"/>
      </p:par>
    </p:tnLst>
  </p:timing>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0" fontAlgn="base" hangingPunct="0">
        <a:spcBef>
          <a:spcPct val="0"/>
        </a:spcBef>
        <a:spcAft>
          <a:spcPct val="0"/>
        </a:spcAft>
        <a:defRPr sz="4100" b="1">
          <a:solidFill>
            <a:schemeClr val="tx2"/>
          </a:solidFill>
          <a:latin typeface="Arial" charset="0"/>
        </a:defRPr>
      </a:lvl2pPr>
      <a:lvl3pPr algn="l" rtl="0" eaLnBrk="0" fontAlgn="base" hangingPunct="0">
        <a:spcBef>
          <a:spcPct val="0"/>
        </a:spcBef>
        <a:spcAft>
          <a:spcPct val="0"/>
        </a:spcAft>
        <a:defRPr sz="4100" b="1">
          <a:solidFill>
            <a:schemeClr val="tx2"/>
          </a:solidFill>
          <a:latin typeface="Arial" charset="0"/>
        </a:defRPr>
      </a:lvl3pPr>
      <a:lvl4pPr algn="l" rtl="0" eaLnBrk="0" fontAlgn="base" hangingPunct="0">
        <a:spcBef>
          <a:spcPct val="0"/>
        </a:spcBef>
        <a:spcAft>
          <a:spcPct val="0"/>
        </a:spcAft>
        <a:defRPr sz="4100" b="1">
          <a:solidFill>
            <a:schemeClr val="tx2"/>
          </a:solidFill>
          <a:latin typeface="Arial" charset="0"/>
        </a:defRPr>
      </a:lvl4pPr>
      <a:lvl5pPr algn="l" rtl="0" eaLnBrk="0" fontAlgn="base" hangingPunct="0">
        <a:spcBef>
          <a:spcPct val="0"/>
        </a:spcBef>
        <a:spcAft>
          <a:spcPct val="0"/>
        </a:spcAft>
        <a:defRPr sz="4100" b="1">
          <a:solidFill>
            <a:schemeClr val="tx2"/>
          </a:solidFill>
          <a:latin typeface="Arial" charset="0"/>
        </a:defRPr>
      </a:lvl5pPr>
      <a:lvl6pPr marL="457200" algn="l" rtl="0" fontAlgn="base">
        <a:spcBef>
          <a:spcPct val="0"/>
        </a:spcBef>
        <a:spcAft>
          <a:spcPct val="0"/>
        </a:spcAft>
        <a:defRPr sz="4100" b="1">
          <a:solidFill>
            <a:schemeClr val="tx2"/>
          </a:solidFill>
          <a:latin typeface="Arial" charset="0"/>
        </a:defRPr>
      </a:lvl6pPr>
      <a:lvl7pPr marL="914400" algn="l" rtl="0" fontAlgn="base">
        <a:spcBef>
          <a:spcPct val="0"/>
        </a:spcBef>
        <a:spcAft>
          <a:spcPct val="0"/>
        </a:spcAft>
        <a:defRPr sz="4100" b="1">
          <a:solidFill>
            <a:schemeClr val="tx2"/>
          </a:solidFill>
          <a:latin typeface="Arial" charset="0"/>
        </a:defRPr>
      </a:lvl7pPr>
      <a:lvl8pPr marL="1371600" algn="l" rtl="0" fontAlgn="base">
        <a:spcBef>
          <a:spcPct val="0"/>
        </a:spcBef>
        <a:spcAft>
          <a:spcPct val="0"/>
        </a:spcAft>
        <a:defRPr sz="4100" b="1">
          <a:solidFill>
            <a:schemeClr val="tx2"/>
          </a:solidFill>
          <a:latin typeface="Arial" charset="0"/>
        </a:defRPr>
      </a:lvl8pPr>
      <a:lvl9pPr marL="1828800" algn="l" rtl="0" fontAlgn="base">
        <a:spcBef>
          <a:spcPct val="0"/>
        </a:spcBef>
        <a:spcAft>
          <a:spcPct val="0"/>
        </a:spcAft>
        <a:defRPr sz="4100" b="1">
          <a:solidFill>
            <a:schemeClr val="tx2"/>
          </a:solidFill>
          <a:latin typeface="Arial"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0" fontAlgn="base" hangingPunct="0">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99.xml"/><Relationship Id="rId3" Type="http://schemas.openxmlformats.org/officeDocument/2006/relationships/slide" Target="slide17.xml"/><Relationship Id="rId7" Type="http://schemas.openxmlformats.org/officeDocument/2006/relationships/slide" Target="slide82.xml"/><Relationship Id="rId2" Type="http://schemas.openxmlformats.org/officeDocument/2006/relationships/slide" Target="slide5.xml"/><Relationship Id="rId1" Type="http://schemas.openxmlformats.org/officeDocument/2006/relationships/slideLayout" Target="../slideLayouts/slideLayout7.xml"/><Relationship Id="rId6" Type="http://schemas.openxmlformats.org/officeDocument/2006/relationships/slide" Target="slide67.xml"/><Relationship Id="rId5" Type="http://schemas.openxmlformats.org/officeDocument/2006/relationships/slide" Target="slide50.xml"/><Relationship Id="rId4" Type="http://schemas.openxmlformats.org/officeDocument/2006/relationships/slide" Target="slide32.xml"/><Relationship Id="rId9" Type="http://schemas.openxmlformats.org/officeDocument/2006/relationships/slide" Target="slide114.xml"/></Relationships>
</file>

<file path=ppt/slides/_rels/slide3.xml.rels><?xml version="1.0" encoding="UTF-8" standalone="yes"?>
<Relationships xmlns="http://schemas.openxmlformats.org/package/2006/relationships"><Relationship Id="rId8" Type="http://schemas.openxmlformats.org/officeDocument/2006/relationships/slide" Target="slide253.xml"/><Relationship Id="rId3" Type="http://schemas.openxmlformats.org/officeDocument/2006/relationships/slide" Target="slide169.xml"/><Relationship Id="rId7" Type="http://schemas.openxmlformats.org/officeDocument/2006/relationships/slide" Target="slide236.xml"/><Relationship Id="rId2" Type="http://schemas.openxmlformats.org/officeDocument/2006/relationships/slide" Target="slide144.xml"/><Relationship Id="rId1" Type="http://schemas.openxmlformats.org/officeDocument/2006/relationships/slideLayout" Target="../slideLayouts/slideLayout7.xml"/><Relationship Id="rId6" Type="http://schemas.openxmlformats.org/officeDocument/2006/relationships/slide" Target="slide221.xml"/><Relationship Id="rId5" Type="http://schemas.openxmlformats.org/officeDocument/2006/relationships/slide" Target="slide204.xml"/><Relationship Id="rId4" Type="http://schemas.openxmlformats.org/officeDocument/2006/relationships/slide" Target="slide186.xml"/><Relationship Id="rId9" Type="http://schemas.openxmlformats.org/officeDocument/2006/relationships/slide" Target="slide13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 Target="slide3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 Target="slide73.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 Target="slide88.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slide" Target="slide105.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slide" Target="slide120.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slide" Target="slide150.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slide" Target="slide175.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slide" Target="slide192.xml"/><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slide" Target="slide210.xml"/><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slide" Target="slide227.xml"/><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slide" Target="slide242.xml"/><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slide" Target="slide259.xml"/><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p:cNvSpPr>
            <a:spLocks noGrp="1" noChangeArrowheads="1"/>
          </p:cNvSpPr>
          <p:nvPr>
            <p:ph type="ctrTitle"/>
          </p:nvPr>
        </p:nvSpPr>
        <p:spPr>
          <a:xfrm>
            <a:off x="1000100" y="2857496"/>
            <a:ext cx="7345362" cy="1152525"/>
          </a:xfrm>
          <a:gradFill rotWithShape="1">
            <a:gsLst>
              <a:gs pos="0">
                <a:srgbClr val="CCFF99"/>
              </a:gs>
              <a:gs pos="100000">
                <a:srgbClr val="CCFF99">
                  <a:gamma/>
                  <a:shade val="46275"/>
                  <a:invGamma/>
                </a:srgbClr>
              </a:gs>
            </a:gsLst>
            <a:path path="rect">
              <a:fillToRect l="100000" b="100000"/>
            </a:path>
          </a:gradFill>
          <a:scene3d>
            <a:camera prst="legacyPerspectiveFront">
              <a:rot lat="20099999" lon="20099999" rev="0"/>
            </a:camera>
            <a:lightRig rig="legacyFlat2" dir="t"/>
          </a:scene3d>
          <a:sp3d extrusionH="887400" prstMaterial="legacyMatte">
            <a:bevelT w="13500" h="13500" prst="angle"/>
            <a:bevelB w="13500" h="13500" prst="angle"/>
            <a:extrusionClr>
              <a:srgbClr val="CCFF99"/>
            </a:extrusionClr>
          </a:sp3d>
        </p:spPr>
        <p:txBody>
          <a:bodyPr>
            <a:normAutofit fontScale="90000"/>
            <a:flatTx/>
          </a:bodyPr>
          <a:lstStyle/>
          <a:p>
            <a:pPr algn="ctr" rtl="1" eaLnBrk="1" fontAlgn="auto" hangingPunct="1">
              <a:spcAft>
                <a:spcPts val="0"/>
              </a:spcAft>
              <a:defRPr/>
            </a:pPr>
            <a:r>
              <a:rPr lang="fa-IR" dirty="0" smtClean="0">
                <a:solidFill>
                  <a:schemeClr val="tx1"/>
                </a:solidFill>
                <a:cs typeface="B Titr" pitchFamily="2" charset="-78"/>
              </a:rPr>
              <a:t>نام درس :</a:t>
            </a:r>
            <a:r>
              <a:rPr lang="fa-IR" dirty="0" smtClean="0">
                <a:cs typeface="B Titr" pitchFamily="2" charset="-78"/>
              </a:rPr>
              <a:t/>
            </a:r>
            <a:br>
              <a:rPr lang="fa-IR" dirty="0" smtClean="0">
                <a:cs typeface="B Titr" pitchFamily="2" charset="-78"/>
              </a:rPr>
            </a:br>
            <a:r>
              <a:rPr lang="en-US" dirty="0" smtClean="0">
                <a:cs typeface="Nazanin" pitchFamily="2" charset="-78"/>
              </a:rPr>
              <a:t> </a:t>
            </a:r>
            <a:r>
              <a:rPr lang="fa-IR" dirty="0" smtClean="0">
                <a:solidFill>
                  <a:srgbClr val="FF0000"/>
                </a:solidFill>
                <a:cs typeface="B Titr" pitchFamily="2" charset="-78"/>
              </a:rPr>
              <a:t>شیوه ارائه مطالب علمی و فنی </a:t>
            </a:r>
            <a:r>
              <a:rPr lang="fa-IR" dirty="0" smtClean="0">
                <a:solidFill>
                  <a:srgbClr val="FF0000"/>
                </a:solidFill>
                <a:cs typeface="Nazanin" pitchFamily="2" charset="-78"/>
              </a:rPr>
              <a:t/>
            </a:r>
            <a:br>
              <a:rPr lang="fa-IR" dirty="0" smtClean="0">
                <a:solidFill>
                  <a:srgbClr val="FF0000"/>
                </a:solidFill>
                <a:cs typeface="Nazanin" pitchFamily="2" charset="-78"/>
              </a:rPr>
            </a:br>
            <a:endParaRPr lang="en-US" altLang="ar-SA" dirty="0" smtClean="0">
              <a:solidFill>
                <a:srgbClr val="FF0000"/>
              </a:solidFill>
              <a:cs typeface="Nazanin" pitchFamily="2" charset="-78"/>
            </a:endParaRPr>
          </a:p>
        </p:txBody>
      </p:sp>
      <p:sp>
        <p:nvSpPr>
          <p:cNvPr id="4" name="TextBox 3"/>
          <p:cNvSpPr txBox="1"/>
          <p:nvPr/>
        </p:nvSpPr>
        <p:spPr>
          <a:xfrm>
            <a:off x="2071670" y="5000636"/>
            <a:ext cx="5357850" cy="1172629"/>
          </a:xfrm>
          <a:prstGeom prst="rect">
            <a:avLst/>
          </a:prstGeom>
          <a:noFill/>
        </p:spPr>
        <p:txBody>
          <a:bodyPr wrap="square" rtlCol="0">
            <a:spAutoFit/>
          </a:bodyPr>
          <a:lstStyle/>
          <a:p>
            <a:pPr rtl="1">
              <a:lnSpc>
                <a:spcPct val="90000"/>
              </a:lnSpc>
            </a:pPr>
            <a:r>
              <a:rPr lang="fa-IR" sz="2000" dirty="0" smtClean="0">
                <a:solidFill>
                  <a:schemeClr val="tx1"/>
                </a:solidFill>
                <a:cs typeface="B Titr" panose="00000700000000000000" pitchFamily="2" charset="-78"/>
              </a:rPr>
              <a:t>نام منبع : </a:t>
            </a:r>
            <a:r>
              <a:rPr lang="fa-IR" sz="2000" dirty="0" err="1" smtClean="0">
                <a:solidFill>
                  <a:schemeClr val="tx1"/>
                </a:solidFill>
                <a:cs typeface="B Titr" panose="00000700000000000000" pitchFamily="2" charset="-78"/>
              </a:rPr>
              <a:t>شيوه</a:t>
            </a:r>
            <a:r>
              <a:rPr lang="fa-IR" sz="2000" dirty="0" smtClean="0">
                <a:solidFill>
                  <a:schemeClr val="tx1"/>
                </a:solidFill>
                <a:cs typeface="B Titr" panose="00000700000000000000" pitchFamily="2" charset="-78"/>
              </a:rPr>
              <a:t> ارائه مطالب </a:t>
            </a:r>
            <a:r>
              <a:rPr lang="fa-IR" sz="2000" dirty="0" err="1" smtClean="0">
                <a:solidFill>
                  <a:schemeClr val="tx1"/>
                </a:solidFill>
                <a:cs typeface="B Titr" panose="00000700000000000000" pitchFamily="2" charset="-78"/>
              </a:rPr>
              <a:t>علمي</a:t>
            </a:r>
            <a:r>
              <a:rPr lang="fa-IR" sz="2000" dirty="0" smtClean="0">
                <a:solidFill>
                  <a:schemeClr val="tx1"/>
                </a:solidFill>
                <a:cs typeface="B Titr" panose="00000700000000000000" pitchFamily="2" charset="-78"/>
              </a:rPr>
              <a:t> </a:t>
            </a:r>
          </a:p>
          <a:p>
            <a:pPr rtl="1">
              <a:lnSpc>
                <a:spcPct val="90000"/>
              </a:lnSpc>
            </a:pPr>
            <a:r>
              <a:rPr lang="fa-IR" sz="2000" dirty="0" smtClean="0">
                <a:solidFill>
                  <a:schemeClr val="tx1"/>
                </a:solidFill>
                <a:cs typeface="B Titr" panose="00000700000000000000" pitchFamily="2" charset="-78"/>
              </a:rPr>
              <a:t>نام مولف : </a:t>
            </a:r>
            <a:r>
              <a:rPr lang="fa-IR" sz="2000" dirty="0" err="1" smtClean="0">
                <a:solidFill>
                  <a:schemeClr val="tx1"/>
                </a:solidFill>
                <a:cs typeface="B Titr" panose="00000700000000000000" pitchFamily="2" charset="-78"/>
              </a:rPr>
              <a:t>سيد</a:t>
            </a:r>
            <a:r>
              <a:rPr lang="fa-IR" sz="2000" dirty="0" smtClean="0">
                <a:solidFill>
                  <a:schemeClr val="tx1"/>
                </a:solidFill>
                <a:cs typeface="B Titr" panose="00000700000000000000" pitchFamily="2" charset="-78"/>
              </a:rPr>
              <a:t> </a:t>
            </a:r>
            <a:r>
              <a:rPr lang="fa-IR" sz="2000" dirty="0" err="1" smtClean="0">
                <a:solidFill>
                  <a:schemeClr val="tx1"/>
                </a:solidFill>
                <a:cs typeface="B Titr" panose="00000700000000000000" pitchFamily="2" charset="-78"/>
              </a:rPr>
              <a:t>محمدتقي</a:t>
            </a:r>
            <a:r>
              <a:rPr lang="fa-IR" sz="2000" dirty="0" smtClean="0">
                <a:solidFill>
                  <a:schemeClr val="tx1"/>
                </a:solidFill>
                <a:cs typeface="B Titr" panose="00000700000000000000" pitchFamily="2" charset="-78"/>
              </a:rPr>
              <a:t> </a:t>
            </a:r>
            <a:r>
              <a:rPr lang="fa-IR" sz="2000" dirty="0" err="1" smtClean="0">
                <a:solidFill>
                  <a:schemeClr val="tx1"/>
                </a:solidFill>
                <a:cs typeface="B Titr" panose="00000700000000000000" pitchFamily="2" charset="-78"/>
              </a:rPr>
              <a:t>روحاني</a:t>
            </a:r>
            <a:r>
              <a:rPr lang="fa-IR" sz="2000" dirty="0" smtClean="0">
                <a:solidFill>
                  <a:schemeClr val="tx1"/>
                </a:solidFill>
                <a:cs typeface="B Titr" panose="00000700000000000000" pitchFamily="2" charset="-78"/>
              </a:rPr>
              <a:t> </a:t>
            </a:r>
            <a:r>
              <a:rPr lang="fa-IR" sz="2000" dirty="0" err="1" smtClean="0">
                <a:solidFill>
                  <a:schemeClr val="tx1"/>
                </a:solidFill>
                <a:cs typeface="B Titr" panose="00000700000000000000" pitchFamily="2" charset="-78"/>
              </a:rPr>
              <a:t>رانكوهي</a:t>
            </a:r>
            <a:r>
              <a:rPr lang="fa-IR" sz="2000" dirty="0" smtClean="0">
                <a:solidFill>
                  <a:schemeClr val="tx1"/>
                </a:solidFill>
                <a:cs typeface="B Titr" panose="00000700000000000000" pitchFamily="2" charset="-78"/>
              </a:rPr>
              <a:t> </a:t>
            </a:r>
          </a:p>
          <a:p>
            <a:pPr rtl="1">
              <a:lnSpc>
                <a:spcPct val="90000"/>
              </a:lnSpc>
            </a:pPr>
            <a:endParaRPr lang="fa-IR" sz="2000" dirty="0" smtClean="0">
              <a:solidFill>
                <a:schemeClr val="tx1"/>
              </a:solidFill>
              <a:cs typeface="B Titr" panose="00000700000000000000" pitchFamily="2" charset="-78"/>
            </a:endParaRPr>
          </a:p>
          <a:p>
            <a:pPr rtl="1">
              <a:lnSpc>
                <a:spcPct val="90000"/>
              </a:lnSpc>
            </a:pPr>
            <a:r>
              <a:rPr lang="fa-IR" sz="1600" dirty="0" smtClean="0">
                <a:solidFill>
                  <a:schemeClr val="tx1"/>
                </a:solidFill>
                <a:cs typeface="B Titr" panose="00000700000000000000" pitchFamily="2" charset="-78"/>
              </a:rPr>
              <a:t>بر اساس اسلاید های</a:t>
            </a:r>
            <a:r>
              <a:rPr lang="fa-IR" dirty="0" smtClean="0">
                <a:solidFill>
                  <a:schemeClr val="tx1"/>
                </a:solidFill>
                <a:cs typeface="B Titr" panose="00000700000000000000" pitchFamily="2" charset="-78"/>
              </a:rPr>
              <a:t>:</a:t>
            </a:r>
            <a:r>
              <a:rPr lang="fa-IR" dirty="0" err="1" smtClean="0">
                <a:solidFill>
                  <a:schemeClr val="tx1"/>
                </a:solidFill>
                <a:cs typeface="B Titr" panose="00000700000000000000" pitchFamily="2" charset="-78"/>
              </a:rPr>
              <a:t>دكتر</a:t>
            </a:r>
            <a:r>
              <a:rPr lang="fa-IR" dirty="0" smtClean="0">
                <a:solidFill>
                  <a:schemeClr val="tx1"/>
                </a:solidFill>
                <a:cs typeface="B Titr" panose="00000700000000000000" pitchFamily="2" charset="-78"/>
              </a:rPr>
              <a:t>  احمد </a:t>
            </a:r>
            <a:r>
              <a:rPr lang="fa-IR" dirty="0" err="1" smtClean="0">
                <a:solidFill>
                  <a:schemeClr val="tx1"/>
                </a:solidFill>
                <a:cs typeface="B Titr" panose="00000700000000000000" pitchFamily="2" charset="-78"/>
              </a:rPr>
              <a:t>فراهي</a:t>
            </a:r>
            <a:endParaRPr lang="en-US" dirty="0">
              <a:solidFill>
                <a:schemeClr val="tx1"/>
              </a:solidFill>
              <a:cs typeface="B Titr" panose="00000700000000000000" pitchFamily="2" charset="-78"/>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5">
            <a:hlinkClick r:id="rId2" action="ppaction://hlinksldjump"/>
          </p:cNvPr>
          <p:cNvSpPr txBox="1">
            <a:spLocks noChangeArrowheads="1"/>
          </p:cNvSpPr>
          <p:nvPr/>
        </p:nvSpPr>
        <p:spPr bwMode="auto">
          <a:xfrm>
            <a:off x="4645025" y="1341438"/>
            <a:ext cx="3887788" cy="579437"/>
          </a:xfrm>
          <a:prstGeom prst="rect">
            <a:avLst/>
          </a:prstGeom>
          <a:noFill/>
          <a:ln w="9525">
            <a:noFill/>
            <a:miter lim="800000"/>
            <a:headEnd/>
            <a:tailEnd/>
          </a:ln>
        </p:spPr>
        <p:txBody>
          <a:bodyPr>
            <a:spAutoFit/>
          </a:bodyPr>
          <a:lstStyle/>
          <a:p>
            <a:pPr rtl="1"/>
            <a:r>
              <a:rPr lang="fa-IR" sz="3200" dirty="0" smtClean="0">
                <a:solidFill>
                  <a:srgbClr val="FF0000"/>
                </a:solidFill>
                <a:cs typeface="B Titr" panose="00000700000000000000" pitchFamily="2" charset="-78"/>
              </a:rPr>
              <a:t>مفهوم </a:t>
            </a:r>
            <a:r>
              <a:rPr lang="fa-IR" sz="3200" dirty="0">
                <a:solidFill>
                  <a:srgbClr val="FF0000"/>
                </a:solidFill>
                <a:cs typeface="B Titr" panose="00000700000000000000" pitchFamily="2" charset="-78"/>
              </a:rPr>
              <a:t>ارائه</a:t>
            </a:r>
            <a:endParaRPr lang="en-US" sz="3200" dirty="0">
              <a:solidFill>
                <a:srgbClr val="FF0000"/>
              </a:solidFill>
              <a:cs typeface="B Titr" panose="00000700000000000000" pitchFamily="2" charset="-78"/>
            </a:endParaRPr>
          </a:p>
        </p:txBody>
      </p:sp>
      <p:sp>
        <p:nvSpPr>
          <p:cNvPr id="10243" name="Text Box 6">
            <a:hlinkClick r:id="rId3" action="ppaction://hlinksldjump"/>
          </p:cNvPr>
          <p:cNvSpPr txBox="1">
            <a:spLocks noChangeArrowheads="1"/>
          </p:cNvSpPr>
          <p:nvPr/>
        </p:nvSpPr>
        <p:spPr bwMode="auto">
          <a:xfrm>
            <a:off x="3635375" y="2060575"/>
            <a:ext cx="4897438" cy="579438"/>
          </a:xfrm>
          <a:prstGeom prst="rect">
            <a:avLst/>
          </a:prstGeom>
          <a:noFill/>
          <a:ln w="9525">
            <a:noFill/>
            <a:miter lim="800000"/>
            <a:headEnd/>
            <a:tailEnd/>
          </a:ln>
        </p:spPr>
        <p:txBody>
          <a:bodyPr>
            <a:spAutoFit/>
          </a:bodyPr>
          <a:lstStyle/>
          <a:p>
            <a:pPr rtl="1"/>
            <a:r>
              <a:rPr lang="fa-IR" sz="3200" dirty="0" smtClean="0">
                <a:solidFill>
                  <a:srgbClr val="FF0000"/>
                </a:solidFill>
                <a:cs typeface="B Titr" panose="00000700000000000000" pitchFamily="2" charset="-78"/>
              </a:rPr>
              <a:t>عوامل </a:t>
            </a:r>
            <a:r>
              <a:rPr lang="fa-IR" sz="3200" dirty="0">
                <a:solidFill>
                  <a:srgbClr val="FF0000"/>
                </a:solidFill>
                <a:cs typeface="B Titr" panose="00000700000000000000" pitchFamily="2" charset="-78"/>
              </a:rPr>
              <a:t>موثر در ارائه</a:t>
            </a:r>
            <a:endParaRPr lang="en-US" sz="3200" dirty="0">
              <a:solidFill>
                <a:srgbClr val="FF0000"/>
              </a:solidFill>
              <a:cs typeface="B Titr" panose="00000700000000000000" pitchFamily="2" charset="-78"/>
            </a:endParaRPr>
          </a:p>
        </p:txBody>
      </p:sp>
      <p:sp>
        <p:nvSpPr>
          <p:cNvPr id="10244" name="Text Box 7">
            <a:hlinkClick r:id="rId4" action="ppaction://hlinksldjump"/>
          </p:cNvPr>
          <p:cNvSpPr txBox="1">
            <a:spLocks noChangeArrowheads="1"/>
          </p:cNvSpPr>
          <p:nvPr/>
        </p:nvSpPr>
        <p:spPr bwMode="auto">
          <a:xfrm>
            <a:off x="4787900" y="2781300"/>
            <a:ext cx="3887788" cy="579438"/>
          </a:xfrm>
          <a:prstGeom prst="rect">
            <a:avLst/>
          </a:prstGeom>
          <a:noFill/>
          <a:ln w="9525">
            <a:noFill/>
            <a:miter lim="800000"/>
            <a:headEnd/>
            <a:tailEnd/>
          </a:ln>
        </p:spPr>
        <p:txBody>
          <a:bodyPr>
            <a:spAutoFit/>
          </a:bodyPr>
          <a:lstStyle/>
          <a:p>
            <a:pPr rtl="1"/>
            <a:r>
              <a:rPr lang="fa-IR" sz="3200" dirty="0" smtClean="0">
                <a:solidFill>
                  <a:schemeClr val="tx1"/>
                </a:solidFill>
                <a:cs typeface="B Titr" panose="00000700000000000000" pitchFamily="2" charset="-78"/>
              </a:rPr>
              <a:t>ارائه </a:t>
            </a:r>
            <a:r>
              <a:rPr lang="fa-IR" sz="3200" dirty="0" err="1">
                <a:solidFill>
                  <a:schemeClr val="tx1"/>
                </a:solidFill>
                <a:cs typeface="B Titr" panose="00000700000000000000" pitchFamily="2" charset="-78"/>
              </a:rPr>
              <a:t>كتبي</a:t>
            </a:r>
            <a:endParaRPr lang="en-US" sz="3200" dirty="0">
              <a:solidFill>
                <a:schemeClr val="tx1"/>
              </a:solidFill>
              <a:cs typeface="B Titr" panose="00000700000000000000" pitchFamily="2" charset="-78"/>
            </a:endParaRPr>
          </a:p>
        </p:txBody>
      </p:sp>
      <p:sp>
        <p:nvSpPr>
          <p:cNvPr id="10245" name="Text Box 8">
            <a:hlinkClick r:id="rId5" action="ppaction://hlinksldjump"/>
          </p:cNvPr>
          <p:cNvSpPr txBox="1">
            <a:spLocks noChangeArrowheads="1"/>
          </p:cNvSpPr>
          <p:nvPr/>
        </p:nvSpPr>
        <p:spPr bwMode="auto">
          <a:xfrm>
            <a:off x="3419475" y="3429000"/>
            <a:ext cx="5113338" cy="579438"/>
          </a:xfrm>
          <a:prstGeom prst="rect">
            <a:avLst/>
          </a:prstGeom>
          <a:noFill/>
          <a:ln w="9525">
            <a:noFill/>
            <a:miter lim="800000"/>
            <a:headEnd/>
            <a:tailEnd/>
          </a:ln>
        </p:spPr>
        <p:txBody>
          <a:bodyPr>
            <a:spAutoFit/>
          </a:bodyPr>
          <a:lstStyle/>
          <a:p>
            <a:pPr rtl="1"/>
            <a:r>
              <a:rPr lang="fa-IR" sz="3200" dirty="0" smtClean="0">
                <a:solidFill>
                  <a:schemeClr val="tx1"/>
                </a:solidFill>
                <a:cs typeface="B Titr" panose="00000700000000000000" pitchFamily="2" charset="-78"/>
              </a:rPr>
              <a:t>طرح </a:t>
            </a:r>
            <a:r>
              <a:rPr lang="fa-IR" sz="3200" dirty="0">
                <a:solidFill>
                  <a:schemeClr val="tx1"/>
                </a:solidFill>
                <a:cs typeface="B Titr" panose="00000700000000000000" pitchFamily="2" charset="-78"/>
              </a:rPr>
              <a:t>اوليه متن </a:t>
            </a:r>
            <a:r>
              <a:rPr lang="fa-IR" sz="3200" dirty="0" err="1">
                <a:solidFill>
                  <a:schemeClr val="tx1"/>
                </a:solidFill>
                <a:cs typeface="B Titr" panose="00000700000000000000" pitchFamily="2" charset="-78"/>
              </a:rPr>
              <a:t>اصلي</a:t>
            </a:r>
            <a:endParaRPr lang="en-US" sz="3200" dirty="0">
              <a:solidFill>
                <a:schemeClr val="tx1"/>
              </a:solidFill>
              <a:cs typeface="B Titr" panose="00000700000000000000" pitchFamily="2" charset="-78"/>
            </a:endParaRPr>
          </a:p>
        </p:txBody>
      </p:sp>
      <p:sp>
        <p:nvSpPr>
          <p:cNvPr id="10246" name="Text Box 9">
            <a:hlinkClick r:id="rId6" action="ppaction://hlinksldjump"/>
          </p:cNvPr>
          <p:cNvSpPr txBox="1">
            <a:spLocks noChangeArrowheads="1"/>
          </p:cNvSpPr>
          <p:nvPr/>
        </p:nvSpPr>
        <p:spPr bwMode="auto">
          <a:xfrm>
            <a:off x="3995738" y="4073525"/>
            <a:ext cx="4751387" cy="579438"/>
          </a:xfrm>
          <a:prstGeom prst="rect">
            <a:avLst/>
          </a:prstGeom>
          <a:noFill/>
          <a:ln w="9525">
            <a:noFill/>
            <a:miter lim="800000"/>
            <a:headEnd/>
            <a:tailEnd/>
          </a:ln>
        </p:spPr>
        <p:txBody>
          <a:bodyPr>
            <a:spAutoFit/>
          </a:bodyPr>
          <a:lstStyle/>
          <a:p>
            <a:pPr rtl="1"/>
            <a:r>
              <a:rPr lang="fa-IR" sz="3200" dirty="0" err="1" smtClean="0">
                <a:solidFill>
                  <a:schemeClr val="tx1"/>
                </a:solidFill>
                <a:cs typeface="B Titr" panose="00000700000000000000" pitchFamily="2" charset="-78"/>
              </a:rPr>
              <a:t>توليد</a:t>
            </a:r>
            <a:r>
              <a:rPr lang="fa-IR" sz="3200" dirty="0" smtClean="0">
                <a:solidFill>
                  <a:schemeClr val="tx1"/>
                </a:solidFill>
                <a:cs typeface="B Titr" panose="00000700000000000000" pitchFamily="2" charset="-78"/>
              </a:rPr>
              <a:t> </a:t>
            </a:r>
            <a:r>
              <a:rPr lang="fa-IR" sz="3200" dirty="0">
                <a:solidFill>
                  <a:schemeClr val="tx1"/>
                </a:solidFill>
                <a:cs typeface="B Titr" panose="00000700000000000000" pitchFamily="2" charset="-78"/>
              </a:rPr>
              <a:t>متن </a:t>
            </a:r>
            <a:r>
              <a:rPr lang="fa-IR" sz="3200" dirty="0" err="1">
                <a:solidFill>
                  <a:schemeClr val="tx1"/>
                </a:solidFill>
                <a:cs typeface="B Titr" panose="00000700000000000000" pitchFamily="2" charset="-78"/>
              </a:rPr>
              <a:t>اصلي</a:t>
            </a:r>
            <a:endParaRPr lang="en-US" sz="3200" dirty="0">
              <a:solidFill>
                <a:schemeClr val="tx1"/>
              </a:solidFill>
              <a:cs typeface="B Titr" panose="00000700000000000000" pitchFamily="2" charset="-78"/>
            </a:endParaRPr>
          </a:p>
        </p:txBody>
      </p:sp>
      <p:sp>
        <p:nvSpPr>
          <p:cNvPr id="10247" name="Text Box 10">
            <a:hlinkClick r:id="rId7" action="ppaction://hlinksldjump"/>
          </p:cNvPr>
          <p:cNvSpPr txBox="1">
            <a:spLocks noChangeArrowheads="1"/>
          </p:cNvSpPr>
          <p:nvPr/>
        </p:nvSpPr>
        <p:spPr bwMode="auto">
          <a:xfrm>
            <a:off x="2484438" y="4652963"/>
            <a:ext cx="5903912" cy="579437"/>
          </a:xfrm>
          <a:prstGeom prst="rect">
            <a:avLst/>
          </a:prstGeom>
          <a:noFill/>
          <a:ln w="9525">
            <a:noFill/>
            <a:miter lim="800000"/>
            <a:headEnd/>
            <a:tailEnd/>
          </a:ln>
        </p:spPr>
        <p:txBody>
          <a:bodyPr>
            <a:spAutoFit/>
          </a:bodyPr>
          <a:lstStyle/>
          <a:p>
            <a:pPr rtl="1"/>
            <a:r>
              <a:rPr lang="fa-IR" sz="3200" dirty="0" smtClean="0">
                <a:solidFill>
                  <a:schemeClr val="tx1"/>
                </a:solidFill>
                <a:cs typeface="B Titr" panose="00000700000000000000" pitchFamily="2" charset="-78"/>
              </a:rPr>
              <a:t>اجزاء </a:t>
            </a:r>
            <a:r>
              <a:rPr lang="fa-IR" sz="3200" dirty="0">
                <a:solidFill>
                  <a:schemeClr val="tx1"/>
                </a:solidFill>
                <a:cs typeface="B Titr" panose="00000700000000000000" pitchFamily="2" charset="-78"/>
              </a:rPr>
              <a:t>سه </a:t>
            </a:r>
            <a:r>
              <a:rPr lang="fa-IR" sz="3200" dirty="0" err="1">
                <a:solidFill>
                  <a:schemeClr val="tx1"/>
                </a:solidFill>
                <a:cs typeface="B Titr" panose="00000700000000000000" pitchFamily="2" charset="-78"/>
              </a:rPr>
              <a:t>بخشي</a:t>
            </a:r>
            <a:r>
              <a:rPr lang="fa-IR" sz="3200" dirty="0">
                <a:solidFill>
                  <a:schemeClr val="tx1"/>
                </a:solidFill>
                <a:cs typeface="B Titr" panose="00000700000000000000" pitchFamily="2" charset="-78"/>
              </a:rPr>
              <a:t> </a:t>
            </a:r>
            <a:r>
              <a:rPr lang="fa-IR" sz="3200" dirty="0" err="1">
                <a:solidFill>
                  <a:schemeClr val="tx1"/>
                </a:solidFill>
                <a:cs typeface="B Titr" panose="00000700000000000000" pitchFamily="2" charset="-78"/>
              </a:rPr>
              <a:t>يك</a:t>
            </a:r>
            <a:r>
              <a:rPr lang="fa-IR" sz="3200" dirty="0">
                <a:solidFill>
                  <a:schemeClr val="tx1"/>
                </a:solidFill>
                <a:cs typeface="B Titr" panose="00000700000000000000" pitchFamily="2" charset="-78"/>
              </a:rPr>
              <a:t> ارائه </a:t>
            </a:r>
            <a:r>
              <a:rPr lang="fa-IR" sz="3200" dirty="0" err="1">
                <a:solidFill>
                  <a:schemeClr val="tx1"/>
                </a:solidFill>
                <a:cs typeface="B Titr" panose="00000700000000000000" pitchFamily="2" charset="-78"/>
              </a:rPr>
              <a:t>كتبي</a:t>
            </a:r>
            <a:endParaRPr lang="en-US" sz="3200" dirty="0">
              <a:solidFill>
                <a:schemeClr val="tx1"/>
              </a:solidFill>
              <a:cs typeface="B Titr" panose="00000700000000000000" pitchFamily="2" charset="-78"/>
            </a:endParaRPr>
          </a:p>
        </p:txBody>
      </p:sp>
      <p:sp>
        <p:nvSpPr>
          <p:cNvPr id="10248" name="Text Box 11">
            <a:hlinkClick r:id="rId8" action="ppaction://hlinksldjump"/>
          </p:cNvPr>
          <p:cNvSpPr txBox="1">
            <a:spLocks noChangeArrowheads="1"/>
          </p:cNvSpPr>
          <p:nvPr/>
        </p:nvSpPr>
        <p:spPr bwMode="auto">
          <a:xfrm>
            <a:off x="3059113" y="5297488"/>
            <a:ext cx="5616575" cy="579437"/>
          </a:xfrm>
          <a:prstGeom prst="rect">
            <a:avLst/>
          </a:prstGeom>
          <a:noFill/>
          <a:ln w="9525">
            <a:noFill/>
            <a:miter lim="800000"/>
            <a:headEnd/>
            <a:tailEnd/>
          </a:ln>
        </p:spPr>
        <p:txBody>
          <a:bodyPr>
            <a:spAutoFit/>
          </a:bodyPr>
          <a:lstStyle/>
          <a:p>
            <a:pPr rtl="1"/>
            <a:r>
              <a:rPr lang="fa-IR" sz="3200" dirty="0" smtClean="0">
                <a:solidFill>
                  <a:schemeClr val="tx1"/>
                </a:solidFill>
                <a:cs typeface="B Titr" panose="00000700000000000000" pitchFamily="2" charset="-78"/>
              </a:rPr>
              <a:t>استفاده </a:t>
            </a:r>
            <a:r>
              <a:rPr lang="fa-IR" sz="3200" dirty="0">
                <a:solidFill>
                  <a:schemeClr val="tx1"/>
                </a:solidFill>
                <a:cs typeface="B Titr" panose="00000700000000000000" pitchFamily="2" charset="-78"/>
              </a:rPr>
              <a:t>از </a:t>
            </a:r>
            <a:r>
              <a:rPr lang="fa-IR" sz="3200" dirty="0" err="1">
                <a:solidFill>
                  <a:schemeClr val="tx1"/>
                </a:solidFill>
                <a:cs typeface="B Titr" panose="00000700000000000000" pitchFamily="2" charset="-78"/>
              </a:rPr>
              <a:t>شكل</a:t>
            </a:r>
            <a:r>
              <a:rPr lang="fa-IR" sz="3200" dirty="0">
                <a:solidFill>
                  <a:schemeClr val="tx1"/>
                </a:solidFill>
                <a:cs typeface="B Titr" panose="00000700000000000000" pitchFamily="2" charset="-78"/>
              </a:rPr>
              <a:t> و جدول </a:t>
            </a:r>
            <a:endParaRPr lang="en-US" sz="3200" dirty="0">
              <a:solidFill>
                <a:schemeClr val="tx1"/>
              </a:solidFill>
              <a:cs typeface="B Titr" panose="00000700000000000000" pitchFamily="2" charset="-78"/>
            </a:endParaRPr>
          </a:p>
        </p:txBody>
      </p:sp>
      <p:sp>
        <p:nvSpPr>
          <p:cNvPr id="10249" name="Text Box 12">
            <a:hlinkClick r:id="rId9" action="ppaction://hlinksldjump"/>
          </p:cNvPr>
          <p:cNvSpPr txBox="1">
            <a:spLocks noChangeArrowheads="1"/>
          </p:cNvSpPr>
          <p:nvPr/>
        </p:nvSpPr>
        <p:spPr bwMode="auto">
          <a:xfrm>
            <a:off x="2482850" y="5945188"/>
            <a:ext cx="5976938" cy="579437"/>
          </a:xfrm>
          <a:prstGeom prst="rect">
            <a:avLst/>
          </a:prstGeom>
          <a:noFill/>
          <a:ln w="9525">
            <a:noFill/>
            <a:miter lim="800000"/>
            <a:headEnd/>
            <a:tailEnd/>
          </a:ln>
        </p:spPr>
        <p:txBody>
          <a:bodyPr>
            <a:spAutoFit/>
          </a:bodyPr>
          <a:lstStyle/>
          <a:p>
            <a:pPr rtl="1"/>
            <a:r>
              <a:rPr lang="fa-IR" sz="3200" dirty="0" smtClean="0">
                <a:solidFill>
                  <a:schemeClr val="tx1"/>
                </a:solidFill>
                <a:cs typeface="B Titr" panose="00000700000000000000" pitchFamily="2" charset="-78"/>
              </a:rPr>
              <a:t>اجزاء </a:t>
            </a:r>
            <a:r>
              <a:rPr lang="fa-IR" sz="3200" dirty="0">
                <a:solidFill>
                  <a:schemeClr val="tx1"/>
                </a:solidFill>
                <a:cs typeface="B Titr" panose="00000700000000000000" pitchFamily="2" charset="-78"/>
              </a:rPr>
              <a:t>بخش </a:t>
            </a:r>
            <a:r>
              <a:rPr lang="fa-IR" sz="3200" dirty="0" err="1">
                <a:solidFill>
                  <a:schemeClr val="tx1"/>
                </a:solidFill>
                <a:cs typeface="B Titr" panose="00000700000000000000" pitchFamily="2" charset="-78"/>
              </a:rPr>
              <a:t>آغازين</a:t>
            </a:r>
            <a:r>
              <a:rPr lang="fa-IR" sz="3200" dirty="0">
                <a:solidFill>
                  <a:schemeClr val="tx1"/>
                </a:solidFill>
                <a:cs typeface="B Titr" panose="00000700000000000000" pitchFamily="2" charset="-78"/>
              </a:rPr>
              <a:t> ارائه </a:t>
            </a:r>
            <a:r>
              <a:rPr lang="fa-IR" sz="3200" dirty="0" err="1">
                <a:solidFill>
                  <a:schemeClr val="tx1"/>
                </a:solidFill>
                <a:cs typeface="B Titr" panose="00000700000000000000" pitchFamily="2" charset="-78"/>
              </a:rPr>
              <a:t>كتبي</a:t>
            </a:r>
            <a:endParaRPr lang="en-US" sz="3200" dirty="0">
              <a:solidFill>
                <a:schemeClr val="tx1"/>
              </a:solidFill>
              <a:cs typeface="B Titr" panose="00000700000000000000" pitchFamily="2" charset="-78"/>
            </a:endParaRPr>
          </a:p>
        </p:txBody>
      </p:sp>
      <p:sp>
        <p:nvSpPr>
          <p:cNvPr id="10250" name="Text Box 21"/>
          <p:cNvSpPr txBox="1">
            <a:spLocks noChangeArrowheads="1"/>
          </p:cNvSpPr>
          <p:nvPr/>
        </p:nvSpPr>
        <p:spPr bwMode="auto">
          <a:xfrm>
            <a:off x="3203575" y="404813"/>
            <a:ext cx="2303463" cy="579437"/>
          </a:xfrm>
          <a:prstGeom prst="rect">
            <a:avLst/>
          </a:prstGeom>
          <a:noFill/>
          <a:ln w="9525">
            <a:noFill/>
            <a:miter lim="800000"/>
            <a:headEnd/>
            <a:tailEnd/>
          </a:ln>
        </p:spPr>
        <p:txBody>
          <a:bodyPr>
            <a:spAutoFit/>
          </a:bodyPr>
          <a:lstStyle/>
          <a:p>
            <a:pPr rtl="1"/>
            <a:r>
              <a:rPr lang="fa-IR" sz="3200" dirty="0" smtClean="0">
                <a:solidFill>
                  <a:schemeClr val="tx1"/>
                </a:solidFill>
                <a:cs typeface="B Titr" panose="00000700000000000000" pitchFamily="2" charset="-78"/>
              </a:rPr>
              <a:t>فهرست</a:t>
            </a:r>
            <a:endParaRPr lang="en-US" sz="3200" dirty="0">
              <a:solidFill>
                <a:schemeClr val="tx1"/>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4">
            <a:hlinkClick r:id="rId2" action="ppaction://hlinksldjump"/>
          </p:cNvPr>
          <p:cNvSpPr txBox="1">
            <a:spLocks noChangeArrowheads="1"/>
          </p:cNvSpPr>
          <p:nvPr/>
        </p:nvSpPr>
        <p:spPr bwMode="auto">
          <a:xfrm>
            <a:off x="2952750" y="1768475"/>
            <a:ext cx="5722938" cy="579438"/>
          </a:xfrm>
          <a:prstGeom prst="rect">
            <a:avLst/>
          </a:prstGeom>
          <a:noFill/>
          <a:ln w="9525">
            <a:noFill/>
            <a:miter lim="800000"/>
            <a:headEnd/>
            <a:tailEnd/>
          </a:ln>
        </p:spPr>
        <p:txBody>
          <a:bodyPr>
            <a:spAutoFit/>
          </a:bodyPr>
          <a:lstStyle/>
          <a:p>
            <a:pPr rtl="1"/>
            <a:r>
              <a:rPr lang="fa-IR" sz="3200" dirty="0" smtClean="0">
                <a:solidFill>
                  <a:schemeClr val="tx1"/>
                </a:solidFill>
                <a:cs typeface="B Titr" panose="00000700000000000000" pitchFamily="2" charset="-78"/>
              </a:rPr>
              <a:t>ساختار </a:t>
            </a:r>
            <a:r>
              <a:rPr lang="fa-IR" sz="3200" dirty="0">
                <a:solidFill>
                  <a:schemeClr val="tx1"/>
                </a:solidFill>
                <a:cs typeface="B Titr" panose="00000700000000000000" pitchFamily="2" charset="-78"/>
              </a:rPr>
              <a:t>چند ارائه </a:t>
            </a:r>
            <a:r>
              <a:rPr lang="fa-IR" sz="3200" dirty="0" err="1">
                <a:solidFill>
                  <a:schemeClr val="tx1"/>
                </a:solidFill>
                <a:cs typeface="B Titr" panose="00000700000000000000" pitchFamily="2" charset="-78"/>
              </a:rPr>
              <a:t>دانشگاهي</a:t>
            </a:r>
            <a:endParaRPr lang="en-US" sz="3200" dirty="0">
              <a:solidFill>
                <a:schemeClr val="tx1"/>
              </a:solidFill>
              <a:cs typeface="B Titr" panose="00000700000000000000" pitchFamily="2" charset="-78"/>
            </a:endParaRPr>
          </a:p>
        </p:txBody>
      </p:sp>
      <p:sp>
        <p:nvSpPr>
          <p:cNvPr id="11267" name="Text Box 5">
            <a:hlinkClick r:id="rId3" action="ppaction://hlinksldjump"/>
          </p:cNvPr>
          <p:cNvSpPr txBox="1">
            <a:spLocks noChangeArrowheads="1"/>
          </p:cNvSpPr>
          <p:nvPr/>
        </p:nvSpPr>
        <p:spPr bwMode="auto">
          <a:xfrm>
            <a:off x="1114425" y="2503488"/>
            <a:ext cx="7634288" cy="579437"/>
          </a:xfrm>
          <a:prstGeom prst="rect">
            <a:avLst/>
          </a:prstGeom>
          <a:noFill/>
          <a:ln w="9525">
            <a:noFill/>
            <a:miter lim="800000"/>
            <a:headEnd/>
            <a:tailEnd/>
          </a:ln>
        </p:spPr>
        <p:txBody>
          <a:bodyPr>
            <a:spAutoFit/>
          </a:bodyPr>
          <a:lstStyle/>
          <a:p>
            <a:pPr rtl="1"/>
            <a:r>
              <a:rPr lang="fa-IR" sz="3200" dirty="0" smtClean="0">
                <a:solidFill>
                  <a:schemeClr val="tx1"/>
                </a:solidFill>
                <a:cs typeface="B Titr" panose="00000700000000000000" pitchFamily="2" charset="-78"/>
              </a:rPr>
              <a:t>مقاله</a:t>
            </a:r>
            <a:r>
              <a:rPr lang="fa-IR" sz="3200" dirty="0">
                <a:solidFill>
                  <a:schemeClr val="tx1"/>
                </a:solidFill>
                <a:cs typeface="B Titr" panose="00000700000000000000" pitchFamily="2" charset="-78"/>
              </a:rPr>
              <a:t>، گزارش و ارائه‌هاي </a:t>
            </a:r>
            <a:r>
              <a:rPr lang="fa-IR" sz="3200" dirty="0" err="1">
                <a:solidFill>
                  <a:schemeClr val="tx1"/>
                </a:solidFill>
                <a:cs typeface="B Titr" panose="00000700000000000000" pitchFamily="2" charset="-78"/>
              </a:rPr>
              <a:t>غير</a:t>
            </a:r>
            <a:r>
              <a:rPr lang="fa-IR" sz="3200" dirty="0">
                <a:solidFill>
                  <a:schemeClr val="tx1"/>
                </a:solidFill>
                <a:cs typeface="B Titr" panose="00000700000000000000" pitchFamily="2" charset="-78"/>
              </a:rPr>
              <a:t> </a:t>
            </a:r>
            <a:r>
              <a:rPr lang="fa-IR" sz="3200" dirty="0" err="1">
                <a:solidFill>
                  <a:schemeClr val="tx1"/>
                </a:solidFill>
                <a:cs typeface="B Titr" panose="00000700000000000000" pitchFamily="2" charset="-78"/>
              </a:rPr>
              <a:t>دانشگاهي</a:t>
            </a:r>
            <a:endParaRPr lang="en-US" sz="3200" dirty="0">
              <a:solidFill>
                <a:schemeClr val="tx1"/>
              </a:solidFill>
              <a:cs typeface="B Titr" panose="00000700000000000000" pitchFamily="2" charset="-78"/>
            </a:endParaRPr>
          </a:p>
        </p:txBody>
      </p:sp>
      <p:sp>
        <p:nvSpPr>
          <p:cNvPr id="11268" name="Text Box 6">
            <a:hlinkClick r:id="rId4" action="ppaction://hlinksldjump"/>
          </p:cNvPr>
          <p:cNvSpPr txBox="1">
            <a:spLocks noChangeArrowheads="1"/>
          </p:cNvSpPr>
          <p:nvPr/>
        </p:nvSpPr>
        <p:spPr bwMode="auto">
          <a:xfrm>
            <a:off x="2843213" y="3224213"/>
            <a:ext cx="5688012" cy="579437"/>
          </a:xfrm>
          <a:prstGeom prst="rect">
            <a:avLst/>
          </a:prstGeom>
          <a:noFill/>
          <a:ln w="9525">
            <a:noFill/>
            <a:miter lim="800000"/>
            <a:headEnd/>
            <a:tailEnd/>
          </a:ln>
        </p:spPr>
        <p:txBody>
          <a:bodyPr>
            <a:spAutoFit/>
          </a:bodyPr>
          <a:lstStyle/>
          <a:p>
            <a:pPr rtl="1"/>
            <a:r>
              <a:rPr lang="fa-IR" sz="3200" dirty="0" err="1" smtClean="0">
                <a:solidFill>
                  <a:schemeClr val="tx1"/>
                </a:solidFill>
                <a:cs typeface="B Titr" panose="00000700000000000000" pitchFamily="2" charset="-78"/>
              </a:rPr>
              <a:t>آشنايي</a:t>
            </a:r>
            <a:r>
              <a:rPr lang="fa-IR" sz="3200" dirty="0" smtClean="0">
                <a:solidFill>
                  <a:schemeClr val="tx1"/>
                </a:solidFill>
                <a:cs typeface="B Titr" panose="00000700000000000000" pitchFamily="2" charset="-78"/>
              </a:rPr>
              <a:t> </a:t>
            </a:r>
            <a:r>
              <a:rPr lang="fa-IR" sz="3200" dirty="0">
                <a:solidFill>
                  <a:schemeClr val="tx1"/>
                </a:solidFill>
                <a:cs typeface="B Titr" panose="00000700000000000000" pitchFamily="2" charset="-78"/>
              </a:rPr>
              <a:t>با چند نوع گزارش</a:t>
            </a:r>
            <a:endParaRPr lang="en-US" sz="3200" dirty="0">
              <a:solidFill>
                <a:schemeClr val="tx1"/>
              </a:solidFill>
              <a:cs typeface="B Titr" panose="00000700000000000000" pitchFamily="2" charset="-78"/>
            </a:endParaRPr>
          </a:p>
        </p:txBody>
      </p:sp>
      <p:sp>
        <p:nvSpPr>
          <p:cNvPr id="11269" name="Text Box 7">
            <a:hlinkClick r:id="rId5" action="ppaction://hlinksldjump"/>
          </p:cNvPr>
          <p:cNvSpPr txBox="1">
            <a:spLocks noChangeArrowheads="1"/>
          </p:cNvSpPr>
          <p:nvPr/>
        </p:nvSpPr>
        <p:spPr bwMode="auto">
          <a:xfrm>
            <a:off x="1116013" y="3929063"/>
            <a:ext cx="7272337" cy="579437"/>
          </a:xfrm>
          <a:prstGeom prst="rect">
            <a:avLst/>
          </a:prstGeom>
          <a:noFill/>
          <a:ln w="9525">
            <a:noFill/>
            <a:miter lim="800000"/>
            <a:headEnd/>
            <a:tailEnd/>
          </a:ln>
        </p:spPr>
        <p:txBody>
          <a:bodyPr>
            <a:spAutoFit/>
          </a:bodyPr>
          <a:lstStyle/>
          <a:p>
            <a:pPr algn="r" rtl="1"/>
            <a:r>
              <a:rPr lang="fa-IR" sz="3200" dirty="0" smtClean="0">
                <a:solidFill>
                  <a:schemeClr val="tx1"/>
                </a:solidFill>
                <a:cs typeface="B Titr" panose="00000700000000000000" pitchFamily="2" charset="-78"/>
              </a:rPr>
              <a:t>ادامه </a:t>
            </a:r>
            <a:r>
              <a:rPr lang="fa-IR" sz="3200" dirty="0" err="1">
                <a:solidFill>
                  <a:schemeClr val="tx1"/>
                </a:solidFill>
                <a:cs typeface="B Titr" panose="00000700000000000000" pitchFamily="2" charset="-78"/>
              </a:rPr>
              <a:t>آشنايي</a:t>
            </a:r>
            <a:r>
              <a:rPr lang="fa-IR" sz="3200" dirty="0">
                <a:solidFill>
                  <a:schemeClr val="tx1"/>
                </a:solidFill>
                <a:cs typeface="B Titr" panose="00000700000000000000" pitchFamily="2" charset="-78"/>
              </a:rPr>
              <a:t> با چند نوع گزارش</a:t>
            </a:r>
            <a:endParaRPr lang="en-US" sz="3200" dirty="0">
              <a:solidFill>
                <a:schemeClr val="tx1"/>
              </a:solidFill>
              <a:cs typeface="B Titr" panose="00000700000000000000" pitchFamily="2" charset="-78"/>
            </a:endParaRPr>
          </a:p>
        </p:txBody>
      </p:sp>
      <p:sp>
        <p:nvSpPr>
          <p:cNvPr id="11270" name="Text Box 8">
            <a:hlinkClick r:id="rId6" action="ppaction://hlinksldjump"/>
          </p:cNvPr>
          <p:cNvSpPr txBox="1">
            <a:spLocks noChangeArrowheads="1"/>
          </p:cNvSpPr>
          <p:nvPr/>
        </p:nvSpPr>
        <p:spPr bwMode="auto">
          <a:xfrm>
            <a:off x="2554288" y="4649788"/>
            <a:ext cx="6121400" cy="579437"/>
          </a:xfrm>
          <a:prstGeom prst="rect">
            <a:avLst/>
          </a:prstGeom>
          <a:noFill/>
          <a:ln w="9525">
            <a:noFill/>
            <a:miter lim="800000"/>
            <a:headEnd/>
            <a:tailEnd/>
          </a:ln>
        </p:spPr>
        <p:txBody>
          <a:bodyPr>
            <a:spAutoFit/>
          </a:bodyPr>
          <a:lstStyle/>
          <a:p>
            <a:pPr rtl="1"/>
            <a:r>
              <a:rPr lang="fa-IR" sz="3200" dirty="0" smtClean="0">
                <a:solidFill>
                  <a:schemeClr val="tx1"/>
                </a:solidFill>
                <a:cs typeface="B Titr" panose="00000700000000000000" pitchFamily="2" charset="-78"/>
              </a:rPr>
              <a:t>انواع </a:t>
            </a:r>
            <a:r>
              <a:rPr lang="fa-IR" sz="3200" dirty="0">
                <a:solidFill>
                  <a:schemeClr val="tx1"/>
                </a:solidFill>
                <a:cs typeface="B Titr" panose="00000700000000000000" pitchFamily="2" charset="-78"/>
              </a:rPr>
              <a:t>ارائه‌هاي </a:t>
            </a:r>
            <a:r>
              <a:rPr lang="fa-IR" sz="3200" dirty="0" err="1">
                <a:solidFill>
                  <a:schemeClr val="tx1"/>
                </a:solidFill>
                <a:cs typeface="B Titr" panose="00000700000000000000" pitchFamily="2" charset="-78"/>
              </a:rPr>
              <a:t>غيردانشگاهي</a:t>
            </a:r>
            <a:endParaRPr lang="en-US" sz="3200" dirty="0">
              <a:solidFill>
                <a:schemeClr val="tx1"/>
              </a:solidFill>
              <a:cs typeface="B Titr" panose="00000700000000000000" pitchFamily="2" charset="-78"/>
            </a:endParaRPr>
          </a:p>
        </p:txBody>
      </p:sp>
      <p:sp>
        <p:nvSpPr>
          <p:cNvPr id="11271" name="Text Box 9">
            <a:hlinkClick r:id="rId7" action="ppaction://hlinksldjump"/>
          </p:cNvPr>
          <p:cNvSpPr txBox="1">
            <a:spLocks noChangeArrowheads="1"/>
          </p:cNvSpPr>
          <p:nvPr/>
        </p:nvSpPr>
        <p:spPr bwMode="auto">
          <a:xfrm>
            <a:off x="4356100" y="5311775"/>
            <a:ext cx="4464050" cy="579438"/>
          </a:xfrm>
          <a:prstGeom prst="rect">
            <a:avLst/>
          </a:prstGeom>
          <a:noFill/>
          <a:ln w="9525">
            <a:noFill/>
            <a:miter lim="800000"/>
            <a:headEnd/>
            <a:tailEnd/>
          </a:ln>
        </p:spPr>
        <p:txBody>
          <a:bodyPr>
            <a:spAutoFit/>
          </a:bodyPr>
          <a:lstStyle/>
          <a:p>
            <a:pPr rtl="1"/>
            <a:r>
              <a:rPr lang="fa-IR" sz="3200" dirty="0" smtClean="0">
                <a:solidFill>
                  <a:srgbClr val="FF0000"/>
                </a:solidFill>
                <a:cs typeface="B Titr" panose="00000700000000000000" pitchFamily="2" charset="-78"/>
              </a:rPr>
              <a:t>ارائه </a:t>
            </a:r>
            <a:r>
              <a:rPr lang="fa-IR" sz="3200" dirty="0" err="1">
                <a:solidFill>
                  <a:srgbClr val="FF0000"/>
                </a:solidFill>
                <a:cs typeface="B Titr" panose="00000700000000000000" pitchFamily="2" charset="-78"/>
              </a:rPr>
              <a:t>شفاهي</a:t>
            </a:r>
            <a:endParaRPr lang="en-US" sz="3200" dirty="0">
              <a:solidFill>
                <a:srgbClr val="FF0000"/>
              </a:solidFill>
              <a:cs typeface="B Titr" panose="00000700000000000000" pitchFamily="2" charset="-78"/>
            </a:endParaRPr>
          </a:p>
        </p:txBody>
      </p:sp>
      <p:sp>
        <p:nvSpPr>
          <p:cNvPr id="11272" name="Text Box 10">
            <a:hlinkClick r:id="rId8" action="ppaction://hlinksldjump"/>
          </p:cNvPr>
          <p:cNvSpPr txBox="1">
            <a:spLocks noChangeArrowheads="1"/>
          </p:cNvSpPr>
          <p:nvPr/>
        </p:nvSpPr>
        <p:spPr bwMode="auto">
          <a:xfrm>
            <a:off x="2555875" y="6018213"/>
            <a:ext cx="5832475" cy="579437"/>
          </a:xfrm>
          <a:prstGeom prst="rect">
            <a:avLst/>
          </a:prstGeom>
          <a:noFill/>
          <a:ln w="9525">
            <a:noFill/>
            <a:miter lim="800000"/>
            <a:headEnd/>
            <a:tailEnd/>
          </a:ln>
        </p:spPr>
        <p:txBody>
          <a:bodyPr>
            <a:spAutoFit/>
          </a:bodyPr>
          <a:lstStyle/>
          <a:p>
            <a:pPr algn="r" rtl="1"/>
            <a:r>
              <a:rPr lang="fa-IR" sz="3200" dirty="0" err="1" smtClean="0">
                <a:solidFill>
                  <a:srgbClr val="FF0000"/>
                </a:solidFill>
                <a:cs typeface="B Titr" panose="00000700000000000000" pitchFamily="2" charset="-78"/>
              </a:rPr>
              <a:t>سخنراني</a:t>
            </a:r>
            <a:r>
              <a:rPr lang="fa-IR" sz="3200" dirty="0" smtClean="0">
                <a:solidFill>
                  <a:srgbClr val="FF0000"/>
                </a:solidFill>
                <a:cs typeface="B Titr" panose="00000700000000000000" pitchFamily="2" charset="-78"/>
              </a:rPr>
              <a:t> </a:t>
            </a:r>
            <a:r>
              <a:rPr lang="fa-IR" sz="3200" dirty="0" err="1">
                <a:solidFill>
                  <a:srgbClr val="FF0000"/>
                </a:solidFill>
                <a:cs typeface="B Titr" panose="00000700000000000000" pitchFamily="2" charset="-78"/>
              </a:rPr>
              <a:t>علمي</a:t>
            </a:r>
            <a:r>
              <a:rPr lang="fa-IR" sz="3200" dirty="0">
                <a:solidFill>
                  <a:srgbClr val="FF0000"/>
                </a:solidFill>
                <a:cs typeface="B Titr" panose="00000700000000000000" pitchFamily="2" charset="-78"/>
              </a:rPr>
              <a:t>-</a:t>
            </a:r>
            <a:r>
              <a:rPr lang="fa-IR" sz="3200" dirty="0" err="1">
                <a:solidFill>
                  <a:srgbClr val="FF0000"/>
                </a:solidFill>
                <a:cs typeface="B Titr" panose="00000700000000000000" pitchFamily="2" charset="-78"/>
              </a:rPr>
              <a:t>فني</a:t>
            </a:r>
            <a:endParaRPr lang="en-US" sz="3200" dirty="0">
              <a:solidFill>
                <a:srgbClr val="FF0000"/>
              </a:solidFill>
              <a:cs typeface="B Titr" panose="00000700000000000000" pitchFamily="2" charset="-78"/>
            </a:endParaRPr>
          </a:p>
        </p:txBody>
      </p:sp>
      <p:sp>
        <p:nvSpPr>
          <p:cNvPr id="11273" name="Text Box 11"/>
          <p:cNvSpPr txBox="1">
            <a:spLocks noChangeArrowheads="1"/>
          </p:cNvSpPr>
          <p:nvPr/>
        </p:nvSpPr>
        <p:spPr bwMode="auto">
          <a:xfrm>
            <a:off x="3203575" y="404813"/>
            <a:ext cx="2303463" cy="579437"/>
          </a:xfrm>
          <a:prstGeom prst="rect">
            <a:avLst/>
          </a:prstGeom>
          <a:noFill/>
          <a:ln w="9525">
            <a:noFill/>
            <a:miter lim="800000"/>
            <a:headEnd/>
            <a:tailEnd/>
          </a:ln>
        </p:spPr>
        <p:txBody>
          <a:bodyPr>
            <a:spAutoFit/>
          </a:bodyPr>
          <a:lstStyle/>
          <a:p>
            <a:pPr rtl="1"/>
            <a:r>
              <a:rPr lang="fa-IR" sz="3200" dirty="0" smtClean="0">
                <a:solidFill>
                  <a:schemeClr val="tx1"/>
                </a:solidFill>
                <a:cs typeface="B Titr" panose="00000700000000000000" pitchFamily="2" charset="-78"/>
              </a:rPr>
              <a:t>فهرست</a:t>
            </a:r>
            <a:endParaRPr lang="en-US" sz="3200" dirty="0">
              <a:solidFill>
                <a:schemeClr val="tx1"/>
              </a:solidFill>
              <a:cs typeface="B Titr" panose="00000700000000000000" pitchFamily="2" charset="-78"/>
            </a:endParaRPr>
          </a:p>
        </p:txBody>
      </p:sp>
      <p:sp>
        <p:nvSpPr>
          <p:cNvPr id="375820" name="Rectangle 12">
            <a:hlinkClick r:id="rId9" action="ppaction://hlinksldjump"/>
          </p:cNvPr>
          <p:cNvSpPr>
            <a:spLocks noChangeArrowheads="1"/>
          </p:cNvSpPr>
          <p:nvPr/>
        </p:nvSpPr>
        <p:spPr bwMode="auto">
          <a:xfrm>
            <a:off x="2698750" y="836613"/>
            <a:ext cx="6049963" cy="1139825"/>
          </a:xfrm>
          <a:prstGeom prst="rect">
            <a:avLst/>
          </a:prstGeom>
          <a:noFill/>
          <a:ln w="9525">
            <a:noFill/>
            <a:miter lim="800000"/>
            <a:headEnd/>
            <a:tailEnd/>
          </a:ln>
          <a:effectLst/>
        </p:spPr>
        <p:txBody>
          <a:bodyPr anchor="ctr" anchorCtr="1"/>
          <a:lstStyle/>
          <a:p>
            <a:pPr rtl="1">
              <a:defRPr/>
            </a:pPr>
            <a:r>
              <a:rPr lang="fa-IR" sz="3200" dirty="0" err="1" smtClean="0">
                <a:solidFill>
                  <a:schemeClr val="tx1"/>
                </a:solidFill>
                <a:cs typeface="B Titr" panose="00000700000000000000" pitchFamily="2" charset="-78"/>
              </a:rPr>
              <a:t>ويژگيهاي</a:t>
            </a:r>
            <a:r>
              <a:rPr lang="fa-IR" sz="3200" dirty="0" smtClean="0">
                <a:solidFill>
                  <a:schemeClr val="tx1"/>
                </a:solidFill>
                <a:cs typeface="B Titr" panose="00000700000000000000" pitchFamily="2" charset="-78"/>
              </a:rPr>
              <a:t> </a:t>
            </a:r>
            <a:r>
              <a:rPr lang="fa-IR" sz="3200" dirty="0">
                <a:solidFill>
                  <a:schemeClr val="tx1"/>
                </a:solidFill>
                <a:cs typeface="B Titr" panose="00000700000000000000" pitchFamily="2" charset="-78"/>
              </a:rPr>
              <a:t>نوشتار </a:t>
            </a:r>
            <a:r>
              <a:rPr lang="fa-IR" sz="3200" dirty="0" err="1">
                <a:solidFill>
                  <a:schemeClr val="tx1"/>
                </a:solidFill>
                <a:cs typeface="B Titr" panose="00000700000000000000" pitchFamily="2" charset="-78"/>
              </a:rPr>
              <a:t>علمي</a:t>
            </a:r>
            <a:r>
              <a:rPr lang="fa-IR" sz="3200" dirty="0">
                <a:solidFill>
                  <a:schemeClr val="tx1"/>
                </a:solidFill>
                <a:cs typeface="B Titr" panose="00000700000000000000" pitchFamily="2" charset="-78"/>
              </a:rPr>
              <a:t> -</a:t>
            </a:r>
            <a:r>
              <a:rPr lang="fa-IR" sz="3200" dirty="0" err="1">
                <a:solidFill>
                  <a:schemeClr val="tx1"/>
                </a:solidFill>
                <a:cs typeface="B Titr" panose="00000700000000000000" pitchFamily="2" charset="-78"/>
              </a:rPr>
              <a:t>فني</a:t>
            </a:r>
            <a:r>
              <a:rPr lang="fa-IR" sz="3200" dirty="0">
                <a:solidFill>
                  <a:schemeClr val="tx1"/>
                </a:solidFill>
                <a:cs typeface="B Titr" panose="00000700000000000000" pitchFamily="2" charset="-78"/>
              </a:rPr>
              <a:t> </a:t>
            </a:r>
            <a:endParaRPr lang="en-US" sz="3200" dirty="0">
              <a:solidFill>
                <a:schemeClr val="tx1"/>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2" name="Rectangle 4"/>
          <p:cNvSpPr>
            <a:spLocks noChangeArrowheads="1"/>
          </p:cNvSpPr>
          <p:nvPr/>
        </p:nvSpPr>
        <p:spPr bwMode="auto">
          <a:xfrm>
            <a:off x="539750" y="260350"/>
            <a:ext cx="8229600" cy="1139825"/>
          </a:xfrm>
          <a:prstGeom prst="rect">
            <a:avLst/>
          </a:prstGeom>
          <a:noFill/>
          <a:ln w="9525">
            <a:noFill/>
            <a:miter lim="800000"/>
            <a:headEnd/>
            <a:tailEnd/>
          </a:ln>
          <a:effectLst/>
        </p:spPr>
        <p:txBody>
          <a:bodyPr anchor="ctr" anchorCtr="1"/>
          <a:lstStyle/>
          <a:p>
            <a:pPr>
              <a:defRPr/>
            </a:pPr>
            <a:r>
              <a:rPr lang="fa-IR" sz="4400" dirty="0">
                <a:solidFill>
                  <a:srgbClr val="FF0000"/>
                </a:solidFill>
              </a:rPr>
              <a:t>اهداف كلي درس</a:t>
            </a:r>
            <a:r>
              <a:rPr lang="fa-IR" sz="4400" b="0" dirty="0">
                <a:solidFill>
                  <a:srgbClr val="FF0000"/>
                </a:solidFill>
              </a:rPr>
              <a:t> </a:t>
            </a:r>
            <a:endParaRPr lang="en-US" sz="4400" b="0" dirty="0">
              <a:solidFill>
                <a:srgbClr val="FF0000"/>
              </a:solidFill>
            </a:endParaRPr>
          </a:p>
        </p:txBody>
      </p:sp>
      <p:sp>
        <p:nvSpPr>
          <p:cNvPr id="345093" name="Rectangle 5"/>
          <p:cNvSpPr>
            <a:spLocks noChangeArrowheads="1"/>
          </p:cNvSpPr>
          <p:nvPr/>
        </p:nvSpPr>
        <p:spPr bwMode="auto">
          <a:xfrm>
            <a:off x="323850" y="2720975"/>
            <a:ext cx="8229600" cy="1139825"/>
          </a:xfrm>
          <a:prstGeom prst="rect">
            <a:avLst/>
          </a:prstGeom>
          <a:noFill/>
          <a:ln w="9525">
            <a:noFill/>
            <a:miter lim="800000"/>
            <a:headEnd/>
            <a:tailEnd/>
          </a:ln>
          <a:effectLst/>
        </p:spPr>
        <p:txBody>
          <a:bodyPr anchor="ctr" anchorCtr="1"/>
          <a:lstStyle/>
          <a:p>
            <a:pPr algn="just" rtl="1">
              <a:defRPr/>
            </a:pPr>
            <a:r>
              <a:rPr lang="fa-IR" sz="3200" b="0" dirty="0">
                <a:solidFill>
                  <a:schemeClr val="tx1"/>
                </a:solidFill>
                <a:cs typeface="+mn-cs"/>
              </a:rPr>
              <a:t>در اين درس با مفهوم ارائه و عوامل موثر آن آشنا مي‌شويم. در بخش ارائه كتبي مراحل آماده‌سازي ارائه را خواهيم آموخت. ارائه‌هاي دانشگاهي و غيردانشگاهي و گونه‌هاي مختلف هريك، اجزاء آنها و موارد كاربردشان را مي‌آموزيم. در پايان در مورد ارائه شفاهي، خصوصيات و انواع آن مطالبي خواهيد آموخت.</a:t>
            </a:r>
            <a:endParaRPr lang="en-US" sz="3200" b="0" dirty="0">
              <a:solidFill>
                <a:schemeClr val="tx1"/>
              </a:solidFill>
              <a:cs typeface="+mn-cs"/>
            </a:endParaRPr>
          </a:p>
        </p:txBody>
      </p:sp>
    </p:spTree>
  </p:cSld>
  <p:clrMapOvr>
    <a:masterClrMapping/>
  </p:clrMapOvr>
  <p:transition spd="med">
    <p:wipe di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5">
            <a:hlinkClick r:id="rId2" action="ppaction://hlinksldjump"/>
          </p:cNvPr>
          <p:cNvSpPr txBox="1">
            <a:spLocks noChangeArrowheads="1"/>
          </p:cNvSpPr>
          <p:nvPr/>
        </p:nvSpPr>
        <p:spPr bwMode="auto">
          <a:xfrm>
            <a:off x="2643188" y="2428875"/>
            <a:ext cx="3887787" cy="762000"/>
          </a:xfrm>
          <a:prstGeom prst="rect">
            <a:avLst/>
          </a:prstGeom>
          <a:noFill/>
          <a:ln w="9525">
            <a:noFill/>
            <a:miter lim="800000"/>
            <a:headEnd/>
            <a:tailEnd/>
          </a:ln>
        </p:spPr>
        <p:txBody>
          <a:bodyPr>
            <a:spAutoFit/>
          </a:bodyPr>
          <a:lstStyle/>
          <a:p>
            <a:pPr rtl="1"/>
            <a:r>
              <a:rPr lang="fa-IR" sz="4400">
                <a:solidFill>
                  <a:schemeClr val="tx1"/>
                </a:solidFill>
                <a:cs typeface="B Titr" panose="00000700000000000000" pitchFamily="2" charset="-78"/>
              </a:rPr>
              <a:t>مفهوم ارائه</a:t>
            </a:r>
            <a:endParaRPr lang="en-US" sz="4400">
              <a:solidFill>
                <a:schemeClr val="tx1"/>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1052513"/>
            <a:ext cx="8291513" cy="4176712"/>
          </a:xfrm>
        </p:spPr>
        <p:txBody>
          <a:bodyPr/>
          <a:lstStyle/>
          <a:p>
            <a:pPr algn="r" rtl="1" eaLnBrk="1" fontAlgn="auto" hangingPunct="1">
              <a:spcAft>
                <a:spcPts val="0"/>
              </a:spcAft>
              <a:defRPr/>
            </a:pPr>
            <a:r>
              <a:rPr lang="fa-IR" dirty="0" smtClean="0">
                <a:solidFill>
                  <a:srgbClr val="FF0000"/>
                </a:solidFill>
                <a:cs typeface="B Titr" pitchFamily="2" charset="-78"/>
              </a:rPr>
              <a:t>تعریف لغوی ارائه :</a:t>
            </a:r>
            <a:r>
              <a:rPr lang="en-US" dirty="0" smtClean="0">
                <a:solidFill>
                  <a:schemeClr val="tx1"/>
                </a:solidFill>
              </a:rPr>
              <a:t/>
            </a:r>
            <a:br>
              <a:rPr lang="en-US" dirty="0" smtClean="0">
                <a:solidFill>
                  <a:schemeClr val="tx1"/>
                </a:solidFill>
              </a:rPr>
            </a:br>
            <a:r>
              <a:rPr lang="fa-IR" dirty="0" smtClean="0">
                <a:solidFill>
                  <a:schemeClr val="tx1"/>
                </a:solidFill>
              </a:rPr>
              <a:t/>
            </a:r>
            <a:br>
              <a:rPr lang="fa-IR" dirty="0" smtClean="0">
                <a:solidFill>
                  <a:schemeClr val="tx1"/>
                </a:solidFill>
              </a:rPr>
            </a:br>
            <a:r>
              <a:rPr lang="fa-IR" sz="3200" dirty="0" smtClean="0">
                <a:solidFill>
                  <a:schemeClr val="tx1"/>
                </a:solidFill>
              </a:rPr>
              <a:t>در لغت به معنای نمودن – نشان دادن و نمایش دادن است</a:t>
            </a:r>
            <a:r>
              <a:rPr lang="en-US" sz="3200" dirty="0" smtClean="0">
                <a:solidFill>
                  <a:schemeClr val="tx1"/>
                </a:solidFill>
              </a:rPr>
              <a:t/>
            </a:r>
            <a:br>
              <a:rPr lang="en-US" sz="3200" dirty="0" smtClean="0">
                <a:solidFill>
                  <a:schemeClr val="tx1"/>
                </a:solidFill>
              </a:rPr>
            </a:br>
            <a:r>
              <a:rPr lang="fa-IR" sz="3200" dirty="0" smtClean="0">
                <a:solidFill>
                  <a:schemeClr val="tx1"/>
                </a:solidFill>
              </a:rPr>
              <a:t> و در زبان فارسی بصورت ارائه کردن و ارائه دادن بکار</a:t>
            </a:r>
            <a:r>
              <a:rPr lang="en-US" sz="3200" dirty="0" smtClean="0">
                <a:solidFill>
                  <a:schemeClr val="tx1"/>
                </a:solidFill>
              </a:rPr>
              <a:t/>
            </a:r>
            <a:br>
              <a:rPr lang="en-US" sz="3200" dirty="0" smtClean="0">
                <a:solidFill>
                  <a:schemeClr val="tx1"/>
                </a:solidFill>
              </a:rPr>
            </a:br>
            <a:r>
              <a:rPr lang="fa-IR" sz="3200" dirty="0" smtClean="0">
                <a:solidFill>
                  <a:schemeClr val="tx1"/>
                </a:solidFill>
              </a:rPr>
              <a:t> می رود</a:t>
            </a:r>
            <a:r>
              <a:rPr lang="en-US" sz="3200" dirty="0" smtClean="0">
                <a:solidFill>
                  <a:schemeClr val="tx1"/>
                </a:solidFill>
              </a:rPr>
              <a:t>.</a:t>
            </a:r>
            <a:r>
              <a:rPr lang="fa-IR" dirty="0" smtClean="0">
                <a:solidFill>
                  <a:schemeClr val="tx1"/>
                </a:solidFill>
              </a:rPr>
              <a:t> </a:t>
            </a:r>
            <a:endParaRPr lang="en-US" dirty="0" smtClean="0">
              <a:solidFill>
                <a:schemeClr val="tx1"/>
              </a:solidFill>
            </a:endParaRPr>
          </a:p>
        </p:txBody>
      </p:sp>
    </p:spTree>
  </p:cSld>
  <p:clrMapOvr>
    <a:masterClrMapping/>
  </p:clrMapOvr>
  <p:transition spd="med">
    <p:wipe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idx="1"/>
          </p:nvPr>
        </p:nvSpPr>
        <p:spPr/>
        <p:txBody>
          <a:bodyPr/>
          <a:lstStyle/>
          <a:p>
            <a:pPr algn="r" rtl="1" eaLnBrk="1" hangingPunct="1">
              <a:buFont typeface="Wingdings" pitchFamily="2" charset="2"/>
              <a:buNone/>
            </a:pPr>
            <a:r>
              <a:rPr lang="fa-IR" b="1" smtClean="0"/>
              <a:t>ارائه موضوع یعنی انتقال اطلاعات درباره موضوع و از این دیدگاه همسایگی معنایی با مفهوم ارتباط دارد.</a:t>
            </a:r>
            <a:endParaRPr lang="en-US" b="1" smtClean="0"/>
          </a:p>
        </p:txBody>
      </p:sp>
      <p:sp>
        <p:nvSpPr>
          <p:cNvPr id="15362" name="Rectangle 2"/>
          <p:cNvSpPr>
            <a:spLocks noGrp="1" noChangeArrowheads="1"/>
          </p:cNvSpPr>
          <p:nvPr>
            <p:ph type="title"/>
          </p:nvPr>
        </p:nvSpPr>
        <p:spPr/>
        <p:txBody>
          <a:bodyPr>
            <a:normAutofit fontScale="90000"/>
          </a:bodyPr>
          <a:lstStyle/>
          <a:p>
            <a:pPr algn="r" rtl="1" eaLnBrk="1" fontAlgn="auto" hangingPunct="1">
              <a:spcAft>
                <a:spcPts val="0"/>
              </a:spcAft>
              <a:defRPr/>
            </a:pPr>
            <a:r>
              <a:rPr lang="fa-IR" sz="4000" dirty="0" smtClean="0">
                <a:solidFill>
                  <a:srgbClr val="FF0000"/>
                </a:solidFill>
                <a:cs typeface="B Titr" pitchFamily="2" charset="-78"/>
              </a:rPr>
              <a:t>تعریف ارائه در مورد  یک موضوع :</a:t>
            </a:r>
            <a:r>
              <a:rPr lang="fa-IR" sz="4000" dirty="0" smtClean="0"/>
              <a:t/>
            </a:r>
            <a:br>
              <a:rPr lang="fa-IR" sz="4000" dirty="0" smtClean="0"/>
            </a:br>
            <a:endParaRPr lang="en-US" sz="4000" dirty="0" smtClean="0"/>
          </a:p>
        </p:txBody>
      </p:sp>
    </p:spTree>
  </p:cSld>
  <p:clrMapOvr>
    <a:masterClrMapping/>
  </p:clrMapOvr>
  <p:transition spd="med">
    <p:wipe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idx="1"/>
          </p:nvPr>
        </p:nvSpPr>
        <p:spPr/>
        <p:txBody>
          <a:bodyPr/>
          <a:lstStyle/>
          <a:p>
            <a:pPr algn="just" rtl="1" eaLnBrk="1" hangingPunct="1"/>
            <a:r>
              <a:rPr lang="fa-IR" b="1" smtClean="0"/>
              <a:t/>
            </a:r>
            <a:br>
              <a:rPr lang="fa-IR" b="1" smtClean="0"/>
            </a:br>
            <a:r>
              <a:rPr lang="fa-IR" b="1" smtClean="0"/>
              <a:t>ارائه بعنوان انتقال اطلاعات،  سیستم خاص خود را دارد. این سیستم در طبیعت و در جامعه انسانی همیشه وجود داشته است و حتی در گونه ابتدایی اش پیش از آغاز مدنیت انسان نیز وجود داشته است .</a:t>
            </a:r>
            <a:endParaRPr lang="en-US" b="1" smtClean="0"/>
          </a:p>
        </p:txBody>
      </p:sp>
      <p:sp>
        <p:nvSpPr>
          <p:cNvPr id="16386" name="Rectangle 2"/>
          <p:cNvSpPr>
            <a:spLocks noGrp="1" noChangeArrowheads="1"/>
          </p:cNvSpPr>
          <p:nvPr>
            <p:ph type="title"/>
          </p:nvPr>
        </p:nvSpPr>
        <p:spPr/>
        <p:txBody>
          <a:bodyPr/>
          <a:lstStyle/>
          <a:p>
            <a:pPr algn="r" eaLnBrk="1" fontAlgn="auto" hangingPunct="1">
              <a:spcAft>
                <a:spcPts val="0"/>
              </a:spcAft>
              <a:defRPr/>
            </a:pPr>
            <a:r>
              <a:rPr lang="fa-IR" dirty="0" smtClean="0">
                <a:solidFill>
                  <a:srgbClr val="FF0000"/>
                </a:solidFill>
                <a:cs typeface="B Titr" pitchFamily="2" charset="-78"/>
              </a:rPr>
              <a:t>سیستم ارائه :</a:t>
            </a:r>
            <a:endParaRPr lang="en-US" dirty="0" smtClean="0">
              <a:solidFill>
                <a:srgbClr val="FF0000"/>
              </a:solidFill>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Oval 2"/>
          <p:cNvSpPr>
            <a:spLocks noChangeArrowheads="1"/>
          </p:cNvSpPr>
          <p:nvPr/>
        </p:nvSpPr>
        <p:spPr bwMode="auto">
          <a:xfrm>
            <a:off x="250825" y="908050"/>
            <a:ext cx="8642350" cy="5256213"/>
          </a:xfrm>
          <a:prstGeom prst="ellipse">
            <a:avLst/>
          </a:prstGeom>
          <a:solidFill>
            <a:srgbClr val="008000"/>
          </a:solidFill>
          <a:ln w="9525">
            <a:solidFill>
              <a:schemeClr val="tx1"/>
            </a:solidFill>
            <a:round/>
            <a:headEnd/>
            <a:tailEnd/>
          </a:ln>
        </p:spPr>
        <p:txBody>
          <a:bodyPr wrap="none" anchor="ctr"/>
          <a:lstStyle/>
          <a:p>
            <a:endParaRPr lang="en-US" b="0"/>
          </a:p>
        </p:txBody>
      </p:sp>
      <p:sp>
        <p:nvSpPr>
          <p:cNvPr id="18435" name="Rectangle 3"/>
          <p:cNvSpPr>
            <a:spLocks noChangeArrowheads="1"/>
          </p:cNvSpPr>
          <p:nvPr/>
        </p:nvSpPr>
        <p:spPr bwMode="auto">
          <a:xfrm>
            <a:off x="7235825" y="2781300"/>
            <a:ext cx="1368425" cy="1009650"/>
          </a:xfrm>
          <a:prstGeom prst="rect">
            <a:avLst/>
          </a:prstGeom>
          <a:solidFill>
            <a:srgbClr val="FFFF00"/>
          </a:solidFill>
          <a:ln w="9525">
            <a:solidFill>
              <a:schemeClr val="tx1"/>
            </a:solidFill>
            <a:miter lim="800000"/>
            <a:headEnd/>
            <a:tailEnd/>
          </a:ln>
        </p:spPr>
        <p:txBody>
          <a:bodyPr wrap="none" anchor="ctr"/>
          <a:lstStyle/>
          <a:p>
            <a:r>
              <a:rPr lang="fa-IR" sz="2000">
                <a:solidFill>
                  <a:schemeClr val="tx1"/>
                </a:solidFill>
              </a:rPr>
              <a:t>مقصد يا گيرنده </a:t>
            </a:r>
          </a:p>
          <a:p>
            <a:endParaRPr lang="en-US" sz="2000"/>
          </a:p>
        </p:txBody>
      </p:sp>
      <p:sp>
        <p:nvSpPr>
          <p:cNvPr id="18436" name="Rectangle 4"/>
          <p:cNvSpPr>
            <a:spLocks noChangeArrowheads="1"/>
          </p:cNvSpPr>
          <p:nvPr/>
        </p:nvSpPr>
        <p:spPr bwMode="auto">
          <a:xfrm>
            <a:off x="611188" y="2852738"/>
            <a:ext cx="1368425" cy="1009650"/>
          </a:xfrm>
          <a:prstGeom prst="rect">
            <a:avLst/>
          </a:prstGeom>
          <a:solidFill>
            <a:srgbClr val="FFFF00"/>
          </a:solidFill>
          <a:ln w="9525" algn="ctr">
            <a:solidFill>
              <a:schemeClr val="tx1"/>
            </a:solidFill>
            <a:miter lim="800000"/>
            <a:headEnd/>
            <a:tailEnd/>
          </a:ln>
        </p:spPr>
        <p:txBody>
          <a:bodyPr wrap="none" anchor="ctr"/>
          <a:lstStyle/>
          <a:p>
            <a:r>
              <a:rPr lang="fa-IR" sz="2000">
                <a:solidFill>
                  <a:schemeClr val="tx1"/>
                </a:solidFill>
              </a:rPr>
              <a:t>مبدا يا فرستنده</a:t>
            </a:r>
          </a:p>
          <a:p>
            <a:endParaRPr lang="en-US" sz="2000"/>
          </a:p>
        </p:txBody>
      </p:sp>
      <p:sp>
        <p:nvSpPr>
          <p:cNvPr id="18437" name="Rectangle 5"/>
          <p:cNvSpPr>
            <a:spLocks noChangeArrowheads="1"/>
          </p:cNvSpPr>
          <p:nvPr/>
        </p:nvSpPr>
        <p:spPr bwMode="auto">
          <a:xfrm>
            <a:off x="3708400" y="2997200"/>
            <a:ext cx="1800225" cy="647700"/>
          </a:xfrm>
          <a:prstGeom prst="rect">
            <a:avLst/>
          </a:prstGeom>
          <a:solidFill>
            <a:srgbClr val="FFFF99"/>
          </a:solidFill>
          <a:ln w="9525" algn="ctr">
            <a:solidFill>
              <a:schemeClr val="tx1"/>
            </a:solidFill>
            <a:miter lim="800000"/>
            <a:headEnd/>
            <a:tailEnd/>
          </a:ln>
        </p:spPr>
        <p:txBody>
          <a:bodyPr wrap="none" anchor="ctr"/>
          <a:lstStyle/>
          <a:p>
            <a:r>
              <a:rPr lang="fa-IR">
                <a:solidFill>
                  <a:schemeClr val="tx1"/>
                </a:solidFill>
              </a:rPr>
              <a:t>00000000000</a:t>
            </a:r>
          </a:p>
          <a:p>
            <a:r>
              <a:rPr lang="fa-IR">
                <a:solidFill>
                  <a:schemeClr val="tx1"/>
                </a:solidFill>
              </a:rPr>
              <a:t>00000000000</a:t>
            </a:r>
            <a:endParaRPr lang="en-US">
              <a:solidFill>
                <a:schemeClr val="tx1"/>
              </a:solidFill>
            </a:endParaRPr>
          </a:p>
        </p:txBody>
      </p:sp>
      <p:sp>
        <p:nvSpPr>
          <p:cNvPr id="18438" name="AutoShape 6"/>
          <p:cNvSpPr>
            <a:spLocks noChangeArrowheads="1"/>
          </p:cNvSpPr>
          <p:nvPr/>
        </p:nvSpPr>
        <p:spPr bwMode="auto">
          <a:xfrm>
            <a:off x="1979613" y="2852738"/>
            <a:ext cx="647700" cy="1008062"/>
          </a:xfrm>
          <a:prstGeom prst="flowChartDelay">
            <a:avLst/>
          </a:prstGeom>
          <a:solidFill>
            <a:srgbClr val="FFFF00"/>
          </a:solidFill>
          <a:ln w="9525" algn="ctr">
            <a:solidFill>
              <a:schemeClr val="tx1"/>
            </a:solidFill>
            <a:miter lim="800000"/>
            <a:headEnd/>
            <a:tailEnd/>
          </a:ln>
        </p:spPr>
        <p:txBody>
          <a:bodyPr wrap="none" anchor="ctr"/>
          <a:lstStyle/>
          <a:p>
            <a:r>
              <a:rPr lang="fa-IR" sz="2000">
                <a:solidFill>
                  <a:schemeClr val="tx1"/>
                </a:solidFill>
              </a:rPr>
              <a:t>كانال</a:t>
            </a:r>
            <a:endParaRPr lang="en-US" sz="2000">
              <a:solidFill>
                <a:schemeClr val="tx1"/>
              </a:solidFill>
            </a:endParaRPr>
          </a:p>
        </p:txBody>
      </p:sp>
      <p:sp>
        <p:nvSpPr>
          <p:cNvPr id="18439" name="AutoShape 7"/>
          <p:cNvSpPr>
            <a:spLocks noChangeArrowheads="1"/>
          </p:cNvSpPr>
          <p:nvPr/>
        </p:nvSpPr>
        <p:spPr bwMode="auto">
          <a:xfrm flipH="1">
            <a:off x="6588125" y="2781300"/>
            <a:ext cx="647700" cy="1008063"/>
          </a:xfrm>
          <a:prstGeom prst="flowChartDelay">
            <a:avLst/>
          </a:prstGeom>
          <a:solidFill>
            <a:srgbClr val="FFFF99"/>
          </a:solidFill>
          <a:ln w="9525">
            <a:solidFill>
              <a:schemeClr val="tx1"/>
            </a:solidFill>
            <a:miter lim="800000"/>
            <a:headEnd/>
            <a:tailEnd/>
          </a:ln>
        </p:spPr>
        <p:txBody>
          <a:bodyPr wrap="none" anchor="ctr"/>
          <a:lstStyle/>
          <a:p>
            <a:r>
              <a:rPr lang="fa-IR" dirty="0" err="1">
                <a:solidFill>
                  <a:schemeClr val="tx1"/>
                </a:solidFill>
              </a:rPr>
              <a:t>كانال</a:t>
            </a:r>
            <a:endParaRPr lang="en-US" dirty="0">
              <a:solidFill>
                <a:schemeClr val="tx1"/>
              </a:solidFill>
            </a:endParaRPr>
          </a:p>
        </p:txBody>
      </p:sp>
      <p:sp>
        <p:nvSpPr>
          <p:cNvPr id="18440" name="Rectangle 8"/>
          <p:cNvSpPr>
            <a:spLocks noChangeArrowheads="1"/>
          </p:cNvSpPr>
          <p:nvPr/>
        </p:nvSpPr>
        <p:spPr bwMode="auto">
          <a:xfrm>
            <a:off x="2484438" y="1484313"/>
            <a:ext cx="4032250" cy="720725"/>
          </a:xfrm>
          <a:prstGeom prst="rect">
            <a:avLst/>
          </a:prstGeom>
          <a:solidFill>
            <a:srgbClr val="FFFF99"/>
          </a:solidFill>
          <a:ln w="9525">
            <a:solidFill>
              <a:schemeClr val="tx1"/>
            </a:solidFill>
            <a:miter lim="800000"/>
            <a:headEnd/>
            <a:tailEnd/>
          </a:ln>
        </p:spPr>
        <p:txBody>
          <a:bodyPr wrap="none" anchor="ctr"/>
          <a:lstStyle/>
          <a:p>
            <a:r>
              <a:rPr lang="fa-IR" sz="2400">
                <a:solidFill>
                  <a:schemeClr val="tx1"/>
                </a:solidFill>
              </a:rPr>
              <a:t>پارازيتها</a:t>
            </a:r>
            <a:endParaRPr lang="en-US" sz="2400">
              <a:solidFill>
                <a:schemeClr val="tx1"/>
              </a:solidFill>
            </a:endParaRPr>
          </a:p>
        </p:txBody>
      </p:sp>
      <p:sp>
        <p:nvSpPr>
          <p:cNvPr id="18441" name="Rectangle 9"/>
          <p:cNvSpPr>
            <a:spLocks noChangeArrowheads="1"/>
          </p:cNvSpPr>
          <p:nvPr/>
        </p:nvSpPr>
        <p:spPr bwMode="auto">
          <a:xfrm>
            <a:off x="3132138" y="4941888"/>
            <a:ext cx="2808287" cy="792162"/>
          </a:xfrm>
          <a:prstGeom prst="rect">
            <a:avLst/>
          </a:prstGeom>
          <a:solidFill>
            <a:srgbClr val="FFCC99"/>
          </a:solidFill>
          <a:ln w="9525">
            <a:solidFill>
              <a:schemeClr val="tx1"/>
            </a:solidFill>
            <a:miter lim="800000"/>
            <a:headEnd/>
            <a:tailEnd/>
          </a:ln>
        </p:spPr>
        <p:txBody>
          <a:bodyPr wrap="none" anchor="ctr"/>
          <a:lstStyle/>
          <a:p>
            <a:r>
              <a:rPr lang="fa-IR" sz="2000">
                <a:solidFill>
                  <a:schemeClr val="tx1"/>
                </a:solidFill>
              </a:rPr>
              <a:t>محيط انتقال اطلاعات : طبيعت</a:t>
            </a:r>
            <a:endParaRPr lang="en-US" sz="2000" b="0">
              <a:solidFill>
                <a:schemeClr val="tx1"/>
              </a:solidFill>
            </a:endParaRPr>
          </a:p>
        </p:txBody>
      </p:sp>
      <p:sp>
        <p:nvSpPr>
          <p:cNvPr id="18442" name="Rectangle 10"/>
          <p:cNvSpPr>
            <a:spLocks noChangeArrowheads="1"/>
          </p:cNvSpPr>
          <p:nvPr/>
        </p:nvSpPr>
        <p:spPr bwMode="auto">
          <a:xfrm>
            <a:off x="2411413" y="4365625"/>
            <a:ext cx="1008062" cy="358775"/>
          </a:xfrm>
          <a:prstGeom prst="rect">
            <a:avLst/>
          </a:prstGeom>
          <a:solidFill>
            <a:srgbClr val="FFCC00"/>
          </a:solidFill>
          <a:ln w="9525">
            <a:solidFill>
              <a:schemeClr val="tx1"/>
            </a:solidFill>
            <a:miter lim="800000"/>
            <a:headEnd/>
            <a:tailEnd/>
          </a:ln>
        </p:spPr>
        <p:txBody>
          <a:bodyPr wrap="none" anchor="ctr"/>
          <a:lstStyle/>
          <a:p>
            <a:r>
              <a:rPr lang="fa-IR">
                <a:solidFill>
                  <a:schemeClr val="tx1"/>
                </a:solidFill>
              </a:rPr>
              <a:t>رسانه انتقال</a:t>
            </a:r>
            <a:r>
              <a:rPr lang="fa-IR" b="0">
                <a:solidFill>
                  <a:schemeClr val="tx1"/>
                </a:solidFill>
              </a:rPr>
              <a:t> </a:t>
            </a:r>
            <a:endParaRPr lang="en-US" b="0">
              <a:solidFill>
                <a:schemeClr val="tx1"/>
              </a:solidFill>
            </a:endParaRPr>
          </a:p>
        </p:txBody>
      </p:sp>
      <p:sp>
        <p:nvSpPr>
          <p:cNvPr id="18443" name="Rectangle 11"/>
          <p:cNvSpPr>
            <a:spLocks noChangeArrowheads="1"/>
          </p:cNvSpPr>
          <p:nvPr/>
        </p:nvSpPr>
        <p:spPr bwMode="auto">
          <a:xfrm>
            <a:off x="900113" y="4221163"/>
            <a:ext cx="647700" cy="287337"/>
          </a:xfrm>
          <a:prstGeom prst="rect">
            <a:avLst/>
          </a:prstGeom>
          <a:solidFill>
            <a:srgbClr val="FFCC99"/>
          </a:solidFill>
          <a:ln w="9525">
            <a:solidFill>
              <a:schemeClr val="tx1"/>
            </a:solidFill>
            <a:miter lim="800000"/>
            <a:headEnd/>
            <a:tailEnd/>
          </a:ln>
        </p:spPr>
        <p:txBody>
          <a:bodyPr wrap="none" anchor="ctr"/>
          <a:lstStyle/>
          <a:p>
            <a:r>
              <a:rPr lang="fa-IR">
                <a:solidFill>
                  <a:schemeClr val="tx1"/>
                </a:solidFill>
              </a:rPr>
              <a:t>ماشين 1</a:t>
            </a:r>
            <a:endParaRPr lang="en-US">
              <a:solidFill>
                <a:schemeClr val="tx1"/>
              </a:solidFill>
            </a:endParaRPr>
          </a:p>
        </p:txBody>
      </p:sp>
      <p:sp>
        <p:nvSpPr>
          <p:cNvPr id="18444" name="Rectangle 12"/>
          <p:cNvSpPr>
            <a:spLocks noChangeArrowheads="1"/>
          </p:cNvSpPr>
          <p:nvPr/>
        </p:nvSpPr>
        <p:spPr bwMode="auto">
          <a:xfrm>
            <a:off x="7524750" y="4076700"/>
            <a:ext cx="647700" cy="287338"/>
          </a:xfrm>
          <a:prstGeom prst="rect">
            <a:avLst/>
          </a:prstGeom>
          <a:solidFill>
            <a:srgbClr val="FFCC99"/>
          </a:solidFill>
          <a:ln w="9525">
            <a:solidFill>
              <a:schemeClr val="tx1"/>
            </a:solidFill>
            <a:miter lim="800000"/>
            <a:headEnd/>
            <a:tailEnd/>
          </a:ln>
        </p:spPr>
        <p:txBody>
          <a:bodyPr wrap="none" anchor="ctr"/>
          <a:lstStyle/>
          <a:p>
            <a:r>
              <a:rPr lang="fa-IR" dirty="0" err="1">
                <a:solidFill>
                  <a:schemeClr val="tx1"/>
                </a:solidFill>
              </a:rPr>
              <a:t>ماشين</a:t>
            </a:r>
            <a:r>
              <a:rPr lang="fa-IR" dirty="0">
                <a:solidFill>
                  <a:schemeClr val="tx1"/>
                </a:solidFill>
              </a:rPr>
              <a:t> 2</a:t>
            </a:r>
            <a:endParaRPr lang="en-US" dirty="0">
              <a:solidFill>
                <a:schemeClr val="tx1"/>
              </a:solidFill>
            </a:endParaRPr>
          </a:p>
        </p:txBody>
      </p:sp>
      <p:sp>
        <p:nvSpPr>
          <p:cNvPr id="18445" name="Rectangle 13"/>
          <p:cNvSpPr>
            <a:spLocks noChangeArrowheads="1"/>
          </p:cNvSpPr>
          <p:nvPr/>
        </p:nvSpPr>
        <p:spPr bwMode="auto">
          <a:xfrm>
            <a:off x="3851275" y="3860800"/>
            <a:ext cx="1441450" cy="358775"/>
          </a:xfrm>
          <a:prstGeom prst="rect">
            <a:avLst/>
          </a:prstGeom>
          <a:solidFill>
            <a:srgbClr val="FFCC00"/>
          </a:solidFill>
          <a:ln w="9525">
            <a:solidFill>
              <a:schemeClr val="tx1"/>
            </a:solidFill>
            <a:miter lim="800000"/>
            <a:headEnd/>
            <a:tailEnd/>
          </a:ln>
        </p:spPr>
        <p:txBody>
          <a:bodyPr wrap="none" anchor="ctr"/>
          <a:lstStyle/>
          <a:p>
            <a:r>
              <a:rPr lang="fa-IR">
                <a:solidFill>
                  <a:schemeClr val="tx1"/>
                </a:solidFill>
              </a:rPr>
              <a:t>پيام</a:t>
            </a:r>
            <a:endParaRPr lang="en-US" b="0">
              <a:solidFill>
                <a:schemeClr val="tx1"/>
              </a:solidFill>
            </a:endParaRPr>
          </a:p>
        </p:txBody>
      </p:sp>
      <p:sp>
        <p:nvSpPr>
          <p:cNvPr id="18446" name="Line 14"/>
          <p:cNvSpPr>
            <a:spLocks noChangeShapeType="1"/>
          </p:cNvSpPr>
          <p:nvPr/>
        </p:nvSpPr>
        <p:spPr bwMode="auto">
          <a:xfrm flipH="1">
            <a:off x="1042988" y="1916113"/>
            <a:ext cx="1441450" cy="936625"/>
          </a:xfrm>
          <a:prstGeom prst="line">
            <a:avLst/>
          </a:prstGeom>
          <a:noFill/>
          <a:ln w="9525">
            <a:solidFill>
              <a:schemeClr val="tx1"/>
            </a:solidFill>
            <a:round/>
            <a:headEnd/>
            <a:tailEnd type="triangle" w="med" len="med"/>
          </a:ln>
        </p:spPr>
        <p:txBody>
          <a:bodyPr wrap="none" anchor="ctr"/>
          <a:lstStyle/>
          <a:p>
            <a:endParaRPr lang="en-US"/>
          </a:p>
        </p:txBody>
      </p:sp>
      <p:sp>
        <p:nvSpPr>
          <p:cNvPr id="18447" name="Line 15"/>
          <p:cNvSpPr>
            <a:spLocks noChangeShapeType="1"/>
          </p:cNvSpPr>
          <p:nvPr/>
        </p:nvSpPr>
        <p:spPr bwMode="auto">
          <a:xfrm>
            <a:off x="6516688" y="1916113"/>
            <a:ext cx="1727200" cy="865187"/>
          </a:xfrm>
          <a:prstGeom prst="line">
            <a:avLst/>
          </a:prstGeom>
          <a:noFill/>
          <a:ln w="9525">
            <a:solidFill>
              <a:schemeClr val="tx1"/>
            </a:solidFill>
            <a:round/>
            <a:headEnd/>
            <a:tailEnd type="triangle" w="med" len="med"/>
          </a:ln>
        </p:spPr>
        <p:txBody>
          <a:bodyPr wrap="none" anchor="ctr"/>
          <a:lstStyle/>
          <a:p>
            <a:endParaRPr lang="en-US"/>
          </a:p>
        </p:txBody>
      </p:sp>
      <p:sp>
        <p:nvSpPr>
          <p:cNvPr id="18448" name="Line 16"/>
          <p:cNvSpPr>
            <a:spLocks noChangeShapeType="1"/>
          </p:cNvSpPr>
          <p:nvPr/>
        </p:nvSpPr>
        <p:spPr bwMode="auto">
          <a:xfrm>
            <a:off x="2627313" y="3357563"/>
            <a:ext cx="1081087" cy="0"/>
          </a:xfrm>
          <a:prstGeom prst="line">
            <a:avLst/>
          </a:prstGeom>
          <a:noFill/>
          <a:ln w="9525">
            <a:solidFill>
              <a:schemeClr val="tx1"/>
            </a:solidFill>
            <a:round/>
            <a:headEnd/>
            <a:tailEnd type="triangle" w="med" len="med"/>
          </a:ln>
        </p:spPr>
        <p:txBody>
          <a:bodyPr wrap="none" anchor="ctr"/>
          <a:lstStyle/>
          <a:p>
            <a:endParaRPr lang="en-US"/>
          </a:p>
        </p:txBody>
      </p:sp>
      <p:sp>
        <p:nvSpPr>
          <p:cNvPr id="18449" name="Line 17"/>
          <p:cNvSpPr>
            <a:spLocks noChangeShapeType="1"/>
          </p:cNvSpPr>
          <p:nvPr/>
        </p:nvSpPr>
        <p:spPr bwMode="auto">
          <a:xfrm>
            <a:off x="5508625" y="3357563"/>
            <a:ext cx="1079500" cy="0"/>
          </a:xfrm>
          <a:prstGeom prst="line">
            <a:avLst/>
          </a:prstGeom>
          <a:noFill/>
          <a:ln w="9525">
            <a:solidFill>
              <a:schemeClr val="tx1"/>
            </a:solidFill>
            <a:round/>
            <a:headEnd/>
            <a:tailEnd type="triangle" w="med" len="med"/>
          </a:ln>
        </p:spPr>
        <p:txBody>
          <a:bodyPr wrap="none" anchor="ctr"/>
          <a:lstStyle/>
          <a:p>
            <a:endParaRPr lang="en-US"/>
          </a:p>
        </p:txBody>
      </p:sp>
      <p:sp>
        <p:nvSpPr>
          <p:cNvPr id="18450" name="Line 18"/>
          <p:cNvSpPr>
            <a:spLocks noChangeShapeType="1"/>
          </p:cNvSpPr>
          <p:nvPr/>
        </p:nvSpPr>
        <p:spPr bwMode="auto">
          <a:xfrm>
            <a:off x="3851275" y="2205038"/>
            <a:ext cx="720725" cy="792162"/>
          </a:xfrm>
          <a:prstGeom prst="line">
            <a:avLst/>
          </a:prstGeom>
          <a:noFill/>
          <a:ln w="9525">
            <a:solidFill>
              <a:schemeClr val="tx1"/>
            </a:solidFill>
            <a:round/>
            <a:headEnd/>
            <a:tailEnd type="triangle" w="med" len="med"/>
          </a:ln>
        </p:spPr>
        <p:txBody>
          <a:bodyPr wrap="none" anchor="ctr"/>
          <a:lstStyle/>
          <a:p>
            <a:endParaRPr lang="en-US"/>
          </a:p>
        </p:txBody>
      </p:sp>
      <p:sp>
        <p:nvSpPr>
          <p:cNvPr id="18451" name="Line 19"/>
          <p:cNvSpPr>
            <a:spLocks noChangeShapeType="1"/>
          </p:cNvSpPr>
          <p:nvPr/>
        </p:nvSpPr>
        <p:spPr bwMode="auto">
          <a:xfrm flipV="1">
            <a:off x="2771775" y="3357563"/>
            <a:ext cx="71438" cy="1008062"/>
          </a:xfrm>
          <a:prstGeom prst="line">
            <a:avLst/>
          </a:prstGeom>
          <a:noFill/>
          <a:ln w="9525">
            <a:solidFill>
              <a:schemeClr val="tx1"/>
            </a:solidFill>
            <a:round/>
            <a:headEnd/>
            <a:tailEnd type="triangle" w="med" len="med"/>
          </a:ln>
        </p:spPr>
        <p:txBody>
          <a:bodyPr wrap="none" anchor="ctr"/>
          <a:lstStyle/>
          <a:p>
            <a:endParaRPr lang="en-US"/>
          </a:p>
        </p:txBody>
      </p:sp>
      <p:sp>
        <p:nvSpPr>
          <p:cNvPr id="18452" name="Line 20"/>
          <p:cNvSpPr>
            <a:spLocks noChangeShapeType="1"/>
          </p:cNvSpPr>
          <p:nvPr/>
        </p:nvSpPr>
        <p:spPr bwMode="auto">
          <a:xfrm flipH="1">
            <a:off x="2195513" y="2205038"/>
            <a:ext cx="647700" cy="647700"/>
          </a:xfrm>
          <a:prstGeom prst="line">
            <a:avLst/>
          </a:prstGeom>
          <a:noFill/>
          <a:ln w="9525">
            <a:solidFill>
              <a:schemeClr val="tx1"/>
            </a:solidFill>
            <a:round/>
            <a:headEnd/>
            <a:tailEnd type="triangle" w="med" len="med"/>
          </a:ln>
        </p:spPr>
        <p:txBody>
          <a:bodyPr wrap="none" anchor="ctr"/>
          <a:lstStyle/>
          <a:p>
            <a:endParaRPr lang="en-US"/>
          </a:p>
        </p:txBody>
      </p:sp>
      <p:sp>
        <p:nvSpPr>
          <p:cNvPr id="18453" name="Line 21"/>
          <p:cNvSpPr>
            <a:spLocks noChangeShapeType="1"/>
          </p:cNvSpPr>
          <p:nvPr/>
        </p:nvSpPr>
        <p:spPr bwMode="auto">
          <a:xfrm>
            <a:off x="6156325" y="2205038"/>
            <a:ext cx="792163" cy="576262"/>
          </a:xfrm>
          <a:prstGeom prst="line">
            <a:avLst/>
          </a:prstGeom>
          <a:noFill/>
          <a:ln w="9525">
            <a:solidFill>
              <a:schemeClr val="tx1"/>
            </a:solidFill>
            <a:round/>
            <a:headEnd/>
            <a:tailEnd type="triangle" w="med" len="med"/>
          </a:ln>
        </p:spPr>
        <p:txBody>
          <a:bodyPr wrap="none" anchor="ctr"/>
          <a:lstStyle/>
          <a:p>
            <a:endParaRPr lang="en-US"/>
          </a:p>
        </p:txBody>
      </p:sp>
      <p:sp>
        <p:nvSpPr>
          <p:cNvPr id="18454" name="Line 22"/>
          <p:cNvSpPr>
            <a:spLocks noChangeShapeType="1"/>
          </p:cNvSpPr>
          <p:nvPr/>
        </p:nvSpPr>
        <p:spPr bwMode="auto">
          <a:xfrm>
            <a:off x="5580063" y="2205038"/>
            <a:ext cx="287337" cy="1152525"/>
          </a:xfrm>
          <a:prstGeom prst="line">
            <a:avLst/>
          </a:prstGeom>
          <a:noFill/>
          <a:ln w="9525">
            <a:solidFill>
              <a:schemeClr val="tx1"/>
            </a:solidFill>
            <a:round/>
            <a:headEnd/>
            <a:tailEnd type="triangle" w="med" len="med"/>
          </a:ln>
        </p:spPr>
        <p:txBody>
          <a:bodyPr wrap="none" anchor="ctr"/>
          <a:lstStyle/>
          <a:p>
            <a:endParaRPr lang="en-US"/>
          </a:p>
        </p:txBody>
      </p:sp>
    </p:spTree>
  </p:cSld>
  <p:clrMapOvr>
    <a:masterClrMapping/>
  </p:clrMapOvr>
  <p:transition spd="med">
    <p:wipe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idx="1"/>
          </p:nvPr>
        </p:nvSpPr>
        <p:spPr/>
        <p:txBody>
          <a:bodyPr/>
          <a:lstStyle/>
          <a:p>
            <a:pPr algn="r" rtl="1" eaLnBrk="1" hangingPunct="1">
              <a:buFont typeface="Wingdings" pitchFamily="2" charset="2"/>
              <a:buNone/>
            </a:pPr>
            <a:r>
              <a:rPr lang="fa-IR" b="1" smtClean="0"/>
              <a:t/>
            </a:r>
            <a:br>
              <a:rPr lang="fa-IR" b="1" smtClean="0"/>
            </a:br>
            <a:r>
              <a:rPr lang="fa-IR" b="1" smtClean="0"/>
              <a:t>1- مبدا یا فرستنده مجهز به کانال </a:t>
            </a:r>
            <a:br>
              <a:rPr lang="fa-IR" b="1" smtClean="0"/>
            </a:br>
            <a:r>
              <a:rPr lang="fa-IR" b="1" smtClean="0"/>
              <a:t>2- مقصد یا گیرنده مجهز به کانال </a:t>
            </a:r>
            <a:br>
              <a:rPr lang="fa-IR" b="1" smtClean="0"/>
            </a:br>
            <a:r>
              <a:rPr lang="fa-IR" b="1" smtClean="0"/>
              <a:t>3- پیام </a:t>
            </a:r>
            <a:br>
              <a:rPr lang="fa-IR" b="1" smtClean="0"/>
            </a:br>
            <a:r>
              <a:rPr lang="fa-IR" b="1" smtClean="0"/>
              <a:t>4- رسانه انتقال </a:t>
            </a:r>
            <a:br>
              <a:rPr lang="fa-IR" b="1" smtClean="0"/>
            </a:br>
            <a:r>
              <a:rPr lang="fa-IR" b="1" smtClean="0"/>
              <a:t>5- محیط انتقال </a:t>
            </a:r>
            <a:br>
              <a:rPr lang="fa-IR" b="1" smtClean="0"/>
            </a:br>
            <a:r>
              <a:rPr lang="fa-IR" b="1" smtClean="0"/>
              <a:t>6- پارازیتها</a:t>
            </a:r>
            <a:endParaRPr lang="en-US" b="1" smtClean="0"/>
          </a:p>
        </p:txBody>
      </p:sp>
      <p:sp>
        <p:nvSpPr>
          <p:cNvPr id="17410" name="Rectangle 2"/>
          <p:cNvSpPr>
            <a:spLocks noGrp="1" noChangeArrowheads="1"/>
          </p:cNvSpPr>
          <p:nvPr>
            <p:ph type="title"/>
          </p:nvPr>
        </p:nvSpPr>
        <p:spPr>
          <a:xfrm>
            <a:off x="928662" y="428604"/>
            <a:ext cx="7394605" cy="1139825"/>
          </a:xfrm>
        </p:spPr>
        <p:txBody>
          <a:bodyPr/>
          <a:lstStyle/>
          <a:p>
            <a:pPr algn="r" rtl="1" eaLnBrk="1" fontAlgn="auto" hangingPunct="1">
              <a:spcAft>
                <a:spcPts val="0"/>
              </a:spcAft>
              <a:defRPr/>
            </a:pPr>
            <a:r>
              <a:rPr lang="fa-IR" sz="3200" dirty="0" smtClean="0">
                <a:solidFill>
                  <a:srgbClr val="FF0000"/>
                </a:solidFill>
                <a:effectLst/>
                <a:cs typeface="B Titr" pitchFamily="2" charset="-78"/>
              </a:rPr>
              <a:t>عناصر تشکیل دهنده سیستم انتقال اطلاعات ماشینی:</a:t>
            </a:r>
            <a:endParaRPr lang="en-US" sz="32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Oval 2"/>
          <p:cNvSpPr>
            <a:spLocks noChangeArrowheads="1"/>
          </p:cNvSpPr>
          <p:nvPr/>
        </p:nvSpPr>
        <p:spPr bwMode="auto">
          <a:xfrm>
            <a:off x="250825" y="908050"/>
            <a:ext cx="8642350" cy="5256213"/>
          </a:xfrm>
          <a:prstGeom prst="ellipse">
            <a:avLst/>
          </a:prstGeom>
          <a:solidFill>
            <a:srgbClr val="008000"/>
          </a:solidFill>
          <a:ln w="9525">
            <a:solidFill>
              <a:schemeClr val="tx1"/>
            </a:solidFill>
            <a:round/>
            <a:headEnd/>
            <a:tailEnd/>
          </a:ln>
        </p:spPr>
        <p:txBody>
          <a:bodyPr wrap="none" anchor="ctr"/>
          <a:lstStyle/>
          <a:p>
            <a:endParaRPr lang="en-US" b="0">
              <a:solidFill>
                <a:schemeClr val="tx1"/>
              </a:solidFill>
            </a:endParaRPr>
          </a:p>
        </p:txBody>
      </p:sp>
      <p:sp>
        <p:nvSpPr>
          <p:cNvPr id="20483" name="Rectangle 3"/>
          <p:cNvSpPr>
            <a:spLocks noChangeArrowheads="1"/>
          </p:cNvSpPr>
          <p:nvPr/>
        </p:nvSpPr>
        <p:spPr bwMode="auto">
          <a:xfrm>
            <a:off x="7235825" y="2781300"/>
            <a:ext cx="1368425" cy="1009650"/>
          </a:xfrm>
          <a:prstGeom prst="rect">
            <a:avLst/>
          </a:prstGeom>
          <a:solidFill>
            <a:srgbClr val="FFFF00"/>
          </a:solidFill>
          <a:ln w="9525">
            <a:solidFill>
              <a:schemeClr val="tx1"/>
            </a:solidFill>
            <a:miter lim="800000"/>
            <a:headEnd/>
            <a:tailEnd/>
          </a:ln>
        </p:spPr>
        <p:txBody>
          <a:bodyPr wrap="none" anchor="ctr"/>
          <a:lstStyle/>
          <a:p>
            <a:r>
              <a:rPr lang="fa-IR" sz="2000">
                <a:solidFill>
                  <a:schemeClr val="tx1"/>
                </a:solidFill>
              </a:rPr>
              <a:t>مخاطب</a:t>
            </a:r>
            <a:endParaRPr lang="en-US" sz="2000">
              <a:solidFill>
                <a:schemeClr val="tx1"/>
              </a:solidFill>
            </a:endParaRPr>
          </a:p>
        </p:txBody>
      </p:sp>
      <p:sp>
        <p:nvSpPr>
          <p:cNvPr id="20484" name="Rectangle 4"/>
          <p:cNvSpPr>
            <a:spLocks noChangeArrowheads="1"/>
          </p:cNvSpPr>
          <p:nvPr/>
        </p:nvSpPr>
        <p:spPr bwMode="auto">
          <a:xfrm>
            <a:off x="611188" y="2852738"/>
            <a:ext cx="1368425" cy="1009650"/>
          </a:xfrm>
          <a:prstGeom prst="rect">
            <a:avLst/>
          </a:prstGeom>
          <a:solidFill>
            <a:srgbClr val="FFFF00"/>
          </a:solidFill>
          <a:ln w="9525" algn="ctr">
            <a:solidFill>
              <a:schemeClr val="tx1"/>
            </a:solidFill>
            <a:miter lim="800000"/>
            <a:headEnd/>
            <a:tailEnd/>
          </a:ln>
        </p:spPr>
        <p:txBody>
          <a:bodyPr wrap="none" anchor="ctr"/>
          <a:lstStyle/>
          <a:p>
            <a:r>
              <a:rPr lang="fa-IR" sz="2000">
                <a:solidFill>
                  <a:schemeClr val="tx1"/>
                </a:solidFill>
              </a:rPr>
              <a:t>ارايه</a:t>
            </a:r>
            <a:r>
              <a:rPr lang="fa-IR" sz="2000"/>
              <a:t> </a:t>
            </a:r>
            <a:r>
              <a:rPr lang="fa-IR" sz="2000">
                <a:solidFill>
                  <a:schemeClr val="tx1"/>
                </a:solidFill>
              </a:rPr>
              <a:t>كننده</a:t>
            </a:r>
            <a:endParaRPr lang="en-US" sz="2000">
              <a:solidFill>
                <a:schemeClr val="tx1"/>
              </a:solidFill>
            </a:endParaRPr>
          </a:p>
        </p:txBody>
      </p:sp>
      <p:sp>
        <p:nvSpPr>
          <p:cNvPr id="20485" name="Rectangle 5"/>
          <p:cNvSpPr>
            <a:spLocks noChangeArrowheads="1"/>
          </p:cNvSpPr>
          <p:nvPr/>
        </p:nvSpPr>
        <p:spPr bwMode="auto">
          <a:xfrm>
            <a:off x="3708400" y="2997200"/>
            <a:ext cx="1800225" cy="647700"/>
          </a:xfrm>
          <a:prstGeom prst="rect">
            <a:avLst/>
          </a:prstGeom>
          <a:solidFill>
            <a:srgbClr val="FFFF99"/>
          </a:solidFill>
          <a:ln w="9525" algn="ctr">
            <a:solidFill>
              <a:schemeClr val="tx1"/>
            </a:solidFill>
            <a:miter lim="800000"/>
            <a:headEnd/>
            <a:tailEnd/>
          </a:ln>
        </p:spPr>
        <p:txBody>
          <a:bodyPr wrap="none" anchor="ctr"/>
          <a:lstStyle/>
          <a:p>
            <a:r>
              <a:rPr lang="fa-IR">
                <a:solidFill>
                  <a:schemeClr val="tx1"/>
                </a:solidFill>
              </a:rPr>
              <a:t>00000000000</a:t>
            </a:r>
          </a:p>
          <a:p>
            <a:r>
              <a:rPr lang="fa-IR">
                <a:solidFill>
                  <a:schemeClr val="tx1"/>
                </a:solidFill>
              </a:rPr>
              <a:t>00000000000</a:t>
            </a:r>
            <a:endParaRPr lang="en-US">
              <a:solidFill>
                <a:schemeClr val="tx1"/>
              </a:solidFill>
            </a:endParaRPr>
          </a:p>
        </p:txBody>
      </p:sp>
      <p:sp>
        <p:nvSpPr>
          <p:cNvPr id="20486" name="AutoShape 6"/>
          <p:cNvSpPr>
            <a:spLocks noChangeArrowheads="1"/>
          </p:cNvSpPr>
          <p:nvPr/>
        </p:nvSpPr>
        <p:spPr bwMode="auto">
          <a:xfrm>
            <a:off x="1979613" y="2852738"/>
            <a:ext cx="647700" cy="1008062"/>
          </a:xfrm>
          <a:prstGeom prst="flowChartDelay">
            <a:avLst/>
          </a:prstGeom>
          <a:solidFill>
            <a:srgbClr val="FFFF00"/>
          </a:solidFill>
          <a:ln w="9525" algn="ctr">
            <a:solidFill>
              <a:schemeClr val="tx1"/>
            </a:solidFill>
            <a:miter lim="800000"/>
            <a:headEnd/>
            <a:tailEnd/>
          </a:ln>
        </p:spPr>
        <p:txBody>
          <a:bodyPr wrap="none" anchor="ctr"/>
          <a:lstStyle/>
          <a:p>
            <a:r>
              <a:rPr lang="fa-IR" sz="2000">
                <a:solidFill>
                  <a:schemeClr val="tx1"/>
                </a:solidFill>
              </a:rPr>
              <a:t>كانال</a:t>
            </a:r>
            <a:endParaRPr lang="en-US" sz="2000">
              <a:solidFill>
                <a:schemeClr val="tx1"/>
              </a:solidFill>
            </a:endParaRPr>
          </a:p>
        </p:txBody>
      </p:sp>
      <p:sp>
        <p:nvSpPr>
          <p:cNvPr id="20487" name="AutoShape 7"/>
          <p:cNvSpPr>
            <a:spLocks noChangeArrowheads="1"/>
          </p:cNvSpPr>
          <p:nvPr/>
        </p:nvSpPr>
        <p:spPr bwMode="auto">
          <a:xfrm flipH="1">
            <a:off x="6588125" y="2781300"/>
            <a:ext cx="647700" cy="1008063"/>
          </a:xfrm>
          <a:prstGeom prst="flowChartDelay">
            <a:avLst/>
          </a:prstGeom>
          <a:solidFill>
            <a:srgbClr val="FFFF99"/>
          </a:solidFill>
          <a:ln w="9525">
            <a:solidFill>
              <a:schemeClr val="tx1"/>
            </a:solidFill>
            <a:miter lim="800000"/>
            <a:headEnd/>
            <a:tailEnd/>
          </a:ln>
        </p:spPr>
        <p:txBody>
          <a:bodyPr wrap="none" anchor="ctr"/>
          <a:lstStyle/>
          <a:p>
            <a:r>
              <a:rPr lang="fa-IR">
                <a:solidFill>
                  <a:schemeClr val="tx1"/>
                </a:solidFill>
              </a:rPr>
              <a:t>كانال</a:t>
            </a:r>
            <a:endParaRPr lang="en-US">
              <a:solidFill>
                <a:schemeClr val="tx1"/>
              </a:solidFill>
            </a:endParaRPr>
          </a:p>
        </p:txBody>
      </p:sp>
      <p:sp>
        <p:nvSpPr>
          <p:cNvPr id="20488" name="Line 8"/>
          <p:cNvSpPr>
            <a:spLocks noChangeShapeType="1"/>
          </p:cNvSpPr>
          <p:nvPr/>
        </p:nvSpPr>
        <p:spPr bwMode="auto">
          <a:xfrm>
            <a:off x="2627313" y="3213100"/>
            <a:ext cx="1081087" cy="0"/>
          </a:xfrm>
          <a:prstGeom prst="line">
            <a:avLst/>
          </a:prstGeom>
          <a:noFill/>
          <a:ln w="9525">
            <a:solidFill>
              <a:schemeClr val="tx1"/>
            </a:solidFill>
            <a:round/>
            <a:headEnd/>
            <a:tailEnd type="triangle" w="med" len="med"/>
          </a:ln>
        </p:spPr>
        <p:txBody>
          <a:bodyPr/>
          <a:lstStyle/>
          <a:p>
            <a:endParaRPr lang="en-US"/>
          </a:p>
        </p:txBody>
      </p:sp>
      <p:sp>
        <p:nvSpPr>
          <p:cNvPr id="20489" name="Rectangle 9"/>
          <p:cNvSpPr>
            <a:spLocks noChangeArrowheads="1"/>
          </p:cNvSpPr>
          <p:nvPr/>
        </p:nvSpPr>
        <p:spPr bwMode="auto">
          <a:xfrm>
            <a:off x="2484438" y="1484313"/>
            <a:ext cx="4032250" cy="720725"/>
          </a:xfrm>
          <a:prstGeom prst="rect">
            <a:avLst/>
          </a:prstGeom>
          <a:solidFill>
            <a:srgbClr val="FFFF99"/>
          </a:solidFill>
          <a:ln w="9525">
            <a:solidFill>
              <a:schemeClr val="tx1"/>
            </a:solidFill>
            <a:miter lim="800000"/>
            <a:headEnd/>
            <a:tailEnd/>
          </a:ln>
        </p:spPr>
        <p:txBody>
          <a:bodyPr wrap="none" anchor="ctr"/>
          <a:lstStyle/>
          <a:p>
            <a:r>
              <a:rPr lang="fa-IR" sz="2000">
                <a:solidFill>
                  <a:schemeClr val="tx1"/>
                </a:solidFill>
              </a:rPr>
              <a:t>عوامل با تاثير منفي روي عناصر سيستم</a:t>
            </a:r>
            <a:r>
              <a:rPr lang="fa-IR" b="0">
                <a:solidFill>
                  <a:schemeClr val="tx1"/>
                </a:solidFill>
              </a:rPr>
              <a:t> </a:t>
            </a:r>
            <a:endParaRPr lang="en-US" b="0">
              <a:solidFill>
                <a:schemeClr val="tx1"/>
              </a:solidFill>
            </a:endParaRPr>
          </a:p>
        </p:txBody>
      </p:sp>
      <p:sp>
        <p:nvSpPr>
          <p:cNvPr id="20490" name="Rectangle 10"/>
          <p:cNvSpPr>
            <a:spLocks noChangeArrowheads="1"/>
          </p:cNvSpPr>
          <p:nvPr/>
        </p:nvSpPr>
        <p:spPr bwMode="auto">
          <a:xfrm>
            <a:off x="3132138" y="4941888"/>
            <a:ext cx="2808287" cy="431800"/>
          </a:xfrm>
          <a:prstGeom prst="rect">
            <a:avLst/>
          </a:prstGeom>
          <a:solidFill>
            <a:srgbClr val="FFCC99"/>
          </a:solidFill>
          <a:ln w="9525">
            <a:solidFill>
              <a:schemeClr val="tx1"/>
            </a:solidFill>
            <a:miter lim="800000"/>
            <a:headEnd/>
            <a:tailEnd/>
          </a:ln>
        </p:spPr>
        <p:txBody>
          <a:bodyPr wrap="none" anchor="ctr"/>
          <a:lstStyle/>
          <a:p>
            <a:r>
              <a:rPr lang="fa-IR">
                <a:solidFill>
                  <a:schemeClr val="tx1"/>
                </a:solidFill>
              </a:rPr>
              <a:t>محيط ارايه : طبيعت و جامعه انساني</a:t>
            </a:r>
            <a:r>
              <a:rPr lang="fa-IR" b="0">
                <a:solidFill>
                  <a:schemeClr val="tx1"/>
                </a:solidFill>
              </a:rPr>
              <a:t> </a:t>
            </a:r>
            <a:endParaRPr lang="en-US" b="0">
              <a:solidFill>
                <a:schemeClr val="tx1"/>
              </a:solidFill>
            </a:endParaRPr>
          </a:p>
        </p:txBody>
      </p:sp>
      <p:sp>
        <p:nvSpPr>
          <p:cNvPr id="20491" name="Line 11"/>
          <p:cNvSpPr>
            <a:spLocks noChangeShapeType="1"/>
          </p:cNvSpPr>
          <p:nvPr/>
        </p:nvSpPr>
        <p:spPr bwMode="auto">
          <a:xfrm>
            <a:off x="5508625" y="3213100"/>
            <a:ext cx="1079500" cy="0"/>
          </a:xfrm>
          <a:prstGeom prst="line">
            <a:avLst/>
          </a:prstGeom>
          <a:noFill/>
          <a:ln w="9525">
            <a:solidFill>
              <a:schemeClr val="tx1"/>
            </a:solidFill>
            <a:round/>
            <a:headEnd/>
            <a:tailEnd type="triangle" w="med" len="med"/>
          </a:ln>
        </p:spPr>
        <p:txBody>
          <a:bodyPr/>
          <a:lstStyle/>
          <a:p>
            <a:endParaRPr lang="en-US"/>
          </a:p>
        </p:txBody>
      </p:sp>
      <p:sp>
        <p:nvSpPr>
          <p:cNvPr id="20492" name="Line 12"/>
          <p:cNvSpPr>
            <a:spLocks noChangeShapeType="1"/>
          </p:cNvSpPr>
          <p:nvPr/>
        </p:nvSpPr>
        <p:spPr bwMode="auto">
          <a:xfrm flipH="1">
            <a:off x="1331913" y="1773238"/>
            <a:ext cx="1152525" cy="1079500"/>
          </a:xfrm>
          <a:prstGeom prst="line">
            <a:avLst/>
          </a:prstGeom>
          <a:noFill/>
          <a:ln w="9525">
            <a:solidFill>
              <a:schemeClr val="tx1"/>
            </a:solidFill>
            <a:round/>
            <a:headEnd/>
            <a:tailEnd type="triangle" w="med" len="med"/>
          </a:ln>
        </p:spPr>
        <p:txBody>
          <a:bodyPr/>
          <a:lstStyle/>
          <a:p>
            <a:endParaRPr lang="en-US"/>
          </a:p>
        </p:txBody>
      </p:sp>
      <p:sp>
        <p:nvSpPr>
          <p:cNvPr id="20493" name="Line 13"/>
          <p:cNvSpPr>
            <a:spLocks noChangeShapeType="1"/>
          </p:cNvSpPr>
          <p:nvPr/>
        </p:nvSpPr>
        <p:spPr bwMode="auto">
          <a:xfrm>
            <a:off x="6516688" y="1773238"/>
            <a:ext cx="1223962" cy="1008062"/>
          </a:xfrm>
          <a:prstGeom prst="line">
            <a:avLst/>
          </a:prstGeom>
          <a:noFill/>
          <a:ln w="9525">
            <a:solidFill>
              <a:schemeClr val="tx1"/>
            </a:solidFill>
            <a:round/>
            <a:headEnd/>
            <a:tailEnd type="triangle" w="med" len="med"/>
          </a:ln>
        </p:spPr>
        <p:txBody>
          <a:bodyPr/>
          <a:lstStyle/>
          <a:p>
            <a:endParaRPr lang="en-US"/>
          </a:p>
        </p:txBody>
      </p:sp>
      <p:sp>
        <p:nvSpPr>
          <p:cNvPr id="20494" name="Line 14"/>
          <p:cNvSpPr>
            <a:spLocks noChangeShapeType="1"/>
          </p:cNvSpPr>
          <p:nvPr/>
        </p:nvSpPr>
        <p:spPr bwMode="auto">
          <a:xfrm flipH="1">
            <a:off x="2195513" y="2205038"/>
            <a:ext cx="576262" cy="647700"/>
          </a:xfrm>
          <a:prstGeom prst="line">
            <a:avLst/>
          </a:prstGeom>
          <a:noFill/>
          <a:ln w="9525">
            <a:solidFill>
              <a:schemeClr val="tx1"/>
            </a:solidFill>
            <a:round/>
            <a:headEnd/>
            <a:tailEnd type="triangle" w="med" len="med"/>
          </a:ln>
        </p:spPr>
        <p:txBody>
          <a:bodyPr/>
          <a:lstStyle/>
          <a:p>
            <a:endParaRPr lang="en-US"/>
          </a:p>
        </p:txBody>
      </p:sp>
      <p:sp>
        <p:nvSpPr>
          <p:cNvPr id="20495" name="Line 15"/>
          <p:cNvSpPr>
            <a:spLocks noChangeShapeType="1"/>
          </p:cNvSpPr>
          <p:nvPr/>
        </p:nvSpPr>
        <p:spPr bwMode="auto">
          <a:xfrm>
            <a:off x="6372225" y="2205038"/>
            <a:ext cx="720725" cy="576262"/>
          </a:xfrm>
          <a:prstGeom prst="line">
            <a:avLst/>
          </a:prstGeom>
          <a:noFill/>
          <a:ln w="9525">
            <a:solidFill>
              <a:schemeClr val="tx1"/>
            </a:solidFill>
            <a:round/>
            <a:headEnd/>
            <a:tailEnd type="triangle" w="med" len="med"/>
          </a:ln>
        </p:spPr>
        <p:txBody>
          <a:bodyPr/>
          <a:lstStyle/>
          <a:p>
            <a:endParaRPr lang="en-US"/>
          </a:p>
        </p:txBody>
      </p:sp>
      <p:sp>
        <p:nvSpPr>
          <p:cNvPr id="20496" name="Line 16"/>
          <p:cNvSpPr>
            <a:spLocks noChangeShapeType="1"/>
          </p:cNvSpPr>
          <p:nvPr/>
        </p:nvSpPr>
        <p:spPr bwMode="auto">
          <a:xfrm>
            <a:off x="4140200" y="2205038"/>
            <a:ext cx="360363" cy="792162"/>
          </a:xfrm>
          <a:prstGeom prst="line">
            <a:avLst/>
          </a:prstGeom>
          <a:noFill/>
          <a:ln w="9525">
            <a:solidFill>
              <a:schemeClr val="tx1"/>
            </a:solidFill>
            <a:round/>
            <a:headEnd/>
            <a:tailEnd type="triangle" w="med" len="med"/>
          </a:ln>
        </p:spPr>
        <p:txBody>
          <a:bodyPr/>
          <a:lstStyle/>
          <a:p>
            <a:endParaRPr lang="en-US"/>
          </a:p>
        </p:txBody>
      </p:sp>
      <p:sp>
        <p:nvSpPr>
          <p:cNvPr id="20497" name="Line 17"/>
          <p:cNvSpPr>
            <a:spLocks noChangeShapeType="1"/>
          </p:cNvSpPr>
          <p:nvPr/>
        </p:nvSpPr>
        <p:spPr bwMode="auto">
          <a:xfrm flipH="1">
            <a:off x="3132138" y="2205038"/>
            <a:ext cx="215900" cy="1008062"/>
          </a:xfrm>
          <a:prstGeom prst="line">
            <a:avLst/>
          </a:prstGeom>
          <a:noFill/>
          <a:ln w="9525">
            <a:solidFill>
              <a:schemeClr val="tx1"/>
            </a:solidFill>
            <a:round/>
            <a:headEnd/>
            <a:tailEnd type="triangle" w="med" len="med"/>
          </a:ln>
        </p:spPr>
        <p:txBody>
          <a:bodyPr/>
          <a:lstStyle/>
          <a:p>
            <a:endParaRPr lang="en-US"/>
          </a:p>
        </p:txBody>
      </p:sp>
      <p:sp>
        <p:nvSpPr>
          <p:cNvPr id="20498" name="Rectangle 18"/>
          <p:cNvSpPr>
            <a:spLocks noChangeArrowheads="1"/>
          </p:cNvSpPr>
          <p:nvPr/>
        </p:nvSpPr>
        <p:spPr bwMode="auto">
          <a:xfrm>
            <a:off x="2843213" y="4149725"/>
            <a:ext cx="792162" cy="358775"/>
          </a:xfrm>
          <a:prstGeom prst="rect">
            <a:avLst/>
          </a:prstGeom>
          <a:solidFill>
            <a:srgbClr val="FFCC00"/>
          </a:solidFill>
          <a:ln w="9525">
            <a:solidFill>
              <a:schemeClr val="tx1"/>
            </a:solidFill>
            <a:miter lim="800000"/>
            <a:headEnd/>
            <a:tailEnd/>
          </a:ln>
        </p:spPr>
        <p:txBody>
          <a:bodyPr wrap="none" anchor="ctr"/>
          <a:lstStyle/>
          <a:p>
            <a:r>
              <a:rPr lang="fa-IR" b="0">
                <a:solidFill>
                  <a:schemeClr val="tx1"/>
                </a:solidFill>
              </a:rPr>
              <a:t>رسانه</a:t>
            </a:r>
            <a:endParaRPr lang="en-US" b="0">
              <a:solidFill>
                <a:schemeClr val="tx1"/>
              </a:solidFill>
            </a:endParaRPr>
          </a:p>
        </p:txBody>
      </p:sp>
      <p:sp>
        <p:nvSpPr>
          <p:cNvPr id="20499" name="Line 19"/>
          <p:cNvSpPr>
            <a:spLocks noChangeShapeType="1"/>
          </p:cNvSpPr>
          <p:nvPr/>
        </p:nvSpPr>
        <p:spPr bwMode="auto">
          <a:xfrm flipH="1" flipV="1">
            <a:off x="2843213" y="3213100"/>
            <a:ext cx="360362" cy="936625"/>
          </a:xfrm>
          <a:prstGeom prst="line">
            <a:avLst/>
          </a:prstGeom>
          <a:noFill/>
          <a:ln w="9525">
            <a:solidFill>
              <a:schemeClr val="tx1"/>
            </a:solidFill>
            <a:round/>
            <a:headEnd/>
            <a:tailEnd type="triangle" w="med" len="med"/>
          </a:ln>
        </p:spPr>
        <p:txBody>
          <a:bodyPr/>
          <a:lstStyle/>
          <a:p>
            <a:endParaRPr lang="en-US"/>
          </a:p>
        </p:txBody>
      </p:sp>
      <p:sp>
        <p:nvSpPr>
          <p:cNvPr id="20500" name="Rectangle 20"/>
          <p:cNvSpPr>
            <a:spLocks noChangeArrowheads="1"/>
          </p:cNvSpPr>
          <p:nvPr/>
        </p:nvSpPr>
        <p:spPr bwMode="auto">
          <a:xfrm>
            <a:off x="900113" y="4221163"/>
            <a:ext cx="647700" cy="287337"/>
          </a:xfrm>
          <a:prstGeom prst="rect">
            <a:avLst/>
          </a:prstGeom>
          <a:solidFill>
            <a:srgbClr val="FFCC99"/>
          </a:solidFill>
          <a:ln w="9525">
            <a:solidFill>
              <a:schemeClr val="tx1"/>
            </a:solidFill>
            <a:miter lim="800000"/>
            <a:headEnd/>
            <a:tailEnd/>
          </a:ln>
        </p:spPr>
        <p:txBody>
          <a:bodyPr wrap="none" anchor="ctr"/>
          <a:lstStyle/>
          <a:p>
            <a:r>
              <a:rPr lang="fa-IR">
                <a:solidFill>
                  <a:schemeClr val="tx1"/>
                </a:solidFill>
              </a:rPr>
              <a:t>انسان1</a:t>
            </a:r>
            <a:endParaRPr lang="en-US">
              <a:solidFill>
                <a:schemeClr val="tx1"/>
              </a:solidFill>
            </a:endParaRPr>
          </a:p>
        </p:txBody>
      </p:sp>
      <p:sp>
        <p:nvSpPr>
          <p:cNvPr id="20501" name="Rectangle 21"/>
          <p:cNvSpPr>
            <a:spLocks noChangeArrowheads="1"/>
          </p:cNvSpPr>
          <p:nvPr/>
        </p:nvSpPr>
        <p:spPr bwMode="auto">
          <a:xfrm>
            <a:off x="7524750" y="4076700"/>
            <a:ext cx="647700" cy="287338"/>
          </a:xfrm>
          <a:prstGeom prst="rect">
            <a:avLst/>
          </a:prstGeom>
          <a:solidFill>
            <a:srgbClr val="FFCC99"/>
          </a:solidFill>
          <a:ln w="9525">
            <a:solidFill>
              <a:schemeClr val="tx1"/>
            </a:solidFill>
            <a:miter lim="800000"/>
            <a:headEnd/>
            <a:tailEnd/>
          </a:ln>
        </p:spPr>
        <p:txBody>
          <a:bodyPr wrap="none" anchor="ctr"/>
          <a:lstStyle/>
          <a:p>
            <a:r>
              <a:rPr lang="fa-IR">
                <a:solidFill>
                  <a:schemeClr val="tx1"/>
                </a:solidFill>
              </a:rPr>
              <a:t>انسان</a:t>
            </a:r>
            <a:r>
              <a:rPr lang="fa-IR"/>
              <a:t> </a:t>
            </a:r>
            <a:r>
              <a:rPr lang="fa-IR">
                <a:solidFill>
                  <a:schemeClr val="tx1"/>
                </a:solidFill>
              </a:rPr>
              <a:t>2</a:t>
            </a:r>
            <a:endParaRPr lang="en-US">
              <a:solidFill>
                <a:schemeClr val="tx1"/>
              </a:solidFill>
            </a:endParaRPr>
          </a:p>
        </p:txBody>
      </p:sp>
      <p:sp>
        <p:nvSpPr>
          <p:cNvPr id="20502" name="Rectangle 22"/>
          <p:cNvSpPr>
            <a:spLocks noChangeArrowheads="1"/>
          </p:cNvSpPr>
          <p:nvPr/>
        </p:nvSpPr>
        <p:spPr bwMode="auto">
          <a:xfrm>
            <a:off x="3851275" y="3860800"/>
            <a:ext cx="1441450" cy="358775"/>
          </a:xfrm>
          <a:prstGeom prst="rect">
            <a:avLst/>
          </a:prstGeom>
          <a:solidFill>
            <a:srgbClr val="FFCC00"/>
          </a:solidFill>
          <a:ln w="9525">
            <a:solidFill>
              <a:schemeClr val="tx1"/>
            </a:solidFill>
            <a:miter lim="800000"/>
            <a:headEnd/>
            <a:tailEnd/>
          </a:ln>
        </p:spPr>
        <p:txBody>
          <a:bodyPr wrap="none" anchor="ctr"/>
          <a:lstStyle/>
          <a:p>
            <a:r>
              <a:rPr lang="fa-IR" sz="1400">
                <a:solidFill>
                  <a:schemeClr val="tx1"/>
                </a:solidFill>
              </a:rPr>
              <a:t>پيام : موضوع كد شده</a:t>
            </a:r>
            <a:r>
              <a:rPr lang="fa-IR" b="0">
                <a:solidFill>
                  <a:schemeClr val="tx1"/>
                </a:solidFill>
              </a:rPr>
              <a:t> </a:t>
            </a:r>
            <a:endParaRPr lang="en-US" b="0">
              <a:solidFill>
                <a:schemeClr val="tx1"/>
              </a:solidFill>
            </a:endParaRPr>
          </a:p>
        </p:txBody>
      </p:sp>
    </p:spTree>
  </p:cSld>
  <p:clrMapOvr>
    <a:masterClrMapping/>
  </p:clrMapOvr>
  <p:transition spd="med">
    <p:wipe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ارائه کننده و کانال ارائه کننده </a:t>
            </a:r>
          </a:p>
          <a:p>
            <a:pPr marL="609600" indent="-609600" algn="r" rtl="1" eaLnBrk="1" hangingPunct="1">
              <a:buFont typeface="Wingdings" pitchFamily="2" charset="2"/>
              <a:buAutoNum type="arabicPeriod"/>
            </a:pPr>
            <a:r>
              <a:rPr lang="fa-IR" b="1" smtClean="0"/>
              <a:t>مخاطب و کانال مخاطب </a:t>
            </a:r>
          </a:p>
          <a:p>
            <a:pPr marL="609600" indent="-609600" algn="r" rtl="1" eaLnBrk="1" hangingPunct="1">
              <a:buFont typeface="Wingdings" pitchFamily="2" charset="2"/>
              <a:buAutoNum type="arabicPeriod"/>
            </a:pPr>
            <a:r>
              <a:rPr lang="fa-IR" b="1" smtClean="0"/>
              <a:t> پیام </a:t>
            </a:r>
          </a:p>
          <a:p>
            <a:pPr marL="609600" indent="-609600" algn="r" rtl="1" eaLnBrk="1" hangingPunct="1">
              <a:buFont typeface="Wingdings" pitchFamily="2" charset="2"/>
              <a:buAutoNum type="arabicPeriod"/>
            </a:pPr>
            <a:r>
              <a:rPr lang="fa-IR" b="1" smtClean="0"/>
              <a:t> رسانه </a:t>
            </a:r>
          </a:p>
          <a:p>
            <a:pPr marL="609600" indent="-609600" algn="r" rtl="1" eaLnBrk="1" hangingPunct="1">
              <a:buFont typeface="Wingdings" pitchFamily="2" charset="2"/>
              <a:buAutoNum type="arabicPeriod"/>
            </a:pPr>
            <a:r>
              <a:rPr lang="fa-IR" b="1" smtClean="0"/>
              <a:t> محیط ارائه </a:t>
            </a:r>
          </a:p>
          <a:p>
            <a:pPr marL="609600" indent="-609600" algn="r" rtl="1" eaLnBrk="1" hangingPunct="1">
              <a:buFont typeface="Wingdings" pitchFamily="2" charset="2"/>
              <a:buAutoNum type="arabicPeriod"/>
            </a:pPr>
            <a:r>
              <a:rPr lang="fa-IR" b="1" smtClean="0"/>
              <a:t>عوامل با تاثیرات منفی روی عناصر بالا</a:t>
            </a:r>
            <a:endParaRPr lang="en-US" b="1" smtClean="0"/>
          </a:p>
        </p:txBody>
      </p:sp>
      <p:sp>
        <p:nvSpPr>
          <p:cNvPr id="19458" name="Rectangle 2"/>
          <p:cNvSpPr>
            <a:spLocks noGrp="1" noChangeArrowheads="1"/>
          </p:cNvSpPr>
          <p:nvPr>
            <p:ph type="title"/>
          </p:nvPr>
        </p:nvSpPr>
        <p:spPr>
          <a:xfrm>
            <a:off x="1331913" y="277813"/>
            <a:ext cx="7354887" cy="1139825"/>
          </a:xfrm>
        </p:spPr>
        <p:txBody>
          <a:bodyPr>
            <a:normAutofit fontScale="90000"/>
          </a:bodyPr>
          <a:lstStyle/>
          <a:p>
            <a:pPr algn="ctr" rtl="1" eaLnBrk="1" fontAlgn="auto" hangingPunct="1">
              <a:spcAft>
                <a:spcPts val="0"/>
              </a:spcAft>
              <a:buFontTx/>
              <a:buChar char="•"/>
              <a:defRPr/>
            </a:pPr>
            <a:r>
              <a:rPr lang="fa-IR" sz="4000" dirty="0" smtClean="0">
                <a:solidFill>
                  <a:srgbClr val="FF0000"/>
                </a:solidFill>
                <a:cs typeface="B Titr" pitchFamily="2" charset="-78"/>
              </a:rPr>
              <a:t> عناصر تشکیل دهنده سیستم انتقال اطلاعات در انسان:</a:t>
            </a:r>
            <a:endParaRPr lang="en-US" sz="4000" dirty="0" smtClean="0">
              <a:solidFill>
                <a:srgbClr val="FF0000"/>
              </a:solidFill>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idx="1"/>
          </p:nvPr>
        </p:nvSpPr>
        <p:spPr>
          <a:xfrm>
            <a:off x="642938" y="1714500"/>
            <a:ext cx="8229600" cy="4530725"/>
          </a:xfrm>
        </p:spPr>
        <p:txBody>
          <a:bodyPr/>
          <a:lstStyle/>
          <a:p>
            <a:pPr algn="just" rtl="1" eaLnBrk="1" hangingPunct="1"/>
            <a:r>
              <a:rPr lang="fa-IR" smtClean="0"/>
              <a:t> </a:t>
            </a:r>
            <a:r>
              <a:rPr lang="fa-IR" b="1" smtClean="0"/>
              <a:t>عبارتست از تمام خصوصیات شخصی و شخصیتی انسان – یعنی مجموعه ای بسیار پیچیده از عناصر شخصی– شخصیتی انسان که در طیفی از اندیشه ای تا فیزیکی جای می گیرند .</a:t>
            </a:r>
            <a:endParaRPr lang="en-US" b="1" smtClean="0"/>
          </a:p>
        </p:txBody>
      </p:sp>
      <p:sp>
        <p:nvSpPr>
          <p:cNvPr id="21506" name="Rectangle 2"/>
          <p:cNvSpPr>
            <a:spLocks noGrp="1" noChangeArrowheads="1"/>
          </p:cNvSpPr>
          <p:nvPr>
            <p:ph type="title"/>
          </p:nvPr>
        </p:nvSpPr>
        <p:spPr>
          <a:xfrm>
            <a:off x="590550" y="277813"/>
            <a:ext cx="8229600" cy="1139825"/>
          </a:xfrm>
        </p:spPr>
        <p:txBody>
          <a:bodyPr/>
          <a:lstStyle/>
          <a:p>
            <a:pPr algn="r" eaLnBrk="1" fontAlgn="auto" hangingPunct="1">
              <a:spcAft>
                <a:spcPts val="0"/>
              </a:spcAft>
              <a:defRPr/>
            </a:pPr>
            <a:r>
              <a:rPr lang="fa-IR" dirty="0" smtClean="0">
                <a:solidFill>
                  <a:srgbClr val="FF0000"/>
                </a:solidFill>
                <a:cs typeface="B Titr" pitchFamily="2" charset="-78"/>
              </a:rPr>
              <a:t>تعريف کانال در سیستم ارائه انسانی:</a:t>
            </a:r>
            <a:endParaRPr lang="en-US" dirty="0" smtClean="0">
              <a:solidFill>
                <a:srgbClr val="FF0000"/>
              </a:solidFill>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0" y="277813"/>
            <a:ext cx="8229600" cy="1139825"/>
          </a:xfrm>
        </p:spPr>
        <p:txBody>
          <a:bodyPr/>
          <a:lstStyle/>
          <a:p>
            <a:pPr algn="r" rtl="1" eaLnBrk="1" fontAlgn="auto" hangingPunct="1">
              <a:spcAft>
                <a:spcPts val="0"/>
              </a:spcAft>
              <a:defRPr/>
            </a:pPr>
            <a:r>
              <a:rPr lang="fa-IR" dirty="0" smtClean="0">
                <a:solidFill>
                  <a:srgbClr val="FF0000"/>
                </a:solidFill>
                <a:cs typeface="B Titr" pitchFamily="2" charset="-78"/>
              </a:rPr>
              <a:t> تعریف دیگری از ارائه :</a:t>
            </a:r>
            <a:endParaRPr lang="en-US" dirty="0" smtClean="0">
              <a:solidFill>
                <a:srgbClr val="FF0000"/>
              </a:solidFill>
              <a:cs typeface="B Titr" pitchFamily="2" charset="-78"/>
            </a:endParaRPr>
          </a:p>
        </p:txBody>
      </p:sp>
      <p:sp>
        <p:nvSpPr>
          <p:cNvPr id="23555" name="Rectangle 3"/>
          <p:cNvSpPr>
            <a:spLocks noGrp="1" noChangeArrowheads="1"/>
          </p:cNvSpPr>
          <p:nvPr>
            <p:ph type="body" idx="4294967295"/>
          </p:nvPr>
        </p:nvSpPr>
        <p:spPr>
          <a:xfrm>
            <a:off x="0" y="1600200"/>
            <a:ext cx="8929688" cy="4530725"/>
          </a:xfrm>
        </p:spPr>
        <p:txBody>
          <a:bodyPr/>
          <a:lstStyle/>
          <a:p>
            <a:pPr marL="609600" indent="-609600" algn="r" rtl="1" eaLnBrk="1" hangingPunct="1">
              <a:buFont typeface="Wingdings" pitchFamily="2" charset="2"/>
              <a:buAutoNum type="arabicPeriod"/>
            </a:pPr>
            <a:r>
              <a:rPr lang="fa-IR" b="1" smtClean="0"/>
              <a:t>ارائه صرفا یک دانش یا یک فن نیست بلکه ارائه هم  &lt;&lt; </a:t>
            </a:r>
            <a:r>
              <a:rPr lang="fa-IR" b="1" u="sng" smtClean="0">
                <a:solidFill>
                  <a:srgbClr val="FF0000"/>
                </a:solidFill>
              </a:rPr>
              <a:t>دانش است </a:t>
            </a:r>
            <a:r>
              <a:rPr lang="fa-IR" b="1" smtClean="0"/>
              <a:t>&gt;&gt; هم &lt;&lt; </a:t>
            </a:r>
            <a:r>
              <a:rPr lang="fa-IR" b="1" smtClean="0">
                <a:solidFill>
                  <a:srgbClr val="FF0000"/>
                </a:solidFill>
              </a:rPr>
              <a:t>فن</a:t>
            </a:r>
            <a:r>
              <a:rPr lang="fa-IR" b="1" smtClean="0"/>
              <a:t> &gt;&gt; و هم </a:t>
            </a:r>
          </a:p>
          <a:p>
            <a:pPr marL="609600" indent="-609600" algn="r" rtl="1" eaLnBrk="1" hangingPunct="1">
              <a:buFont typeface="Wingdings" pitchFamily="2" charset="2"/>
              <a:buAutoNum type="arabicPeriod"/>
            </a:pPr>
            <a:r>
              <a:rPr lang="fa-IR" b="1" smtClean="0"/>
              <a:t>&lt;&lt; </a:t>
            </a:r>
            <a:r>
              <a:rPr lang="fa-IR" b="1" smtClean="0">
                <a:solidFill>
                  <a:srgbClr val="FF0000"/>
                </a:solidFill>
              </a:rPr>
              <a:t>هنر</a:t>
            </a:r>
            <a:r>
              <a:rPr lang="fa-IR" b="1" smtClean="0"/>
              <a:t> &gt;&gt; است و برای انجام ارائه مطلوب هم &lt;&lt; </a:t>
            </a:r>
            <a:r>
              <a:rPr lang="fa-IR" b="1" smtClean="0">
                <a:solidFill>
                  <a:srgbClr val="FF0000"/>
                </a:solidFill>
              </a:rPr>
              <a:t>دانش داری </a:t>
            </a:r>
            <a:r>
              <a:rPr lang="fa-IR" b="1" smtClean="0"/>
              <a:t>&gt;&gt; لازم است  هم &lt;&lt; </a:t>
            </a:r>
            <a:r>
              <a:rPr lang="fa-IR" b="1" smtClean="0">
                <a:solidFill>
                  <a:srgbClr val="FF0000"/>
                </a:solidFill>
              </a:rPr>
              <a:t>فن دانی </a:t>
            </a:r>
            <a:r>
              <a:rPr lang="fa-IR" b="1" smtClean="0"/>
              <a:t>&gt;&gt;</a:t>
            </a:r>
          </a:p>
          <a:p>
            <a:pPr marL="609600" indent="-609600" algn="r" rtl="1" eaLnBrk="1" hangingPunct="1">
              <a:buFont typeface="Wingdings" pitchFamily="2" charset="2"/>
              <a:buAutoNum type="arabicPeriod"/>
            </a:pPr>
            <a:r>
              <a:rPr lang="fa-IR" b="1" smtClean="0"/>
              <a:t>و هم &lt;&lt; </a:t>
            </a:r>
            <a:r>
              <a:rPr lang="fa-IR" b="1" smtClean="0">
                <a:solidFill>
                  <a:srgbClr val="FF0000"/>
                </a:solidFill>
              </a:rPr>
              <a:t>هنرمندی</a:t>
            </a:r>
            <a:r>
              <a:rPr lang="fa-IR" b="1" smtClean="0"/>
              <a:t> &gt;&gt;</a:t>
            </a:r>
            <a:endParaRPr lang="en-US" b="1" smtClean="0"/>
          </a:p>
        </p:txBody>
      </p:sp>
    </p:spTree>
  </p:cSld>
  <p:clrMapOvr>
    <a:masterClrMapping/>
  </p:clrMapOvr>
  <p:transition spd="med">
    <p:wipe di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127" name="Group 311"/>
          <p:cNvGraphicFramePr>
            <a:graphicFrameLocks noGrp="1"/>
          </p:cNvGraphicFramePr>
          <p:nvPr>
            <p:ph/>
          </p:nvPr>
        </p:nvGraphicFramePr>
        <p:xfrm>
          <a:off x="250825" y="115888"/>
          <a:ext cx="8435975" cy="6883339"/>
        </p:xfrm>
        <a:graphic>
          <a:graphicData uri="http://schemas.openxmlformats.org/drawingml/2006/table">
            <a:tbl>
              <a:tblPr>
                <a:tableStyleId>{10A1B5D5-9B99-4C35-A422-299274C87663}</a:tableStyleId>
              </a:tblPr>
              <a:tblGrid>
                <a:gridCol w="3970338">
                  <a:extLst>
                    <a:ext uri="{9D8B030D-6E8A-4147-A177-3AD203B41FA5}">
                      <a16:colId xmlns:a16="http://schemas.microsoft.com/office/drawing/2014/main" val="20000"/>
                    </a:ext>
                  </a:extLst>
                </a:gridCol>
                <a:gridCol w="2449512">
                  <a:extLst>
                    <a:ext uri="{9D8B030D-6E8A-4147-A177-3AD203B41FA5}">
                      <a16:colId xmlns:a16="http://schemas.microsoft.com/office/drawing/2014/main" val="20001"/>
                    </a:ext>
                  </a:extLst>
                </a:gridCol>
                <a:gridCol w="2016125">
                  <a:extLst>
                    <a:ext uri="{9D8B030D-6E8A-4147-A177-3AD203B41FA5}">
                      <a16:colId xmlns:a16="http://schemas.microsoft.com/office/drawing/2014/main" val="20002"/>
                    </a:ext>
                  </a:extLst>
                </a:gridCol>
              </a:tblGrid>
              <a:tr h="836613">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solidFill>
                            <a:srgbClr val="FF0000"/>
                          </a:solidFill>
                          <a:effectLst/>
                          <a:cs typeface="B Titr" pitchFamily="2" charset="-78"/>
                        </a:rPr>
                        <a:t>مثال </a:t>
                      </a:r>
                      <a:endParaRPr kumimoji="0" lang="en-US" sz="2800" b="1" i="0" u="none" strike="noStrike" cap="none" normalizeH="0" baseline="0" dirty="0" smtClean="0">
                        <a:ln>
                          <a:noFill/>
                        </a:ln>
                        <a:solidFill>
                          <a:srgbClr val="FF0000"/>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solidFill>
                            <a:srgbClr val="FF0000"/>
                          </a:solidFill>
                          <a:effectLst/>
                          <a:cs typeface="B Titr" pitchFamily="2" charset="-78"/>
                        </a:rPr>
                        <a:t>نوع ارائه </a:t>
                      </a:r>
                      <a:endParaRPr kumimoji="0" lang="en-US" sz="2800" b="1" i="0" u="none" strike="noStrike" cap="none" normalizeH="0" baseline="0" dirty="0" smtClean="0">
                        <a:ln>
                          <a:noFill/>
                        </a:ln>
                        <a:solidFill>
                          <a:srgbClr val="FF0000"/>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solidFill>
                            <a:srgbClr val="FF0000"/>
                          </a:solidFill>
                          <a:effectLst/>
                          <a:cs typeface="B Titr" pitchFamily="2" charset="-78"/>
                        </a:rPr>
                        <a:t>نوع رسانه </a:t>
                      </a:r>
                      <a:endParaRPr kumimoji="0" lang="en-US" sz="2800" b="1" i="0" u="none" strike="noStrike" cap="none" normalizeH="0" baseline="0" dirty="0" smtClean="0">
                        <a:ln>
                          <a:noFill/>
                        </a:ln>
                        <a:solidFill>
                          <a:srgbClr val="FF0000"/>
                        </a:solidFill>
                        <a:effectLst/>
                        <a:latin typeface="Arial" charset="0"/>
                        <a:cs typeface="B Titr" pitchFamily="2" charset="-78"/>
                      </a:endParaRPr>
                    </a:p>
                  </a:txBody>
                  <a:tcPr horzOverflow="overflow"/>
                </a:tc>
                <a:extLst>
                  <a:ext uri="{0D108BD9-81ED-4DB2-BD59-A6C34878D82A}">
                    <a16:rowId xmlns:a16="http://schemas.microsoft.com/office/drawing/2014/main" val="10000"/>
                  </a:ext>
                </a:extLst>
              </a:tr>
              <a:tr h="835025">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سخنراني عمومي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شفاهي (گفتاري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گفتار</a:t>
                      </a:r>
                      <a:endParaRPr kumimoji="0" lang="en-US" sz="2800" b="1" i="1" u="none" strike="noStrike" cap="none" normalizeH="0" baseline="0" dirty="0" smtClean="0">
                        <a:ln>
                          <a:noFill/>
                        </a:ln>
                        <a:solidFill>
                          <a:schemeClr val="tx1"/>
                        </a:solidFill>
                        <a:effectLst/>
                        <a:latin typeface="Arial" charset="0"/>
                        <a:cs typeface="B Titr" pitchFamily="2" charset="-78"/>
                      </a:endParaRPr>
                    </a:p>
                  </a:txBody>
                  <a:tcPr horzOverflow="overflow"/>
                </a:tc>
                <a:extLst>
                  <a:ext uri="{0D108BD9-81ED-4DB2-BD59-A6C34878D82A}">
                    <a16:rowId xmlns:a16="http://schemas.microsoft.com/office/drawing/2014/main" val="10001"/>
                  </a:ext>
                </a:extLst>
              </a:tr>
              <a:tr h="836613">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نامه ، داستان ...</a:t>
                      </a:r>
                      <a:endParaRPr kumimoji="0" lang="en-US" sz="2800" b="1" i="1" u="none" strike="noStrike" cap="none" normalizeH="0" baseline="0" dirty="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كتبي (نوشتار)</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نوشتار </a:t>
                      </a:r>
                      <a:endParaRPr kumimoji="0" lang="en-US" sz="2800" b="1" i="1" u="none" strike="noStrike" cap="none" normalizeH="0" baseline="0" dirty="0" smtClean="0">
                        <a:ln>
                          <a:noFill/>
                        </a:ln>
                        <a:solidFill>
                          <a:schemeClr val="tx1"/>
                        </a:solidFill>
                        <a:effectLst/>
                        <a:latin typeface="Arial" charset="0"/>
                        <a:cs typeface="B Titr" pitchFamily="2" charset="-78"/>
                      </a:endParaRPr>
                    </a:p>
                  </a:txBody>
                  <a:tcPr horzOverflow="overflow"/>
                </a:tc>
                <a:extLst>
                  <a:ext uri="{0D108BD9-81ED-4DB2-BD59-A6C34878D82A}">
                    <a16:rowId xmlns:a16="http://schemas.microsoft.com/office/drawing/2014/main" val="10002"/>
                  </a:ext>
                </a:extLst>
              </a:tr>
              <a:tr h="836613">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سينماي محض ، نقاشي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تصويري </a:t>
                      </a:r>
                      <a:endParaRPr kumimoji="0" lang="en-US" sz="2800" b="1" i="1" u="none" strike="noStrike" cap="none" normalizeH="0" baseline="0" dirty="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تصوير </a:t>
                      </a:r>
                      <a:endParaRPr kumimoji="0" lang="en-US" sz="2800" b="1" i="1" u="none" strike="noStrike" cap="none" normalizeH="0" baseline="0" dirty="0" smtClean="0">
                        <a:ln>
                          <a:noFill/>
                        </a:ln>
                        <a:solidFill>
                          <a:schemeClr val="tx1"/>
                        </a:solidFill>
                        <a:effectLst/>
                        <a:latin typeface="Arial" charset="0"/>
                        <a:cs typeface="B Titr" pitchFamily="2" charset="-78"/>
                      </a:endParaRPr>
                    </a:p>
                  </a:txBody>
                  <a:tcPr horzOverflow="overflow"/>
                </a:tc>
                <a:extLst>
                  <a:ext uri="{0D108BD9-81ED-4DB2-BD59-A6C34878D82A}">
                    <a16:rowId xmlns:a16="http://schemas.microsoft.com/office/drawing/2014/main" val="10003"/>
                  </a:ext>
                </a:extLst>
              </a:tr>
              <a:tr h="836613">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موسيقي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صوتي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صوت </a:t>
                      </a:r>
                      <a:endParaRPr kumimoji="0" lang="en-US" sz="2800" b="1" i="1" u="none" strike="noStrike" cap="none" normalizeH="0" baseline="0" dirty="0" smtClean="0">
                        <a:ln>
                          <a:noFill/>
                        </a:ln>
                        <a:solidFill>
                          <a:schemeClr val="tx1"/>
                        </a:solidFill>
                        <a:effectLst/>
                        <a:latin typeface="Arial" charset="0"/>
                        <a:cs typeface="B Titr" pitchFamily="2" charset="-78"/>
                      </a:endParaRPr>
                    </a:p>
                  </a:txBody>
                  <a:tcPr horzOverflow="overflow"/>
                </a:tc>
                <a:extLst>
                  <a:ext uri="{0D108BD9-81ED-4DB2-BD59-A6C34878D82A}">
                    <a16:rowId xmlns:a16="http://schemas.microsoft.com/office/drawing/2014/main" val="10004"/>
                  </a:ext>
                </a:extLst>
              </a:tr>
              <a:tr h="835025">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پانتوميم ، زبا ن بدن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حركتي – اشاره اي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حركت واشاره </a:t>
                      </a:r>
                      <a:endParaRPr kumimoji="0" lang="en-US" sz="2800" b="1" i="1" u="none" strike="noStrike" cap="none" normalizeH="0" baseline="0" dirty="0" smtClean="0">
                        <a:ln>
                          <a:noFill/>
                        </a:ln>
                        <a:solidFill>
                          <a:schemeClr val="tx1"/>
                        </a:solidFill>
                        <a:effectLst/>
                        <a:latin typeface="Arial" charset="0"/>
                        <a:cs typeface="B Titr" pitchFamily="2" charset="-78"/>
                      </a:endParaRPr>
                    </a:p>
                  </a:txBody>
                  <a:tcPr horzOverflow="overflow"/>
                </a:tc>
                <a:extLst>
                  <a:ext uri="{0D108BD9-81ED-4DB2-BD59-A6C34878D82A}">
                    <a16:rowId xmlns:a16="http://schemas.microsoft.com/office/drawing/2014/main" val="10005"/>
                  </a:ext>
                </a:extLst>
              </a:tr>
              <a:tr h="836613">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متن علمي – فني ، سخنراني تخصصي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تركيبي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دو يا بيش از</a:t>
                      </a:r>
                    </a:p>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 دو رسانه</a:t>
                      </a:r>
                      <a:endParaRPr kumimoji="0" lang="en-US" sz="2800" b="1" i="1" u="none" strike="noStrike" cap="none" normalizeH="0" baseline="0" dirty="0" smtClean="0">
                        <a:ln>
                          <a:noFill/>
                        </a:ln>
                        <a:solidFill>
                          <a:schemeClr val="tx1"/>
                        </a:solidFill>
                        <a:effectLst/>
                        <a:latin typeface="Arial" charset="0"/>
                        <a:cs typeface="B Titr" pitchFamily="2" charset="-78"/>
                      </a:endParaRPr>
                    </a:p>
                  </a:txBody>
                  <a:tcPr horzOverflow="overflow"/>
                </a:tc>
                <a:extLst>
                  <a:ext uri="{0D108BD9-81ED-4DB2-BD59-A6C34878D82A}">
                    <a16:rowId xmlns:a16="http://schemas.microsoft.com/office/drawing/2014/main" val="10006"/>
                  </a:ext>
                </a:extLst>
              </a:tr>
              <a:tr h="836613">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تزيين اتاق ، لباس پوشيدن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نمايشي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شيي ء</a:t>
                      </a:r>
                      <a:endParaRPr kumimoji="0" lang="en-US" sz="2800" b="1" i="1" u="none" strike="noStrike" cap="none" normalizeH="0" baseline="0" dirty="0" smtClean="0">
                        <a:ln>
                          <a:noFill/>
                        </a:ln>
                        <a:solidFill>
                          <a:schemeClr val="tx1"/>
                        </a:solidFill>
                        <a:effectLst/>
                        <a:latin typeface="Arial" charset="0"/>
                        <a:cs typeface="B Titr" pitchFamily="2" charset="-78"/>
                      </a:endParaRPr>
                    </a:p>
                  </a:txBody>
                  <a:tcPr horzOverflow="overflow"/>
                </a:tc>
                <a:extLst>
                  <a:ext uri="{0D108BD9-81ED-4DB2-BD59-A6C34878D82A}">
                    <a16:rowId xmlns:a16="http://schemas.microsoft.com/office/drawing/2014/main" val="10007"/>
                  </a:ext>
                </a:extLst>
              </a:tr>
            </a:tbl>
          </a:graphicData>
        </a:graphic>
      </p:graphicFrame>
    </p:spTree>
  </p:cSld>
  <p:clrMapOvr>
    <a:overrideClrMapping bg1="dk2" tx1="lt1" bg2="dk1" tx2="lt2" accent1="accent1" accent2="accent2" accent3="accent3" accent4="accent4" accent5="accent5" accent6="accent6" hlink="hlink" folHlink="folHlink"/>
  </p:clrMapOvr>
  <p:transition spd="med">
    <p:wipe di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وحی </a:t>
            </a:r>
          </a:p>
          <a:p>
            <a:pPr marL="609600" indent="-609600" algn="r" rtl="1" eaLnBrk="1" hangingPunct="1">
              <a:buFont typeface="Wingdings" pitchFamily="2" charset="2"/>
              <a:buAutoNum type="arabicPeriod"/>
            </a:pPr>
            <a:r>
              <a:rPr lang="fa-IR" b="1" smtClean="0"/>
              <a:t>الهام و اشراق </a:t>
            </a:r>
          </a:p>
          <a:p>
            <a:pPr marL="609600" indent="-609600" algn="r" rtl="1" eaLnBrk="1" hangingPunct="1">
              <a:buFont typeface="Wingdings" pitchFamily="2" charset="2"/>
              <a:buAutoNum type="arabicPeriod"/>
            </a:pPr>
            <a:r>
              <a:rPr lang="fa-IR" b="1" smtClean="0"/>
              <a:t>روشن بینی </a:t>
            </a:r>
          </a:p>
          <a:p>
            <a:pPr marL="609600" indent="-609600" algn="r" rtl="1" eaLnBrk="1" hangingPunct="1">
              <a:buFont typeface="Wingdings" pitchFamily="2" charset="2"/>
              <a:buAutoNum type="arabicPeriod"/>
            </a:pPr>
            <a:r>
              <a:rPr lang="fa-IR" b="1" smtClean="0"/>
              <a:t>رویای راستین </a:t>
            </a:r>
          </a:p>
          <a:p>
            <a:pPr marL="609600" indent="-609600" algn="r" rtl="1" eaLnBrk="1" hangingPunct="1">
              <a:buFont typeface="Wingdings" pitchFamily="2" charset="2"/>
              <a:buAutoNum type="arabicPeriod"/>
            </a:pPr>
            <a:r>
              <a:rPr lang="fa-IR" b="1" smtClean="0"/>
              <a:t>ذهن خوانی </a:t>
            </a:r>
          </a:p>
          <a:p>
            <a:pPr marL="609600" indent="-609600" algn="r" rtl="1" eaLnBrk="1" hangingPunct="1">
              <a:buFont typeface="Wingdings" pitchFamily="2" charset="2"/>
              <a:buAutoNum type="arabicPeriod"/>
            </a:pPr>
            <a:r>
              <a:rPr lang="fa-IR" b="1" smtClean="0"/>
              <a:t>هیپنوتیزم</a:t>
            </a:r>
            <a:r>
              <a:rPr lang="fa-IR" smtClean="0"/>
              <a:t> </a:t>
            </a:r>
            <a:endParaRPr lang="en-US" smtClean="0"/>
          </a:p>
        </p:txBody>
      </p:sp>
      <p:sp>
        <p:nvSpPr>
          <p:cNvPr id="36866" name="Rectangle 2"/>
          <p:cNvSpPr>
            <a:spLocks noGrp="1" noChangeArrowheads="1"/>
          </p:cNvSpPr>
          <p:nvPr>
            <p:ph type="title"/>
          </p:nvPr>
        </p:nvSpPr>
        <p:spPr/>
        <p:txBody>
          <a:bodyPr>
            <a:normAutofit fontScale="90000"/>
          </a:bodyPr>
          <a:lstStyle/>
          <a:p>
            <a:pPr algn="r" rtl="1" eaLnBrk="1" fontAlgn="auto" hangingPunct="1">
              <a:spcAft>
                <a:spcPts val="0"/>
              </a:spcAft>
              <a:defRPr/>
            </a:pPr>
            <a:r>
              <a:rPr lang="fa-IR" sz="4000" dirty="0" smtClean="0">
                <a:solidFill>
                  <a:srgbClr val="FF0000"/>
                </a:solidFill>
                <a:effectLst/>
                <a:cs typeface="B Titr" pitchFamily="2" charset="-78"/>
              </a:rPr>
              <a:t>انواع ارائه با رسانه ناشناخته: </a:t>
            </a:r>
            <a:r>
              <a:rPr lang="fa-IR" sz="4000" dirty="0" smtClean="0"/>
              <a:t/>
            </a:r>
            <a:br>
              <a:rPr lang="fa-IR" sz="4000" dirty="0" smtClean="0"/>
            </a:br>
            <a:r>
              <a:rPr lang="fa-IR" sz="4000" dirty="0" smtClean="0"/>
              <a:t> </a:t>
            </a:r>
            <a:endParaRPr lang="en-US" sz="4000" dirty="0" smtClean="0"/>
          </a:p>
        </p:txBody>
      </p:sp>
    </p:spTree>
  </p:cSld>
  <p:clrMapOvr>
    <a:masterClrMapping/>
  </p:clrMapOvr>
  <p:transition spd="med">
    <p:wipe di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4">
            <a:hlinkClick r:id="rId2" action="ppaction://hlinksldjump"/>
          </p:cNvPr>
          <p:cNvSpPr txBox="1">
            <a:spLocks noChangeArrowheads="1"/>
          </p:cNvSpPr>
          <p:nvPr/>
        </p:nvSpPr>
        <p:spPr bwMode="auto">
          <a:xfrm>
            <a:off x="2627313" y="2562225"/>
            <a:ext cx="3960812" cy="1446550"/>
          </a:xfrm>
          <a:prstGeom prst="rect">
            <a:avLst/>
          </a:prstGeom>
          <a:noFill/>
          <a:ln w="9525">
            <a:noFill/>
            <a:miter lim="800000"/>
            <a:headEnd/>
            <a:tailEnd/>
          </a:ln>
        </p:spPr>
        <p:txBody>
          <a:bodyPr>
            <a:spAutoFit/>
          </a:bodyPr>
          <a:lstStyle/>
          <a:p>
            <a:pPr rtl="1"/>
            <a:r>
              <a:rPr lang="fa-IR" sz="4400" dirty="0">
                <a:solidFill>
                  <a:schemeClr val="tx1"/>
                </a:solidFill>
                <a:cs typeface="B Titr" panose="00000700000000000000" pitchFamily="2" charset="-78"/>
              </a:rPr>
              <a:t>عوامل موثر در ارائه</a:t>
            </a:r>
            <a:endParaRPr lang="en-US" sz="4400" dirty="0">
              <a:solidFill>
                <a:schemeClr val="tx1"/>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idx="1"/>
          </p:nvPr>
        </p:nvSpPr>
        <p:spPr>
          <a:xfrm>
            <a:off x="1331913" y="1268413"/>
            <a:ext cx="7343775" cy="5329237"/>
          </a:xfrm>
        </p:spPr>
        <p:txBody>
          <a:bodyPr/>
          <a:lstStyle/>
          <a:p>
            <a:pPr marL="609600" indent="-609600" algn="r" rtl="1" eaLnBrk="1" hangingPunct="1">
              <a:lnSpc>
                <a:spcPct val="80000"/>
              </a:lnSpc>
              <a:buFont typeface="Wingdings" pitchFamily="2" charset="2"/>
              <a:buAutoNum type="arabicPeriod"/>
            </a:pPr>
            <a:r>
              <a:rPr lang="fa-IR" sz="2800" b="1" dirty="0" smtClean="0">
                <a:solidFill>
                  <a:srgbClr val="0070C0"/>
                </a:solidFill>
              </a:rPr>
              <a:t>ارائه کننده </a:t>
            </a:r>
          </a:p>
          <a:p>
            <a:pPr marL="609600" indent="-609600" algn="r" rtl="1" eaLnBrk="1" hangingPunct="1">
              <a:lnSpc>
                <a:spcPct val="80000"/>
              </a:lnSpc>
              <a:buFont typeface="Wingdings" pitchFamily="2" charset="2"/>
              <a:buAutoNum type="arabicPeriod"/>
            </a:pPr>
            <a:r>
              <a:rPr lang="fa-IR" sz="2800" b="1" dirty="0" smtClean="0">
                <a:solidFill>
                  <a:srgbClr val="0070C0"/>
                </a:solidFill>
              </a:rPr>
              <a:t>مخاطب </a:t>
            </a:r>
          </a:p>
          <a:p>
            <a:pPr marL="609600" indent="-609600" algn="r" rtl="1" eaLnBrk="1" hangingPunct="1">
              <a:lnSpc>
                <a:spcPct val="80000"/>
              </a:lnSpc>
              <a:buFont typeface="Wingdings" pitchFamily="2" charset="2"/>
              <a:buAutoNum type="arabicPeriod"/>
            </a:pPr>
            <a:r>
              <a:rPr lang="fa-IR" sz="2800" b="1" dirty="0" smtClean="0">
                <a:solidFill>
                  <a:srgbClr val="0070C0"/>
                </a:solidFill>
              </a:rPr>
              <a:t>موضوع </a:t>
            </a:r>
          </a:p>
          <a:p>
            <a:pPr marL="609600" indent="-609600" algn="r" rtl="1" eaLnBrk="1" hangingPunct="1">
              <a:lnSpc>
                <a:spcPct val="80000"/>
              </a:lnSpc>
              <a:buFont typeface="Wingdings" pitchFamily="2" charset="2"/>
              <a:buAutoNum type="arabicPeriod"/>
            </a:pPr>
            <a:r>
              <a:rPr lang="fa-IR" sz="2800" b="1" dirty="0" smtClean="0">
                <a:solidFill>
                  <a:srgbClr val="0070C0"/>
                </a:solidFill>
              </a:rPr>
              <a:t>نوع ارائه </a:t>
            </a:r>
          </a:p>
          <a:p>
            <a:pPr marL="609600" indent="-609600" algn="r" rtl="1" eaLnBrk="1" hangingPunct="1">
              <a:lnSpc>
                <a:spcPct val="80000"/>
              </a:lnSpc>
              <a:buFont typeface="Wingdings" pitchFamily="2" charset="2"/>
              <a:buAutoNum type="arabicPeriod"/>
            </a:pPr>
            <a:r>
              <a:rPr lang="fa-IR" sz="2800" b="1" dirty="0" smtClean="0">
                <a:solidFill>
                  <a:srgbClr val="0070C0"/>
                </a:solidFill>
              </a:rPr>
              <a:t>انگیزه و هدف ارائه </a:t>
            </a:r>
          </a:p>
          <a:p>
            <a:pPr marL="609600" indent="-609600" algn="r" rtl="1" eaLnBrk="1" hangingPunct="1">
              <a:lnSpc>
                <a:spcPct val="80000"/>
              </a:lnSpc>
              <a:buFont typeface="Wingdings" pitchFamily="2" charset="2"/>
              <a:buAutoNum type="arabicPeriod"/>
            </a:pPr>
            <a:r>
              <a:rPr lang="fa-IR" sz="2800" b="1" dirty="0" smtClean="0">
                <a:solidFill>
                  <a:srgbClr val="0070C0"/>
                </a:solidFill>
              </a:rPr>
              <a:t>امکانات آماده سازی محتوای ارائه </a:t>
            </a:r>
          </a:p>
          <a:p>
            <a:pPr marL="609600" indent="-609600" algn="r" rtl="1" eaLnBrk="1" hangingPunct="1">
              <a:lnSpc>
                <a:spcPct val="80000"/>
              </a:lnSpc>
              <a:buFont typeface="Wingdings" pitchFamily="2" charset="2"/>
              <a:buAutoNum type="arabicPeriod"/>
            </a:pPr>
            <a:r>
              <a:rPr lang="fa-IR" sz="2800" b="1" dirty="0" smtClean="0"/>
              <a:t>امکانات کمکی ارائه </a:t>
            </a:r>
          </a:p>
          <a:p>
            <a:pPr marL="609600" indent="-609600" algn="r" rtl="1" eaLnBrk="1" hangingPunct="1">
              <a:lnSpc>
                <a:spcPct val="80000"/>
              </a:lnSpc>
              <a:buFont typeface="Wingdings" pitchFamily="2" charset="2"/>
              <a:buAutoNum type="arabicPeriod"/>
            </a:pPr>
            <a:r>
              <a:rPr lang="fa-IR" sz="2800" b="1" dirty="0" smtClean="0"/>
              <a:t>مدت ارائه </a:t>
            </a:r>
          </a:p>
          <a:p>
            <a:pPr marL="609600" indent="-609600" algn="r" rtl="1" eaLnBrk="1" hangingPunct="1">
              <a:lnSpc>
                <a:spcPct val="80000"/>
              </a:lnSpc>
              <a:buFont typeface="Wingdings" pitchFamily="2" charset="2"/>
              <a:buAutoNum type="arabicPeriod"/>
            </a:pPr>
            <a:r>
              <a:rPr lang="fa-IR" sz="2800" b="1" dirty="0" smtClean="0"/>
              <a:t>زمان و تاریخ ارائه </a:t>
            </a:r>
          </a:p>
          <a:p>
            <a:pPr marL="609600" indent="-609600" algn="r" rtl="1" eaLnBrk="1" hangingPunct="1">
              <a:lnSpc>
                <a:spcPct val="80000"/>
              </a:lnSpc>
              <a:buFont typeface="Wingdings" pitchFamily="2" charset="2"/>
              <a:buAutoNum type="arabicPeriod"/>
            </a:pPr>
            <a:r>
              <a:rPr lang="fa-IR" sz="2800" b="1" dirty="0" smtClean="0"/>
              <a:t>مکان ارائه </a:t>
            </a:r>
          </a:p>
          <a:p>
            <a:pPr marL="609600" indent="-609600" algn="r" rtl="1" eaLnBrk="1" hangingPunct="1">
              <a:lnSpc>
                <a:spcPct val="80000"/>
              </a:lnSpc>
              <a:buFont typeface="Wingdings" pitchFamily="2" charset="2"/>
              <a:buAutoNum type="arabicPeriod"/>
            </a:pPr>
            <a:r>
              <a:rPr lang="fa-IR" sz="2800" b="1" dirty="0" smtClean="0"/>
              <a:t>جغرافیای ارائه </a:t>
            </a:r>
          </a:p>
          <a:p>
            <a:pPr marL="609600" indent="-609600" algn="r" rtl="1" eaLnBrk="1" hangingPunct="1">
              <a:lnSpc>
                <a:spcPct val="80000"/>
              </a:lnSpc>
              <a:buFont typeface="Wingdings" pitchFamily="2" charset="2"/>
              <a:buAutoNum type="arabicPeriod"/>
            </a:pPr>
            <a:r>
              <a:rPr lang="fa-IR" sz="2800" b="1" dirty="0" smtClean="0">
                <a:solidFill>
                  <a:srgbClr val="0070C0"/>
                </a:solidFill>
              </a:rPr>
              <a:t>وضع اجتماعی محیط ارائه</a:t>
            </a:r>
            <a:r>
              <a:rPr lang="fa-IR" sz="2800" dirty="0" smtClean="0">
                <a:solidFill>
                  <a:srgbClr val="0070C0"/>
                </a:solidFill>
              </a:rPr>
              <a:t> </a:t>
            </a:r>
            <a:endParaRPr lang="en-US" sz="2800" dirty="0" smtClean="0">
              <a:solidFill>
                <a:srgbClr val="0070C0"/>
              </a:solidFill>
            </a:endParaRPr>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cs typeface="B Titr" pitchFamily="2" charset="-78"/>
              </a:rPr>
              <a:t>عوامل موثر در ارائه :</a:t>
            </a:r>
            <a:endParaRPr lang="en-US" dirty="0" smtClean="0">
              <a:solidFill>
                <a:srgbClr val="FF0000"/>
              </a:solidFill>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noChangeArrowheads="1"/>
          </p:cNvSpPr>
          <p:nvPr>
            <p:ph idx="1"/>
          </p:nvPr>
        </p:nvSpPr>
        <p:spPr>
          <a:xfrm>
            <a:off x="457200" y="1600200"/>
            <a:ext cx="8291513" cy="4781550"/>
          </a:xfrm>
        </p:spPr>
        <p:txBody>
          <a:bodyPr/>
          <a:lstStyle/>
          <a:p>
            <a:pPr algn="r" rtl="1" eaLnBrk="1" hangingPunct="1">
              <a:buFont typeface="Wingdings" pitchFamily="2" charset="2"/>
              <a:buNone/>
            </a:pPr>
            <a:r>
              <a:rPr lang="fa-IR" b="1" smtClean="0"/>
              <a:t>عامل اصلی در سیستم ارائه است . آنچه که نهایتا  به مخاطب می رسد حاصل عملکرد کانال ارائه کننده است .</a:t>
            </a:r>
          </a:p>
          <a:p>
            <a:pPr algn="r" rtl="1" eaLnBrk="1" hangingPunct="1">
              <a:buFont typeface="Wingdings" pitchFamily="2" charset="2"/>
              <a:buNone/>
            </a:pPr>
            <a:r>
              <a:rPr lang="fa-IR" smtClean="0"/>
              <a:t> </a:t>
            </a:r>
            <a:endParaRPr lang="en-US" smtClean="0"/>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en-US" dirty="0" smtClean="0"/>
              <a:t> </a:t>
            </a:r>
            <a:r>
              <a:rPr lang="fa-IR" dirty="0" smtClean="0">
                <a:solidFill>
                  <a:srgbClr val="FF0000"/>
                </a:solidFill>
                <a:cs typeface="B Titr" pitchFamily="2" charset="-78"/>
              </a:rPr>
              <a:t>ارائه کننده :</a:t>
            </a:r>
            <a:endParaRPr lang="en-US" dirty="0" smtClean="0">
              <a:solidFill>
                <a:srgbClr val="FF0000"/>
              </a:solidFill>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idx="1"/>
          </p:nvPr>
        </p:nvSpPr>
        <p:spPr>
          <a:xfrm>
            <a:off x="142875" y="1428750"/>
            <a:ext cx="8786813" cy="5429250"/>
          </a:xfrm>
        </p:spPr>
        <p:txBody>
          <a:bodyPr/>
          <a:lstStyle/>
          <a:p>
            <a:pPr marL="609600" indent="-609600" algn="r" rtl="1" eaLnBrk="1" hangingPunct="1">
              <a:lnSpc>
                <a:spcPct val="90000"/>
              </a:lnSpc>
              <a:buFont typeface="Wingdings" pitchFamily="2" charset="2"/>
              <a:buAutoNum type="arabicPeriod"/>
            </a:pPr>
            <a:r>
              <a:rPr lang="fa-IR" sz="2400" b="1" dirty="0" smtClean="0"/>
              <a:t>آمادگی روحی – جسمی </a:t>
            </a:r>
          </a:p>
          <a:p>
            <a:pPr marL="609600" indent="-609600" algn="r" rtl="1" eaLnBrk="1" hangingPunct="1">
              <a:lnSpc>
                <a:spcPct val="90000"/>
              </a:lnSpc>
              <a:buFont typeface="Wingdings" pitchFamily="2" charset="2"/>
              <a:buAutoNum type="arabicPeriod"/>
            </a:pPr>
            <a:r>
              <a:rPr lang="fa-IR" sz="2400" b="1" dirty="0" smtClean="0"/>
              <a:t>تسلط بر موضوع ارائه</a:t>
            </a:r>
          </a:p>
          <a:p>
            <a:pPr marL="609600" indent="-609600" algn="r" rtl="1" eaLnBrk="1" hangingPunct="1">
              <a:lnSpc>
                <a:spcPct val="90000"/>
              </a:lnSpc>
              <a:buFont typeface="Wingdings" pitchFamily="2" charset="2"/>
              <a:buAutoNum type="arabicPeriod"/>
            </a:pPr>
            <a:r>
              <a:rPr lang="fa-IR" sz="2400" b="1" dirty="0" smtClean="0"/>
              <a:t>آشنایی با موضوعات همسایه با موضوع ارائه </a:t>
            </a:r>
          </a:p>
          <a:p>
            <a:pPr marL="609600" indent="-609600" algn="r" rtl="1" eaLnBrk="1" hangingPunct="1">
              <a:lnSpc>
                <a:spcPct val="90000"/>
              </a:lnSpc>
              <a:buFont typeface="Wingdings" pitchFamily="2" charset="2"/>
              <a:buAutoNum type="arabicPeriod"/>
            </a:pPr>
            <a:r>
              <a:rPr lang="fa-IR" sz="2400" b="1" dirty="0" smtClean="0"/>
              <a:t>انگیزه و هدف درست </a:t>
            </a:r>
          </a:p>
          <a:p>
            <a:pPr marL="609600" indent="-609600" algn="r" rtl="1" eaLnBrk="1" hangingPunct="1">
              <a:lnSpc>
                <a:spcPct val="90000"/>
              </a:lnSpc>
              <a:buFont typeface="Wingdings" pitchFamily="2" charset="2"/>
              <a:buAutoNum type="arabicPeriod"/>
            </a:pPr>
            <a:r>
              <a:rPr lang="fa-IR" sz="2400" b="1" dirty="0" smtClean="0">
                <a:solidFill>
                  <a:srgbClr val="0070C0"/>
                </a:solidFill>
              </a:rPr>
              <a:t>شناخت از وضع مخاطب </a:t>
            </a:r>
          </a:p>
          <a:p>
            <a:pPr marL="609600" indent="-609600" algn="r" rtl="1" eaLnBrk="1" hangingPunct="1">
              <a:lnSpc>
                <a:spcPct val="90000"/>
              </a:lnSpc>
              <a:buFont typeface="Wingdings" pitchFamily="2" charset="2"/>
              <a:buAutoNum type="arabicPeriod"/>
            </a:pPr>
            <a:r>
              <a:rPr lang="fa-IR" sz="2400" b="1" dirty="0" smtClean="0"/>
              <a:t>مهارت بکارگیری صحیح رسانه ارائه </a:t>
            </a:r>
          </a:p>
          <a:p>
            <a:pPr marL="609600" indent="-609600" algn="r" rtl="1" eaLnBrk="1" hangingPunct="1">
              <a:lnSpc>
                <a:spcPct val="90000"/>
              </a:lnSpc>
              <a:buFont typeface="Wingdings" pitchFamily="2" charset="2"/>
              <a:buAutoNum type="arabicPeriod"/>
            </a:pPr>
            <a:r>
              <a:rPr lang="fa-IR" sz="2400" b="1" dirty="0" smtClean="0"/>
              <a:t>مهارت انجام درست </a:t>
            </a:r>
            <a:r>
              <a:rPr lang="fa-IR" sz="2400" b="1" u="sng" dirty="0" smtClean="0"/>
              <a:t>4</a:t>
            </a:r>
            <a:r>
              <a:rPr lang="fa-IR" sz="2400" b="1" dirty="0" smtClean="0"/>
              <a:t> </a:t>
            </a:r>
            <a:r>
              <a:rPr lang="fa-IR" sz="2400" b="1" dirty="0" err="1" smtClean="0"/>
              <a:t>فراروند</a:t>
            </a:r>
            <a:r>
              <a:rPr lang="fa-IR" sz="2400" b="1" dirty="0" smtClean="0"/>
              <a:t> پیام اندیشی، پیام سازی، پیام </a:t>
            </a:r>
            <a:r>
              <a:rPr lang="fa-IR" sz="2400" b="1" dirty="0" err="1" smtClean="0"/>
              <a:t>پیرایی</a:t>
            </a:r>
            <a:r>
              <a:rPr lang="fa-IR" sz="2400" b="1" dirty="0" smtClean="0"/>
              <a:t> و پیام </a:t>
            </a:r>
            <a:r>
              <a:rPr lang="fa-IR" sz="2400" b="1" dirty="0" err="1" smtClean="0"/>
              <a:t>فرستی</a:t>
            </a:r>
            <a:r>
              <a:rPr lang="fa-IR" sz="2400" b="1" dirty="0" smtClean="0"/>
              <a:t> </a:t>
            </a:r>
          </a:p>
          <a:p>
            <a:pPr marL="609600" indent="-609600" algn="r" rtl="1" eaLnBrk="1" hangingPunct="1">
              <a:lnSpc>
                <a:spcPct val="90000"/>
              </a:lnSpc>
              <a:buFont typeface="Wingdings" pitchFamily="2" charset="2"/>
              <a:buAutoNum type="arabicPeriod"/>
            </a:pPr>
            <a:r>
              <a:rPr lang="fa-IR" sz="2400" b="1" dirty="0" smtClean="0"/>
              <a:t>اهمیت قائل شدن برای مخاطب </a:t>
            </a:r>
          </a:p>
          <a:p>
            <a:pPr marL="609600" indent="-609600" algn="r" rtl="1" eaLnBrk="1" hangingPunct="1">
              <a:lnSpc>
                <a:spcPct val="90000"/>
              </a:lnSpc>
              <a:buFont typeface="Wingdings" pitchFamily="2" charset="2"/>
              <a:buAutoNum type="arabicPeriod"/>
            </a:pPr>
            <a:r>
              <a:rPr lang="fa-IR" sz="2400" b="1" dirty="0" smtClean="0"/>
              <a:t>صادق و امین بودن در ارائه </a:t>
            </a:r>
          </a:p>
          <a:p>
            <a:pPr marL="609600" indent="-609600" algn="r" rtl="1" eaLnBrk="1" hangingPunct="1">
              <a:lnSpc>
                <a:spcPct val="90000"/>
              </a:lnSpc>
              <a:buFont typeface="Wingdings" pitchFamily="2" charset="2"/>
              <a:buAutoNum type="arabicPeriod"/>
            </a:pPr>
            <a:r>
              <a:rPr lang="fa-IR" sz="2400" b="1" dirty="0" smtClean="0"/>
              <a:t>دقیق بودن</a:t>
            </a:r>
          </a:p>
          <a:p>
            <a:pPr marL="609600" indent="-609600" algn="r" rtl="1" eaLnBrk="1" hangingPunct="1">
              <a:lnSpc>
                <a:spcPct val="90000"/>
              </a:lnSpc>
              <a:buFont typeface="Wingdings" pitchFamily="2" charset="2"/>
              <a:buAutoNum type="arabicPeriod"/>
            </a:pPr>
            <a:r>
              <a:rPr lang="fa-IR" sz="2400" b="1" dirty="0" smtClean="0"/>
              <a:t>شناخت از محیط طبیعی و اجتماعی ارائه </a:t>
            </a:r>
          </a:p>
          <a:p>
            <a:pPr marL="609600" indent="-609600" algn="r" rtl="1" eaLnBrk="1" hangingPunct="1">
              <a:lnSpc>
                <a:spcPct val="90000"/>
              </a:lnSpc>
              <a:buFont typeface="Wingdings" pitchFamily="2" charset="2"/>
              <a:buAutoNum type="arabicPeriod"/>
            </a:pPr>
            <a:r>
              <a:rPr lang="fa-IR" sz="2400" b="1" dirty="0" smtClean="0"/>
              <a:t>نداشتن تعصب بیجا</a:t>
            </a:r>
            <a:r>
              <a:rPr lang="fa-IR" sz="2400" dirty="0" smtClean="0"/>
              <a:t> </a:t>
            </a:r>
            <a:endParaRPr lang="en-US" sz="2400" dirty="0" smtClean="0"/>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effectLst/>
                <a:cs typeface="B Titr" pitchFamily="2" charset="-78"/>
              </a:rPr>
              <a:t>خصوصیات کلی کانال ارائه کننده :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idx="1"/>
          </p:nvPr>
        </p:nvSpPr>
        <p:spPr>
          <a:xfrm>
            <a:off x="457200" y="1600200"/>
            <a:ext cx="8229600" cy="5257800"/>
          </a:xfrm>
        </p:spPr>
        <p:txBody>
          <a:bodyPr/>
          <a:lstStyle/>
          <a:p>
            <a:pPr algn="r" rtl="1" eaLnBrk="1" hangingPunct="1"/>
            <a:r>
              <a:rPr lang="fa-IR" smtClean="0"/>
              <a:t> </a:t>
            </a:r>
            <a:r>
              <a:rPr lang="fa-IR" b="1" smtClean="0"/>
              <a:t>سن </a:t>
            </a:r>
          </a:p>
          <a:p>
            <a:pPr algn="r" rtl="1" eaLnBrk="1" hangingPunct="1"/>
            <a:r>
              <a:rPr lang="fa-IR" b="1" smtClean="0"/>
              <a:t> میزان دانسته ها</a:t>
            </a:r>
          </a:p>
          <a:p>
            <a:pPr algn="r" rtl="1" eaLnBrk="1" hangingPunct="1"/>
            <a:r>
              <a:rPr lang="fa-IR" b="1" smtClean="0"/>
              <a:t>باورهای فرهنگی </a:t>
            </a:r>
          </a:p>
          <a:p>
            <a:pPr algn="r" rtl="1" eaLnBrk="1" hangingPunct="1"/>
            <a:r>
              <a:rPr lang="fa-IR" b="1" smtClean="0"/>
              <a:t>وضع اجتماعی و سیاسی </a:t>
            </a:r>
          </a:p>
          <a:p>
            <a:pPr algn="r" rtl="1" eaLnBrk="1" hangingPunct="1"/>
            <a:r>
              <a:rPr lang="fa-IR" b="1" smtClean="0"/>
              <a:t>جنسیت </a:t>
            </a:r>
          </a:p>
          <a:p>
            <a:pPr algn="r" rtl="1" eaLnBrk="1" hangingPunct="1"/>
            <a:r>
              <a:rPr lang="fa-IR" b="1" smtClean="0"/>
              <a:t>خواسته های مخاطب از ارائه </a:t>
            </a:r>
          </a:p>
          <a:p>
            <a:pPr algn="r" rtl="1" eaLnBrk="1" hangingPunct="1"/>
            <a:r>
              <a:rPr lang="fa-IR" b="1" smtClean="0"/>
              <a:t>علاقه ها</a:t>
            </a:r>
            <a:r>
              <a:rPr lang="fa-IR" smtClean="0"/>
              <a:t> </a:t>
            </a:r>
            <a:endParaRPr lang="en-US" smtClean="0"/>
          </a:p>
        </p:txBody>
      </p:sp>
      <p:sp>
        <p:nvSpPr>
          <p:cNvPr id="2" name="Rectangle 2"/>
          <p:cNvSpPr>
            <a:spLocks noGrp="1" noChangeArrowheads="1"/>
          </p:cNvSpPr>
          <p:nvPr>
            <p:ph type="title"/>
          </p:nvPr>
        </p:nvSpPr>
        <p:spPr>
          <a:xfrm>
            <a:off x="457200" y="277813"/>
            <a:ext cx="8229600" cy="1322387"/>
          </a:xfrm>
        </p:spPr>
        <p:txBody>
          <a:bodyPr/>
          <a:lstStyle/>
          <a:p>
            <a:pPr algn="r" rtl="1" eaLnBrk="1" fontAlgn="auto" hangingPunct="1">
              <a:spcAft>
                <a:spcPts val="0"/>
              </a:spcAft>
              <a:defRPr/>
            </a:pPr>
            <a:r>
              <a:rPr lang="fa-IR" dirty="0" smtClean="0">
                <a:solidFill>
                  <a:srgbClr val="FF0000"/>
                </a:solidFill>
                <a:effectLst/>
                <a:cs typeface="B Titr" pitchFamily="2" charset="-78"/>
              </a:rPr>
              <a:t>گزینه های شناخت از وضع مخاطب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noChangeArrowheads="1"/>
          </p:cNvSpPr>
          <p:nvPr>
            <p:ph idx="1"/>
          </p:nvPr>
        </p:nvSpPr>
        <p:spPr>
          <a:xfrm>
            <a:off x="611188" y="1628775"/>
            <a:ext cx="8229600" cy="4530725"/>
          </a:xfrm>
        </p:spPr>
        <p:txBody>
          <a:bodyPr/>
          <a:lstStyle/>
          <a:p>
            <a:pPr algn="justLow" rtl="1" eaLnBrk="1" hangingPunct="1">
              <a:buFont typeface="Wingdings" pitchFamily="2" charset="2"/>
              <a:buNone/>
            </a:pPr>
            <a:r>
              <a:rPr lang="en-US" b="1" smtClean="0"/>
              <a:t>   </a:t>
            </a:r>
            <a:r>
              <a:rPr lang="fa-IR" b="1" smtClean="0"/>
              <a:t>شناخت از مخاطب وقتی که هدف اصلی ارائه، مجاب کردن مخاطب است و</a:t>
            </a:r>
            <a:r>
              <a:rPr lang="en-US" b="1" smtClean="0"/>
              <a:t> </a:t>
            </a:r>
            <a:r>
              <a:rPr lang="fa-IR" b="1" smtClean="0"/>
              <a:t>یا با هدف آموزش انجام می شود نقش بسیار اساسی در کنترل کمی و کیفی دارد .</a:t>
            </a:r>
            <a:endParaRPr lang="en-US" b="1" smtClean="0"/>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effectLst/>
                <a:cs typeface="B Titr" pitchFamily="2" charset="-78"/>
              </a:rPr>
              <a:t>اهمیت شناخت از مخاطب :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idx="1"/>
          </p:nvPr>
        </p:nvSpPr>
        <p:spPr/>
        <p:txBody>
          <a:bodyPr/>
          <a:lstStyle/>
          <a:p>
            <a:pPr marL="0" indent="0" algn="justLow" rtl="1" eaLnBrk="1" hangingPunct="1">
              <a:buFont typeface="Wingdings" pitchFamily="2" charset="2"/>
              <a:buNone/>
            </a:pPr>
            <a:r>
              <a:rPr lang="fa-IR" b="1" smtClean="0"/>
              <a:t>دومین عامل مهم در سیستم ارائه، مخاطب است . این عامل باید فراروندهای پیام گیری ، پیام کاوی و درک یا حس پیام را انجام دهد .</a:t>
            </a:r>
            <a:endParaRPr lang="en-US" b="1" smtClean="0"/>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cs typeface="B Titr" pitchFamily="2" charset="-78"/>
              </a:rPr>
              <a:t>مخاطب :</a:t>
            </a:r>
            <a:endParaRPr lang="en-US" dirty="0" smtClean="0">
              <a:solidFill>
                <a:srgbClr val="FF0000"/>
              </a:solidFill>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Grp="1" noChangeArrowheads="1"/>
          </p:cNvSpPr>
          <p:nvPr>
            <p:ph idx="1"/>
          </p:nvPr>
        </p:nvSpPr>
        <p:spPr/>
        <p:txBody>
          <a:bodyPr/>
          <a:lstStyle/>
          <a:p>
            <a:pPr marL="609600" indent="-609600" algn="justLow" rtl="1" eaLnBrk="1" hangingPunct="1">
              <a:buFont typeface="Wingdings" pitchFamily="2" charset="2"/>
              <a:buNone/>
            </a:pPr>
            <a:r>
              <a:rPr lang="fa-IR" b="1" smtClean="0"/>
              <a:t>مخاطب ارائه در مقایسه با وضع ارائه کننده نسبت به موضوع ارائه </a:t>
            </a:r>
            <a:r>
              <a:rPr lang="en-US" b="1" smtClean="0"/>
              <a:t>    </a:t>
            </a:r>
            <a:r>
              <a:rPr lang="fa-IR" b="1" smtClean="0"/>
              <a:t>می تواند در یکی از سه وضعیت زیر باشد:</a:t>
            </a:r>
            <a:r>
              <a:rPr lang="fa-IR" smtClean="0"/>
              <a:t> </a:t>
            </a:r>
          </a:p>
          <a:p>
            <a:pPr marL="609600" indent="-609600" algn="r" rtl="1" eaLnBrk="1" hangingPunct="1">
              <a:buFont typeface="Wingdings" pitchFamily="2" charset="2"/>
              <a:buAutoNum type="arabicPeriod"/>
            </a:pPr>
            <a:r>
              <a:rPr lang="fa-IR" b="1" smtClean="0"/>
              <a:t>زیر سطح </a:t>
            </a:r>
          </a:p>
          <a:p>
            <a:pPr marL="609600" indent="-609600" algn="r" rtl="1" eaLnBrk="1" hangingPunct="1">
              <a:buFont typeface="Wingdings" pitchFamily="2" charset="2"/>
              <a:buAutoNum type="arabicPeriod"/>
            </a:pPr>
            <a:r>
              <a:rPr lang="fa-IR" b="1" smtClean="0"/>
              <a:t>همسطح </a:t>
            </a:r>
          </a:p>
          <a:p>
            <a:pPr marL="609600" indent="-609600" algn="r" rtl="1" eaLnBrk="1" hangingPunct="1">
              <a:buFont typeface="Wingdings" pitchFamily="2" charset="2"/>
              <a:buAutoNum type="arabicPeriod"/>
            </a:pPr>
            <a:r>
              <a:rPr lang="fa-IR" b="1" smtClean="0"/>
              <a:t>فراسطح</a:t>
            </a:r>
            <a:r>
              <a:rPr lang="fa-IR" smtClean="0"/>
              <a:t> </a:t>
            </a:r>
            <a:endParaRPr lang="en-US" smtClean="0"/>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effectLst/>
                <a:cs typeface="B Titr" pitchFamily="2" charset="-78"/>
              </a:rPr>
              <a:t>وضعیت مخاطب ارائه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idx="1"/>
          </p:nvPr>
        </p:nvSpPr>
        <p:spPr/>
        <p:txBody>
          <a:bodyPr/>
          <a:lstStyle/>
          <a:p>
            <a:pPr algn="r" rtl="1" eaLnBrk="1" hangingPunct="1">
              <a:lnSpc>
                <a:spcPct val="90000"/>
              </a:lnSpc>
            </a:pPr>
            <a:r>
              <a:rPr lang="fa-IR" sz="2800" b="1" smtClean="0"/>
              <a:t>آمادگی  روحی – جسمی </a:t>
            </a:r>
            <a:endParaRPr lang="en-US" sz="2800" smtClean="0"/>
          </a:p>
          <a:p>
            <a:pPr algn="r" rtl="1" eaLnBrk="1" hangingPunct="1">
              <a:lnSpc>
                <a:spcPct val="90000"/>
              </a:lnSpc>
            </a:pPr>
            <a:r>
              <a:rPr lang="fa-IR" sz="2800" b="1" smtClean="0"/>
              <a:t>داشتن حداقل دانش اولیه لازم </a:t>
            </a:r>
            <a:endParaRPr lang="en-US" sz="2800" smtClean="0"/>
          </a:p>
          <a:p>
            <a:pPr algn="r" rtl="1" eaLnBrk="1" hangingPunct="1">
              <a:lnSpc>
                <a:spcPct val="90000"/>
              </a:lnSpc>
            </a:pPr>
            <a:r>
              <a:rPr lang="fa-IR" sz="2800" b="1" smtClean="0"/>
              <a:t>داشتن ملزومات پیام گیری ، پیام کاوی ، و درک حس </a:t>
            </a:r>
            <a:endParaRPr lang="en-US" sz="2800" smtClean="0"/>
          </a:p>
          <a:p>
            <a:pPr algn="r" rtl="1" eaLnBrk="1" hangingPunct="1">
              <a:lnSpc>
                <a:spcPct val="90000"/>
              </a:lnSpc>
            </a:pPr>
            <a:r>
              <a:rPr lang="fa-IR" sz="2800" b="1" smtClean="0"/>
              <a:t>اهمیت قائل شدن برای ارائه </a:t>
            </a:r>
            <a:endParaRPr lang="en-US" sz="2800" smtClean="0"/>
          </a:p>
          <a:p>
            <a:pPr algn="r" rtl="1" eaLnBrk="1" hangingPunct="1">
              <a:lnSpc>
                <a:spcPct val="90000"/>
              </a:lnSpc>
            </a:pPr>
            <a:r>
              <a:rPr lang="fa-IR" sz="2800" b="1" smtClean="0"/>
              <a:t>داشتن دقت – صبر – و</a:t>
            </a:r>
            <a:r>
              <a:rPr lang="en-US" sz="2800" b="1" smtClean="0"/>
              <a:t> </a:t>
            </a:r>
            <a:r>
              <a:rPr lang="fa-IR" sz="2800" b="1" smtClean="0"/>
              <a:t>در عین حال شوق در پیام گیری، پیام کاوی</a:t>
            </a:r>
            <a:r>
              <a:rPr lang="en-US" sz="2800" b="1" smtClean="0"/>
              <a:t> </a:t>
            </a:r>
            <a:r>
              <a:rPr lang="fa-IR" sz="2800" b="1" smtClean="0"/>
              <a:t> و درک یا حس پیام </a:t>
            </a:r>
            <a:endParaRPr lang="en-US" sz="2800" smtClean="0"/>
          </a:p>
          <a:p>
            <a:pPr algn="r" rtl="1" eaLnBrk="1" hangingPunct="1">
              <a:lnSpc>
                <a:spcPct val="90000"/>
              </a:lnSpc>
            </a:pPr>
            <a:r>
              <a:rPr lang="fa-IR" sz="2800" b="1" smtClean="0"/>
              <a:t>داشتن شناخت از ارائه کننده </a:t>
            </a:r>
            <a:endParaRPr lang="en-US" sz="2800" smtClean="0"/>
          </a:p>
          <a:p>
            <a:pPr algn="r" rtl="1" eaLnBrk="1" hangingPunct="1">
              <a:lnSpc>
                <a:spcPct val="90000"/>
              </a:lnSpc>
            </a:pPr>
            <a:r>
              <a:rPr lang="fa-IR" sz="2800" b="1" smtClean="0"/>
              <a:t> داشتن انگیزه و هدف درست </a:t>
            </a:r>
            <a:endParaRPr lang="en-US" sz="2800" smtClean="0"/>
          </a:p>
          <a:p>
            <a:pPr algn="r" rtl="1" eaLnBrk="1" hangingPunct="1">
              <a:lnSpc>
                <a:spcPct val="90000"/>
              </a:lnSpc>
            </a:pPr>
            <a:r>
              <a:rPr lang="fa-IR" sz="2800" b="1" smtClean="0"/>
              <a:t> نداشتن تعصب بیجا </a:t>
            </a:r>
            <a:endParaRPr lang="en-US" sz="2800" smtClean="0"/>
          </a:p>
          <a:p>
            <a:pPr algn="r" rtl="1" eaLnBrk="1" hangingPunct="1">
              <a:lnSpc>
                <a:spcPct val="90000"/>
              </a:lnSpc>
            </a:pPr>
            <a:endParaRPr lang="en-US" sz="2800" smtClean="0"/>
          </a:p>
        </p:txBody>
      </p:sp>
      <p:sp>
        <p:nvSpPr>
          <p:cNvPr id="2" name="Rectangle 2"/>
          <p:cNvSpPr>
            <a:spLocks noGrp="1" noChangeArrowheads="1"/>
          </p:cNvSpPr>
          <p:nvPr>
            <p:ph type="title"/>
          </p:nvPr>
        </p:nvSpPr>
        <p:spPr>
          <a:xfrm>
            <a:off x="663575" y="277813"/>
            <a:ext cx="8229600" cy="1139825"/>
          </a:xfrm>
        </p:spPr>
        <p:txBody>
          <a:bodyPr/>
          <a:lstStyle/>
          <a:p>
            <a:pPr algn="r" rtl="1" eaLnBrk="1" fontAlgn="auto" hangingPunct="1">
              <a:spcAft>
                <a:spcPts val="0"/>
              </a:spcAft>
              <a:defRPr/>
            </a:pPr>
            <a:r>
              <a:rPr lang="fa-IR" sz="4000" dirty="0" smtClean="0">
                <a:solidFill>
                  <a:srgbClr val="FF0000"/>
                </a:solidFill>
                <a:cs typeface="B Titr" pitchFamily="2" charset="-78"/>
              </a:rPr>
              <a:t>خصوصیات شخصی – شخصیتی مخاطب: </a:t>
            </a:r>
            <a:endParaRPr lang="en-US" sz="4000" dirty="0" smtClean="0">
              <a:solidFill>
                <a:srgbClr val="FF0000"/>
              </a:solidFill>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Grp="1" noChangeArrowheads="1"/>
          </p:cNvSpPr>
          <p:nvPr>
            <p:ph idx="1"/>
          </p:nvPr>
        </p:nvSpPr>
        <p:spPr/>
        <p:txBody>
          <a:bodyPr/>
          <a:lstStyle/>
          <a:p>
            <a:pPr algn="r" rtl="1" eaLnBrk="1" hangingPunct="1">
              <a:lnSpc>
                <a:spcPct val="90000"/>
              </a:lnSpc>
            </a:pPr>
            <a:r>
              <a:rPr lang="fa-IR" sz="2800" b="1" smtClean="0"/>
              <a:t>اعتبار علمی – فنی </a:t>
            </a:r>
            <a:endParaRPr lang="en-US" sz="2800" smtClean="0"/>
          </a:p>
          <a:p>
            <a:pPr algn="r" rtl="1" eaLnBrk="1" hangingPunct="1">
              <a:lnSpc>
                <a:spcPct val="90000"/>
              </a:lnSpc>
            </a:pPr>
            <a:r>
              <a:rPr lang="fa-IR" sz="2800" b="1" smtClean="0"/>
              <a:t>اولویت </a:t>
            </a:r>
            <a:endParaRPr lang="en-US" sz="2800" smtClean="0"/>
          </a:p>
          <a:p>
            <a:pPr algn="r" rtl="1" eaLnBrk="1" hangingPunct="1">
              <a:lnSpc>
                <a:spcPct val="90000"/>
              </a:lnSpc>
            </a:pPr>
            <a:r>
              <a:rPr lang="fa-IR" sz="2800" b="1" smtClean="0"/>
              <a:t>سودمندی برای جامعه </a:t>
            </a:r>
            <a:endParaRPr lang="en-US" sz="2800" smtClean="0"/>
          </a:p>
          <a:p>
            <a:pPr algn="r" rtl="1" eaLnBrk="1" hangingPunct="1">
              <a:lnSpc>
                <a:spcPct val="90000"/>
              </a:lnSpc>
            </a:pPr>
            <a:r>
              <a:rPr lang="fa-IR" sz="2800" b="1" smtClean="0"/>
              <a:t>عنوان مشخص و روشن </a:t>
            </a:r>
            <a:endParaRPr lang="en-US" sz="2800" smtClean="0"/>
          </a:p>
          <a:p>
            <a:pPr algn="r" rtl="1" eaLnBrk="1" hangingPunct="1">
              <a:lnSpc>
                <a:spcPct val="90000"/>
              </a:lnSpc>
            </a:pPr>
            <a:r>
              <a:rPr lang="fa-IR" sz="2800" b="1" smtClean="0"/>
              <a:t>ارائه  آن در یک محیط اجتماعی مشخص امکانپذیر باشد</a:t>
            </a:r>
            <a:endParaRPr lang="en-US" sz="2800" smtClean="0"/>
          </a:p>
          <a:p>
            <a:pPr algn="r" rtl="1" eaLnBrk="1" hangingPunct="1">
              <a:lnSpc>
                <a:spcPct val="90000"/>
              </a:lnSpc>
            </a:pPr>
            <a:r>
              <a:rPr lang="fa-IR" sz="2800" b="1" smtClean="0"/>
              <a:t>حیطه و حدود معلوم و در صورت لزوم به خوبی قابل تعریف </a:t>
            </a:r>
            <a:endParaRPr lang="en-US" sz="2800" smtClean="0"/>
          </a:p>
          <a:p>
            <a:pPr algn="r" rtl="1" eaLnBrk="1" hangingPunct="1">
              <a:lnSpc>
                <a:spcPct val="90000"/>
              </a:lnSpc>
            </a:pPr>
            <a:r>
              <a:rPr lang="fa-IR" sz="2800" b="1" smtClean="0"/>
              <a:t>قابل احاطه و پرداختن توسط ارائه کننده باشد </a:t>
            </a:r>
            <a:endParaRPr lang="en-US" sz="2800" smtClean="0"/>
          </a:p>
          <a:p>
            <a:pPr algn="r" rtl="1" eaLnBrk="1" hangingPunct="1">
              <a:lnSpc>
                <a:spcPct val="90000"/>
              </a:lnSpc>
            </a:pPr>
            <a:r>
              <a:rPr lang="fa-IR" sz="2800" b="1" smtClean="0"/>
              <a:t>مورد علاقه ارائه کننده باشد </a:t>
            </a:r>
            <a:endParaRPr lang="en-US" sz="2800" smtClean="0"/>
          </a:p>
          <a:p>
            <a:pPr algn="r" rtl="1" eaLnBrk="1" hangingPunct="1">
              <a:lnSpc>
                <a:spcPct val="90000"/>
              </a:lnSpc>
            </a:pPr>
            <a:r>
              <a:rPr lang="fa-IR" sz="2800" b="1" smtClean="0"/>
              <a:t>امکانات آماده سازی محتوای آن فراهم باشد</a:t>
            </a:r>
            <a:r>
              <a:rPr lang="fa-IR" sz="2800" smtClean="0"/>
              <a:t> </a:t>
            </a:r>
            <a:endParaRPr lang="en-US" sz="2800" smtClean="0"/>
          </a:p>
        </p:txBody>
      </p:sp>
      <p:sp>
        <p:nvSpPr>
          <p:cNvPr id="2" name="Rectangle 2"/>
          <p:cNvSpPr>
            <a:spLocks noGrp="1" noChangeArrowheads="1"/>
          </p:cNvSpPr>
          <p:nvPr>
            <p:ph type="title"/>
          </p:nvPr>
        </p:nvSpPr>
        <p:spPr>
          <a:xfrm>
            <a:off x="879475" y="277813"/>
            <a:ext cx="8229600" cy="1139825"/>
          </a:xfrm>
        </p:spPr>
        <p:txBody>
          <a:bodyPr/>
          <a:lstStyle/>
          <a:p>
            <a:pPr rtl="1" eaLnBrk="1" fontAlgn="auto" hangingPunct="1">
              <a:spcAft>
                <a:spcPts val="0"/>
              </a:spcAft>
              <a:defRPr/>
            </a:pPr>
            <a:r>
              <a:rPr lang="fa-IR" sz="3200" dirty="0" smtClean="0">
                <a:solidFill>
                  <a:srgbClr val="FF0000"/>
                </a:solidFill>
                <a:effectLst/>
                <a:cs typeface="B Titr" pitchFamily="2" charset="-78"/>
              </a:rPr>
              <a:t>خصوصیات کلی موضوع ارائه در مقولات علمی – فنی:</a:t>
            </a:r>
            <a:endParaRPr lang="en-US" sz="32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idx="1"/>
          </p:nvPr>
        </p:nvSpPr>
        <p:spPr/>
        <p:txBody>
          <a:bodyPr/>
          <a:lstStyle/>
          <a:p>
            <a:pPr algn="r" rtl="1" eaLnBrk="1" hangingPunct="1">
              <a:lnSpc>
                <a:spcPct val="90000"/>
              </a:lnSpc>
            </a:pPr>
            <a:r>
              <a:rPr lang="fa-IR" sz="2400" b="1" dirty="0" smtClean="0">
                <a:solidFill>
                  <a:srgbClr val="0070C0"/>
                </a:solidFill>
              </a:rPr>
              <a:t>هدف ارائه </a:t>
            </a:r>
          </a:p>
          <a:p>
            <a:pPr algn="r" rtl="1" eaLnBrk="1" hangingPunct="1">
              <a:lnSpc>
                <a:spcPct val="90000"/>
              </a:lnSpc>
            </a:pPr>
            <a:r>
              <a:rPr lang="fa-IR" sz="2400" b="1" dirty="0" smtClean="0"/>
              <a:t>فرصت ارائه </a:t>
            </a:r>
          </a:p>
          <a:p>
            <a:pPr algn="r" rtl="1" eaLnBrk="1" hangingPunct="1">
              <a:lnSpc>
                <a:spcPct val="90000"/>
              </a:lnSpc>
            </a:pPr>
            <a:r>
              <a:rPr lang="fa-IR" sz="2400" b="1" dirty="0" smtClean="0"/>
              <a:t>مکان ارائه </a:t>
            </a:r>
          </a:p>
          <a:p>
            <a:pPr algn="r" rtl="1" eaLnBrk="1" hangingPunct="1">
              <a:lnSpc>
                <a:spcPct val="90000"/>
              </a:lnSpc>
            </a:pPr>
            <a:r>
              <a:rPr lang="fa-IR" sz="2400" b="1" dirty="0" smtClean="0"/>
              <a:t>وضع اجتماعی محیط ارائه </a:t>
            </a:r>
          </a:p>
          <a:p>
            <a:pPr algn="r" rtl="1" eaLnBrk="1" hangingPunct="1">
              <a:lnSpc>
                <a:spcPct val="90000"/>
              </a:lnSpc>
            </a:pPr>
            <a:r>
              <a:rPr lang="fa-IR" sz="2400" b="1" dirty="0" smtClean="0">
                <a:solidFill>
                  <a:srgbClr val="0070C0"/>
                </a:solidFill>
              </a:rPr>
              <a:t>امکانات آماده سازی محتوای ارائه </a:t>
            </a:r>
          </a:p>
          <a:p>
            <a:pPr algn="r" rtl="1" eaLnBrk="1" hangingPunct="1">
              <a:lnSpc>
                <a:spcPct val="90000"/>
              </a:lnSpc>
            </a:pPr>
            <a:r>
              <a:rPr lang="fa-IR" sz="2400" b="1" dirty="0" smtClean="0"/>
              <a:t>امکانات کمکی ارائه </a:t>
            </a:r>
          </a:p>
          <a:p>
            <a:pPr algn="r" rtl="1" eaLnBrk="1" hangingPunct="1">
              <a:lnSpc>
                <a:spcPct val="90000"/>
              </a:lnSpc>
            </a:pPr>
            <a:r>
              <a:rPr lang="fa-IR" sz="2400" b="1" dirty="0" smtClean="0"/>
              <a:t>وضع مخاطب </a:t>
            </a:r>
          </a:p>
          <a:p>
            <a:pPr algn="r" rtl="1" eaLnBrk="1" hangingPunct="1">
              <a:lnSpc>
                <a:spcPct val="90000"/>
              </a:lnSpc>
            </a:pPr>
            <a:r>
              <a:rPr lang="fa-IR" sz="2400" b="1" dirty="0" smtClean="0"/>
              <a:t>موضوع ارائه </a:t>
            </a:r>
          </a:p>
          <a:p>
            <a:pPr algn="r" rtl="1" eaLnBrk="1" hangingPunct="1">
              <a:lnSpc>
                <a:spcPct val="90000"/>
              </a:lnSpc>
            </a:pPr>
            <a:r>
              <a:rPr lang="fa-IR" sz="2400" b="1" dirty="0" smtClean="0"/>
              <a:t>نتیجه یا نتایج مورد انتظار و برخی عوامل دیگر</a:t>
            </a:r>
            <a:r>
              <a:rPr lang="fa-IR" sz="2400" dirty="0" smtClean="0"/>
              <a:t> </a:t>
            </a:r>
          </a:p>
          <a:p>
            <a:pPr algn="r" rtl="1" eaLnBrk="1" hangingPunct="1">
              <a:lnSpc>
                <a:spcPct val="90000"/>
              </a:lnSpc>
              <a:buFont typeface="Wingdings" pitchFamily="2" charset="2"/>
              <a:buNone/>
            </a:pPr>
            <a:r>
              <a:rPr lang="fa-IR" sz="2400" b="1" dirty="0" smtClean="0"/>
              <a:t>ضمنا  انواع رایج تر ارائه در محافل علمی – فنی عبارتند از </a:t>
            </a:r>
            <a:r>
              <a:rPr lang="fa-IR" sz="2400" b="1" dirty="0" smtClean="0">
                <a:solidFill>
                  <a:srgbClr val="00B050"/>
                </a:solidFill>
              </a:rPr>
              <a:t>ارائه شفاهی – ارائه کتبی و ارائه ترکیبی</a:t>
            </a:r>
            <a:r>
              <a:rPr lang="fa-IR" sz="2400" dirty="0" smtClean="0">
                <a:solidFill>
                  <a:srgbClr val="00B050"/>
                </a:solidFill>
              </a:rPr>
              <a:t> </a:t>
            </a:r>
            <a:endParaRPr lang="en-US" sz="2400" dirty="0" smtClean="0">
              <a:solidFill>
                <a:srgbClr val="00B050"/>
              </a:solidFill>
            </a:endParaRPr>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sz="4000" dirty="0" smtClean="0">
                <a:solidFill>
                  <a:srgbClr val="FF0000"/>
                </a:solidFill>
                <a:effectLst/>
                <a:cs typeface="B Titr" pitchFamily="2" charset="-78"/>
              </a:rPr>
              <a:t>عوامل قابل توجه در انتخاب نوع ارائه:</a:t>
            </a:r>
            <a:endParaRPr lang="en-US" sz="40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idx="1"/>
          </p:nvPr>
        </p:nvSpPr>
        <p:spPr>
          <a:xfrm>
            <a:off x="457200" y="1600200"/>
            <a:ext cx="8229600" cy="5257800"/>
          </a:xfrm>
        </p:spPr>
        <p:txBody>
          <a:bodyPr/>
          <a:lstStyle/>
          <a:p>
            <a:pPr algn="r" rtl="1" eaLnBrk="1" hangingPunct="1">
              <a:lnSpc>
                <a:spcPct val="80000"/>
              </a:lnSpc>
            </a:pPr>
            <a:r>
              <a:rPr lang="fa-IR" sz="2000" b="1" smtClean="0"/>
              <a:t>انتقال دانش و فن از نسلی به نسل دیگر</a:t>
            </a:r>
            <a:endParaRPr lang="en-US" sz="2000" smtClean="0"/>
          </a:p>
          <a:p>
            <a:pPr algn="r" rtl="1" eaLnBrk="1" hangingPunct="1">
              <a:lnSpc>
                <a:spcPct val="80000"/>
              </a:lnSpc>
            </a:pPr>
            <a:r>
              <a:rPr lang="fa-IR" sz="2000" b="1" smtClean="0"/>
              <a:t>نشر دانش و فن </a:t>
            </a:r>
            <a:endParaRPr lang="en-US" sz="2000" smtClean="0"/>
          </a:p>
          <a:p>
            <a:pPr algn="r" rtl="1" eaLnBrk="1" hangingPunct="1">
              <a:lnSpc>
                <a:spcPct val="80000"/>
              </a:lnSpc>
            </a:pPr>
            <a:r>
              <a:rPr lang="fa-IR" sz="2000" b="1" smtClean="0"/>
              <a:t>گسترش دادن دانش و فن </a:t>
            </a:r>
            <a:endParaRPr lang="en-US" sz="2000" smtClean="0"/>
          </a:p>
          <a:p>
            <a:pPr algn="r" rtl="1" eaLnBrk="1" hangingPunct="1">
              <a:lnSpc>
                <a:spcPct val="80000"/>
              </a:lnSpc>
            </a:pPr>
            <a:r>
              <a:rPr lang="fa-IR" sz="2000" b="1" smtClean="0"/>
              <a:t>آموزش افراد </a:t>
            </a:r>
            <a:endParaRPr lang="en-US" sz="2000" smtClean="0"/>
          </a:p>
          <a:p>
            <a:pPr algn="r" rtl="1" eaLnBrk="1" hangingPunct="1">
              <a:lnSpc>
                <a:spcPct val="80000"/>
              </a:lnSpc>
            </a:pPr>
            <a:r>
              <a:rPr lang="fa-IR" sz="2000" b="1" smtClean="0"/>
              <a:t>خود آزمایی </a:t>
            </a:r>
            <a:endParaRPr lang="en-US" sz="2000" smtClean="0"/>
          </a:p>
          <a:p>
            <a:pPr algn="r" rtl="1" eaLnBrk="1" hangingPunct="1">
              <a:lnSpc>
                <a:spcPct val="80000"/>
              </a:lnSpc>
            </a:pPr>
            <a:r>
              <a:rPr lang="fa-IR" sz="2000" b="1" smtClean="0"/>
              <a:t>دریافت واکنش مخاطبین به منظور توسعه یا تعمیق موضوع </a:t>
            </a:r>
            <a:endParaRPr lang="en-US" sz="2000" smtClean="0"/>
          </a:p>
          <a:p>
            <a:pPr algn="r" rtl="1" eaLnBrk="1" hangingPunct="1">
              <a:lnSpc>
                <a:spcPct val="80000"/>
              </a:lnSpc>
            </a:pPr>
            <a:r>
              <a:rPr lang="fa-IR" sz="2000" b="1" smtClean="0"/>
              <a:t>ایجاد یا تقویت یک اندیشه </a:t>
            </a:r>
            <a:endParaRPr lang="en-US" sz="2000" smtClean="0"/>
          </a:p>
          <a:p>
            <a:pPr algn="r" rtl="1" eaLnBrk="1" hangingPunct="1">
              <a:lnSpc>
                <a:spcPct val="80000"/>
              </a:lnSpc>
            </a:pPr>
            <a:r>
              <a:rPr lang="fa-IR" sz="2000" b="1" smtClean="0"/>
              <a:t>رقابت در زمینه های علمی – فنی </a:t>
            </a:r>
            <a:endParaRPr lang="en-US" sz="2000" smtClean="0"/>
          </a:p>
          <a:p>
            <a:pPr algn="r" rtl="1" eaLnBrk="1" hangingPunct="1">
              <a:lnSpc>
                <a:spcPct val="80000"/>
              </a:lnSpc>
            </a:pPr>
            <a:r>
              <a:rPr lang="fa-IR" sz="2000" b="1" smtClean="0"/>
              <a:t>خدمت به نوع بشر برای بهتر زیستن و بهتر اندیشیدن </a:t>
            </a:r>
            <a:endParaRPr lang="en-US" sz="2000" smtClean="0"/>
          </a:p>
          <a:p>
            <a:pPr algn="r" rtl="1" eaLnBrk="1" hangingPunct="1">
              <a:lnSpc>
                <a:spcPct val="80000"/>
              </a:lnSpc>
            </a:pPr>
            <a:r>
              <a:rPr lang="fa-IR" sz="2000" b="1" smtClean="0"/>
              <a:t>تشریک مساعی در پژوهش </a:t>
            </a:r>
            <a:endParaRPr lang="en-US" sz="2000" smtClean="0"/>
          </a:p>
          <a:p>
            <a:pPr algn="r" rtl="1" eaLnBrk="1" hangingPunct="1">
              <a:lnSpc>
                <a:spcPct val="80000"/>
              </a:lnSpc>
            </a:pPr>
            <a:r>
              <a:rPr lang="fa-IR" sz="2000" b="1" smtClean="0"/>
              <a:t>ارضاء بعضی تمنیات غیر مادی </a:t>
            </a:r>
            <a:endParaRPr lang="en-US" sz="2000" smtClean="0"/>
          </a:p>
          <a:p>
            <a:pPr algn="r" rtl="1" eaLnBrk="1" hangingPunct="1">
              <a:lnSpc>
                <a:spcPct val="80000"/>
              </a:lnSpc>
            </a:pPr>
            <a:r>
              <a:rPr lang="fa-IR" sz="2000" b="1" smtClean="0"/>
              <a:t>رفع نیازهای مادی </a:t>
            </a:r>
            <a:endParaRPr lang="en-US" sz="2000" smtClean="0"/>
          </a:p>
          <a:p>
            <a:pPr algn="r" rtl="1" eaLnBrk="1" hangingPunct="1">
              <a:lnSpc>
                <a:spcPct val="80000"/>
              </a:lnSpc>
            </a:pPr>
            <a:r>
              <a:rPr lang="fa-IR" sz="2000" b="1" smtClean="0"/>
              <a:t>تجارت </a:t>
            </a:r>
            <a:endParaRPr lang="en-US" sz="2000" smtClean="0"/>
          </a:p>
          <a:p>
            <a:pPr algn="r" rtl="1" eaLnBrk="1" hangingPunct="1">
              <a:lnSpc>
                <a:spcPct val="80000"/>
              </a:lnSpc>
            </a:pPr>
            <a:r>
              <a:rPr lang="fa-IR" sz="2000" b="1" smtClean="0"/>
              <a:t>تبلیغات </a:t>
            </a:r>
            <a:endParaRPr lang="en-US" sz="2000" smtClean="0"/>
          </a:p>
          <a:p>
            <a:pPr algn="r" rtl="1" eaLnBrk="1" hangingPunct="1">
              <a:lnSpc>
                <a:spcPct val="80000"/>
              </a:lnSpc>
            </a:pPr>
            <a:r>
              <a:rPr lang="fa-IR" sz="2000" b="1" smtClean="0"/>
              <a:t>خودنمایی- فضل فروشی و تفاخر </a:t>
            </a:r>
            <a:endParaRPr lang="en-US" sz="2000" smtClean="0"/>
          </a:p>
          <a:p>
            <a:pPr algn="r" rtl="1" eaLnBrk="1" hangingPunct="1">
              <a:lnSpc>
                <a:spcPct val="80000"/>
              </a:lnSpc>
              <a:buFont typeface="Wingdings" pitchFamily="2" charset="2"/>
              <a:buNone/>
            </a:pPr>
            <a:r>
              <a:rPr lang="fa-IR" sz="2000" smtClean="0"/>
              <a:t> </a:t>
            </a:r>
            <a:endParaRPr lang="en-US" sz="2000" smtClean="0"/>
          </a:p>
        </p:txBody>
      </p:sp>
      <p:sp>
        <p:nvSpPr>
          <p:cNvPr id="2" name="Rectangle 2"/>
          <p:cNvSpPr>
            <a:spLocks noGrp="1" noChangeArrowheads="1"/>
          </p:cNvSpPr>
          <p:nvPr>
            <p:ph type="title"/>
          </p:nvPr>
        </p:nvSpPr>
        <p:spPr>
          <a:xfrm>
            <a:off x="1187450" y="188913"/>
            <a:ext cx="7848600" cy="1139825"/>
          </a:xfrm>
        </p:spPr>
        <p:txBody>
          <a:bodyPr/>
          <a:lstStyle/>
          <a:p>
            <a:pPr algn="r" rtl="1" eaLnBrk="1" fontAlgn="auto" hangingPunct="1">
              <a:spcAft>
                <a:spcPts val="0"/>
              </a:spcAft>
              <a:defRPr/>
            </a:pPr>
            <a:r>
              <a:rPr lang="fa-IR" sz="3600" dirty="0" smtClean="0">
                <a:solidFill>
                  <a:srgbClr val="FF0000"/>
                </a:solidFill>
                <a:effectLst/>
                <a:cs typeface="B Titr" pitchFamily="2" charset="-78"/>
              </a:rPr>
              <a:t>انگیزه و اهداف در ارائه علمی – فنی عبارتند از: </a:t>
            </a:r>
            <a:endParaRPr lang="en-US" sz="36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AutoShape 2"/>
          <p:cNvSpPr>
            <a:spLocks noChangeArrowheads="1"/>
          </p:cNvSpPr>
          <p:nvPr/>
        </p:nvSpPr>
        <p:spPr bwMode="auto">
          <a:xfrm>
            <a:off x="3419475" y="2133600"/>
            <a:ext cx="2520950" cy="2016125"/>
          </a:xfrm>
          <a:prstGeom prst="hexagon">
            <a:avLst>
              <a:gd name="adj" fmla="val 31260"/>
              <a:gd name="vf" fmla="val 115470"/>
            </a:avLst>
          </a:prstGeom>
          <a:solidFill>
            <a:srgbClr val="FF9900"/>
          </a:solidFill>
          <a:ln w="9525" algn="ctr">
            <a:solidFill>
              <a:schemeClr val="tx1"/>
            </a:solidFill>
            <a:miter lim="800000"/>
            <a:headEnd/>
            <a:tailEnd/>
          </a:ln>
        </p:spPr>
        <p:txBody>
          <a:bodyPr wrap="none" anchor="ctr"/>
          <a:lstStyle/>
          <a:p>
            <a:r>
              <a:rPr lang="fa-IR" sz="4000" b="0">
                <a:solidFill>
                  <a:schemeClr val="tx1"/>
                </a:solidFill>
                <a:cs typeface="Arabic Transparent" pitchFamily="2" charset="0"/>
              </a:rPr>
              <a:t>ا</a:t>
            </a:r>
            <a:r>
              <a:rPr lang="fa-IR" sz="4000">
                <a:solidFill>
                  <a:schemeClr val="tx1"/>
                </a:solidFill>
                <a:cs typeface="Arabic Transparent" pitchFamily="2" charset="0"/>
              </a:rPr>
              <a:t>طلاع</a:t>
            </a:r>
            <a:endParaRPr lang="en-US" sz="4000">
              <a:solidFill>
                <a:schemeClr val="tx1"/>
              </a:solidFill>
              <a:cs typeface="Arabic Transparent" pitchFamily="2" charset="0"/>
            </a:endParaRPr>
          </a:p>
        </p:txBody>
      </p:sp>
      <p:sp>
        <p:nvSpPr>
          <p:cNvPr id="40963" name="AutoShape 3"/>
          <p:cNvSpPr>
            <a:spLocks noChangeArrowheads="1"/>
          </p:cNvSpPr>
          <p:nvPr/>
        </p:nvSpPr>
        <p:spPr bwMode="auto">
          <a:xfrm>
            <a:off x="3924300" y="4149725"/>
            <a:ext cx="1511300" cy="1655763"/>
          </a:xfrm>
          <a:prstGeom prst="triangle">
            <a:avLst>
              <a:gd name="adj" fmla="val 50000"/>
            </a:avLst>
          </a:prstGeom>
          <a:solidFill>
            <a:srgbClr val="FFFF00"/>
          </a:solidFill>
          <a:ln w="9525" algn="ctr">
            <a:solidFill>
              <a:schemeClr val="tx1"/>
            </a:solidFill>
            <a:miter lim="800000"/>
            <a:headEnd/>
            <a:tailEnd/>
          </a:ln>
        </p:spPr>
        <p:txBody>
          <a:bodyPr wrap="none" anchor="ctr"/>
          <a:lstStyle/>
          <a:p>
            <a:r>
              <a:rPr lang="fa-IR" sz="2000">
                <a:solidFill>
                  <a:schemeClr val="tx1"/>
                </a:solidFill>
              </a:rPr>
              <a:t>پرسشنامه</a:t>
            </a:r>
            <a:r>
              <a:rPr lang="fa-IR" sz="2000" b="0">
                <a:solidFill>
                  <a:schemeClr val="tx1"/>
                </a:solidFill>
              </a:rPr>
              <a:t> </a:t>
            </a:r>
            <a:endParaRPr lang="en-US" sz="2000" b="0">
              <a:solidFill>
                <a:schemeClr val="tx1"/>
              </a:solidFill>
            </a:endParaRPr>
          </a:p>
        </p:txBody>
      </p:sp>
      <p:sp>
        <p:nvSpPr>
          <p:cNvPr id="40964" name="AutoShape 4"/>
          <p:cNvSpPr>
            <a:spLocks noChangeArrowheads="1"/>
          </p:cNvSpPr>
          <p:nvPr/>
        </p:nvSpPr>
        <p:spPr bwMode="auto">
          <a:xfrm rot="-3966301">
            <a:off x="5918994" y="3118644"/>
            <a:ext cx="1079500" cy="1763712"/>
          </a:xfrm>
          <a:prstGeom prst="triangle">
            <a:avLst>
              <a:gd name="adj" fmla="val 50000"/>
            </a:avLst>
          </a:prstGeom>
          <a:solidFill>
            <a:srgbClr val="FFFF00"/>
          </a:solidFill>
          <a:ln w="9525" algn="ctr">
            <a:solidFill>
              <a:schemeClr val="tx1"/>
            </a:solidFill>
            <a:miter lim="800000"/>
            <a:headEnd/>
            <a:tailEnd/>
          </a:ln>
        </p:spPr>
        <p:txBody>
          <a:bodyPr vert="eaVert" wrap="none" anchor="ctr"/>
          <a:lstStyle/>
          <a:p>
            <a:r>
              <a:rPr lang="fa-IR" sz="2400">
                <a:solidFill>
                  <a:schemeClr val="tx1"/>
                </a:solidFill>
              </a:rPr>
              <a:t>مشاهده</a:t>
            </a:r>
            <a:r>
              <a:rPr lang="fa-IR" b="0">
                <a:solidFill>
                  <a:schemeClr val="tx1"/>
                </a:solidFill>
              </a:rPr>
              <a:t> </a:t>
            </a:r>
            <a:endParaRPr lang="en-US" b="0">
              <a:solidFill>
                <a:schemeClr val="tx1"/>
              </a:solidFill>
            </a:endParaRPr>
          </a:p>
        </p:txBody>
      </p:sp>
      <p:sp>
        <p:nvSpPr>
          <p:cNvPr id="40965" name="AutoShape 5"/>
          <p:cNvSpPr>
            <a:spLocks noChangeArrowheads="1"/>
          </p:cNvSpPr>
          <p:nvPr/>
        </p:nvSpPr>
        <p:spPr bwMode="auto">
          <a:xfrm rot="3073213">
            <a:off x="2556669" y="3356769"/>
            <a:ext cx="1079500" cy="1655762"/>
          </a:xfrm>
          <a:prstGeom prst="triangle">
            <a:avLst>
              <a:gd name="adj" fmla="val 50000"/>
            </a:avLst>
          </a:prstGeom>
          <a:solidFill>
            <a:srgbClr val="FFFF00"/>
          </a:solidFill>
          <a:ln w="9525" algn="ctr">
            <a:solidFill>
              <a:schemeClr val="tx1"/>
            </a:solidFill>
            <a:miter lim="800000"/>
            <a:headEnd/>
            <a:tailEnd/>
          </a:ln>
        </p:spPr>
        <p:txBody>
          <a:bodyPr rot="10800000" vert="eaVert" wrap="none" anchor="ctr"/>
          <a:lstStyle/>
          <a:p>
            <a:r>
              <a:rPr lang="fa-IR" sz="2400">
                <a:solidFill>
                  <a:schemeClr val="tx1"/>
                </a:solidFill>
              </a:rPr>
              <a:t>مصاحبه</a:t>
            </a:r>
            <a:r>
              <a:rPr lang="fa-IR" b="0">
                <a:solidFill>
                  <a:schemeClr val="tx1"/>
                </a:solidFill>
              </a:rPr>
              <a:t> </a:t>
            </a:r>
          </a:p>
          <a:p>
            <a:endParaRPr lang="en-US" b="0"/>
          </a:p>
        </p:txBody>
      </p:sp>
      <p:sp>
        <p:nvSpPr>
          <p:cNvPr id="40966" name="AutoShape 6"/>
          <p:cNvSpPr>
            <a:spLocks noChangeArrowheads="1"/>
          </p:cNvSpPr>
          <p:nvPr/>
        </p:nvSpPr>
        <p:spPr bwMode="auto">
          <a:xfrm rot="7736047">
            <a:off x="2556669" y="1196182"/>
            <a:ext cx="1079500" cy="1655762"/>
          </a:xfrm>
          <a:prstGeom prst="triangle">
            <a:avLst>
              <a:gd name="adj" fmla="val 50000"/>
            </a:avLst>
          </a:prstGeom>
          <a:solidFill>
            <a:srgbClr val="FFFF00"/>
          </a:solidFill>
          <a:ln w="9525" algn="ctr">
            <a:solidFill>
              <a:schemeClr val="tx1"/>
            </a:solidFill>
            <a:miter lim="800000"/>
            <a:headEnd/>
            <a:tailEnd/>
          </a:ln>
        </p:spPr>
        <p:txBody>
          <a:bodyPr rot="10800000" vert="eaVert" wrap="none" anchor="ctr"/>
          <a:lstStyle/>
          <a:p>
            <a:r>
              <a:rPr lang="fa-IR" sz="2400">
                <a:solidFill>
                  <a:schemeClr val="tx1"/>
                </a:solidFill>
              </a:rPr>
              <a:t>آزمايش</a:t>
            </a:r>
            <a:r>
              <a:rPr lang="fa-IR" sz="2400"/>
              <a:t> </a:t>
            </a:r>
            <a:endParaRPr lang="en-US" sz="2400"/>
          </a:p>
        </p:txBody>
      </p:sp>
      <p:sp>
        <p:nvSpPr>
          <p:cNvPr id="40967" name="AutoShape 7"/>
          <p:cNvSpPr>
            <a:spLocks noChangeArrowheads="1"/>
          </p:cNvSpPr>
          <p:nvPr/>
        </p:nvSpPr>
        <p:spPr bwMode="auto">
          <a:xfrm rot="-7525380">
            <a:off x="5796757" y="1340643"/>
            <a:ext cx="1079500" cy="1655763"/>
          </a:xfrm>
          <a:prstGeom prst="triangle">
            <a:avLst>
              <a:gd name="adj" fmla="val 50000"/>
            </a:avLst>
          </a:prstGeom>
          <a:solidFill>
            <a:srgbClr val="FFFF00"/>
          </a:solidFill>
          <a:ln w="9525" algn="ctr">
            <a:solidFill>
              <a:schemeClr val="tx1"/>
            </a:solidFill>
            <a:miter lim="800000"/>
            <a:headEnd/>
            <a:tailEnd/>
          </a:ln>
        </p:spPr>
        <p:txBody>
          <a:bodyPr vert="eaVert" wrap="none" anchor="ctr"/>
          <a:lstStyle/>
          <a:p>
            <a:r>
              <a:rPr lang="fa-IR" sz="2400">
                <a:solidFill>
                  <a:schemeClr val="tx1"/>
                </a:solidFill>
              </a:rPr>
              <a:t>مطالعه </a:t>
            </a:r>
            <a:endParaRPr lang="en-US" sz="2400">
              <a:solidFill>
                <a:schemeClr val="tx1"/>
              </a:solidFill>
            </a:endParaRPr>
          </a:p>
        </p:txBody>
      </p:sp>
      <p:sp>
        <p:nvSpPr>
          <p:cNvPr id="40968" name="Rectangle 8"/>
          <p:cNvSpPr>
            <a:spLocks noChangeArrowheads="1"/>
          </p:cNvSpPr>
          <p:nvPr/>
        </p:nvSpPr>
        <p:spPr bwMode="auto">
          <a:xfrm>
            <a:off x="3492500" y="6092825"/>
            <a:ext cx="2232025" cy="504825"/>
          </a:xfrm>
          <a:prstGeom prst="rect">
            <a:avLst/>
          </a:prstGeom>
          <a:solidFill>
            <a:schemeClr val="bg1"/>
          </a:solidFill>
          <a:ln w="9525" algn="ctr">
            <a:solidFill>
              <a:schemeClr val="tx1"/>
            </a:solidFill>
            <a:miter lim="800000"/>
            <a:headEnd/>
            <a:tailEnd/>
          </a:ln>
        </p:spPr>
        <p:txBody>
          <a:bodyPr wrap="none" anchor="ctr"/>
          <a:lstStyle/>
          <a:p>
            <a:r>
              <a:rPr lang="fa-IR" sz="2400">
                <a:solidFill>
                  <a:schemeClr val="tx1"/>
                </a:solidFill>
              </a:rPr>
              <a:t>راههاي كسب اطلاع </a:t>
            </a:r>
            <a:endParaRPr lang="en-US" sz="2400">
              <a:solidFill>
                <a:schemeClr val="tx1"/>
              </a:solidFill>
            </a:endParaRPr>
          </a:p>
        </p:txBody>
      </p:sp>
    </p:spTree>
  </p:cSld>
  <p:clrMapOvr>
    <a:masterClrMapping/>
  </p:clrMapOvr>
  <p:transition spd="med">
    <p:wipe dir="d"/>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idx="1"/>
          </p:nvPr>
        </p:nvSpPr>
        <p:spPr/>
        <p:txBody>
          <a:bodyPr/>
          <a:lstStyle/>
          <a:p>
            <a:pPr algn="justLow" rtl="1" eaLnBrk="1" hangingPunct="1">
              <a:buFont typeface="Wingdings" pitchFamily="2" charset="2"/>
              <a:buNone/>
            </a:pPr>
            <a:r>
              <a:rPr lang="fa-IR" b="1" smtClean="0"/>
              <a:t>منظور از امکانات آماده سازی محتوای ارائه عمدتا " منابع کسب اطلاع و تولید شناخت "برای تهیه و تنظیم مطلب ، تصویر و حتی ادای حرکت یا تولید صوت است .</a:t>
            </a:r>
            <a:endParaRPr lang="en-US" b="1" smtClean="0"/>
          </a:p>
        </p:txBody>
      </p:sp>
      <p:sp>
        <p:nvSpPr>
          <p:cNvPr id="54274" name="Rectangle 2"/>
          <p:cNvSpPr>
            <a:spLocks noGrp="1" noChangeArrowheads="1"/>
          </p:cNvSpPr>
          <p:nvPr>
            <p:ph type="title"/>
          </p:nvPr>
        </p:nvSpPr>
        <p:spPr/>
        <p:txBody>
          <a:bodyPr/>
          <a:lstStyle/>
          <a:p>
            <a:pPr algn="r" rtl="1" eaLnBrk="1" fontAlgn="auto" hangingPunct="1">
              <a:spcAft>
                <a:spcPts val="0"/>
              </a:spcAft>
              <a:defRPr/>
            </a:pPr>
            <a:r>
              <a:rPr lang="fa-IR" dirty="0" smtClean="0"/>
              <a:t> </a:t>
            </a:r>
            <a:r>
              <a:rPr lang="fa-IR" dirty="0" smtClean="0">
                <a:solidFill>
                  <a:srgbClr val="FF0000"/>
                </a:solidFill>
                <a:cs typeface="B Titr" pitchFamily="2" charset="-78"/>
              </a:rPr>
              <a:t>امکانات آماده سازی </a:t>
            </a:r>
            <a:r>
              <a:rPr lang="fa-IR" dirty="0" smtClean="0">
                <a:solidFill>
                  <a:srgbClr val="FF0000"/>
                </a:solidFill>
                <a:effectLst/>
                <a:cs typeface="B Titr" pitchFamily="2" charset="-78"/>
              </a:rPr>
              <a:t>محتوای</a:t>
            </a:r>
            <a:r>
              <a:rPr lang="fa-IR" dirty="0" smtClean="0">
                <a:solidFill>
                  <a:srgbClr val="FF0000"/>
                </a:solidFill>
                <a:cs typeface="B Titr" pitchFamily="2" charset="-78"/>
              </a:rPr>
              <a:t> ارائه: </a:t>
            </a:r>
            <a:endParaRPr lang="en-US" dirty="0" smtClean="0">
              <a:solidFill>
                <a:srgbClr val="FF0000"/>
              </a:solidFill>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noChangeArrowheads="1"/>
          </p:cNvSpPr>
          <p:nvPr>
            <p:ph idx="1"/>
          </p:nvPr>
        </p:nvSpPr>
        <p:spPr/>
        <p:txBody>
          <a:bodyPr/>
          <a:lstStyle/>
          <a:p>
            <a:pPr algn="just" rtl="1" eaLnBrk="1" hangingPunct="1">
              <a:buFont typeface="Wingdings" pitchFamily="2" charset="2"/>
              <a:buNone/>
            </a:pPr>
            <a:r>
              <a:rPr lang="fa-IR" b="1" smtClean="0"/>
              <a:t>داشتن شناخت درست و کافی از وضع اجتماعی محیط ارائه از نظر</a:t>
            </a:r>
            <a:r>
              <a:rPr lang="en-US" b="1" smtClean="0"/>
              <a:t>  </a:t>
            </a:r>
            <a:r>
              <a:rPr lang="fa-IR" b="1" smtClean="0"/>
              <a:t>اخلاقی، فرهنگی، سیاسی و اقتصادی</a:t>
            </a:r>
            <a:r>
              <a:rPr lang="en-US" b="1" smtClean="0"/>
              <a:t>  </a:t>
            </a:r>
            <a:r>
              <a:rPr lang="fa-IR" b="1" smtClean="0"/>
              <a:t>در انجام ارائه تاثیر دارد.</a:t>
            </a:r>
            <a:r>
              <a:rPr lang="en-US" b="1" smtClean="0"/>
              <a:t> </a:t>
            </a:r>
            <a:r>
              <a:rPr lang="fa-IR" b="1" smtClean="0"/>
              <a:t>هر چه میزان شناخت ارائه کننده از وضع اجتماعی  محیط ارائه بیشتر و درست تر باشد ارائه را مطلوب تر انجام خواهد داد .</a:t>
            </a:r>
            <a:endParaRPr lang="en-US" b="1" smtClean="0"/>
          </a:p>
        </p:txBody>
      </p:sp>
      <p:sp>
        <p:nvSpPr>
          <p:cNvPr id="55298" name="Rectangle 2"/>
          <p:cNvSpPr>
            <a:spLocks noGrp="1" noChangeArrowheads="1"/>
          </p:cNvSpPr>
          <p:nvPr>
            <p:ph type="title"/>
          </p:nvPr>
        </p:nvSpPr>
        <p:spPr/>
        <p:txBody>
          <a:bodyPr/>
          <a:lstStyle/>
          <a:p>
            <a:pPr algn="r" rtl="1" eaLnBrk="1" fontAlgn="auto" hangingPunct="1">
              <a:spcAft>
                <a:spcPts val="0"/>
              </a:spcAft>
              <a:defRPr/>
            </a:pPr>
            <a:r>
              <a:rPr lang="en-US" dirty="0" smtClean="0"/>
              <a:t> </a:t>
            </a:r>
            <a:r>
              <a:rPr lang="fa-IR" dirty="0" smtClean="0">
                <a:solidFill>
                  <a:srgbClr val="FF0000"/>
                </a:solidFill>
                <a:effectLst/>
                <a:cs typeface="B Titr" pitchFamily="2" charset="-78"/>
              </a:rPr>
              <a:t>وضع اجتماعی محیط ارائه: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4">
            <a:hlinkClick r:id="rId2" action="ppaction://hlinksldjump"/>
          </p:cNvPr>
          <p:cNvSpPr txBox="1">
            <a:spLocks noChangeArrowheads="1"/>
          </p:cNvSpPr>
          <p:nvPr/>
        </p:nvSpPr>
        <p:spPr bwMode="auto">
          <a:xfrm>
            <a:off x="2627313" y="2708275"/>
            <a:ext cx="3887787" cy="762000"/>
          </a:xfrm>
          <a:prstGeom prst="rect">
            <a:avLst/>
          </a:prstGeom>
          <a:noFill/>
          <a:ln w="9525">
            <a:noFill/>
            <a:miter lim="800000"/>
            <a:headEnd/>
            <a:tailEnd/>
          </a:ln>
        </p:spPr>
        <p:txBody>
          <a:bodyPr>
            <a:spAutoFit/>
          </a:bodyPr>
          <a:lstStyle/>
          <a:p>
            <a:pPr rtl="1"/>
            <a:r>
              <a:rPr lang="fa-IR" sz="4400" dirty="0">
                <a:solidFill>
                  <a:schemeClr val="tx1"/>
                </a:solidFill>
                <a:cs typeface="B Titr" panose="00000700000000000000" pitchFamily="2" charset="-78"/>
              </a:rPr>
              <a:t>ارائه </a:t>
            </a:r>
            <a:r>
              <a:rPr lang="fa-IR" sz="4400" dirty="0" err="1">
                <a:solidFill>
                  <a:schemeClr val="tx1"/>
                </a:solidFill>
                <a:cs typeface="B Titr" panose="00000700000000000000" pitchFamily="2" charset="-78"/>
              </a:rPr>
              <a:t>كتبي</a:t>
            </a:r>
            <a:endParaRPr lang="en-US" sz="4400" dirty="0">
              <a:solidFill>
                <a:schemeClr val="tx1"/>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idx="1"/>
          </p:nvPr>
        </p:nvSpPr>
        <p:spPr/>
        <p:txBody>
          <a:bodyPr/>
          <a:lstStyle/>
          <a:p>
            <a:pPr algn="just" rtl="1" eaLnBrk="1" hangingPunct="1">
              <a:buFont typeface="Wingdings" pitchFamily="2" charset="2"/>
              <a:buNone/>
            </a:pPr>
            <a:r>
              <a:rPr lang="fa-IR" b="1" smtClean="0"/>
              <a:t>نوعی ارائه است که  رسانه اصلی آن نوشتار است هرچند در مقولات </a:t>
            </a:r>
            <a:r>
              <a:rPr lang="en-US" b="1" smtClean="0"/>
              <a:t> </a:t>
            </a:r>
            <a:r>
              <a:rPr lang="fa-IR" b="1" smtClean="0"/>
              <a:t> علمی – فنی معمولا از شکل هم برای انتقال ایده استفاده می شود . ارائه کننده به کمک یک زبان دارای خط و بر اساس سبک و سیاق مشخص اطلاعات مورد نظر خود را منتقل می کند .</a:t>
            </a:r>
            <a:endParaRPr lang="en-US" b="1" smtClean="0"/>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effectLst/>
                <a:cs typeface="B Titr" pitchFamily="2" charset="-78"/>
              </a:rPr>
              <a:t>تعریف ارائه کتبی :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noChangeArrowheads="1"/>
          </p:cNvSpPr>
          <p:nvPr>
            <p:ph idx="1"/>
          </p:nvPr>
        </p:nvSpPr>
        <p:spPr/>
        <p:txBody>
          <a:bodyPr/>
          <a:lstStyle/>
          <a:p>
            <a:pPr algn="r" rtl="1" eaLnBrk="1" hangingPunct="1">
              <a:lnSpc>
                <a:spcPct val="80000"/>
              </a:lnSpc>
              <a:buFont typeface="Wingdings" pitchFamily="2" charset="2"/>
              <a:buNone/>
            </a:pPr>
            <a:r>
              <a:rPr lang="fa-IR" sz="2400" b="1" dirty="0" smtClean="0"/>
              <a:t>ارائه کتبی به مثابه نوعی انتقال اطلاعات خصوصیاتی دارد به شرح ذیل : </a:t>
            </a:r>
          </a:p>
          <a:p>
            <a:pPr algn="r" rtl="1" eaLnBrk="1" hangingPunct="1">
              <a:lnSpc>
                <a:spcPct val="80000"/>
              </a:lnSpc>
            </a:pPr>
            <a:r>
              <a:rPr lang="fa-IR" sz="2400" b="1" dirty="0" smtClean="0"/>
              <a:t>غیابی است (ارائه کننده حضور ندارد )</a:t>
            </a:r>
          </a:p>
          <a:p>
            <a:pPr algn="r" rtl="1" eaLnBrk="1" hangingPunct="1">
              <a:lnSpc>
                <a:spcPct val="80000"/>
              </a:lnSpc>
            </a:pPr>
            <a:r>
              <a:rPr lang="fa-IR" sz="2400" b="1" dirty="0" smtClean="0"/>
              <a:t>قابل استناد است </a:t>
            </a:r>
          </a:p>
          <a:p>
            <a:pPr algn="r" rtl="1" eaLnBrk="1" hangingPunct="1">
              <a:lnSpc>
                <a:spcPct val="80000"/>
              </a:lnSpc>
            </a:pPr>
            <a:r>
              <a:rPr lang="fa-IR" sz="2400" b="1" dirty="0" smtClean="0"/>
              <a:t>با فرصت است </a:t>
            </a:r>
          </a:p>
          <a:p>
            <a:pPr algn="r" rtl="1" eaLnBrk="1" hangingPunct="1">
              <a:lnSpc>
                <a:spcPct val="80000"/>
              </a:lnSpc>
            </a:pPr>
            <a:r>
              <a:rPr lang="fa-IR" sz="2400" b="1" dirty="0" smtClean="0"/>
              <a:t>مشروح است (عرصه شرح و بسط وجود دارد البته باید کنترل کمی و کیفی شود)</a:t>
            </a:r>
          </a:p>
          <a:p>
            <a:pPr algn="r" rtl="1" eaLnBrk="1" hangingPunct="1">
              <a:lnSpc>
                <a:spcPct val="80000"/>
              </a:lnSpc>
            </a:pPr>
            <a:r>
              <a:rPr lang="fa-IR" sz="2400" b="1" dirty="0" smtClean="0"/>
              <a:t>تعداد مخاطبین معمولا زیاد است </a:t>
            </a:r>
          </a:p>
          <a:p>
            <a:pPr algn="r" rtl="1" eaLnBrk="1" hangingPunct="1">
              <a:lnSpc>
                <a:spcPct val="80000"/>
              </a:lnSpc>
            </a:pPr>
            <a:r>
              <a:rPr lang="fa-IR" sz="2400" b="1" dirty="0" smtClean="0"/>
              <a:t>سبک و سیاق مشخص و معمولا واحد دارد (به ویژه در مقولات علمی – فنی )</a:t>
            </a:r>
          </a:p>
          <a:p>
            <a:pPr algn="r" rtl="1" eaLnBrk="1" hangingPunct="1">
              <a:lnSpc>
                <a:spcPct val="80000"/>
              </a:lnSpc>
            </a:pPr>
            <a:r>
              <a:rPr lang="fa-IR" sz="2400" b="1" dirty="0" smtClean="0"/>
              <a:t>تاثیر </a:t>
            </a:r>
            <a:r>
              <a:rPr lang="fa-IR" sz="2400" b="1" dirty="0" err="1" smtClean="0"/>
              <a:t>گذاریش</a:t>
            </a:r>
            <a:r>
              <a:rPr lang="fa-IR" sz="2400" b="1" dirty="0" smtClean="0"/>
              <a:t> تدریجی (و طبعا غیابی ) است .</a:t>
            </a:r>
          </a:p>
          <a:p>
            <a:pPr algn="r" rtl="1" eaLnBrk="1" hangingPunct="1">
              <a:lnSpc>
                <a:spcPct val="80000"/>
              </a:lnSpc>
            </a:pPr>
            <a:r>
              <a:rPr lang="fa-IR" sz="2400" b="1" dirty="0" smtClean="0"/>
              <a:t>احتمال بروز اشتباه (حداقل نسبت به ارائه شفاهی ) کمتر است  </a:t>
            </a:r>
          </a:p>
          <a:p>
            <a:pPr algn="r" rtl="1" eaLnBrk="1" hangingPunct="1">
              <a:lnSpc>
                <a:spcPct val="80000"/>
              </a:lnSpc>
            </a:pPr>
            <a:r>
              <a:rPr lang="fa-IR" sz="2400" b="1" dirty="0" smtClean="0"/>
              <a:t>امکان تبادل نظر و رویارویی وجود ندارد و اساسا نوعی انتقال اطلاعات یکسویه است.</a:t>
            </a:r>
            <a:endParaRPr lang="en-US" sz="2400" b="1" dirty="0" smtClean="0"/>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effectLst/>
                <a:cs typeface="B Titr" pitchFamily="2" charset="-78"/>
              </a:rPr>
              <a:t>خصوصیات ارائه کتبی :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idx="1"/>
          </p:nvPr>
        </p:nvSpPr>
        <p:spPr/>
        <p:txBody>
          <a:bodyPr/>
          <a:lstStyle/>
          <a:p>
            <a:pPr algn="justLow" rtl="1" eaLnBrk="1" hangingPunct="1">
              <a:buFont typeface="Wingdings" pitchFamily="2" charset="2"/>
              <a:buNone/>
            </a:pPr>
            <a:r>
              <a:rPr lang="fa-IR" b="1" smtClean="0"/>
              <a:t>ارائه کتبی را می توان از چند جنبه رده بندی کرد از جمله فرم / صورت ، ماهیت محتوا ، سبک ، هدف ،مورد استفاده ، مخاطبین ، سطح محتوا و ... اما هدف اصلی این کتاب در ارائه کتبی در دو رده کلی دانشگاهی  ( کم وبیش آکادمیک ) و غیر دانشگاهی می باشد .</a:t>
            </a:r>
            <a:endParaRPr lang="en-US" b="1" smtClean="0"/>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cs typeface="B Titr" pitchFamily="2" charset="-78"/>
              </a:rPr>
              <a:t>انواع ارائه کتبی :</a:t>
            </a:r>
            <a:endParaRPr lang="en-US" dirty="0" smtClean="0">
              <a:solidFill>
                <a:srgbClr val="FF0000"/>
              </a:solidFill>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idx="1"/>
          </p:nvPr>
        </p:nvSpPr>
        <p:spPr/>
        <p:txBody>
          <a:bodyPr/>
          <a:lstStyle/>
          <a:p>
            <a:pPr algn="justLow" rtl="1" eaLnBrk="1" hangingPunct="1">
              <a:buFont typeface="Wingdings" pitchFamily="2" charset="2"/>
              <a:buNone/>
            </a:pPr>
            <a:r>
              <a:rPr lang="fa-IR" b="1" dirty="0" smtClean="0"/>
              <a:t>دانشگاهی : </a:t>
            </a:r>
          </a:p>
          <a:p>
            <a:pPr algn="justLow" rtl="1" eaLnBrk="1" hangingPunct="1">
              <a:buFont typeface="Wingdings" pitchFamily="2" charset="2"/>
              <a:buNone/>
            </a:pPr>
            <a:r>
              <a:rPr lang="fa-IR" b="1" dirty="0" smtClean="0"/>
              <a:t>کتاب ، جزوه ، مقاله ، انواع گزارشها ، رساله ، یادداشت تحقیق ، دانشنامه ( </a:t>
            </a:r>
            <a:r>
              <a:rPr lang="fa-IR" b="1" dirty="0" err="1" smtClean="0"/>
              <a:t>تز</a:t>
            </a:r>
            <a:r>
              <a:rPr lang="fa-IR" b="1" dirty="0" smtClean="0"/>
              <a:t> ) ،مجله برنامه کامپیوتری و ... که بعضی از این گونه ها در سطوح پایین تر آموزش نیز وجود دارند .</a:t>
            </a:r>
          </a:p>
          <a:p>
            <a:pPr algn="justLow" rtl="1" eaLnBrk="1" hangingPunct="1">
              <a:buFont typeface="Wingdings" pitchFamily="2" charset="2"/>
              <a:buNone/>
            </a:pPr>
            <a:r>
              <a:rPr lang="fa-IR" b="1" dirty="0" smtClean="0"/>
              <a:t>غیر دانشگاهی :</a:t>
            </a:r>
          </a:p>
          <a:p>
            <a:pPr algn="justLow" rtl="1" eaLnBrk="1" hangingPunct="1">
              <a:buFont typeface="Wingdings" pitchFamily="2" charset="2"/>
              <a:buNone/>
            </a:pPr>
            <a:r>
              <a:rPr lang="fa-IR" b="1" dirty="0" smtClean="0"/>
              <a:t> کتاب ، مجله ، روزنامه، جنگ ، بروشور ، بولتن ، کاتالوگ ، انواع گزارشها ، کتابهای راهنما ، اطلس ، آلبوم ، فصل نامه ، سالنامه ، مکاتبات اداری و ...</a:t>
            </a:r>
            <a:endParaRPr lang="en-US" b="1" dirty="0" smtClean="0"/>
          </a:p>
        </p:txBody>
      </p:sp>
      <p:sp>
        <p:nvSpPr>
          <p:cNvPr id="2" name="Rectangle 2"/>
          <p:cNvSpPr>
            <a:spLocks noGrp="1" noChangeArrowheads="1"/>
          </p:cNvSpPr>
          <p:nvPr>
            <p:ph type="title"/>
          </p:nvPr>
        </p:nvSpPr>
        <p:spPr>
          <a:xfrm>
            <a:off x="214282" y="277813"/>
            <a:ext cx="8329643" cy="1139825"/>
          </a:xfrm>
        </p:spPr>
        <p:txBody>
          <a:bodyPr>
            <a:normAutofit fontScale="90000"/>
          </a:bodyPr>
          <a:lstStyle/>
          <a:p>
            <a:pPr algn="ctr" rtl="1" eaLnBrk="1" fontAlgn="auto" hangingPunct="1">
              <a:spcAft>
                <a:spcPts val="0"/>
              </a:spcAft>
              <a:defRPr/>
            </a:pPr>
            <a:r>
              <a:rPr lang="fa-IR" sz="4000" dirty="0" smtClean="0">
                <a:solidFill>
                  <a:srgbClr val="FF0000"/>
                </a:solidFill>
                <a:effectLst/>
                <a:cs typeface="B Titr" pitchFamily="2" charset="-78"/>
              </a:rPr>
              <a:t>گونه های رایج تر ارائه کتبی دانشگاهی و </a:t>
            </a:r>
            <a:r>
              <a:rPr lang="en-US" sz="4000" dirty="0" smtClean="0">
                <a:solidFill>
                  <a:srgbClr val="FF0000"/>
                </a:solidFill>
                <a:effectLst/>
                <a:cs typeface="B Titr" pitchFamily="2" charset="-78"/>
              </a:rPr>
              <a:t/>
            </a:r>
            <a:br>
              <a:rPr lang="en-US" sz="4000" dirty="0" smtClean="0">
                <a:solidFill>
                  <a:srgbClr val="FF0000"/>
                </a:solidFill>
                <a:effectLst/>
                <a:cs typeface="B Titr" pitchFamily="2" charset="-78"/>
              </a:rPr>
            </a:br>
            <a:r>
              <a:rPr lang="fa-IR" sz="4000" dirty="0" smtClean="0">
                <a:solidFill>
                  <a:srgbClr val="FF0000"/>
                </a:solidFill>
                <a:effectLst/>
                <a:cs typeface="B Titr" pitchFamily="2" charset="-78"/>
              </a:rPr>
              <a:t>غیردانشگاهی  : </a:t>
            </a:r>
            <a:endParaRPr lang="en-US" sz="40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Grp="1" noChangeArrowheads="1"/>
          </p:cNvSpPr>
          <p:nvPr>
            <p:ph idx="1"/>
          </p:nvPr>
        </p:nvSpPr>
        <p:spPr>
          <a:xfrm>
            <a:off x="457200" y="1600200"/>
            <a:ext cx="8229600" cy="4060825"/>
          </a:xfrm>
        </p:spPr>
        <p:txBody>
          <a:bodyPr/>
          <a:lstStyle/>
          <a:p>
            <a:pPr marL="609600" indent="-609600" algn="r" rtl="1" eaLnBrk="1" hangingPunct="1">
              <a:buFont typeface="Wingdings" pitchFamily="2" charset="2"/>
              <a:buNone/>
            </a:pPr>
            <a:r>
              <a:rPr lang="fa-IR" b="1" smtClean="0"/>
              <a:t>1- بخش آغازین </a:t>
            </a:r>
          </a:p>
          <a:p>
            <a:pPr marL="609600" indent="-609600" algn="r" rtl="1" eaLnBrk="1" hangingPunct="1">
              <a:buFont typeface="Wingdings" pitchFamily="2" charset="2"/>
              <a:buNone/>
            </a:pPr>
            <a:r>
              <a:rPr lang="fa-IR" b="1" smtClean="0"/>
              <a:t>2- بخش میانی  </a:t>
            </a:r>
          </a:p>
          <a:p>
            <a:pPr marL="609600" indent="-609600" algn="r" rtl="1" eaLnBrk="1" hangingPunct="1">
              <a:buFont typeface="Wingdings" pitchFamily="2" charset="2"/>
              <a:buNone/>
            </a:pPr>
            <a:r>
              <a:rPr lang="fa-IR" b="1" smtClean="0"/>
              <a:t>3- بخش پایانی </a:t>
            </a:r>
          </a:p>
          <a:p>
            <a:pPr marL="609600" indent="-609600" algn="justLow" rtl="1" eaLnBrk="1" hangingPunct="1">
              <a:buFont typeface="Wingdings" pitchFamily="2" charset="2"/>
              <a:buNone/>
            </a:pPr>
            <a:r>
              <a:rPr lang="fa-IR" b="1" smtClean="0"/>
              <a:t> آنچه که در این سه بخش آورده می شود محتوای ارائه کتبی را تشکیل می دهد که هر یک از این سه بخش اجزایی دارد که مهمترین بخش همان بخش </a:t>
            </a:r>
            <a:r>
              <a:rPr lang="fa-IR" b="1" u="sng" smtClean="0"/>
              <a:t>میانی</a:t>
            </a:r>
            <a:r>
              <a:rPr lang="fa-IR" b="1" smtClean="0"/>
              <a:t> یا متن اصلی است که باید طی چند مرحله آن را تولید کرد.</a:t>
            </a:r>
            <a:r>
              <a:rPr lang="fa-IR" smtClean="0"/>
              <a:t> </a:t>
            </a:r>
            <a:endParaRPr lang="en-US" smtClean="0"/>
          </a:p>
        </p:txBody>
      </p:sp>
      <p:sp>
        <p:nvSpPr>
          <p:cNvPr id="2" name="Rectangle 2"/>
          <p:cNvSpPr>
            <a:spLocks noGrp="1" noChangeArrowheads="1"/>
          </p:cNvSpPr>
          <p:nvPr>
            <p:ph type="title"/>
          </p:nvPr>
        </p:nvSpPr>
        <p:spPr>
          <a:xfrm>
            <a:off x="1258888" y="277813"/>
            <a:ext cx="6491287" cy="1139825"/>
          </a:xfrm>
        </p:spPr>
        <p:txBody>
          <a:bodyPr>
            <a:normAutofit fontScale="90000"/>
          </a:bodyPr>
          <a:lstStyle/>
          <a:p>
            <a:pPr algn="ctr" rtl="1" eaLnBrk="1" fontAlgn="auto" hangingPunct="1">
              <a:spcAft>
                <a:spcPts val="0"/>
              </a:spcAft>
              <a:defRPr/>
            </a:pPr>
            <a:r>
              <a:rPr lang="fa-IR" sz="4000" dirty="0" smtClean="0">
                <a:solidFill>
                  <a:srgbClr val="FF0000"/>
                </a:solidFill>
                <a:effectLst/>
                <a:cs typeface="B Titr" pitchFamily="2" charset="-78"/>
              </a:rPr>
              <a:t>ساختار اکثر گونه های علمی – فنی (غیر از گونه های خاص) </a:t>
            </a:r>
            <a:endParaRPr lang="en-US" sz="40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p:cNvSpPr>
            <a:spLocks noGrp="1" noChangeArrowheads="1"/>
          </p:cNvSpPr>
          <p:nvPr>
            <p:ph idx="1"/>
          </p:nvPr>
        </p:nvSpPr>
        <p:spPr/>
        <p:txBody>
          <a:bodyPr/>
          <a:lstStyle/>
          <a:p>
            <a:pPr marL="609600" indent="-609600" algn="r" rtl="1" eaLnBrk="1" hangingPunct="1"/>
            <a:r>
              <a:rPr lang="fa-IR" b="1" dirty="0" smtClean="0">
                <a:solidFill>
                  <a:srgbClr val="0070C0"/>
                </a:solidFill>
              </a:rPr>
              <a:t>تعیین موضوع</a:t>
            </a:r>
          </a:p>
          <a:p>
            <a:pPr marL="609600" indent="-609600" algn="r" rtl="1" eaLnBrk="1" hangingPunct="1"/>
            <a:r>
              <a:rPr lang="fa-IR" b="1" dirty="0" smtClean="0"/>
              <a:t>تهیه منابع </a:t>
            </a:r>
          </a:p>
          <a:p>
            <a:pPr marL="609600" indent="-609600" algn="r" rtl="1" eaLnBrk="1" hangingPunct="1"/>
            <a:r>
              <a:rPr lang="fa-IR" b="1" dirty="0" smtClean="0"/>
              <a:t>تهیه طرح اولیه متن اصلی </a:t>
            </a:r>
          </a:p>
          <a:p>
            <a:pPr marL="609600" indent="-609600" algn="r" rtl="1" eaLnBrk="1" hangingPunct="1"/>
            <a:r>
              <a:rPr lang="fa-IR" b="1" dirty="0" smtClean="0"/>
              <a:t>کسب و سازماندهی اطلاعات </a:t>
            </a:r>
          </a:p>
          <a:p>
            <a:pPr marL="609600" indent="-609600" algn="r" rtl="1" eaLnBrk="1" hangingPunct="1"/>
            <a:r>
              <a:rPr lang="fa-IR" b="1" dirty="0" smtClean="0"/>
              <a:t>تولید متن اصلی </a:t>
            </a:r>
          </a:p>
          <a:p>
            <a:pPr marL="609600" indent="-609600" algn="r" rtl="1" eaLnBrk="1" hangingPunct="1"/>
            <a:r>
              <a:rPr lang="fa-IR" b="1" dirty="0" smtClean="0"/>
              <a:t>تنظیم </a:t>
            </a:r>
            <a:r>
              <a:rPr lang="fa-IR" b="1" dirty="0" smtClean="0">
                <a:solidFill>
                  <a:srgbClr val="0070C0"/>
                </a:solidFill>
              </a:rPr>
              <a:t>ساختار سه بخشی</a:t>
            </a:r>
            <a:r>
              <a:rPr lang="fa-IR" dirty="0" smtClean="0">
                <a:solidFill>
                  <a:srgbClr val="0070C0"/>
                </a:solidFill>
              </a:rPr>
              <a:t> </a:t>
            </a:r>
            <a:endParaRPr lang="en-US" dirty="0" smtClean="0">
              <a:solidFill>
                <a:srgbClr val="0070C0"/>
              </a:solidFill>
            </a:endParaRPr>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effectLst/>
                <a:cs typeface="B Titr" pitchFamily="2" charset="-78"/>
              </a:rPr>
              <a:t>مراحل آماده سازی ارائه کتبی :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idx="1"/>
          </p:nvPr>
        </p:nvSpPr>
        <p:spPr/>
        <p:txBody>
          <a:bodyPr/>
          <a:lstStyle/>
          <a:p>
            <a:pPr algn="r" rtl="1" eaLnBrk="1" hangingPunct="1"/>
            <a:r>
              <a:rPr lang="fa-IR" b="1" smtClean="0"/>
              <a:t>کارهای لازم در این مرحله عبارتند از : </a:t>
            </a:r>
          </a:p>
          <a:p>
            <a:pPr algn="r" rtl="1" eaLnBrk="1" hangingPunct="1">
              <a:buFont typeface="Wingdings" pitchFamily="2" charset="2"/>
              <a:buNone/>
            </a:pPr>
            <a:endParaRPr lang="fa-IR" b="1" smtClean="0"/>
          </a:p>
          <a:p>
            <a:pPr algn="r" rtl="1" eaLnBrk="1" hangingPunct="1">
              <a:buFont typeface="Wingdings" pitchFamily="2" charset="2"/>
              <a:buNone/>
            </a:pPr>
            <a:r>
              <a:rPr lang="fa-IR" b="1" smtClean="0"/>
              <a:t>الف- مشخص کردن زمینه موضوع</a:t>
            </a:r>
          </a:p>
          <a:p>
            <a:pPr algn="r" rtl="1" eaLnBrk="1" hangingPunct="1">
              <a:buFont typeface="Wingdings" pitchFamily="2" charset="2"/>
              <a:buNone/>
            </a:pPr>
            <a:r>
              <a:rPr lang="fa-IR" b="1" smtClean="0"/>
              <a:t>ب-   تحدید موضوع  </a:t>
            </a:r>
          </a:p>
          <a:p>
            <a:pPr algn="r" rtl="1" eaLnBrk="1" hangingPunct="1">
              <a:buFont typeface="Wingdings" pitchFamily="2" charset="2"/>
              <a:buNone/>
            </a:pPr>
            <a:r>
              <a:rPr lang="fa-IR" b="1" smtClean="0"/>
              <a:t>ج-   تعیین عنوان مناسب</a:t>
            </a:r>
            <a:endParaRPr lang="en-US" b="1" smtClean="0"/>
          </a:p>
        </p:txBody>
      </p:sp>
      <p:sp>
        <p:nvSpPr>
          <p:cNvPr id="2" name="Rectangle 2"/>
          <p:cNvSpPr>
            <a:spLocks noGrp="1" noChangeArrowheads="1"/>
          </p:cNvSpPr>
          <p:nvPr>
            <p:ph type="title"/>
          </p:nvPr>
        </p:nvSpPr>
        <p:spPr>
          <a:xfrm>
            <a:off x="457200" y="214290"/>
            <a:ext cx="8229600" cy="1143000"/>
          </a:xfrm>
        </p:spPr>
        <p:txBody>
          <a:bodyPr/>
          <a:lstStyle/>
          <a:p>
            <a:pPr algn="r" rtl="1" eaLnBrk="1" fontAlgn="auto" hangingPunct="1">
              <a:spcAft>
                <a:spcPts val="0"/>
              </a:spcAft>
              <a:defRPr/>
            </a:pPr>
            <a:r>
              <a:rPr lang="fa-IR" dirty="0" smtClean="0">
                <a:solidFill>
                  <a:srgbClr val="FF0000"/>
                </a:solidFill>
                <a:effectLst/>
                <a:cs typeface="B Titr" pitchFamily="2" charset="-78"/>
              </a:rPr>
              <a:t>تعیین</a:t>
            </a:r>
            <a:r>
              <a:rPr lang="fa-IR" dirty="0" smtClean="0">
                <a:effectLst/>
                <a:cs typeface="B Titr" pitchFamily="2" charset="-78"/>
              </a:rPr>
              <a:t> </a:t>
            </a:r>
            <a:r>
              <a:rPr lang="fa-IR" dirty="0" smtClean="0">
                <a:solidFill>
                  <a:srgbClr val="FF0000"/>
                </a:solidFill>
                <a:effectLst/>
                <a:cs typeface="B Titr" pitchFamily="2" charset="-78"/>
              </a:rPr>
              <a:t>موضوع</a:t>
            </a:r>
            <a:r>
              <a:rPr lang="fa-IR" dirty="0" smtClean="0">
                <a:effectLst/>
                <a:cs typeface="B Titr" pitchFamily="2" charset="-78"/>
              </a:rPr>
              <a:t> </a:t>
            </a:r>
            <a:endParaRPr lang="en-US" dirty="0" smtClean="0">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p:cNvSpPr>
            <a:spLocks noGrp="1" noChangeArrowheads="1"/>
          </p:cNvSpPr>
          <p:nvPr>
            <p:ph idx="1"/>
          </p:nvPr>
        </p:nvSpPr>
        <p:spPr>
          <a:xfrm>
            <a:off x="457200" y="1600200"/>
            <a:ext cx="8229600" cy="5257800"/>
          </a:xfrm>
        </p:spPr>
        <p:txBody>
          <a:bodyPr/>
          <a:lstStyle/>
          <a:p>
            <a:pPr algn="r" rtl="1" eaLnBrk="1" hangingPunct="1">
              <a:lnSpc>
                <a:spcPct val="90000"/>
              </a:lnSpc>
              <a:buFont typeface="Wingdings" pitchFamily="2" charset="2"/>
              <a:buNone/>
            </a:pPr>
            <a:r>
              <a:rPr lang="fa-IR" sz="2400" b="1" smtClean="0"/>
              <a:t>موضوع ارائه  باید محدود و کاملا تعریف شده باشد زیرا هر موضوعی را می‌توان از چند جنبه مورد مطالعه و بررسی قرار داد . میزان تحدید موضوع بستگی به عوامل زیر دارد  : </a:t>
            </a:r>
          </a:p>
          <a:p>
            <a:pPr algn="r" rtl="1" eaLnBrk="1" hangingPunct="1">
              <a:lnSpc>
                <a:spcPct val="90000"/>
              </a:lnSpc>
            </a:pPr>
            <a:r>
              <a:rPr lang="fa-IR" sz="2400" b="1" smtClean="0"/>
              <a:t>سطح ارائه کننده                                       </a:t>
            </a:r>
          </a:p>
          <a:p>
            <a:pPr algn="r" rtl="1" eaLnBrk="1" hangingPunct="1">
              <a:lnSpc>
                <a:spcPct val="90000"/>
              </a:lnSpc>
            </a:pPr>
            <a:r>
              <a:rPr lang="fa-IR" sz="2400" b="1" smtClean="0"/>
              <a:t>هدف ارائه     </a:t>
            </a:r>
          </a:p>
          <a:p>
            <a:pPr algn="r" rtl="1" eaLnBrk="1" hangingPunct="1">
              <a:lnSpc>
                <a:spcPct val="90000"/>
              </a:lnSpc>
            </a:pPr>
            <a:r>
              <a:rPr lang="fa-IR" sz="2400" b="1" smtClean="0"/>
              <a:t>وضع مخاطبین </a:t>
            </a:r>
          </a:p>
          <a:p>
            <a:pPr algn="r" rtl="1" eaLnBrk="1" hangingPunct="1">
              <a:lnSpc>
                <a:spcPct val="90000"/>
              </a:lnSpc>
            </a:pPr>
            <a:r>
              <a:rPr lang="fa-IR" sz="2400" b="1" smtClean="0"/>
              <a:t>ملاحظات فنی </a:t>
            </a:r>
          </a:p>
          <a:p>
            <a:pPr algn="r" rtl="1" eaLnBrk="1" hangingPunct="1">
              <a:lnSpc>
                <a:spcPct val="90000"/>
              </a:lnSpc>
            </a:pPr>
            <a:r>
              <a:rPr lang="fa-IR" sz="2400" b="1" smtClean="0"/>
              <a:t>میزان گستردگی زمینه موضوع </a:t>
            </a:r>
          </a:p>
          <a:p>
            <a:pPr algn="r" rtl="1" eaLnBrk="1" hangingPunct="1">
              <a:lnSpc>
                <a:spcPct val="90000"/>
              </a:lnSpc>
            </a:pPr>
            <a:r>
              <a:rPr lang="fa-IR" sz="2400" b="1" smtClean="0"/>
              <a:t>خواسته های مخاطبین </a:t>
            </a:r>
          </a:p>
          <a:p>
            <a:pPr algn="r" rtl="1" eaLnBrk="1" hangingPunct="1">
              <a:lnSpc>
                <a:spcPct val="90000"/>
              </a:lnSpc>
            </a:pPr>
            <a:r>
              <a:rPr lang="fa-IR" sz="2400" b="1" smtClean="0"/>
              <a:t>مدت ارائه </a:t>
            </a:r>
          </a:p>
          <a:p>
            <a:pPr algn="r" rtl="1" eaLnBrk="1" hangingPunct="1">
              <a:lnSpc>
                <a:spcPct val="90000"/>
              </a:lnSpc>
            </a:pPr>
            <a:r>
              <a:rPr lang="fa-IR" sz="2400" b="1" smtClean="0"/>
              <a:t>امکانات آماده سازی محتوای ارائه </a:t>
            </a:r>
          </a:p>
          <a:p>
            <a:pPr algn="r" rtl="1" eaLnBrk="1" hangingPunct="1">
              <a:lnSpc>
                <a:spcPct val="90000"/>
              </a:lnSpc>
            </a:pPr>
            <a:r>
              <a:rPr lang="fa-IR" sz="2400" b="1" smtClean="0"/>
              <a:t>ملاحظات مدیریتی </a:t>
            </a:r>
          </a:p>
          <a:p>
            <a:pPr algn="r" rtl="1" eaLnBrk="1" hangingPunct="1">
              <a:lnSpc>
                <a:spcPct val="90000"/>
              </a:lnSpc>
            </a:pPr>
            <a:r>
              <a:rPr lang="fa-IR" sz="2400" b="1" smtClean="0"/>
              <a:t>سطح ارائه</a:t>
            </a:r>
            <a:r>
              <a:rPr lang="fa-IR" sz="2400" smtClean="0"/>
              <a:t> </a:t>
            </a:r>
            <a:endParaRPr lang="en-US" sz="2400" smtClean="0"/>
          </a:p>
        </p:txBody>
      </p:sp>
      <p:sp>
        <p:nvSpPr>
          <p:cNvPr id="2" name="Rectangle 2"/>
          <p:cNvSpPr>
            <a:spLocks noGrp="1" noChangeArrowheads="1"/>
          </p:cNvSpPr>
          <p:nvPr>
            <p:ph type="title"/>
          </p:nvPr>
        </p:nvSpPr>
        <p:spPr>
          <a:xfrm>
            <a:off x="590550"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dirty="0" smtClean="0">
                <a:solidFill>
                  <a:srgbClr val="FF0000"/>
                </a:solidFill>
                <a:effectLst/>
                <a:cs typeface="B Titr" pitchFamily="2" charset="-78"/>
              </a:rPr>
              <a:t>تحدید موضوع و عوامل مربوط به آن: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idx="1"/>
          </p:nvPr>
        </p:nvSpPr>
        <p:spPr/>
        <p:txBody>
          <a:bodyPr/>
          <a:lstStyle/>
          <a:p>
            <a:pPr algn="r" rtl="1" eaLnBrk="1" hangingPunct="1"/>
            <a:r>
              <a:rPr lang="fa-IR" b="1" smtClean="0"/>
              <a:t>مقطع تاریخی </a:t>
            </a:r>
            <a:endParaRPr lang="en-US" smtClean="0"/>
          </a:p>
          <a:p>
            <a:pPr algn="r" rtl="1" eaLnBrk="1" hangingPunct="1"/>
            <a:r>
              <a:rPr lang="fa-IR" b="1" smtClean="0"/>
              <a:t>محدوده جغرافیایی</a:t>
            </a:r>
            <a:endParaRPr lang="en-US" smtClean="0"/>
          </a:p>
          <a:p>
            <a:pPr algn="r" rtl="1" eaLnBrk="1" hangingPunct="1"/>
            <a:r>
              <a:rPr lang="fa-IR" b="1" smtClean="0"/>
              <a:t>خصوصیاتی از مخاطب</a:t>
            </a:r>
            <a:endParaRPr lang="en-US" smtClean="0"/>
          </a:p>
          <a:p>
            <a:pPr algn="r" rtl="1" eaLnBrk="1" hangingPunct="1"/>
            <a:r>
              <a:rPr lang="fa-IR" b="1" smtClean="0"/>
              <a:t>جنبه یا جنبه هایی از خود موضوع </a:t>
            </a:r>
            <a:endParaRPr lang="en-US" smtClean="0"/>
          </a:p>
          <a:p>
            <a:pPr algn="justLow" rtl="1" eaLnBrk="1" hangingPunct="1">
              <a:buFont typeface="Wingdings" pitchFamily="2" charset="2"/>
              <a:buNone/>
            </a:pPr>
            <a:r>
              <a:rPr lang="fa-IR" b="1" smtClean="0"/>
              <a:t>اعمال ضوابط تحدید می تواند بر اساس انتخاب خود ارائه‌کننده یا درخواست فرد دیگری یا سازمان خواستار ارائه صورت پذیرد .</a:t>
            </a:r>
            <a:endParaRPr lang="en-US" b="1" smtClean="0"/>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effectLst/>
                <a:cs typeface="B Titr" pitchFamily="2" charset="-78"/>
              </a:rPr>
              <a:t>ضوابط موجود برای تحدید موضوع :</a:t>
            </a:r>
            <a:r>
              <a:rPr lang="en-US" dirty="0" smtClean="0"/>
              <a:t> </a:t>
            </a:r>
          </a:p>
        </p:txBody>
      </p:sp>
    </p:spTree>
  </p:cSld>
  <p:clrMapOvr>
    <a:masterClrMapping/>
  </p:clrMapOvr>
  <p:transition spd="med">
    <p:wipe dir="d"/>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noChangeArrowheads="1"/>
          </p:cNvSpPr>
          <p:nvPr>
            <p:ph idx="1"/>
          </p:nvPr>
        </p:nvSpPr>
        <p:spPr/>
        <p:txBody>
          <a:bodyPr/>
          <a:lstStyle/>
          <a:p>
            <a:pPr algn="justLow" rtl="1" eaLnBrk="1" hangingPunct="1">
              <a:buFont typeface="Wingdings" pitchFamily="2" charset="2"/>
              <a:buNone/>
            </a:pPr>
            <a:r>
              <a:rPr lang="fa-IR" b="1" smtClean="0"/>
              <a:t>عنوان موضوع را باید با جمله یا عبارتی حتي الامکان کوتاه و گویا بیان کرد . این جمله یا عبارت می تواند بصورت زیر باشد : </a:t>
            </a:r>
            <a:endParaRPr lang="en-US" smtClean="0"/>
          </a:p>
          <a:p>
            <a:pPr algn="r" rtl="1" eaLnBrk="1" hangingPunct="1"/>
            <a:r>
              <a:rPr lang="fa-IR" b="1" smtClean="0"/>
              <a:t>جمله گزاره ای </a:t>
            </a:r>
            <a:endParaRPr lang="en-US" smtClean="0"/>
          </a:p>
          <a:p>
            <a:pPr algn="r" rtl="1" eaLnBrk="1" hangingPunct="1"/>
            <a:r>
              <a:rPr lang="fa-IR" b="1" smtClean="0"/>
              <a:t>جمله پر سشی </a:t>
            </a:r>
            <a:endParaRPr lang="en-US" smtClean="0"/>
          </a:p>
          <a:p>
            <a:pPr algn="r" rtl="1" eaLnBrk="1" hangingPunct="1"/>
            <a:r>
              <a:rPr lang="fa-IR" b="1" smtClean="0"/>
              <a:t>عبارت مصدری</a:t>
            </a:r>
            <a:r>
              <a:rPr lang="fa-IR" smtClean="0"/>
              <a:t> </a:t>
            </a:r>
            <a:endParaRPr lang="en-US" smtClean="0"/>
          </a:p>
        </p:txBody>
      </p:sp>
      <p:sp>
        <p:nvSpPr>
          <p:cNvPr id="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dirty="0" smtClean="0">
                <a:solidFill>
                  <a:srgbClr val="FF0000"/>
                </a:solidFill>
                <a:effectLst/>
                <a:cs typeface="B Titr" pitchFamily="2" charset="-78"/>
              </a:rPr>
              <a:t>تعیین عنوان مناسب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idx="1"/>
          </p:nvPr>
        </p:nvSpPr>
        <p:spPr/>
        <p:txBody>
          <a:bodyPr/>
          <a:lstStyle/>
          <a:p>
            <a:pPr marL="609600" indent="-609600" algn="r" rtl="1" eaLnBrk="1" hangingPunct="1"/>
            <a:r>
              <a:rPr lang="fa-IR" b="1" dirty="0" smtClean="0"/>
              <a:t>گویا </a:t>
            </a:r>
            <a:r>
              <a:rPr lang="fa-IR" b="1" dirty="0" err="1" smtClean="0"/>
              <a:t>وصریح</a:t>
            </a:r>
            <a:r>
              <a:rPr lang="fa-IR" b="1" dirty="0" smtClean="0"/>
              <a:t> </a:t>
            </a:r>
          </a:p>
          <a:p>
            <a:pPr marL="609600" indent="-609600" algn="r" rtl="1" eaLnBrk="1" hangingPunct="1"/>
            <a:r>
              <a:rPr lang="fa-IR" b="1" dirty="0" smtClean="0"/>
              <a:t>کوتاه </a:t>
            </a:r>
          </a:p>
          <a:p>
            <a:pPr marL="609600" indent="-609600" algn="r" rtl="1" eaLnBrk="1" hangingPunct="1"/>
            <a:r>
              <a:rPr lang="fa-IR" b="1" dirty="0" smtClean="0"/>
              <a:t>فاقد </a:t>
            </a:r>
            <a:r>
              <a:rPr lang="fa-IR" b="1" dirty="0" err="1" smtClean="0"/>
              <a:t>کلما</a:t>
            </a:r>
            <a:r>
              <a:rPr lang="fa-IR" b="1" dirty="0" smtClean="0"/>
              <a:t> ت زائد </a:t>
            </a:r>
          </a:p>
          <a:p>
            <a:pPr marL="609600" indent="-609600" algn="r" rtl="1" eaLnBrk="1" hangingPunct="1"/>
            <a:r>
              <a:rPr lang="fa-IR" b="1" dirty="0" smtClean="0"/>
              <a:t>واقعی ، صادقانه ، و نه مبالغه آمیز </a:t>
            </a:r>
          </a:p>
          <a:p>
            <a:pPr marL="609600" indent="-609600" algn="r" rtl="1" eaLnBrk="1" hangingPunct="1"/>
            <a:r>
              <a:rPr lang="fa-IR" b="1" dirty="0" smtClean="0"/>
              <a:t>حتی </a:t>
            </a:r>
            <a:r>
              <a:rPr lang="fa-IR" b="1" dirty="0" err="1" smtClean="0"/>
              <a:t>الامکان</a:t>
            </a:r>
            <a:r>
              <a:rPr lang="fa-IR" b="1" dirty="0" smtClean="0"/>
              <a:t> فاقد علائم کوته </a:t>
            </a:r>
            <a:r>
              <a:rPr lang="fa-IR" b="1" dirty="0" err="1" smtClean="0"/>
              <a:t>نویسی</a:t>
            </a:r>
            <a:r>
              <a:rPr lang="fa-IR" b="1" dirty="0" smtClean="0"/>
              <a:t> /فرمول و ...</a:t>
            </a:r>
          </a:p>
          <a:p>
            <a:pPr marL="609600" indent="-609600" algn="r" rtl="1" eaLnBrk="1" hangingPunct="1"/>
            <a:r>
              <a:rPr lang="fa-IR" b="1" dirty="0" smtClean="0"/>
              <a:t>دارای </a:t>
            </a:r>
            <a:r>
              <a:rPr lang="fa-IR" b="1" dirty="0" smtClean="0">
                <a:solidFill>
                  <a:srgbClr val="0070C0"/>
                </a:solidFill>
              </a:rPr>
              <a:t>حدود پانزده کلمه و از این میان حدود 4 کلمه اصلی</a:t>
            </a:r>
            <a:r>
              <a:rPr lang="fa-IR" dirty="0" smtClean="0">
                <a:solidFill>
                  <a:srgbClr val="0070C0"/>
                </a:solidFill>
              </a:rPr>
              <a:t> </a:t>
            </a:r>
            <a:endParaRPr lang="en-US" dirty="0" smtClean="0">
              <a:solidFill>
                <a:srgbClr val="0070C0"/>
              </a:solidFill>
            </a:endParaRPr>
          </a:p>
        </p:txBody>
      </p:sp>
      <p:sp>
        <p:nvSpPr>
          <p:cNvPr id="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خصوصیات عنوان موضوع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Grp="1" noChangeArrowheads="1"/>
          </p:cNvSpPr>
          <p:nvPr>
            <p:ph idx="1"/>
          </p:nvPr>
        </p:nvSpPr>
        <p:spPr/>
        <p:txBody>
          <a:bodyPr/>
          <a:lstStyle/>
          <a:p>
            <a:pPr algn="r" rtl="1" eaLnBrk="1" hangingPunct="1">
              <a:buFont typeface="Wingdings" pitchFamily="2" charset="2"/>
              <a:buNone/>
            </a:pPr>
            <a:r>
              <a:rPr lang="fa-IR" b="1" smtClean="0"/>
              <a:t>برای تهیه منابع کارهای زیر باید انجام شود : </a:t>
            </a:r>
          </a:p>
          <a:p>
            <a:pPr algn="r" rtl="1" eaLnBrk="1" hangingPunct="1"/>
            <a:r>
              <a:rPr lang="fa-IR" b="1" smtClean="0"/>
              <a:t>شناسایی منبع </a:t>
            </a:r>
          </a:p>
          <a:p>
            <a:pPr algn="r" rtl="1" eaLnBrk="1" hangingPunct="1"/>
            <a:r>
              <a:rPr lang="fa-IR" b="1" smtClean="0"/>
              <a:t>جستجو و دستیابی به منبع </a:t>
            </a:r>
          </a:p>
          <a:p>
            <a:pPr algn="r" rtl="1" eaLnBrk="1" hangingPunct="1"/>
            <a:r>
              <a:rPr lang="fa-IR" b="1" smtClean="0"/>
              <a:t>ضبط مشخصات منبع </a:t>
            </a:r>
          </a:p>
          <a:p>
            <a:pPr algn="r" rtl="1" eaLnBrk="1" hangingPunct="1"/>
            <a:r>
              <a:rPr lang="fa-IR" b="1" smtClean="0"/>
              <a:t>ارزیابی منبع</a:t>
            </a:r>
            <a:r>
              <a:rPr lang="fa-IR" smtClean="0"/>
              <a:t> </a:t>
            </a:r>
            <a:endParaRPr lang="en-US" smtClean="0"/>
          </a:p>
        </p:txBody>
      </p:sp>
      <p:sp>
        <p:nvSpPr>
          <p:cNvPr id="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تهیه منابع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noChangeArrowheads="1"/>
          </p:cNvSpPr>
          <p:nvPr>
            <p:ph idx="1"/>
          </p:nvPr>
        </p:nvSpPr>
        <p:spPr/>
        <p:txBody>
          <a:bodyPr/>
          <a:lstStyle/>
          <a:p>
            <a:pPr algn="r" rtl="1" eaLnBrk="1" hangingPunct="1">
              <a:lnSpc>
                <a:spcPct val="80000"/>
              </a:lnSpc>
              <a:buFont typeface="Wingdings" pitchFamily="2" charset="2"/>
              <a:buNone/>
            </a:pPr>
            <a:r>
              <a:rPr lang="fa-IR" sz="2800" b="1" smtClean="0"/>
              <a:t>برای شناسایی منبع از امکانات زیر می توان استفاده کرد : </a:t>
            </a:r>
            <a:endParaRPr lang="en-US" sz="2800" smtClean="0"/>
          </a:p>
          <a:p>
            <a:pPr algn="r" rtl="1" eaLnBrk="1" hangingPunct="1">
              <a:lnSpc>
                <a:spcPct val="80000"/>
              </a:lnSpc>
            </a:pPr>
            <a:r>
              <a:rPr lang="fa-IR" sz="2800" b="1" smtClean="0"/>
              <a:t>کتابخانه ( عمومی یا شخصی )</a:t>
            </a:r>
            <a:endParaRPr lang="en-US" sz="2800" smtClean="0"/>
          </a:p>
          <a:p>
            <a:pPr algn="r" rtl="1" eaLnBrk="1" hangingPunct="1">
              <a:lnSpc>
                <a:spcPct val="80000"/>
              </a:lnSpc>
            </a:pPr>
            <a:r>
              <a:rPr lang="fa-IR" sz="2800" b="1" smtClean="0"/>
              <a:t>فهرستهای دوره ای ناشران </a:t>
            </a:r>
            <a:endParaRPr lang="en-US" sz="2800" smtClean="0"/>
          </a:p>
          <a:p>
            <a:pPr algn="r" rtl="1" eaLnBrk="1" hangingPunct="1">
              <a:lnSpc>
                <a:spcPct val="80000"/>
              </a:lnSpc>
            </a:pPr>
            <a:r>
              <a:rPr lang="fa-IR" sz="2800" b="1" smtClean="0"/>
              <a:t>کتابنامه ( کتابشناسی ) </a:t>
            </a:r>
            <a:endParaRPr lang="en-US" sz="2800" smtClean="0"/>
          </a:p>
          <a:p>
            <a:pPr algn="r" rtl="1" eaLnBrk="1" hangingPunct="1">
              <a:lnSpc>
                <a:spcPct val="80000"/>
              </a:lnSpc>
            </a:pPr>
            <a:r>
              <a:rPr lang="fa-IR" sz="2800" b="1" smtClean="0"/>
              <a:t>فرد متخصص در موضوع </a:t>
            </a:r>
            <a:endParaRPr lang="en-US" sz="2800" smtClean="0"/>
          </a:p>
          <a:p>
            <a:pPr algn="r" rtl="1" eaLnBrk="1" hangingPunct="1">
              <a:lnSpc>
                <a:spcPct val="80000"/>
              </a:lnSpc>
            </a:pPr>
            <a:r>
              <a:rPr lang="fa-IR" sz="2800" b="1" smtClean="0"/>
              <a:t>کتابدار </a:t>
            </a:r>
            <a:endParaRPr lang="en-US" sz="2800" smtClean="0"/>
          </a:p>
          <a:p>
            <a:pPr algn="r" rtl="1" eaLnBrk="1" hangingPunct="1">
              <a:lnSpc>
                <a:spcPct val="80000"/>
              </a:lnSpc>
            </a:pPr>
            <a:r>
              <a:rPr lang="fa-IR" sz="2800" b="1" smtClean="0"/>
              <a:t>کتابشناس </a:t>
            </a:r>
            <a:endParaRPr lang="en-US" sz="2800" smtClean="0"/>
          </a:p>
          <a:p>
            <a:pPr algn="r" rtl="1" eaLnBrk="1" hangingPunct="1">
              <a:lnSpc>
                <a:spcPct val="80000"/>
              </a:lnSpc>
            </a:pPr>
            <a:r>
              <a:rPr lang="fa-IR" sz="2800" b="1" smtClean="0"/>
              <a:t>رسانه های عمومی </a:t>
            </a:r>
            <a:endParaRPr lang="en-US" sz="2800" smtClean="0"/>
          </a:p>
          <a:p>
            <a:pPr algn="r" rtl="1" eaLnBrk="1" hangingPunct="1">
              <a:lnSpc>
                <a:spcPct val="80000"/>
              </a:lnSpc>
            </a:pPr>
            <a:r>
              <a:rPr lang="fa-IR" sz="2800" b="1" smtClean="0"/>
              <a:t>مراکز اسناد ملی ،  موزه ها و غیره </a:t>
            </a:r>
            <a:endParaRPr lang="en-US" sz="2800" smtClean="0"/>
          </a:p>
          <a:p>
            <a:pPr algn="r" rtl="1" eaLnBrk="1" hangingPunct="1">
              <a:lnSpc>
                <a:spcPct val="80000"/>
              </a:lnSpc>
            </a:pPr>
            <a:r>
              <a:rPr lang="fa-IR" sz="2800" b="1" smtClean="0"/>
              <a:t>سیستمهای اطلاع رسانی </a:t>
            </a:r>
            <a:endParaRPr lang="en-US" sz="2800" smtClean="0"/>
          </a:p>
          <a:p>
            <a:pPr algn="r" rtl="1" eaLnBrk="1" hangingPunct="1">
              <a:lnSpc>
                <a:spcPct val="80000"/>
              </a:lnSpc>
            </a:pPr>
            <a:endParaRPr lang="en-US" sz="2800" smtClean="0"/>
          </a:p>
        </p:txBody>
      </p:sp>
      <p:sp>
        <p:nvSpPr>
          <p:cNvPr id="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شناسایی منبع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noChangeArrowheads="1"/>
          </p:cNvSpPr>
          <p:nvPr>
            <p:ph idx="1"/>
          </p:nvPr>
        </p:nvSpPr>
        <p:spPr/>
        <p:txBody>
          <a:bodyPr/>
          <a:lstStyle/>
          <a:p>
            <a:pPr algn="r" rtl="1" eaLnBrk="1" hangingPunct="1">
              <a:buFont typeface="Wingdings" pitchFamily="2" charset="2"/>
              <a:buNone/>
            </a:pPr>
            <a:r>
              <a:rPr lang="fa-IR" b="1" smtClean="0"/>
              <a:t>برای این کار می توان از شاخصهای زیر استفاده کرد : </a:t>
            </a:r>
          </a:p>
          <a:p>
            <a:pPr algn="r" rtl="1" eaLnBrk="1" hangingPunct="1"/>
            <a:r>
              <a:rPr lang="fa-IR" b="1" smtClean="0"/>
              <a:t>شماره منبع در کتابخانه </a:t>
            </a:r>
          </a:p>
          <a:p>
            <a:pPr algn="r" rtl="1" eaLnBrk="1" hangingPunct="1"/>
            <a:r>
              <a:rPr lang="fa-IR" b="1" smtClean="0"/>
              <a:t>مشخصات مولف یا مترجم </a:t>
            </a:r>
          </a:p>
          <a:p>
            <a:pPr algn="r" rtl="1" eaLnBrk="1" hangingPunct="1"/>
            <a:r>
              <a:rPr lang="fa-IR" b="1" smtClean="0"/>
              <a:t>عنوان منبع </a:t>
            </a:r>
          </a:p>
          <a:p>
            <a:pPr algn="r" rtl="1" eaLnBrk="1" hangingPunct="1"/>
            <a:r>
              <a:rPr lang="fa-IR" b="1" smtClean="0"/>
              <a:t>موضوع ( از طریق جستجوی موضوعی )</a:t>
            </a:r>
            <a:r>
              <a:rPr lang="fa-IR" smtClean="0"/>
              <a:t> </a:t>
            </a:r>
            <a:endParaRPr lang="en-US" smtClean="0"/>
          </a:p>
        </p:txBody>
      </p:sp>
      <p:sp>
        <p:nvSpPr>
          <p:cNvPr id="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جستجوی منبع و دستیابی به آن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noChangeArrowheads="1"/>
          </p:cNvSpPr>
          <p:nvPr>
            <p:ph idx="1"/>
          </p:nvPr>
        </p:nvSpPr>
        <p:spPr/>
        <p:txBody>
          <a:bodyPr/>
          <a:lstStyle/>
          <a:p>
            <a:pPr algn="justLow" rtl="1" eaLnBrk="1" hangingPunct="1">
              <a:buFont typeface="Wingdings" pitchFamily="2" charset="2"/>
              <a:buNone/>
            </a:pPr>
            <a:r>
              <a:rPr lang="fa-IR" b="1" smtClean="0"/>
              <a:t>روش رایج برای ضبط  مشخصات منبع استفاده از کارت یا فیش منبع است . اطلاعاتی که در این کارت درج می شود در اساس عبارتست از : نام مولف ، عنوان منبع و مشخصات ناشر و نشر.</a:t>
            </a:r>
            <a:r>
              <a:rPr lang="fa-IR" smtClean="0"/>
              <a:t> </a:t>
            </a:r>
            <a:endParaRPr lang="en-US" smtClean="0"/>
          </a:p>
        </p:txBody>
      </p:sp>
      <p:sp>
        <p:nvSpPr>
          <p:cNvPr id="7577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ضبط مشخصات منبع :</a:t>
            </a:r>
            <a:endParaRPr lang="en-US"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933" name="Group 109"/>
          <p:cNvGraphicFramePr>
            <a:graphicFrameLocks noGrp="1"/>
          </p:cNvGraphicFramePr>
          <p:nvPr>
            <p:ph type="tbl" idx="1"/>
          </p:nvPr>
        </p:nvGraphicFramePr>
        <p:xfrm>
          <a:off x="611188" y="908050"/>
          <a:ext cx="8229600" cy="5038726"/>
        </p:xfrm>
        <a:graphic>
          <a:graphicData uri="http://schemas.openxmlformats.org/drawingml/2006/table">
            <a:tbl>
              <a:tblPr/>
              <a:tblGrid>
                <a:gridCol w="2016125">
                  <a:extLst>
                    <a:ext uri="{9D8B030D-6E8A-4147-A177-3AD203B41FA5}">
                      <a16:colId xmlns:a16="http://schemas.microsoft.com/office/drawing/2014/main" val="20000"/>
                    </a:ext>
                  </a:extLst>
                </a:gridCol>
                <a:gridCol w="2098675">
                  <a:extLst>
                    <a:ext uri="{9D8B030D-6E8A-4147-A177-3AD203B41FA5}">
                      <a16:colId xmlns:a16="http://schemas.microsoft.com/office/drawing/2014/main" val="20001"/>
                    </a:ext>
                  </a:extLst>
                </a:gridCol>
                <a:gridCol w="2149475">
                  <a:extLst>
                    <a:ext uri="{9D8B030D-6E8A-4147-A177-3AD203B41FA5}">
                      <a16:colId xmlns:a16="http://schemas.microsoft.com/office/drawing/2014/main" val="20002"/>
                    </a:ext>
                  </a:extLst>
                </a:gridCol>
                <a:gridCol w="1965325">
                  <a:extLst>
                    <a:ext uri="{9D8B030D-6E8A-4147-A177-3AD203B41FA5}">
                      <a16:colId xmlns:a16="http://schemas.microsoft.com/office/drawing/2014/main" val="20003"/>
                    </a:ext>
                  </a:extLst>
                </a:gridCol>
              </a:tblGrid>
              <a:tr h="64770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چهار حرف اول نام  مولف</a:t>
                      </a:r>
                      <a:endParaRPr kumimoji="0" lang="en-US" sz="1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شماره سريال كارت</a:t>
                      </a:r>
                      <a:r>
                        <a:rPr kumimoji="0" lang="fa-IR" sz="2800" b="0"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 </a:t>
                      </a:r>
                      <a:endParaRPr kumimoji="0" lang="en-US" sz="2800" b="0"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6113">
                <a:tc gridSpan="4">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عنوان مولف :</a:t>
                      </a:r>
                      <a:endParaRPr kumimoji="0" lang="en-US"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647700">
                <a:tc gridSpan="4">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نام مولف :</a:t>
                      </a:r>
                      <a:endParaRPr kumimoji="0" lang="en-US"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647700">
                <a:tc gridSpan="4">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نام مترجم :</a:t>
                      </a:r>
                      <a:endParaRPr kumimoji="0" lang="en-US"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1155700">
                <a:tc gridSpan="4">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مشخصات ناشر و نشر</a:t>
                      </a:r>
                      <a:endParaRPr kumimoji="0" lang="en-US"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646113">
                <a:tc gridSpan="2">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شابك :</a:t>
                      </a:r>
                      <a:endParaRPr kumimoji="0" lang="en-US"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شماره منبع :</a:t>
                      </a:r>
                      <a:endParaRPr kumimoji="0" lang="en-US"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5"/>
                  </a:ext>
                </a:extLst>
              </a:tr>
              <a:tr h="647700">
                <a:tc gridSpan="2">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نوع منبع :</a:t>
                      </a:r>
                      <a:endParaRPr kumimoji="0" lang="en-US"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محل دستيابي :</a:t>
                      </a:r>
                      <a:endParaRPr kumimoji="0" lang="en-US"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6"/>
                  </a:ext>
                </a:extLst>
              </a:tr>
            </a:tbl>
          </a:graphicData>
        </a:graphic>
      </p:graphicFrame>
      <p:sp>
        <p:nvSpPr>
          <p:cNvPr id="62491" name="Line 110"/>
          <p:cNvSpPr>
            <a:spLocks noChangeShapeType="1"/>
          </p:cNvSpPr>
          <p:nvPr/>
        </p:nvSpPr>
        <p:spPr bwMode="auto">
          <a:xfrm flipH="1">
            <a:off x="684213" y="549275"/>
            <a:ext cx="2089150" cy="0"/>
          </a:xfrm>
          <a:prstGeom prst="line">
            <a:avLst/>
          </a:prstGeom>
          <a:noFill/>
          <a:ln w="9525">
            <a:solidFill>
              <a:schemeClr val="tx1"/>
            </a:solidFill>
            <a:round/>
            <a:headEnd/>
            <a:tailEnd type="triangle" w="med" len="med"/>
          </a:ln>
        </p:spPr>
        <p:txBody>
          <a:bodyPr wrap="none">
            <a:spAutoFit/>
          </a:bodyPr>
          <a:lstStyle/>
          <a:p>
            <a:endParaRPr lang="en-US"/>
          </a:p>
        </p:txBody>
      </p:sp>
      <p:sp>
        <p:nvSpPr>
          <p:cNvPr id="62492" name="Line 112"/>
          <p:cNvSpPr>
            <a:spLocks noChangeShapeType="1"/>
          </p:cNvSpPr>
          <p:nvPr/>
        </p:nvSpPr>
        <p:spPr bwMode="auto">
          <a:xfrm>
            <a:off x="6084888" y="476250"/>
            <a:ext cx="2735262" cy="0"/>
          </a:xfrm>
          <a:prstGeom prst="line">
            <a:avLst/>
          </a:prstGeom>
          <a:noFill/>
          <a:ln w="9525">
            <a:solidFill>
              <a:schemeClr val="tx1"/>
            </a:solidFill>
            <a:round/>
            <a:headEnd/>
            <a:tailEnd type="triangle" w="med" len="med"/>
          </a:ln>
        </p:spPr>
        <p:txBody>
          <a:bodyPr wrap="none">
            <a:spAutoFit/>
          </a:bodyPr>
          <a:lstStyle/>
          <a:p>
            <a:endParaRPr lang="en-US"/>
          </a:p>
        </p:txBody>
      </p:sp>
      <p:sp>
        <p:nvSpPr>
          <p:cNvPr id="62493" name="Rectangle 113"/>
          <p:cNvSpPr>
            <a:spLocks noChangeArrowheads="1"/>
          </p:cNvSpPr>
          <p:nvPr/>
        </p:nvSpPr>
        <p:spPr bwMode="auto">
          <a:xfrm>
            <a:off x="3825875" y="157163"/>
            <a:ext cx="1276350" cy="376237"/>
          </a:xfrm>
          <a:prstGeom prst="rect">
            <a:avLst/>
          </a:prstGeom>
          <a:solidFill>
            <a:schemeClr val="accent1"/>
          </a:solidFill>
          <a:ln w="9525" algn="ctr">
            <a:solidFill>
              <a:schemeClr val="tx1"/>
            </a:solidFill>
            <a:miter lim="800000"/>
            <a:headEnd/>
            <a:tailEnd/>
          </a:ln>
        </p:spPr>
        <p:txBody>
          <a:bodyPr wrap="none" anchor="ctr">
            <a:spAutoFit/>
          </a:bodyPr>
          <a:lstStyle/>
          <a:p>
            <a:r>
              <a:rPr lang="fa-IR" b="0">
                <a:solidFill>
                  <a:schemeClr val="tx1"/>
                </a:solidFill>
              </a:rPr>
              <a:t>5/12 سانتيمتر</a:t>
            </a:r>
            <a:endParaRPr lang="en-US" b="0">
              <a:solidFill>
                <a:schemeClr val="tx1"/>
              </a:solidFill>
            </a:endParaRPr>
          </a:p>
        </p:txBody>
      </p:sp>
      <p:sp>
        <p:nvSpPr>
          <p:cNvPr id="62494" name="Line 115"/>
          <p:cNvSpPr>
            <a:spLocks noChangeShapeType="1"/>
          </p:cNvSpPr>
          <p:nvPr/>
        </p:nvSpPr>
        <p:spPr bwMode="auto">
          <a:xfrm flipV="1">
            <a:off x="323850" y="3789363"/>
            <a:ext cx="0" cy="2232025"/>
          </a:xfrm>
          <a:prstGeom prst="line">
            <a:avLst/>
          </a:prstGeom>
          <a:noFill/>
          <a:ln w="9525">
            <a:solidFill>
              <a:schemeClr val="tx1"/>
            </a:solidFill>
            <a:round/>
            <a:headEnd type="triangle" w="med" len="med"/>
            <a:tailEnd/>
          </a:ln>
        </p:spPr>
        <p:txBody>
          <a:bodyPr wrap="none">
            <a:spAutoFit/>
          </a:bodyPr>
          <a:lstStyle/>
          <a:p>
            <a:endParaRPr lang="en-US"/>
          </a:p>
        </p:txBody>
      </p:sp>
      <p:sp>
        <p:nvSpPr>
          <p:cNvPr id="62495" name="Line 116"/>
          <p:cNvSpPr>
            <a:spLocks noChangeShapeType="1"/>
          </p:cNvSpPr>
          <p:nvPr/>
        </p:nvSpPr>
        <p:spPr bwMode="auto">
          <a:xfrm>
            <a:off x="323850" y="908050"/>
            <a:ext cx="0" cy="1441450"/>
          </a:xfrm>
          <a:prstGeom prst="line">
            <a:avLst/>
          </a:prstGeom>
          <a:noFill/>
          <a:ln w="9525">
            <a:solidFill>
              <a:schemeClr val="tx1"/>
            </a:solidFill>
            <a:round/>
            <a:headEnd type="triangle" w="med" len="med"/>
            <a:tailEnd/>
          </a:ln>
        </p:spPr>
        <p:txBody>
          <a:bodyPr>
            <a:spAutoFit/>
          </a:bodyPr>
          <a:lstStyle/>
          <a:p>
            <a:endParaRPr lang="en-US"/>
          </a:p>
        </p:txBody>
      </p:sp>
      <p:sp>
        <p:nvSpPr>
          <p:cNvPr id="62496" name="Rectangle 117"/>
          <p:cNvSpPr>
            <a:spLocks noChangeArrowheads="1"/>
          </p:cNvSpPr>
          <p:nvPr/>
        </p:nvSpPr>
        <p:spPr bwMode="auto">
          <a:xfrm>
            <a:off x="0" y="2492375"/>
            <a:ext cx="755650" cy="1200150"/>
          </a:xfrm>
          <a:prstGeom prst="rect">
            <a:avLst/>
          </a:prstGeom>
          <a:solidFill>
            <a:schemeClr val="accent1"/>
          </a:solidFill>
          <a:ln w="9525" algn="ctr">
            <a:solidFill>
              <a:schemeClr val="tx1"/>
            </a:solidFill>
            <a:miter lim="800000"/>
            <a:headEnd/>
            <a:tailEnd/>
          </a:ln>
        </p:spPr>
        <p:txBody>
          <a:bodyPr anchor="ctr">
            <a:spAutoFit/>
          </a:bodyPr>
          <a:lstStyle/>
          <a:p>
            <a:r>
              <a:rPr lang="fa-IR" b="0">
                <a:solidFill>
                  <a:schemeClr val="tx1"/>
                </a:solidFill>
              </a:rPr>
              <a:t>5/7 سانتي</a:t>
            </a:r>
          </a:p>
          <a:p>
            <a:r>
              <a:rPr lang="fa-IR" b="0">
                <a:solidFill>
                  <a:schemeClr val="tx1"/>
                </a:solidFill>
              </a:rPr>
              <a:t>متر</a:t>
            </a:r>
          </a:p>
          <a:p>
            <a:endParaRPr lang="en-US" b="0">
              <a:solidFill>
                <a:schemeClr val="tx1"/>
              </a:solidFill>
            </a:endParaRPr>
          </a:p>
        </p:txBody>
      </p:sp>
      <p:sp>
        <p:nvSpPr>
          <p:cNvPr id="9" name="Rectangle 8"/>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overrideClrMapping bg1="lt1" tx1="dk1" bg2="lt2" tx2="dk2" accent1="accent1" accent2="accent2" accent3="accent3" accent4="accent4" accent5="accent5" accent6="accent6" hlink="hlink" folHlink="folHlink"/>
  </p:clrMapOvr>
  <p:transition spd="med">
    <p:wipe dir="d"/>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p:cNvSpPr>
            <a:spLocks noGrp="1" noChangeArrowheads="1"/>
          </p:cNvSpPr>
          <p:nvPr>
            <p:ph idx="1"/>
          </p:nvPr>
        </p:nvSpPr>
        <p:spPr/>
        <p:txBody>
          <a:bodyPr/>
          <a:lstStyle/>
          <a:p>
            <a:pPr algn="r" rtl="1" eaLnBrk="1" hangingPunct="1">
              <a:lnSpc>
                <a:spcPct val="90000"/>
              </a:lnSpc>
              <a:buFont typeface="Wingdings" pitchFamily="2" charset="2"/>
              <a:buNone/>
            </a:pPr>
            <a:r>
              <a:rPr lang="fa-IR" sz="2800" b="1" smtClean="0"/>
              <a:t>منبع را قبل از استفاده به منظور کسب اطلاع باید به دقت ودر عین حال با سرعت ارزیابی کرد . برای این کار باید جنبه های زیر را در نظر گرفت : </a:t>
            </a:r>
            <a:endParaRPr lang="en-US" sz="2800" smtClean="0"/>
          </a:p>
          <a:p>
            <a:pPr algn="r" rtl="1" eaLnBrk="1" hangingPunct="1">
              <a:lnSpc>
                <a:spcPct val="90000"/>
              </a:lnSpc>
            </a:pPr>
            <a:r>
              <a:rPr lang="fa-IR" sz="2800" b="1" smtClean="0"/>
              <a:t>نوع منبع از نظر صورت (فرم ) : مقاله ، کتاب ، جزوه ، سند خطی و غیره </a:t>
            </a:r>
            <a:endParaRPr lang="en-US" sz="2800" smtClean="0"/>
          </a:p>
          <a:p>
            <a:pPr algn="r" rtl="1" eaLnBrk="1" hangingPunct="1">
              <a:lnSpc>
                <a:spcPct val="90000"/>
              </a:lnSpc>
            </a:pPr>
            <a:r>
              <a:rPr lang="fa-IR" sz="2800" b="1" smtClean="0"/>
              <a:t>اعتبار علمی – فنی مولف ( و مترجم  ) </a:t>
            </a:r>
            <a:endParaRPr lang="en-US" sz="2800" smtClean="0"/>
          </a:p>
          <a:p>
            <a:pPr algn="r" rtl="1" eaLnBrk="1" hangingPunct="1">
              <a:lnSpc>
                <a:spcPct val="90000"/>
              </a:lnSpc>
            </a:pPr>
            <a:r>
              <a:rPr lang="fa-IR" sz="2800" b="1" smtClean="0"/>
              <a:t>سال اولین و آخرین ویراست </a:t>
            </a:r>
            <a:endParaRPr lang="en-US" sz="2800" smtClean="0"/>
          </a:p>
          <a:p>
            <a:pPr algn="r" rtl="1" eaLnBrk="1" hangingPunct="1">
              <a:lnSpc>
                <a:spcPct val="90000"/>
              </a:lnSpc>
            </a:pPr>
            <a:r>
              <a:rPr lang="fa-IR" sz="2800" b="1" smtClean="0"/>
              <a:t>اعتبار ناشر </a:t>
            </a:r>
            <a:endParaRPr lang="en-US" sz="2800" smtClean="0"/>
          </a:p>
          <a:p>
            <a:pPr algn="r" rtl="1" eaLnBrk="1" hangingPunct="1">
              <a:lnSpc>
                <a:spcPct val="90000"/>
              </a:lnSpc>
            </a:pPr>
            <a:r>
              <a:rPr lang="fa-IR" sz="2800" b="1" smtClean="0"/>
              <a:t>مکان ناشر ( کشور و شهر )</a:t>
            </a:r>
            <a:endParaRPr lang="en-US" sz="2800" smtClean="0"/>
          </a:p>
          <a:p>
            <a:pPr algn="r" rtl="1" eaLnBrk="1" hangingPunct="1">
              <a:lnSpc>
                <a:spcPct val="90000"/>
              </a:lnSpc>
            </a:pPr>
            <a:r>
              <a:rPr lang="fa-IR" sz="2800" b="1" smtClean="0"/>
              <a:t>میزان ارتباط منبع با موضوع ارائه</a:t>
            </a:r>
            <a:r>
              <a:rPr lang="fa-IR" sz="2800" smtClean="0"/>
              <a:t> </a:t>
            </a:r>
            <a:endParaRPr lang="en-US" sz="2800" smtClean="0"/>
          </a:p>
        </p:txBody>
      </p:sp>
      <p:sp>
        <p:nvSpPr>
          <p:cNvPr id="7885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ارزیابی منبع :</a:t>
            </a:r>
            <a:r>
              <a:rPr lang="en-US" smtClean="0">
                <a:solidFill>
                  <a:srgbClr val="FF0000"/>
                </a:solidFill>
                <a:effectLst/>
                <a:cs typeface="B Titr" pitchFamily="2" charset="-78"/>
              </a:rPr>
              <a:t> </a:t>
            </a:r>
          </a:p>
        </p:txBody>
      </p:sp>
    </p:spTree>
  </p:cSld>
  <p:clrMapOvr>
    <a:masterClrMapping/>
  </p:clrMapOvr>
  <p:transition spd="med">
    <p:wipe dir="d"/>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4">
            <a:hlinkClick r:id="rId2" action="ppaction://hlinksldjump"/>
          </p:cNvPr>
          <p:cNvSpPr txBox="1">
            <a:spLocks noChangeArrowheads="1"/>
          </p:cNvSpPr>
          <p:nvPr/>
        </p:nvSpPr>
        <p:spPr bwMode="auto">
          <a:xfrm>
            <a:off x="2051050" y="2565400"/>
            <a:ext cx="5113338" cy="762000"/>
          </a:xfrm>
          <a:prstGeom prst="rect">
            <a:avLst/>
          </a:prstGeom>
          <a:noFill/>
          <a:ln w="9525">
            <a:noFill/>
            <a:miter lim="800000"/>
            <a:headEnd/>
            <a:tailEnd/>
          </a:ln>
        </p:spPr>
        <p:txBody>
          <a:bodyPr>
            <a:spAutoFit/>
          </a:bodyPr>
          <a:lstStyle/>
          <a:p>
            <a:pPr rtl="1"/>
            <a:r>
              <a:rPr lang="fa-IR" sz="4400" dirty="0">
                <a:solidFill>
                  <a:schemeClr val="tx1"/>
                </a:solidFill>
                <a:cs typeface="B Titr" panose="00000700000000000000" pitchFamily="2" charset="-78"/>
              </a:rPr>
              <a:t>طرح اوليه متن </a:t>
            </a:r>
            <a:r>
              <a:rPr lang="fa-IR" sz="4400" dirty="0" err="1">
                <a:solidFill>
                  <a:schemeClr val="tx1"/>
                </a:solidFill>
                <a:cs typeface="B Titr" panose="00000700000000000000" pitchFamily="2" charset="-78"/>
              </a:rPr>
              <a:t>اصلي</a:t>
            </a:r>
            <a:endParaRPr lang="en-US" sz="4400" dirty="0">
              <a:solidFill>
                <a:schemeClr val="tx1"/>
              </a:solidFill>
              <a:cs typeface="B Titr" panose="00000700000000000000" pitchFamily="2" charset="-78"/>
            </a:endParaRPr>
          </a:p>
        </p:txBody>
      </p:sp>
    </p:spTree>
  </p:cSld>
  <p:clrMapOvr>
    <a:masterClrMapping/>
  </p:clrMapOvr>
  <p:transition spd="med">
    <p:wipe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p:cNvSpPr>
            <a:spLocks noGrp="1" noChangeArrowheads="1"/>
          </p:cNvSpPr>
          <p:nvPr>
            <p:ph idx="1"/>
          </p:nvPr>
        </p:nvSpPr>
        <p:spPr/>
        <p:txBody>
          <a:bodyPr/>
          <a:lstStyle/>
          <a:p>
            <a:pPr marL="609600" indent="-609600" algn="r" rtl="1" eaLnBrk="1" hangingPunct="1">
              <a:buFont typeface="Wingdings" pitchFamily="2" charset="2"/>
              <a:buNone/>
            </a:pPr>
            <a:r>
              <a:rPr lang="fa-IR" b="1" dirty="0" err="1" smtClean="0"/>
              <a:t>فراروند</a:t>
            </a:r>
            <a:r>
              <a:rPr lang="fa-IR" b="1" dirty="0" smtClean="0"/>
              <a:t> ایجاد متن نوعی تولید و خلاقیت است . از این نقطه نظر نیاز به طراحی دارد یعنی باید یک طرح اولیه برای متنی که می خواهیم تهیه نماییم . در مرحله تهیه طرح اولیه کارهای زیر را انجام می دهیم : </a:t>
            </a:r>
          </a:p>
          <a:p>
            <a:pPr marL="609600" indent="-609600" algn="r" rtl="1" eaLnBrk="1" hangingPunct="1">
              <a:buFont typeface="Wingdings" pitchFamily="2" charset="2"/>
              <a:buAutoNum type="arabicPeriod"/>
            </a:pPr>
            <a:r>
              <a:rPr lang="fa-IR" b="1" dirty="0" smtClean="0"/>
              <a:t>تعیین </a:t>
            </a:r>
            <a:r>
              <a:rPr lang="fa-IR" b="1" dirty="0" smtClean="0">
                <a:solidFill>
                  <a:srgbClr val="0070C0"/>
                </a:solidFill>
              </a:rPr>
              <a:t>عناوین داخلی در سطوح مختلف </a:t>
            </a:r>
            <a:r>
              <a:rPr lang="fa-IR" b="1" dirty="0" smtClean="0"/>
              <a:t>تا رسیدن به ایده ساده </a:t>
            </a:r>
          </a:p>
          <a:p>
            <a:pPr marL="609600" indent="-609600" algn="r" rtl="1" eaLnBrk="1" hangingPunct="1">
              <a:buFont typeface="Wingdings" pitchFamily="2" charset="2"/>
              <a:buAutoNum type="arabicPeriod"/>
            </a:pPr>
            <a:r>
              <a:rPr lang="fa-IR" b="1" dirty="0" smtClean="0"/>
              <a:t>تعیین </a:t>
            </a:r>
            <a:r>
              <a:rPr lang="fa-IR" b="1" dirty="0" smtClean="0">
                <a:solidFill>
                  <a:srgbClr val="0070C0"/>
                </a:solidFill>
              </a:rPr>
              <a:t>توالی منطقی عناوین داخلی </a:t>
            </a:r>
            <a:r>
              <a:rPr lang="fa-IR" b="1" dirty="0" smtClean="0"/>
              <a:t>در هر سطح </a:t>
            </a:r>
          </a:p>
          <a:p>
            <a:pPr marL="609600" indent="-609600" algn="r" rtl="1" eaLnBrk="1" hangingPunct="1">
              <a:buFont typeface="Wingdings" pitchFamily="2" charset="2"/>
              <a:buAutoNum type="arabicPeriod"/>
            </a:pPr>
            <a:r>
              <a:rPr lang="fa-IR" b="1" dirty="0" smtClean="0"/>
              <a:t>شماره گذاری عناوین داخلی</a:t>
            </a:r>
            <a:r>
              <a:rPr lang="fa-IR" dirty="0" smtClean="0"/>
              <a:t> </a:t>
            </a:r>
            <a:endParaRPr lang="en-US" dirty="0" smtClean="0"/>
          </a:p>
        </p:txBody>
      </p:sp>
      <p:sp>
        <p:nvSpPr>
          <p:cNvPr id="7987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تهیه  طرح اولیه متن اصلی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4"/>
          <p:cNvSpPr>
            <a:spLocks noChangeArrowheads="1"/>
          </p:cNvSpPr>
          <p:nvPr/>
        </p:nvSpPr>
        <p:spPr bwMode="auto">
          <a:xfrm>
            <a:off x="6659563" y="1125538"/>
            <a:ext cx="2159000" cy="1382712"/>
          </a:xfrm>
          <a:prstGeom prst="rect">
            <a:avLst/>
          </a:prstGeom>
          <a:solidFill>
            <a:schemeClr val="accent1"/>
          </a:solidFill>
          <a:ln w="9525" algn="ctr">
            <a:solidFill>
              <a:schemeClr val="tx1"/>
            </a:solidFill>
            <a:miter lim="800000"/>
            <a:headEnd/>
            <a:tailEnd/>
          </a:ln>
        </p:spPr>
        <p:txBody>
          <a:bodyPr anchor="ctr">
            <a:spAutoFit/>
          </a:bodyPr>
          <a:lstStyle/>
          <a:p>
            <a:pPr rtl="1"/>
            <a:r>
              <a:rPr lang="fa-IR" sz="2800"/>
              <a:t>عنوان داخلي سطع اول با شماره </a:t>
            </a:r>
            <a:r>
              <a:rPr lang="en-US" sz="2800"/>
              <a:t>i	</a:t>
            </a:r>
          </a:p>
        </p:txBody>
      </p:sp>
      <p:sp>
        <p:nvSpPr>
          <p:cNvPr id="69635" name="Rectangle 5"/>
          <p:cNvSpPr>
            <a:spLocks noChangeArrowheads="1"/>
          </p:cNvSpPr>
          <p:nvPr/>
        </p:nvSpPr>
        <p:spPr bwMode="auto">
          <a:xfrm>
            <a:off x="3348038" y="469900"/>
            <a:ext cx="2447925" cy="1382713"/>
          </a:xfrm>
          <a:prstGeom prst="rect">
            <a:avLst/>
          </a:prstGeom>
          <a:solidFill>
            <a:schemeClr val="accent1"/>
          </a:solidFill>
          <a:ln w="9525" algn="ctr">
            <a:solidFill>
              <a:schemeClr val="tx1"/>
            </a:solidFill>
            <a:miter lim="800000"/>
            <a:headEnd/>
            <a:tailEnd/>
          </a:ln>
        </p:spPr>
        <p:txBody>
          <a:bodyPr anchor="ctr">
            <a:spAutoFit/>
          </a:bodyPr>
          <a:lstStyle/>
          <a:p>
            <a:r>
              <a:rPr lang="fa-IR" sz="2800"/>
              <a:t>عنوان داخلي سطع</a:t>
            </a:r>
            <a:endParaRPr lang="en-US" sz="2800"/>
          </a:p>
          <a:p>
            <a:pPr algn="l" rtl="1"/>
            <a:r>
              <a:rPr lang="fa-IR" sz="2800"/>
              <a:t> دوم با شماره </a:t>
            </a:r>
            <a:r>
              <a:rPr lang="en-US" sz="2800"/>
              <a:t>j- i	</a:t>
            </a:r>
          </a:p>
        </p:txBody>
      </p:sp>
      <p:sp>
        <p:nvSpPr>
          <p:cNvPr id="69636" name="Rectangle 6"/>
          <p:cNvSpPr>
            <a:spLocks noChangeArrowheads="1"/>
          </p:cNvSpPr>
          <p:nvPr/>
        </p:nvSpPr>
        <p:spPr bwMode="auto">
          <a:xfrm>
            <a:off x="395288" y="1473200"/>
            <a:ext cx="2447925" cy="1196975"/>
          </a:xfrm>
          <a:prstGeom prst="rect">
            <a:avLst/>
          </a:prstGeom>
          <a:solidFill>
            <a:schemeClr val="accent1"/>
          </a:solidFill>
          <a:ln w="9525" algn="ctr">
            <a:solidFill>
              <a:schemeClr val="tx1"/>
            </a:solidFill>
            <a:miter lim="800000"/>
            <a:headEnd/>
            <a:tailEnd/>
          </a:ln>
        </p:spPr>
        <p:txBody>
          <a:bodyPr anchor="ctr">
            <a:spAutoFit/>
          </a:bodyPr>
          <a:lstStyle/>
          <a:p>
            <a:r>
              <a:rPr lang="fa-IR" sz="2400"/>
              <a:t>عنوان داخلي </a:t>
            </a:r>
          </a:p>
          <a:p>
            <a:r>
              <a:rPr lang="fa-IR" sz="2400"/>
              <a:t>سطح سوم </a:t>
            </a:r>
          </a:p>
          <a:p>
            <a:pPr rtl="1"/>
            <a:r>
              <a:rPr lang="fa-IR" sz="2400"/>
              <a:t>با شماره </a:t>
            </a:r>
            <a:r>
              <a:rPr lang="en-US" sz="2400"/>
              <a:t>k-j-i	</a:t>
            </a:r>
          </a:p>
        </p:txBody>
      </p:sp>
      <p:sp>
        <p:nvSpPr>
          <p:cNvPr id="69637" name="Oval 11"/>
          <p:cNvSpPr>
            <a:spLocks noChangeArrowheads="1"/>
          </p:cNvSpPr>
          <p:nvPr/>
        </p:nvSpPr>
        <p:spPr bwMode="auto">
          <a:xfrm>
            <a:off x="2916238" y="3457575"/>
            <a:ext cx="2951162" cy="1309688"/>
          </a:xfrm>
          <a:prstGeom prst="ellipse">
            <a:avLst/>
          </a:prstGeom>
          <a:solidFill>
            <a:schemeClr val="accent1"/>
          </a:solidFill>
          <a:ln w="9525" algn="ctr">
            <a:solidFill>
              <a:schemeClr val="tx1"/>
            </a:solidFill>
            <a:round/>
            <a:headEnd/>
            <a:tailEnd/>
          </a:ln>
        </p:spPr>
        <p:txBody>
          <a:bodyPr anchor="ctr">
            <a:spAutoFit/>
          </a:bodyPr>
          <a:lstStyle/>
          <a:p>
            <a:pPr rtl="1"/>
            <a:r>
              <a:rPr lang="en-US" sz="2800"/>
              <a:t>…k-j-i </a:t>
            </a:r>
            <a:r>
              <a:rPr lang="fa-IR" sz="2800"/>
              <a:t>جهت خواندن</a:t>
            </a:r>
            <a:r>
              <a:rPr lang="fa-IR" sz="2800" b="0"/>
              <a:t> </a:t>
            </a:r>
            <a:endParaRPr lang="en-US" sz="2800" b="0"/>
          </a:p>
        </p:txBody>
      </p:sp>
      <p:sp>
        <p:nvSpPr>
          <p:cNvPr id="69638" name="Line 17"/>
          <p:cNvSpPr>
            <a:spLocks noChangeShapeType="1"/>
          </p:cNvSpPr>
          <p:nvPr/>
        </p:nvSpPr>
        <p:spPr bwMode="auto">
          <a:xfrm flipH="1">
            <a:off x="6011863" y="2781300"/>
            <a:ext cx="1873250" cy="792163"/>
          </a:xfrm>
          <a:prstGeom prst="line">
            <a:avLst/>
          </a:prstGeom>
          <a:noFill/>
          <a:ln w="9525">
            <a:solidFill>
              <a:schemeClr val="tx1"/>
            </a:solidFill>
            <a:round/>
            <a:headEnd/>
            <a:tailEnd type="triangle" w="med" len="med"/>
          </a:ln>
        </p:spPr>
        <p:txBody>
          <a:bodyPr wrap="none">
            <a:spAutoFit/>
          </a:bodyPr>
          <a:lstStyle/>
          <a:p>
            <a:endParaRPr lang="en-US"/>
          </a:p>
        </p:txBody>
      </p:sp>
      <p:sp>
        <p:nvSpPr>
          <p:cNvPr id="69639" name="Line 18"/>
          <p:cNvSpPr>
            <a:spLocks noChangeShapeType="1"/>
          </p:cNvSpPr>
          <p:nvPr/>
        </p:nvSpPr>
        <p:spPr bwMode="auto">
          <a:xfrm>
            <a:off x="4643438" y="2060575"/>
            <a:ext cx="0" cy="1223963"/>
          </a:xfrm>
          <a:prstGeom prst="line">
            <a:avLst/>
          </a:prstGeom>
          <a:noFill/>
          <a:ln w="9525">
            <a:solidFill>
              <a:schemeClr val="tx1"/>
            </a:solidFill>
            <a:round/>
            <a:headEnd/>
            <a:tailEnd type="triangle" w="med" len="med"/>
          </a:ln>
        </p:spPr>
        <p:txBody>
          <a:bodyPr wrap="none">
            <a:spAutoFit/>
          </a:bodyPr>
          <a:lstStyle/>
          <a:p>
            <a:endParaRPr lang="en-US"/>
          </a:p>
        </p:txBody>
      </p:sp>
      <p:sp>
        <p:nvSpPr>
          <p:cNvPr id="69640" name="Line 19"/>
          <p:cNvSpPr>
            <a:spLocks noChangeShapeType="1"/>
          </p:cNvSpPr>
          <p:nvPr/>
        </p:nvSpPr>
        <p:spPr bwMode="auto">
          <a:xfrm>
            <a:off x="1835150" y="2852738"/>
            <a:ext cx="1584325" cy="576262"/>
          </a:xfrm>
          <a:prstGeom prst="line">
            <a:avLst/>
          </a:prstGeom>
          <a:noFill/>
          <a:ln w="9525">
            <a:solidFill>
              <a:schemeClr val="tx1"/>
            </a:solidFill>
            <a:round/>
            <a:headEnd/>
            <a:tailEnd type="triangle" w="med" len="med"/>
          </a:ln>
        </p:spPr>
        <p:txBody>
          <a:bodyPr wrap="none">
            <a:spAutoFit/>
          </a:bodyPr>
          <a:lstStyle/>
          <a:p>
            <a:endParaRPr lang="en-US"/>
          </a:p>
        </p:txBody>
      </p:sp>
    </p:spTree>
  </p:cSld>
  <p:clrMapOvr>
    <a:masterClrMapping/>
  </p:clrMapOvr>
  <p:transition spd="med">
    <p:wipe dir="d"/>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Oval 4"/>
          <p:cNvSpPr>
            <a:spLocks noChangeArrowheads="1"/>
          </p:cNvSpPr>
          <p:nvPr/>
        </p:nvSpPr>
        <p:spPr bwMode="auto">
          <a:xfrm>
            <a:off x="6365875" y="349250"/>
            <a:ext cx="1674813" cy="1049338"/>
          </a:xfrm>
          <a:prstGeom prst="ellipse">
            <a:avLst/>
          </a:prstGeom>
          <a:solidFill>
            <a:schemeClr val="accent1"/>
          </a:solidFill>
          <a:ln w="9525" algn="ctr">
            <a:solidFill>
              <a:schemeClr val="tx1"/>
            </a:solidFill>
            <a:round/>
            <a:headEnd/>
            <a:tailEnd/>
          </a:ln>
        </p:spPr>
        <p:txBody>
          <a:bodyPr wrap="none" anchor="ctr">
            <a:spAutoFit/>
          </a:bodyPr>
          <a:lstStyle/>
          <a:p>
            <a:r>
              <a:rPr lang="fa-IR" sz="4400" b="0"/>
              <a:t>ايده 3</a:t>
            </a:r>
            <a:endParaRPr lang="en-US" sz="4400" b="0"/>
          </a:p>
        </p:txBody>
      </p:sp>
      <p:sp>
        <p:nvSpPr>
          <p:cNvPr id="70659" name="Oval 5"/>
          <p:cNvSpPr>
            <a:spLocks noChangeArrowheads="1"/>
          </p:cNvSpPr>
          <p:nvPr/>
        </p:nvSpPr>
        <p:spPr bwMode="auto">
          <a:xfrm>
            <a:off x="1763713" y="339725"/>
            <a:ext cx="1728787" cy="1135063"/>
          </a:xfrm>
          <a:prstGeom prst="ellipse">
            <a:avLst/>
          </a:prstGeom>
          <a:solidFill>
            <a:schemeClr val="accent1"/>
          </a:solidFill>
          <a:ln w="9525" algn="ctr">
            <a:solidFill>
              <a:schemeClr val="tx1"/>
            </a:solidFill>
            <a:round/>
            <a:headEnd/>
            <a:tailEnd/>
          </a:ln>
        </p:spPr>
        <p:txBody>
          <a:bodyPr anchor="ctr">
            <a:spAutoFit/>
          </a:bodyPr>
          <a:lstStyle/>
          <a:p>
            <a:r>
              <a:rPr lang="fa-IR" sz="2400"/>
              <a:t>ايده 1</a:t>
            </a:r>
            <a:endParaRPr lang="en-US" sz="2400"/>
          </a:p>
          <a:p>
            <a:endParaRPr lang="en-US" sz="2400"/>
          </a:p>
        </p:txBody>
      </p:sp>
      <p:sp>
        <p:nvSpPr>
          <p:cNvPr id="70660" name="Oval 6"/>
          <p:cNvSpPr>
            <a:spLocks noChangeArrowheads="1"/>
          </p:cNvSpPr>
          <p:nvPr/>
        </p:nvSpPr>
        <p:spPr bwMode="auto">
          <a:xfrm>
            <a:off x="4138613" y="1517650"/>
            <a:ext cx="1801812" cy="1655763"/>
          </a:xfrm>
          <a:prstGeom prst="ellipse">
            <a:avLst/>
          </a:prstGeom>
          <a:solidFill>
            <a:schemeClr val="accent1"/>
          </a:solidFill>
          <a:ln w="9525" algn="ctr">
            <a:solidFill>
              <a:schemeClr val="tx1"/>
            </a:solidFill>
            <a:round/>
            <a:headEnd/>
            <a:tailEnd/>
          </a:ln>
        </p:spPr>
        <p:txBody>
          <a:bodyPr anchor="ctr">
            <a:spAutoFit/>
          </a:bodyPr>
          <a:lstStyle/>
          <a:p>
            <a:r>
              <a:rPr lang="fa-IR" sz="3600" b="0"/>
              <a:t>عنوان اصلي</a:t>
            </a:r>
            <a:r>
              <a:rPr lang="fa-IR" b="0"/>
              <a:t> </a:t>
            </a:r>
            <a:endParaRPr lang="en-US" b="0"/>
          </a:p>
        </p:txBody>
      </p:sp>
      <p:sp>
        <p:nvSpPr>
          <p:cNvPr id="70661" name="Oval 7"/>
          <p:cNvSpPr>
            <a:spLocks noChangeArrowheads="1"/>
          </p:cNvSpPr>
          <p:nvPr/>
        </p:nvSpPr>
        <p:spPr bwMode="auto">
          <a:xfrm>
            <a:off x="755650" y="2139950"/>
            <a:ext cx="1223963" cy="490538"/>
          </a:xfrm>
          <a:prstGeom prst="ellipse">
            <a:avLst/>
          </a:prstGeom>
          <a:solidFill>
            <a:schemeClr val="accent1"/>
          </a:solidFill>
          <a:ln w="9525" algn="ctr">
            <a:solidFill>
              <a:schemeClr val="tx1"/>
            </a:solidFill>
            <a:round/>
            <a:headEnd/>
            <a:tailEnd/>
          </a:ln>
        </p:spPr>
        <p:txBody>
          <a:bodyPr anchor="ctr">
            <a:spAutoFit/>
          </a:bodyPr>
          <a:lstStyle/>
          <a:p>
            <a:r>
              <a:rPr lang="fa-IR"/>
              <a:t>ايده 5</a:t>
            </a:r>
            <a:endParaRPr lang="en-US"/>
          </a:p>
        </p:txBody>
      </p:sp>
      <p:sp>
        <p:nvSpPr>
          <p:cNvPr id="70662" name="Oval 8"/>
          <p:cNvSpPr>
            <a:spLocks noChangeArrowheads="1"/>
          </p:cNvSpPr>
          <p:nvPr/>
        </p:nvSpPr>
        <p:spPr bwMode="auto">
          <a:xfrm>
            <a:off x="2484438" y="3076575"/>
            <a:ext cx="1223962" cy="490538"/>
          </a:xfrm>
          <a:prstGeom prst="ellipse">
            <a:avLst/>
          </a:prstGeom>
          <a:solidFill>
            <a:schemeClr val="accent1"/>
          </a:solidFill>
          <a:ln w="9525" algn="ctr">
            <a:solidFill>
              <a:schemeClr val="tx1"/>
            </a:solidFill>
            <a:round/>
            <a:headEnd/>
            <a:tailEnd/>
          </a:ln>
        </p:spPr>
        <p:txBody>
          <a:bodyPr anchor="ctr">
            <a:spAutoFit/>
          </a:bodyPr>
          <a:lstStyle/>
          <a:p>
            <a:r>
              <a:rPr lang="fa-IR"/>
              <a:t>ايده 2</a:t>
            </a:r>
            <a:endParaRPr lang="en-US"/>
          </a:p>
        </p:txBody>
      </p:sp>
      <p:sp>
        <p:nvSpPr>
          <p:cNvPr id="70663" name="Oval 9"/>
          <p:cNvSpPr>
            <a:spLocks noChangeArrowheads="1"/>
          </p:cNvSpPr>
          <p:nvPr/>
        </p:nvSpPr>
        <p:spPr bwMode="auto">
          <a:xfrm>
            <a:off x="4572000" y="4445000"/>
            <a:ext cx="1223963" cy="490538"/>
          </a:xfrm>
          <a:prstGeom prst="ellipse">
            <a:avLst/>
          </a:prstGeom>
          <a:solidFill>
            <a:schemeClr val="accent1"/>
          </a:solidFill>
          <a:ln w="9525" algn="ctr">
            <a:solidFill>
              <a:schemeClr val="tx1"/>
            </a:solidFill>
            <a:round/>
            <a:headEnd/>
            <a:tailEnd/>
          </a:ln>
        </p:spPr>
        <p:txBody>
          <a:bodyPr anchor="ctr">
            <a:spAutoFit/>
          </a:bodyPr>
          <a:lstStyle/>
          <a:p>
            <a:r>
              <a:rPr lang="fa-IR"/>
              <a:t>ايده 2-1</a:t>
            </a:r>
            <a:endParaRPr lang="en-US"/>
          </a:p>
        </p:txBody>
      </p:sp>
      <p:sp>
        <p:nvSpPr>
          <p:cNvPr id="70664" name="Oval 10"/>
          <p:cNvSpPr>
            <a:spLocks noChangeArrowheads="1"/>
          </p:cNvSpPr>
          <p:nvPr/>
        </p:nvSpPr>
        <p:spPr bwMode="auto">
          <a:xfrm>
            <a:off x="2627313" y="4516438"/>
            <a:ext cx="1223962" cy="490537"/>
          </a:xfrm>
          <a:prstGeom prst="ellipse">
            <a:avLst/>
          </a:prstGeom>
          <a:solidFill>
            <a:schemeClr val="accent1"/>
          </a:solidFill>
          <a:ln w="9525" algn="ctr">
            <a:solidFill>
              <a:schemeClr val="tx1"/>
            </a:solidFill>
            <a:round/>
            <a:headEnd/>
            <a:tailEnd/>
          </a:ln>
        </p:spPr>
        <p:txBody>
          <a:bodyPr anchor="ctr">
            <a:spAutoFit/>
          </a:bodyPr>
          <a:lstStyle/>
          <a:p>
            <a:r>
              <a:rPr lang="fa-IR"/>
              <a:t>ايده 2-3</a:t>
            </a:r>
            <a:endParaRPr lang="en-US"/>
          </a:p>
        </p:txBody>
      </p:sp>
      <p:sp>
        <p:nvSpPr>
          <p:cNvPr id="70665" name="Oval 11"/>
          <p:cNvSpPr>
            <a:spLocks noChangeArrowheads="1"/>
          </p:cNvSpPr>
          <p:nvPr/>
        </p:nvSpPr>
        <p:spPr bwMode="auto">
          <a:xfrm>
            <a:off x="323850" y="4516438"/>
            <a:ext cx="1511300" cy="490537"/>
          </a:xfrm>
          <a:prstGeom prst="ellipse">
            <a:avLst/>
          </a:prstGeom>
          <a:solidFill>
            <a:schemeClr val="accent1"/>
          </a:solidFill>
          <a:ln w="9525" algn="ctr">
            <a:solidFill>
              <a:schemeClr val="tx1"/>
            </a:solidFill>
            <a:round/>
            <a:headEnd/>
            <a:tailEnd/>
          </a:ln>
        </p:spPr>
        <p:txBody>
          <a:bodyPr anchor="ctr">
            <a:spAutoFit/>
          </a:bodyPr>
          <a:lstStyle/>
          <a:p>
            <a:r>
              <a:rPr lang="fa-IR"/>
              <a:t>ايده 2 - 2</a:t>
            </a:r>
            <a:endParaRPr lang="en-US"/>
          </a:p>
        </p:txBody>
      </p:sp>
      <p:sp>
        <p:nvSpPr>
          <p:cNvPr id="70666" name="Oval 12"/>
          <p:cNvSpPr>
            <a:spLocks noChangeArrowheads="1"/>
          </p:cNvSpPr>
          <p:nvPr/>
        </p:nvSpPr>
        <p:spPr bwMode="auto">
          <a:xfrm>
            <a:off x="4140200" y="5884863"/>
            <a:ext cx="1223963" cy="490537"/>
          </a:xfrm>
          <a:prstGeom prst="ellipse">
            <a:avLst/>
          </a:prstGeom>
          <a:solidFill>
            <a:schemeClr val="accent1"/>
          </a:solidFill>
          <a:ln w="9525" algn="ctr">
            <a:solidFill>
              <a:schemeClr val="tx1"/>
            </a:solidFill>
            <a:round/>
            <a:headEnd/>
            <a:tailEnd/>
          </a:ln>
        </p:spPr>
        <p:txBody>
          <a:bodyPr anchor="ctr">
            <a:spAutoFit/>
          </a:bodyPr>
          <a:lstStyle/>
          <a:p>
            <a:r>
              <a:rPr lang="fa-IR"/>
              <a:t>ايده ساده</a:t>
            </a:r>
            <a:endParaRPr lang="en-US"/>
          </a:p>
        </p:txBody>
      </p:sp>
      <p:sp>
        <p:nvSpPr>
          <p:cNvPr id="70667" name="Oval 13"/>
          <p:cNvSpPr>
            <a:spLocks noChangeArrowheads="1"/>
          </p:cNvSpPr>
          <p:nvPr/>
        </p:nvSpPr>
        <p:spPr bwMode="auto">
          <a:xfrm>
            <a:off x="2268538" y="5956300"/>
            <a:ext cx="1223962" cy="490538"/>
          </a:xfrm>
          <a:prstGeom prst="ellipse">
            <a:avLst/>
          </a:prstGeom>
          <a:solidFill>
            <a:schemeClr val="accent1"/>
          </a:solidFill>
          <a:ln w="9525" algn="ctr">
            <a:solidFill>
              <a:schemeClr val="tx1"/>
            </a:solidFill>
            <a:round/>
            <a:headEnd/>
            <a:tailEnd/>
          </a:ln>
        </p:spPr>
        <p:txBody>
          <a:bodyPr anchor="ctr">
            <a:spAutoFit/>
          </a:bodyPr>
          <a:lstStyle/>
          <a:p>
            <a:r>
              <a:rPr lang="fa-IR"/>
              <a:t>ايده ساده</a:t>
            </a:r>
            <a:endParaRPr lang="en-US"/>
          </a:p>
        </p:txBody>
      </p:sp>
      <p:sp>
        <p:nvSpPr>
          <p:cNvPr id="70668" name="Oval 14"/>
          <p:cNvSpPr>
            <a:spLocks noChangeArrowheads="1"/>
          </p:cNvSpPr>
          <p:nvPr/>
        </p:nvSpPr>
        <p:spPr bwMode="auto">
          <a:xfrm>
            <a:off x="539750" y="5884863"/>
            <a:ext cx="1223963" cy="490537"/>
          </a:xfrm>
          <a:prstGeom prst="ellipse">
            <a:avLst/>
          </a:prstGeom>
          <a:solidFill>
            <a:schemeClr val="accent1"/>
          </a:solidFill>
          <a:ln w="9525" algn="ctr">
            <a:solidFill>
              <a:schemeClr val="tx1"/>
            </a:solidFill>
            <a:round/>
            <a:headEnd/>
            <a:tailEnd/>
          </a:ln>
        </p:spPr>
        <p:txBody>
          <a:bodyPr anchor="ctr">
            <a:spAutoFit/>
          </a:bodyPr>
          <a:lstStyle/>
          <a:p>
            <a:r>
              <a:rPr lang="fa-IR"/>
              <a:t>ايده ساده</a:t>
            </a:r>
            <a:endParaRPr lang="en-US"/>
          </a:p>
        </p:txBody>
      </p:sp>
      <p:sp>
        <p:nvSpPr>
          <p:cNvPr id="70669" name="Line 15"/>
          <p:cNvSpPr>
            <a:spLocks noChangeShapeType="1"/>
          </p:cNvSpPr>
          <p:nvPr/>
        </p:nvSpPr>
        <p:spPr bwMode="auto">
          <a:xfrm flipV="1">
            <a:off x="8101013" y="333375"/>
            <a:ext cx="503237" cy="431800"/>
          </a:xfrm>
          <a:prstGeom prst="line">
            <a:avLst/>
          </a:prstGeom>
          <a:noFill/>
          <a:ln w="9525">
            <a:solidFill>
              <a:schemeClr val="tx1"/>
            </a:solidFill>
            <a:round/>
            <a:headEnd/>
            <a:tailEnd/>
          </a:ln>
        </p:spPr>
        <p:txBody>
          <a:bodyPr wrap="none">
            <a:spAutoFit/>
          </a:bodyPr>
          <a:lstStyle/>
          <a:p>
            <a:endParaRPr lang="en-US"/>
          </a:p>
        </p:txBody>
      </p:sp>
      <p:sp>
        <p:nvSpPr>
          <p:cNvPr id="70670" name="Line 16"/>
          <p:cNvSpPr>
            <a:spLocks noChangeShapeType="1"/>
          </p:cNvSpPr>
          <p:nvPr/>
        </p:nvSpPr>
        <p:spPr bwMode="auto">
          <a:xfrm flipV="1">
            <a:off x="7308850" y="0"/>
            <a:ext cx="0" cy="333375"/>
          </a:xfrm>
          <a:prstGeom prst="line">
            <a:avLst/>
          </a:prstGeom>
          <a:noFill/>
          <a:ln w="9525">
            <a:solidFill>
              <a:schemeClr val="tx1"/>
            </a:solidFill>
            <a:round/>
            <a:headEnd/>
            <a:tailEnd/>
          </a:ln>
        </p:spPr>
        <p:txBody>
          <a:bodyPr wrap="none">
            <a:spAutoFit/>
          </a:bodyPr>
          <a:lstStyle/>
          <a:p>
            <a:endParaRPr lang="en-US"/>
          </a:p>
        </p:txBody>
      </p:sp>
      <p:sp>
        <p:nvSpPr>
          <p:cNvPr id="70671" name="Line 17"/>
          <p:cNvSpPr>
            <a:spLocks noChangeShapeType="1"/>
          </p:cNvSpPr>
          <p:nvPr/>
        </p:nvSpPr>
        <p:spPr bwMode="auto">
          <a:xfrm flipH="1" flipV="1">
            <a:off x="6300788" y="0"/>
            <a:ext cx="287337" cy="549275"/>
          </a:xfrm>
          <a:prstGeom prst="line">
            <a:avLst/>
          </a:prstGeom>
          <a:noFill/>
          <a:ln w="9525">
            <a:solidFill>
              <a:schemeClr val="tx1"/>
            </a:solidFill>
            <a:round/>
            <a:headEnd/>
            <a:tailEnd/>
          </a:ln>
        </p:spPr>
        <p:txBody>
          <a:bodyPr wrap="none">
            <a:spAutoFit/>
          </a:bodyPr>
          <a:lstStyle/>
          <a:p>
            <a:endParaRPr lang="en-US"/>
          </a:p>
        </p:txBody>
      </p:sp>
      <p:sp>
        <p:nvSpPr>
          <p:cNvPr id="70672" name="Oval 21"/>
          <p:cNvSpPr>
            <a:spLocks noChangeArrowheads="1"/>
          </p:cNvSpPr>
          <p:nvPr/>
        </p:nvSpPr>
        <p:spPr bwMode="auto">
          <a:xfrm>
            <a:off x="7092950" y="2924175"/>
            <a:ext cx="1223963" cy="490538"/>
          </a:xfrm>
          <a:prstGeom prst="ellipse">
            <a:avLst/>
          </a:prstGeom>
          <a:solidFill>
            <a:schemeClr val="accent1"/>
          </a:solidFill>
          <a:ln w="9525" algn="ctr">
            <a:solidFill>
              <a:schemeClr val="tx1"/>
            </a:solidFill>
            <a:round/>
            <a:headEnd/>
            <a:tailEnd/>
          </a:ln>
        </p:spPr>
        <p:txBody>
          <a:bodyPr anchor="ctr">
            <a:spAutoFit/>
          </a:bodyPr>
          <a:lstStyle/>
          <a:p>
            <a:r>
              <a:rPr lang="fa-IR"/>
              <a:t>ايده 4</a:t>
            </a:r>
            <a:endParaRPr lang="en-US"/>
          </a:p>
        </p:txBody>
      </p:sp>
      <p:sp>
        <p:nvSpPr>
          <p:cNvPr id="70673" name="Line 22"/>
          <p:cNvSpPr>
            <a:spLocks noChangeShapeType="1"/>
          </p:cNvSpPr>
          <p:nvPr/>
        </p:nvSpPr>
        <p:spPr bwMode="auto">
          <a:xfrm flipV="1">
            <a:off x="8172450" y="2492375"/>
            <a:ext cx="971550" cy="503238"/>
          </a:xfrm>
          <a:prstGeom prst="line">
            <a:avLst/>
          </a:prstGeom>
          <a:noFill/>
          <a:ln w="9525">
            <a:solidFill>
              <a:schemeClr val="tx1"/>
            </a:solidFill>
            <a:round/>
            <a:headEnd/>
            <a:tailEnd/>
          </a:ln>
        </p:spPr>
        <p:txBody>
          <a:bodyPr wrap="none">
            <a:spAutoFit/>
          </a:bodyPr>
          <a:lstStyle/>
          <a:p>
            <a:endParaRPr lang="en-US"/>
          </a:p>
        </p:txBody>
      </p:sp>
      <p:sp>
        <p:nvSpPr>
          <p:cNvPr id="70674" name="Line 26"/>
          <p:cNvSpPr>
            <a:spLocks noChangeShapeType="1"/>
          </p:cNvSpPr>
          <p:nvPr/>
        </p:nvSpPr>
        <p:spPr bwMode="auto">
          <a:xfrm>
            <a:off x="3132138" y="3716338"/>
            <a:ext cx="71437" cy="720725"/>
          </a:xfrm>
          <a:prstGeom prst="line">
            <a:avLst/>
          </a:prstGeom>
          <a:noFill/>
          <a:ln w="9525">
            <a:solidFill>
              <a:schemeClr val="tx1"/>
            </a:solidFill>
            <a:round/>
            <a:headEnd/>
            <a:tailEnd/>
          </a:ln>
        </p:spPr>
        <p:txBody>
          <a:bodyPr wrap="none">
            <a:spAutoFit/>
          </a:bodyPr>
          <a:lstStyle/>
          <a:p>
            <a:endParaRPr lang="en-US"/>
          </a:p>
        </p:txBody>
      </p:sp>
      <p:sp>
        <p:nvSpPr>
          <p:cNvPr id="70675" name="Line 27"/>
          <p:cNvSpPr>
            <a:spLocks noChangeShapeType="1"/>
          </p:cNvSpPr>
          <p:nvPr/>
        </p:nvSpPr>
        <p:spPr bwMode="auto">
          <a:xfrm flipH="1">
            <a:off x="1042988" y="3644900"/>
            <a:ext cx="1657350" cy="792163"/>
          </a:xfrm>
          <a:prstGeom prst="line">
            <a:avLst/>
          </a:prstGeom>
          <a:noFill/>
          <a:ln w="9525">
            <a:solidFill>
              <a:schemeClr val="tx1"/>
            </a:solidFill>
            <a:round/>
            <a:headEnd/>
            <a:tailEnd/>
          </a:ln>
        </p:spPr>
        <p:txBody>
          <a:bodyPr wrap="none">
            <a:spAutoFit/>
          </a:bodyPr>
          <a:lstStyle/>
          <a:p>
            <a:endParaRPr lang="en-US"/>
          </a:p>
        </p:txBody>
      </p:sp>
      <p:sp>
        <p:nvSpPr>
          <p:cNvPr id="70676" name="Line 28"/>
          <p:cNvSpPr>
            <a:spLocks noChangeShapeType="1"/>
          </p:cNvSpPr>
          <p:nvPr/>
        </p:nvSpPr>
        <p:spPr bwMode="auto">
          <a:xfrm>
            <a:off x="3563938" y="3573463"/>
            <a:ext cx="1439862" cy="792162"/>
          </a:xfrm>
          <a:prstGeom prst="line">
            <a:avLst/>
          </a:prstGeom>
          <a:noFill/>
          <a:ln w="9525">
            <a:solidFill>
              <a:schemeClr val="tx1"/>
            </a:solidFill>
            <a:round/>
            <a:headEnd/>
            <a:tailEnd/>
          </a:ln>
        </p:spPr>
        <p:txBody>
          <a:bodyPr wrap="none">
            <a:spAutoFit/>
          </a:bodyPr>
          <a:lstStyle/>
          <a:p>
            <a:endParaRPr lang="en-US"/>
          </a:p>
        </p:txBody>
      </p:sp>
      <p:sp>
        <p:nvSpPr>
          <p:cNvPr id="70677" name="Line 29"/>
          <p:cNvSpPr>
            <a:spLocks noChangeShapeType="1"/>
          </p:cNvSpPr>
          <p:nvPr/>
        </p:nvSpPr>
        <p:spPr bwMode="auto">
          <a:xfrm flipH="1">
            <a:off x="1476375" y="4941888"/>
            <a:ext cx="1223963" cy="863600"/>
          </a:xfrm>
          <a:prstGeom prst="line">
            <a:avLst/>
          </a:prstGeom>
          <a:noFill/>
          <a:ln w="9525">
            <a:solidFill>
              <a:schemeClr val="tx1"/>
            </a:solidFill>
            <a:round/>
            <a:headEnd/>
            <a:tailEnd/>
          </a:ln>
        </p:spPr>
        <p:txBody>
          <a:bodyPr wrap="none">
            <a:spAutoFit/>
          </a:bodyPr>
          <a:lstStyle/>
          <a:p>
            <a:endParaRPr lang="en-US"/>
          </a:p>
        </p:txBody>
      </p:sp>
      <p:sp>
        <p:nvSpPr>
          <p:cNvPr id="70678" name="Line 30"/>
          <p:cNvSpPr>
            <a:spLocks noChangeShapeType="1"/>
          </p:cNvSpPr>
          <p:nvPr/>
        </p:nvSpPr>
        <p:spPr bwMode="auto">
          <a:xfrm>
            <a:off x="3779838" y="5013325"/>
            <a:ext cx="936625" cy="792163"/>
          </a:xfrm>
          <a:prstGeom prst="line">
            <a:avLst/>
          </a:prstGeom>
          <a:noFill/>
          <a:ln w="9525">
            <a:solidFill>
              <a:schemeClr val="tx1"/>
            </a:solidFill>
            <a:round/>
            <a:headEnd/>
            <a:tailEnd/>
          </a:ln>
        </p:spPr>
        <p:txBody>
          <a:bodyPr wrap="none">
            <a:spAutoFit/>
          </a:bodyPr>
          <a:lstStyle/>
          <a:p>
            <a:endParaRPr lang="en-US"/>
          </a:p>
        </p:txBody>
      </p:sp>
      <p:sp>
        <p:nvSpPr>
          <p:cNvPr id="70679" name="Line 31"/>
          <p:cNvSpPr>
            <a:spLocks noChangeShapeType="1"/>
          </p:cNvSpPr>
          <p:nvPr/>
        </p:nvSpPr>
        <p:spPr bwMode="auto">
          <a:xfrm flipH="1">
            <a:off x="2916238" y="5084763"/>
            <a:ext cx="287337" cy="792162"/>
          </a:xfrm>
          <a:prstGeom prst="line">
            <a:avLst/>
          </a:prstGeom>
          <a:noFill/>
          <a:ln w="9525">
            <a:solidFill>
              <a:schemeClr val="tx1"/>
            </a:solidFill>
            <a:round/>
            <a:headEnd/>
            <a:tailEnd/>
          </a:ln>
        </p:spPr>
        <p:txBody>
          <a:bodyPr wrap="none">
            <a:spAutoFit/>
          </a:bodyPr>
          <a:lstStyle/>
          <a:p>
            <a:endParaRPr lang="en-US"/>
          </a:p>
        </p:txBody>
      </p:sp>
      <p:sp>
        <p:nvSpPr>
          <p:cNvPr id="70680" name="Line 35"/>
          <p:cNvSpPr>
            <a:spLocks noChangeShapeType="1"/>
          </p:cNvSpPr>
          <p:nvPr/>
        </p:nvSpPr>
        <p:spPr bwMode="auto">
          <a:xfrm>
            <a:off x="3492500" y="1052513"/>
            <a:ext cx="935038" cy="720725"/>
          </a:xfrm>
          <a:prstGeom prst="line">
            <a:avLst/>
          </a:prstGeom>
          <a:noFill/>
          <a:ln w="9525">
            <a:solidFill>
              <a:schemeClr val="tx1"/>
            </a:solidFill>
            <a:round/>
            <a:headEnd/>
            <a:tailEnd/>
          </a:ln>
        </p:spPr>
        <p:txBody>
          <a:bodyPr wrap="none">
            <a:spAutoFit/>
          </a:bodyPr>
          <a:lstStyle/>
          <a:p>
            <a:endParaRPr lang="en-US"/>
          </a:p>
        </p:txBody>
      </p:sp>
      <p:sp>
        <p:nvSpPr>
          <p:cNvPr id="70681" name="Line 36"/>
          <p:cNvSpPr>
            <a:spLocks noChangeShapeType="1"/>
          </p:cNvSpPr>
          <p:nvPr/>
        </p:nvSpPr>
        <p:spPr bwMode="auto">
          <a:xfrm>
            <a:off x="2051050" y="2349500"/>
            <a:ext cx="2089150" cy="0"/>
          </a:xfrm>
          <a:prstGeom prst="line">
            <a:avLst/>
          </a:prstGeom>
          <a:noFill/>
          <a:ln w="9525">
            <a:solidFill>
              <a:schemeClr val="tx1"/>
            </a:solidFill>
            <a:round/>
            <a:headEnd/>
            <a:tailEnd/>
          </a:ln>
        </p:spPr>
        <p:txBody>
          <a:bodyPr wrap="none">
            <a:spAutoFit/>
          </a:bodyPr>
          <a:lstStyle/>
          <a:p>
            <a:endParaRPr lang="en-US"/>
          </a:p>
        </p:txBody>
      </p:sp>
      <p:sp>
        <p:nvSpPr>
          <p:cNvPr id="70682" name="Line 37"/>
          <p:cNvSpPr>
            <a:spLocks noChangeShapeType="1"/>
          </p:cNvSpPr>
          <p:nvPr/>
        </p:nvSpPr>
        <p:spPr bwMode="auto">
          <a:xfrm flipH="1">
            <a:off x="3203575" y="2636838"/>
            <a:ext cx="936625" cy="431800"/>
          </a:xfrm>
          <a:prstGeom prst="line">
            <a:avLst/>
          </a:prstGeom>
          <a:noFill/>
          <a:ln w="9525">
            <a:solidFill>
              <a:schemeClr val="tx1"/>
            </a:solidFill>
            <a:round/>
            <a:headEnd/>
            <a:tailEnd/>
          </a:ln>
        </p:spPr>
        <p:txBody>
          <a:bodyPr wrap="none">
            <a:spAutoFit/>
          </a:bodyPr>
          <a:lstStyle/>
          <a:p>
            <a:endParaRPr lang="en-US"/>
          </a:p>
        </p:txBody>
      </p:sp>
      <p:sp>
        <p:nvSpPr>
          <p:cNvPr id="70683" name="Line 38"/>
          <p:cNvSpPr>
            <a:spLocks noChangeShapeType="1"/>
          </p:cNvSpPr>
          <p:nvPr/>
        </p:nvSpPr>
        <p:spPr bwMode="auto">
          <a:xfrm flipV="1">
            <a:off x="3419475" y="260350"/>
            <a:ext cx="215900" cy="288925"/>
          </a:xfrm>
          <a:prstGeom prst="line">
            <a:avLst/>
          </a:prstGeom>
          <a:noFill/>
          <a:ln w="9525">
            <a:solidFill>
              <a:schemeClr val="tx1"/>
            </a:solidFill>
            <a:round/>
            <a:headEnd/>
            <a:tailEnd/>
          </a:ln>
        </p:spPr>
        <p:txBody>
          <a:bodyPr wrap="none">
            <a:spAutoFit/>
          </a:bodyPr>
          <a:lstStyle/>
          <a:p>
            <a:endParaRPr lang="en-US"/>
          </a:p>
        </p:txBody>
      </p:sp>
      <p:sp>
        <p:nvSpPr>
          <p:cNvPr id="70684" name="Line 39"/>
          <p:cNvSpPr>
            <a:spLocks noChangeShapeType="1"/>
          </p:cNvSpPr>
          <p:nvPr/>
        </p:nvSpPr>
        <p:spPr bwMode="auto">
          <a:xfrm flipH="1" flipV="1">
            <a:off x="1547813" y="0"/>
            <a:ext cx="360362" cy="549275"/>
          </a:xfrm>
          <a:prstGeom prst="line">
            <a:avLst/>
          </a:prstGeom>
          <a:noFill/>
          <a:ln w="9525">
            <a:solidFill>
              <a:schemeClr val="tx1"/>
            </a:solidFill>
            <a:round/>
            <a:headEnd/>
            <a:tailEnd/>
          </a:ln>
        </p:spPr>
        <p:txBody>
          <a:bodyPr wrap="none">
            <a:spAutoFit/>
          </a:bodyPr>
          <a:lstStyle/>
          <a:p>
            <a:endParaRPr lang="en-US"/>
          </a:p>
        </p:txBody>
      </p:sp>
      <p:sp>
        <p:nvSpPr>
          <p:cNvPr id="70685" name="Line 40"/>
          <p:cNvSpPr>
            <a:spLocks noChangeShapeType="1"/>
          </p:cNvSpPr>
          <p:nvPr/>
        </p:nvSpPr>
        <p:spPr bwMode="auto">
          <a:xfrm>
            <a:off x="5940425" y="2420938"/>
            <a:ext cx="1295400" cy="576262"/>
          </a:xfrm>
          <a:prstGeom prst="line">
            <a:avLst/>
          </a:prstGeom>
          <a:noFill/>
          <a:ln w="9525">
            <a:solidFill>
              <a:schemeClr val="tx1"/>
            </a:solidFill>
            <a:round/>
            <a:headEnd/>
            <a:tailEnd/>
          </a:ln>
        </p:spPr>
        <p:txBody>
          <a:bodyPr wrap="none">
            <a:spAutoFit/>
          </a:bodyPr>
          <a:lstStyle/>
          <a:p>
            <a:endParaRPr lang="en-US"/>
          </a:p>
        </p:txBody>
      </p:sp>
      <p:sp>
        <p:nvSpPr>
          <p:cNvPr id="70686" name="Line 42"/>
          <p:cNvSpPr>
            <a:spLocks noChangeShapeType="1"/>
          </p:cNvSpPr>
          <p:nvPr/>
        </p:nvSpPr>
        <p:spPr bwMode="auto">
          <a:xfrm flipH="1">
            <a:off x="7092950" y="3429000"/>
            <a:ext cx="358775" cy="647700"/>
          </a:xfrm>
          <a:prstGeom prst="line">
            <a:avLst/>
          </a:prstGeom>
          <a:noFill/>
          <a:ln w="9525">
            <a:solidFill>
              <a:schemeClr val="tx1"/>
            </a:solidFill>
            <a:round/>
            <a:headEnd/>
            <a:tailEnd/>
          </a:ln>
        </p:spPr>
        <p:txBody>
          <a:bodyPr wrap="none">
            <a:spAutoFit/>
          </a:bodyPr>
          <a:lstStyle/>
          <a:p>
            <a:endParaRPr lang="en-US"/>
          </a:p>
        </p:txBody>
      </p:sp>
      <p:sp>
        <p:nvSpPr>
          <p:cNvPr id="70687" name="Line 43"/>
          <p:cNvSpPr>
            <a:spLocks noChangeShapeType="1"/>
          </p:cNvSpPr>
          <p:nvPr/>
        </p:nvSpPr>
        <p:spPr bwMode="auto">
          <a:xfrm>
            <a:off x="7740650" y="3429000"/>
            <a:ext cx="71438" cy="1223963"/>
          </a:xfrm>
          <a:prstGeom prst="line">
            <a:avLst/>
          </a:prstGeom>
          <a:noFill/>
          <a:ln w="9525">
            <a:solidFill>
              <a:schemeClr val="tx1"/>
            </a:solidFill>
            <a:round/>
            <a:headEnd/>
            <a:tailEnd/>
          </a:ln>
        </p:spPr>
        <p:txBody>
          <a:bodyPr wrap="none">
            <a:spAutoFit/>
          </a:bodyPr>
          <a:lstStyle/>
          <a:p>
            <a:endParaRPr lang="en-US"/>
          </a:p>
        </p:txBody>
      </p:sp>
      <p:sp>
        <p:nvSpPr>
          <p:cNvPr id="70688" name="Line 44"/>
          <p:cNvSpPr>
            <a:spLocks noChangeShapeType="1"/>
          </p:cNvSpPr>
          <p:nvPr/>
        </p:nvSpPr>
        <p:spPr bwMode="auto">
          <a:xfrm>
            <a:off x="8101013" y="3357563"/>
            <a:ext cx="431800" cy="431800"/>
          </a:xfrm>
          <a:prstGeom prst="line">
            <a:avLst/>
          </a:prstGeom>
          <a:noFill/>
          <a:ln w="9525">
            <a:solidFill>
              <a:schemeClr val="tx1"/>
            </a:solidFill>
            <a:round/>
            <a:headEnd/>
            <a:tailEnd/>
          </a:ln>
        </p:spPr>
        <p:txBody>
          <a:bodyPr wrap="none">
            <a:spAutoFit/>
          </a:bodyPr>
          <a:lstStyle/>
          <a:p>
            <a:endParaRPr lang="en-US"/>
          </a:p>
        </p:txBody>
      </p:sp>
      <p:sp>
        <p:nvSpPr>
          <p:cNvPr id="70689" name="Line 45"/>
          <p:cNvSpPr>
            <a:spLocks noChangeShapeType="1"/>
          </p:cNvSpPr>
          <p:nvPr/>
        </p:nvSpPr>
        <p:spPr bwMode="auto">
          <a:xfrm flipH="1">
            <a:off x="5795963" y="1196975"/>
            <a:ext cx="792162" cy="647700"/>
          </a:xfrm>
          <a:prstGeom prst="line">
            <a:avLst/>
          </a:prstGeom>
          <a:noFill/>
          <a:ln w="9525">
            <a:solidFill>
              <a:schemeClr val="tx1"/>
            </a:solidFill>
            <a:round/>
            <a:headEnd/>
            <a:tailEnd/>
          </a:ln>
        </p:spPr>
        <p:txBody>
          <a:bodyPr wrap="none">
            <a:spAutoFit/>
          </a:bodyPr>
          <a:lstStyle/>
          <a:p>
            <a:endParaRPr lang="en-US"/>
          </a:p>
        </p:txBody>
      </p:sp>
    </p:spTree>
  </p:cSld>
  <p:clrMapOvr>
    <a:overrideClrMapping bg1="dk2" tx1="lt1" bg2="dk1" tx2="lt2" accent1="accent1" accent2="accent2" accent3="accent3" accent4="accent4" accent5="accent5" accent6="accent6" hlink="hlink" folHlink="folHlink"/>
  </p:clrMapOvr>
  <p:transition spd="med">
    <p:wipe dir="d"/>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p:cNvSpPr>
            <a:spLocks noGrp="1" noChangeArrowheads="1"/>
          </p:cNvSpPr>
          <p:nvPr>
            <p:ph idx="1"/>
          </p:nvPr>
        </p:nvSpPr>
        <p:spPr>
          <a:xfrm>
            <a:off x="457200" y="1600200"/>
            <a:ext cx="8229600" cy="4924425"/>
          </a:xfrm>
        </p:spPr>
        <p:txBody>
          <a:bodyPr/>
          <a:lstStyle/>
          <a:p>
            <a:pPr marL="609600" indent="-609600" algn="r" rtl="1" eaLnBrk="1" hangingPunct="1">
              <a:lnSpc>
                <a:spcPct val="90000"/>
              </a:lnSpc>
              <a:buFont typeface="Wingdings" pitchFamily="2" charset="2"/>
              <a:buAutoNum type="arabicPeriod"/>
            </a:pPr>
            <a:r>
              <a:rPr lang="fa-IR" sz="2800" b="1" smtClean="0"/>
              <a:t>وضوح بخشیدن به متن اصلی </a:t>
            </a:r>
          </a:p>
          <a:p>
            <a:pPr marL="609600" indent="-609600" algn="r" rtl="1" eaLnBrk="1" hangingPunct="1">
              <a:lnSpc>
                <a:spcPct val="90000"/>
              </a:lnSpc>
              <a:buFont typeface="Wingdings" pitchFamily="2" charset="2"/>
              <a:buAutoNum type="arabicPeriod"/>
            </a:pPr>
            <a:r>
              <a:rPr lang="fa-IR" sz="2800" b="1" smtClean="0"/>
              <a:t>واحدمند و ساختمند کردن متن اصلی </a:t>
            </a:r>
          </a:p>
          <a:p>
            <a:pPr marL="609600" indent="-609600" algn="r" rtl="1" eaLnBrk="1" hangingPunct="1">
              <a:lnSpc>
                <a:spcPct val="90000"/>
              </a:lnSpc>
              <a:buFont typeface="Wingdings" pitchFamily="2" charset="2"/>
              <a:buAutoNum type="arabicPeriod"/>
            </a:pPr>
            <a:r>
              <a:rPr lang="fa-IR" sz="2800" b="1" smtClean="0"/>
              <a:t>کمک به خواننده در دریافت و احاطه بهتر مطلب </a:t>
            </a:r>
          </a:p>
          <a:p>
            <a:pPr marL="609600" indent="-609600" algn="r" rtl="1" eaLnBrk="1" hangingPunct="1">
              <a:lnSpc>
                <a:spcPct val="90000"/>
              </a:lnSpc>
              <a:buFont typeface="Wingdings" pitchFamily="2" charset="2"/>
              <a:buAutoNum type="arabicPeriod"/>
            </a:pPr>
            <a:r>
              <a:rPr lang="fa-IR" sz="2800" b="1" smtClean="0"/>
              <a:t>تسهیل از سرگیری مطالعه در صورت گسسته شدن رشته مطالعه </a:t>
            </a:r>
          </a:p>
          <a:p>
            <a:pPr marL="609600" indent="-609600" algn="r" rtl="1" eaLnBrk="1" hangingPunct="1">
              <a:lnSpc>
                <a:spcPct val="90000"/>
              </a:lnSpc>
              <a:buFont typeface="Wingdings" pitchFamily="2" charset="2"/>
              <a:buAutoNum type="arabicPeriod"/>
            </a:pPr>
            <a:r>
              <a:rPr lang="fa-IR" sz="2800" b="1" smtClean="0"/>
              <a:t>امکان ارجاع به قسمتهای مختلف متن </a:t>
            </a:r>
          </a:p>
          <a:p>
            <a:pPr marL="609600" indent="-609600" algn="r" rtl="1" eaLnBrk="1" hangingPunct="1">
              <a:lnSpc>
                <a:spcPct val="90000"/>
              </a:lnSpc>
              <a:buFont typeface="Wingdings" pitchFamily="2" charset="2"/>
              <a:buAutoNum type="arabicPeriod"/>
            </a:pPr>
            <a:r>
              <a:rPr lang="fa-IR" sz="2800" b="1" smtClean="0"/>
              <a:t>تسهیل یافتن مطلب مورد نظر خواننده (از روی فهرست مطالب)  </a:t>
            </a:r>
          </a:p>
          <a:p>
            <a:pPr marL="609600" indent="-609600" algn="r" rtl="1" eaLnBrk="1" hangingPunct="1">
              <a:lnSpc>
                <a:spcPct val="90000"/>
              </a:lnSpc>
              <a:buFont typeface="Wingdings" pitchFamily="2" charset="2"/>
              <a:buAutoNum type="arabicPeriod"/>
            </a:pPr>
            <a:r>
              <a:rPr lang="fa-IR" sz="2800" b="1" smtClean="0"/>
              <a:t>امکان ایجاد ارتباط بین قسمتهای مختلف </a:t>
            </a:r>
          </a:p>
          <a:p>
            <a:pPr marL="609600" indent="-609600" algn="r" rtl="1" eaLnBrk="1" hangingPunct="1">
              <a:lnSpc>
                <a:spcPct val="90000"/>
              </a:lnSpc>
              <a:buFont typeface="Wingdings" pitchFamily="2" charset="2"/>
              <a:buAutoNum type="arabicPeriod"/>
            </a:pPr>
            <a:r>
              <a:rPr lang="fa-IR" sz="2800" b="1" smtClean="0"/>
              <a:t>تامین تفکر سامانمند برای ارائه کننده و خواننده درباره موضوع </a:t>
            </a:r>
          </a:p>
          <a:p>
            <a:pPr marL="609600" indent="-609600" algn="r" rtl="1" eaLnBrk="1" hangingPunct="1">
              <a:lnSpc>
                <a:spcPct val="90000"/>
              </a:lnSpc>
              <a:buFont typeface="Wingdings" pitchFamily="2" charset="2"/>
              <a:buAutoNum type="arabicPeriod"/>
            </a:pPr>
            <a:r>
              <a:rPr lang="fa-IR" sz="2800" b="1" smtClean="0"/>
              <a:t>صرفه جویی در زمان از طریق اجتناب از پریشان اندیشی وتسهیل تمرکز روی یک ایده مشخص</a:t>
            </a:r>
            <a:r>
              <a:rPr lang="fa-IR" sz="2800" smtClean="0"/>
              <a:t> </a:t>
            </a:r>
            <a:endParaRPr lang="en-US" sz="2800" smtClean="0"/>
          </a:p>
        </p:txBody>
      </p:sp>
      <p:sp>
        <p:nvSpPr>
          <p:cNvPr id="82946" name="Rectangle 2"/>
          <p:cNvSpPr>
            <a:spLocks noGrp="1" noChangeArrowheads="1"/>
          </p:cNvSpPr>
          <p:nvPr>
            <p:ph type="title"/>
          </p:nvPr>
        </p:nvSpPr>
        <p:spPr>
          <a:xfrm>
            <a:off x="1187450" y="277813"/>
            <a:ext cx="7138988"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مزایای تعیین عناوین داخلی متن و توالی ارتباط منطقی بین آنها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p:cNvSpPr>
            <a:spLocks noGrp="1" noChangeArrowheads="1"/>
          </p:cNvSpPr>
          <p:nvPr>
            <p:ph idx="1"/>
          </p:nvPr>
        </p:nvSpPr>
        <p:spPr/>
        <p:txBody>
          <a:bodyPr/>
          <a:lstStyle/>
          <a:p>
            <a:pPr algn="justLow" rtl="1" eaLnBrk="1" hangingPunct="1">
              <a:buFont typeface="Wingdings" pitchFamily="2" charset="2"/>
              <a:buNone/>
            </a:pPr>
            <a:r>
              <a:rPr lang="fa-IR" b="1" smtClean="0"/>
              <a:t>چنانچه اطلاع با مطالعه منابع کتابخانه ای بدست آید باید کارهای زیر را انجام دهیم : </a:t>
            </a:r>
          </a:p>
          <a:p>
            <a:pPr algn="justLow" rtl="1" eaLnBrk="1" hangingPunct="1"/>
            <a:r>
              <a:rPr lang="fa-IR" b="1" smtClean="0"/>
              <a:t>ارزیابی دوباره منبع </a:t>
            </a:r>
          </a:p>
          <a:p>
            <a:pPr algn="justLow" rtl="1" eaLnBrk="1" hangingPunct="1"/>
            <a:r>
              <a:rPr lang="fa-IR" b="1" smtClean="0"/>
              <a:t>یادداشت برداری </a:t>
            </a:r>
          </a:p>
          <a:p>
            <a:pPr algn="justLow" rtl="1" eaLnBrk="1" hangingPunct="1"/>
            <a:r>
              <a:rPr lang="fa-IR" b="1" smtClean="0"/>
              <a:t>سازماندهی اطلاعات</a:t>
            </a:r>
            <a:r>
              <a:rPr lang="fa-IR" smtClean="0"/>
              <a:t> </a:t>
            </a:r>
            <a:endParaRPr lang="en-US" smtClean="0"/>
          </a:p>
        </p:txBody>
      </p:sp>
      <p:sp>
        <p:nvSpPr>
          <p:cNvPr id="8397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کسب و سازماندهی اطلاعات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p:cNvSpPr>
            <a:spLocks noGrp="1" noChangeArrowheads="1"/>
          </p:cNvSpPr>
          <p:nvPr>
            <p:ph idx="1"/>
          </p:nvPr>
        </p:nvSpPr>
        <p:spPr/>
        <p:txBody>
          <a:bodyPr/>
          <a:lstStyle/>
          <a:p>
            <a:pPr marL="609600" indent="-609600" algn="r" rtl="1" eaLnBrk="1" hangingPunct="1">
              <a:buFont typeface="Wingdings" pitchFamily="2" charset="2"/>
              <a:buNone/>
            </a:pPr>
            <a:r>
              <a:rPr lang="fa-IR" b="1" smtClean="0"/>
              <a:t>برای یادداشت برداری در اساس 2 روش وجود دارد :</a:t>
            </a:r>
          </a:p>
          <a:p>
            <a:pPr marL="609600" indent="-609600" algn="r" rtl="1" eaLnBrk="1" hangingPunct="1">
              <a:buFont typeface="Wingdings" pitchFamily="2" charset="2"/>
              <a:buAutoNum type="arabicPeriod"/>
            </a:pPr>
            <a:r>
              <a:rPr lang="fa-IR" b="1" smtClean="0"/>
              <a:t>تلخیص </a:t>
            </a:r>
          </a:p>
          <a:p>
            <a:pPr marL="609600" indent="-609600" algn="r" rtl="1" eaLnBrk="1" hangingPunct="1">
              <a:buFont typeface="Wingdings" pitchFamily="2" charset="2"/>
              <a:buAutoNum type="arabicPeriod"/>
            </a:pPr>
            <a:r>
              <a:rPr lang="fa-IR" b="1" smtClean="0"/>
              <a:t>نقل قول</a:t>
            </a:r>
            <a:r>
              <a:rPr lang="fa-IR" smtClean="0"/>
              <a:t> </a:t>
            </a:r>
            <a:endParaRPr lang="en-US" smtClean="0"/>
          </a:p>
        </p:txBody>
      </p:sp>
      <p:sp>
        <p:nvSpPr>
          <p:cNvPr id="8499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یادداشت برداری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091" name="Group 75"/>
          <p:cNvGraphicFramePr>
            <a:graphicFrameLocks noGrp="1"/>
          </p:cNvGraphicFramePr>
          <p:nvPr/>
        </p:nvGraphicFramePr>
        <p:xfrm>
          <a:off x="468313" y="333375"/>
          <a:ext cx="8353425" cy="6195252"/>
        </p:xfrm>
        <a:graphic>
          <a:graphicData uri="http://schemas.openxmlformats.org/drawingml/2006/table">
            <a:tbl>
              <a:tblPr/>
              <a:tblGrid>
                <a:gridCol w="2032000">
                  <a:extLst>
                    <a:ext uri="{9D8B030D-6E8A-4147-A177-3AD203B41FA5}">
                      <a16:colId xmlns:a16="http://schemas.microsoft.com/office/drawing/2014/main" val="20000"/>
                    </a:ext>
                  </a:extLst>
                </a:gridCol>
                <a:gridCol w="2216150">
                  <a:extLst>
                    <a:ext uri="{9D8B030D-6E8A-4147-A177-3AD203B41FA5}">
                      <a16:colId xmlns:a16="http://schemas.microsoft.com/office/drawing/2014/main" val="20001"/>
                    </a:ext>
                  </a:extLst>
                </a:gridCol>
                <a:gridCol w="2160587">
                  <a:extLst>
                    <a:ext uri="{9D8B030D-6E8A-4147-A177-3AD203B41FA5}">
                      <a16:colId xmlns:a16="http://schemas.microsoft.com/office/drawing/2014/main" val="20002"/>
                    </a:ext>
                  </a:extLst>
                </a:gridCol>
                <a:gridCol w="1944688">
                  <a:extLst>
                    <a:ext uri="{9D8B030D-6E8A-4147-A177-3AD203B41FA5}">
                      <a16:colId xmlns:a16="http://schemas.microsoft.com/office/drawing/2014/main" val="20003"/>
                    </a:ext>
                  </a:extLst>
                </a:gridCol>
              </a:tblGrid>
              <a:tr h="863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شماره كامل </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مطلب</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مطلب :</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شماره سريال </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كارت يادداشت </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32200">
                <a:tc gridSpan="4">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4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مطلب </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fa-IR" sz="4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665163">
                <a:tc gridSpan="2">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نام مولف (و مترجم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منبع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r h="504825">
                <a:tc gridSpan="2">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روش يادداشت برداري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تاريخ يادداشت برداري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3"/>
                  </a:ext>
                </a:extLst>
              </a:tr>
            </a:tbl>
          </a:graphicData>
        </a:graphic>
      </p:graphicFrame>
      <p:sp>
        <p:nvSpPr>
          <p:cNvPr id="3" name="Rectangle 2"/>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idx="1"/>
          </p:nvPr>
        </p:nvSpPr>
        <p:spPr/>
        <p:txBody>
          <a:bodyPr/>
          <a:lstStyle/>
          <a:p>
            <a:pPr algn="justLow" rtl="1" eaLnBrk="1" hangingPunct="1">
              <a:buFont typeface="Wingdings" pitchFamily="2" charset="2"/>
              <a:buNone/>
            </a:pPr>
            <a:r>
              <a:rPr lang="fa-IR" sz="4400" b="1" dirty="0" smtClean="0">
                <a:solidFill>
                  <a:srgbClr val="0070C0"/>
                </a:solidFill>
              </a:rPr>
              <a:t>تلخیص یعنی خلاصه کردن </a:t>
            </a:r>
            <a:r>
              <a:rPr lang="fa-IR" sz="4400" b="1" dirty="0" smtClean="0"/>
              <a:t>و عبارتست از بیان مطلب مندرج در منبع در کوتاهترین حدی که دلالت به معنا و منظور اصلی مطلب کند و خدشه ای به معنای مورد نظر وارد نشود .</a:t>
            </a:r>
            <a:endParaRPr lang="en-US" sz="4400" b="1" dirty="0" smtClean="0"/>
          </a:p>
        </p:txBody>
      </p:sp>
      <p:sp>
        <p:nvSpPr>
          <p:cNvPr id="8704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تلخیص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sz="2800" b="1" smtClean="0"/>
              <a:t>هدف تلخیص </a:t>
            </a:r>
          </a:p>
          <a:p>
            <a:pPr marL="609600" indent="-609600" algn="r" rtl="1" eaLnBrk="1" hangingPunct="1">
              <a:buFont typeface="Wingdings" pitchFamily="2" charset="2"/>
              <a:buAutoNum type="arabicPeriod"/>
            </a:pPr>
            <a:r>
              <a:rPr lang="fa-IR" sz="2800" b="1" smtClean="0"/>
              <a:t>کمیت مطلب مرجع </a:t>
            </a:r>
          </a:p>
          <a:p>
            <a:pPr marL="609600" indent="-609600" algn="r" rtl="1" eaLnBrk="1" hangingPunct="1">
              <a:buFont typeface="Wingdings" pitchFamily="2" charset="2"/>
              <a:buAutoNum type="arabicPeriod"/>
            </a:pPr>
            <a:r>
              <a:rPr lang="fa-IR" sz="2800" b="1" smtClean="0"/>
              <a:t>مخاطب</a:t>
            </a:r>
          </a:p>
          <a:p>
            <a:pPr marL="609600" indent="-609600" algn="r" rtl="1" eaLnBrk="1" hangingPunct="1">
              <a:buFont typeface="Wingdings" pitchFamily="2" charset="2"/>
              <a:buAutoNum type="arabicPeriod"/>
            </a:pPr>
            <a:r>
              <a:rPr lang="fa-IR" sz="2800" b="1" smtClean="0"/>
              <a:t>دقت مورد انتظار </a:t>
            </a:r>
          </a:p>
          <a:p>
            <a:pPr marL="609600" indent="-609600" algn="r" rtl="1" eaLnBrk="1" hangingPunct="1">
              <a:buFont typeface="Wingdings" pitchFamily="2" charset="2"/>
              <a:buAutoNum type="arabicPeriod"/>
            </a:pPr>
            <a:r>
              <a:rPr lang="fa-IR" sz="2800" b="1" smtClean="0"/>
              <a:t>کمیت متن در دست تولید </a:t>
            </a:r>
          </a:p>
          <a:p>
            <a:pPr marL="609600" indent="-609600" algn="r" rtl="1" eaLnBrk="1" hangingPunct="1">
              <a:buFont typeface="Wingdings" pitchFamily="2" charset="2"/>
              <a:buAutoNum type="arabicPeriod"/>
            </a:pPr>
            <a:r>
              <a:rPr lang="fa-IR" sz="2800" b="1" smtClean="0"/>
              <a:t>ملاحظات مدیریتی ( مثل نظر مدیریت سطح بالاتر در مورد حد تلخیص )</a:t>
            </a:r>
          </a:p>
          <a:p>
            <a:pPr marL="609600" indent="-609600" algn="r" rtl="1" eaLnBrk="1" hangingPunct="1">
              <a:buFont typeface="Wingdings" pitchFamily="2" charset="2"/>
              <a:buAutoNum type="arabicPeriod"/>
            </a:pPr>
            <a:r>
              <a:rPr lang="fa-IR" sz="2800" b="1" smtClean="0"/>
              <a:t>ملاحظات فنی ( مثلا محدودیتهای درج خلاصه در یک صفحه یا بخشی از صفحه )</a:t>
            </a:r>
            <a:endParaRPr lang="en-US" sz="2800" b="1" smtClean="0"/>
          </a:p>
        </p:txBody>
      </p:sp>
      <p:sp>
        <p:nvSpPr>
          <p:cNvPr id="88066" name="Rectangle 2"/>
          <p:cNvSpPr>
            <a:spLocks noGrp="1" noChangeArrowheads="1"/>
          </p:cNvSpPr>
          <p:nvPr>
            <p:ph type="title"/>
          </p:nvPr>
        </p:nvSpPr>
        <p:spPr>
          <a:xfrm>
            <a:off x="1547813" y="277813"/>
            <a:ext cx="663575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عواملی که در تعیین حد تلخیص باید در نظر داشت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noChangeArrowheads="1"/>
          </p:cNvSpPr>
          <p:nvPr>
            <p:ph idx="1"/>
          </p:nvPr>
        </p:nvSpPr>
        <p:spPr>
          <a:xfrm>
            <a:off x="457200" y="1851025"/>
            <a:ext cx="8229600" cy="4530725"/>
          </a:xfrm>
        </p:spPr>
        <p:txBody>
          <a:bodyPr/>
          <a:lstStyle/>
          <a:p>
            <a:pPr marL="609600" indent="-609600" algn="r" rtl="1" eaLnBrk="1" hangingPunct="1">
              <a:buFont typeface="Wingdings" pitchFamily="2" charset="2"/>
              <a:buAutoNum type="arabicPeriod"/>
            </a:pPr>
            <a:r>
              <a:rPr lang="fa-IR" b="1" smtClean="0"/>
              <a:t>رعایت ایجاز در حد ممکن </a:t>
            </a:r>
          </a:p>
          <a:p>
            <a:pPr marL="609600" indent="-609600" algn="r" rtl="1" eaLnBrk="1" hangingPunct="1">
              <a:buFont typeface="Wingdings" pitchFamily="2" charset="2"/>
              <a:buAutoNum type="arabicPeriod"/>
            </a:pPr>
            <a:r>
              <a:rPr lang="fa-IR" b="1" smtClean="0"/>
              <a:t> حفظ  دقت و اعتبار مطلب </a:t>
            </a:r>
          </a:p>
          <a:p>
            <a:pPr marL="609600" indent="-609600" algn="r" rtl="1" eaLnBrk="1" hangingPunct="1">
              <a:buFont typeface="Wingdings" pitchFamily="2" charset="2"/>
              <a:buAutoNum type="arabicPeriod"/>
            </a:pPr>
            <a:r>
              <a:rPr lang="fa-IR" b="1" smtClean="0"/>
              <a:t>حفظ معنای اصلی مطلب ( رعایت امانت معنایی ) </a:t>
            </a:r>
          </a:p>
          <a:p>
            <a:pPr marL="609600" indent="-609600" algn="r" rtl="1" eaLnBrk="1" hangingPunct="1">
              <a:buFont typeface="Wingdings" pitchFamily="2" charset="2"/>
              <a:buAutoNum type="arabicPeriod"/>
            </a:pPr>
            <a:r>
              <a:rPr lang="fa-IR" b="1" smtClean="0"/>
              <a:t>حفظ انسجام زبانی ( هماهنگ بودن سبک زبانی مطلب خلاصه شده با سبک زبانی متن در دست تولید </a:t>
            </a:r>
          </a:p>
          <a:p>
            <a:pPr marL="609600" indent="-609600" algn="r" rtl="1" eaLnBrk="1" hangingPunct="1">
              <a:buFont typeface="Wingdings" pitchFamily="2" charset="2"/>
              <a:buAutoNum type="arabicPeriod"/>
            </a:pPr>
            <a:r>
              <a:rPr lang="fa-IR" b="1" smtClean="0"/>
              <a:t> رعایت سادگی و روانی</a:t>
            </a:r>
            <a:r>
              <a:rPr lang="fa-IR" smtClean="0"/>
              <a:t> </a:t>
            </a:r>
            <a:endParaRPr lang="en-US" smtClean="0"/>
          </a:p>
        </p:txBody>
      </p:sp>
      <p:sp>
        <p:nvSpPr>
          <p:cNvPr id="89090" name="Rectangle 2"/>
          <p:cNvSpPr>
            <a:spLocks noGrp="1" noChangeArrowheads="1"/>
          </p:cNvSpPr>
          <p:nvPr>
            <p:ph type="title"/>
          </p:nvPr>
        </p:nvSpPr>
        <p:spPr>
          <a:xfrm>
            <a:off x="1116013" y="488950"/>
            <a:ext cx="7570787"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نکاتی که در تلخیص یک مطلب علمی – فنی باید مورد توجه قرار گیرد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noChangeArrowheads="1"/>
          </p:cNvSpPr>
          <p:nvPr>
            <p:ph idx="1"/>
          </p:nvPr>
        </p:nvSpPr>
        <p:spPr/>
        <p:txBody>
          <a:bodyPr/>
          <a:lstStyle/>
          <a:p>
            <a:pPr marL="609600" indent="-609600" algn="r" rtl="1" eaLnBrk="1" hangingPunct="1">
              <a:lnSpc>
                <a:spcPct val="80000"/>
              </a:lnSpc>
              <a:buFont typeface="Wingdings" pitchFamily="2" charset="2"/>
              <a:buAutoNum type="arabicPeriod"/>
            </a:pPr>
            <a:r>
              <a:rPr lang="fa-IR" sz="2800" b="1" dirty="0" smtClean="0">
                <a:solidFill>
                  <a:srgbClr val="0070C0"/>
                </a:solidFill>
              </a:rPr>
              <a:t>مطالعه دقیق </a:t>
            </a:r>
            <a:r>
              <a:rPr lang="fa-IR" sz="2800" b="1" dirty="0" smtClean="0"/>
              <a:t>و احیانا چند باره مطلب مرجع </a:t>
            </a:r>
          </a:p>
          <a:p>
            <a:pPr marL="609600" indent="-609600" algn="r" rtl="1" eaLnBrk="1" hangingPunct="1">
              <a:lnSpc>
                <a:spcPct val="80000"/>
              </a:lnSpc>
              <a:buFont typeface="Wingdings" pitchFamily="2" charset="2"/>
              <a:buAutoNum type="arabicPeriod"/>
            </a:pPr>
            <a:r>
              <a:rPr lang="fa-IR" sz="2800" b="1" dirty="0" smtClean="0"/>
              <a:t>یادداشت کردن مفاهیم و موضوعات مهم </a:t>
            </a:r>
          </a:p>
          <a:p>
            <a:pPr marL="609600" indent="-609600" algn="r" rtl="1" eaLnBrk="1" hangingPunct="1">
              <a:lnSpc>
                <a:spcPct val="80000"/>
              </a:lnSpc>
              <a:buFont typeface="Wingdings" pitchFamily="2" charset="2"/>
              <a:buAutoNum type="arabicPeriod"/>
            </a:pPr>
            <a:r>
              <a:rPr lang="fa-IR" sz="2800" b="1" dirty="0" smtClean="0"/>
              <a:t>انتخاب 4 تا 6 مفهوم مهمتر </a:t>
            </a:r>
          </a:p>
          <a:p>
            <a:pPr marL="609600" indent="-609600" algn="r" rtl="1" eaLnBrk="1" hangingPunct="1">
              <a:lnSpc>
                <a:spcPct val="80000"/>
              </a:lnSpc>
              <a:buFont typeface="Wingdings" pitchFamily="2" charset="2"/>
              <a:buAutoNum type="arabicPeriod"/>
            </a:pPr>
            <a:r>
              <a:rPr lang="fa-IR" sz="2800" b="1" dirty="0" smtClean="0"/>
              <a:t>نوشتن یک یا دو جمله در شرح هر مفهوم ضمن انتخاب کلمات ساده به جای عبارات بلند </a:t>
            </a:r>
          </a:p>
          <a:p>
            <a:pPr marL="609600" indent="-609600" algn="r" rtl="1" eaLnBrk="1" hangingPunct="1">
              <a:lnSpc>
                <a:spcPct val="80000"/>
              </a:lnSpc>
              <a:buFont typeface="Wingdings" pitchFamily="2" charset="2"/>
              <a:buAutoNum type="arabicPeriod"/>
            </a:pPr>
            <a:r>
              <a:rPr lang="fa-IR" sz="2800" b="1" dirty="0" smtClean="0"/>
              <a:t>بیان تعداد ، نوع و ایده اصلی شکلها و </a:t>
            </a:r>
            <a:r>
              <a:rPr lang="fa-IR" sz="2800" b="1" dirty="0" err="1" smtClean="0"/>
              <a:t>جدولهای</a:t>
            </a:r>
            <a:r>
              <a:rPr lang="fa-IR" sz="2800" b="1" dirty="0" smtClean="0"/>
              <a:t> مهمتر در یک یا دو جمله </a:t>
            </a:r>
          </a:p>
          <a:p>
            <a:pPr marL="609600" indent="-609600" algn="r" rtl="1" eaLnBrk="1" hangingPunct="1">
              <a:lnSpc>
                <a:spcPct val="80000"/>
              </a:lnSpc>
              <a:buFont typeface="Wingdings" pitchFamily="2" charset="2"/>
              <a:buAutoNum type="arabicPeriod"/>
            </a:pPr>
            <a:r>
              <a:rPr lang="fa-IR" sz="2800" b="1" dirty="0" smtClean="0"/>
              <a:t>نوشتن دو یا سه جمله حاوی نتیجه اصلی مطلب در انتهای خلاصه </a:t>
            </a:r>
          </a:p>
          <a:p>
            <a:pPr marL="609600" indent="-609600" algn="r" rtl="1" eaLnBrk="1" hangingPunct="1">
              <a:lnSpc>
                <a:spcPct val="80000"/>
              </a:lnSpc>
              <a:buFont typeface="Wingdings" pitchFamily="2" charset="2"/>
              <a:buAutoNum type="arabicPeriod"/>
            </a:pPr>
            <a:r>
              <a:rPr lang="fa-IR" sz="2800" b="1" dirty="0" smtClean="0"/>
              <a:t>افزودن یک یا دو جمله آغازین </a:t>
            </a:r>
            <a:r>
              <a:rPr lang="fa-IR" sz="2800" b="1" dirty="0" err="1" smtClean="0"/>
              <a:t>بعنوان</a:t>
            </a:r>
            <a:r>
              <a:rPr lang="fa-IR" sz="2800" b="1" dirty="0" smtClean="0"/>
              <a:t> مقدمه یا مدخل خلاصه </a:t>
            </a:r>
          </a:p>
          <a:p>
            <a:pPr marL="609600" indent="-609600" algn="r" rtl="1" eaLnBrk="1" hangingPunct="1">
              <a:lnSpc>
                <a:spcPct val="80000"/>
              </a:lnSpc>
              <a:buFont typeface="Wingdings" pitchFamily="2" charset="2"/>
              <a:buAutoNum type="arabicPeriod"/>
            </a:pPr>
            <a:r>
              <a:rPr lang="fa-IR" sz="2800" b="1" dirty="0" smtClean="0"/>
              <a:t>ویرایش دقیق جملات نوشته شده</a:t>
            </a:r>
            <a:r>
              <a:rPr lang="fa-IR" sz="2800" dirty="0" smtClean="0"/>
              <a:t> </a:t>
            </a:r>
            <a:endParaRPr lang="en-US" sz="2800" dirty="0" smtClean="0"/>
          </a:p>
        </p:txBody>
      </p:sp>
      <p:sp>
        <p:nvSpPr>
          <p:cNvPr id="90114" name="Rectangle 2"/>
          <p:cNvSpPr>
            <a:spLocks noGrp="1" noChangeArrowheads="1"/>
          </p:cNvSpPr>
          <p:nvPr>
            <p:ph type="title"/>
          </p:nvPr>
        </p:nvSpPr>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3600" dirty="0" smtClean="0">
                <a:solidFill>
                  <a:srgbClr val="FF0000"/>
                </a:solidFill>
                <a:effectLst/>
                <a:cs typeface="B Titr" pitchFamily="2" charset="-78"/>
              </a:rPr>
              <a:t>روش کلی تلخیص : </a:t>
            </a:r>
            <a:br>
              <a:rPr lang="fa-IR" sz="3600" dirty="0" smtClean="0">
                <a:solidFill>
                  <a:srgbClr val="FF0000"/>
                </a:solidFill>
                <a:effectLst/>
                <a:cs typeface="B Titr" pitchFamily="2" charset="-78"/>
              </a:rPr>
            </a:br>
            <a:r>
              <a:rPr lang="fa-IR" sz="3600" dirty="0" smtClean="0">
                <a:solidFill>
                  <a:srgbClr val="FF0000"/>
                </a:solidFill>
                <a:effectLst/>
                <a:cs typeface="B Titr" pitchFamily="2" charset="-78"/>
              </a:rPr>
              <a:t>برای تلخیص چنین عمل می کنیم : </a:t>
            </a:r>
            <a:endParaRPr lang="en-US" sz="36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p:cNvSpPr>
            <a:spLocks noGrp="1" noChangeArrowheads="1"/>
          </p:cNvSpPr>
          <p:nvPr>
            <p:ph idx="1"/>
          </p:nvPr>
        </p:nvSpPr>
        <p:spPr/>
        <p:txBody>
          <a:bodyPr/>
          <a:lstStyle/>
          <a:p>
            <a:pPr algn="r" rtl="1" eaLnBrk="1" hangingPunct="1"/>
            <a:r>
              <a:rPr lang="fa-IR" b="1" dirty="0" smtClean="0"/>
              <a:t>نقل قول بر دو نوع است : </a:t>
            </a:r>
            <a:r>
              <a:rPr lang="fa-IR" b="1" dirty="0" smtClean="0">
                <a:solidFill>
                  <a:srgbClr val="0070C0"/>
                </a:solidFill>
              </a:rPr>
              <a:t>نقل قول غیر مستقیم و نقل قول مستقیم </a:t>
            </a:r>
          </a:p>
          <a:p>
            <a:pPr algn="r" rtl="1" eaLnBrk="1" hangingPunct="1"/>
            <a:r>
              <a:rPr lang="fa-IR" b="1" dirty="0" smtClean="0"/>
              <a:t>نقل قول غیر مستقیم یا نقل به معنی : بیان مطلب است با سبک زبان تولید کننده متن . رعایت امانت معنایی در اینجا بسیار مهم است .</a:t>
            </a:r>
            <a:r>
              <a:rPr lang="fa-IR" dirty="0" smtClean="0"/>
              <a:t> </a:t>
            </a:r>
            <a:endParaRPr lang="en-US" dirty="0" smtClean="0"/>
          </a:p>
        </p:txBody>
      </p:sp>
      <p:sp>
        <p:nvSpPr>
          <p:cNvPr id="9113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نقل قول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مطالعه دقیق مطلب مرجع </a:t>
            </a:r>
          </a:p>
          <a:p>
            <a:pPr marL="609600" indent="-609600" algn="r" rtl="1" eaLnBrk="1" hangingPunct="1">
              <a:buFont typeface="Wingdings" pitchFamily="2" charset="2"/>
              <a:buAutoNum type="arabicPeriod"/>
            </a:pPr>
            <a:r>
              <a:rPr lang="fa-IR" b="1" smtClean="0"/>
              <a:t>حصول اطمینان از درک معنای مطلب</a:t>
            </a:r>
          </a:p>
          <a:p>
            <a:pPr marL="609600" indent="-609600" algn="r" rtl="1" eaLnBrk="1" hangingPunct="1">
              <a:buFont typeface="Wingdings" pitchFamily="2" charset="2"/>
              <a:buAutoNum type="arabicPeriod"/>
            </a:pPr>
            <a:r>
              <a:rPr lang="fa-IR" b="1" smtClean="0"/>
              <a:t>کنار گذاشتن مرجع </a:t>
            </a:r>
          </a:p>
          <a:p>
            <a:pPr marL="609600" indent="-609600" algn="r" rtl="1" eaLnBrk="1" hangingPunct="1">
              <a:buFont typeface="Wingdings" pitchFamily="2" charset="2"/>
              <a:buAutoNum type="arabicPeriod"/>
            </a:pPr>
            <a:r>
              <a:rPr lang="fa-IR" b="1" smtClean="0"/>
              <a:t>اندیشیدن </a:t>
            </a:r>
          </a:p>
          <a:p>
            <a:pPr marL="609600" indent="-609600" algn="r" rtl="1" eaLnBrk="1" hangingPunct="1">
              <a:buFont typeface="Wingdings" pitchFamily="2" charset="2"/>
              <a:buAutoNum type="arabicPeriod"/>
            </a:pPr>
            <a:r>
              <a:rPr lang="fa-IR" b="1" smtClean="0"/>
              <a:t>بیان معنای مطلب</a:t>
            </a:r>
          </a:p>
          <a:p>
            <a:pPr marL="609600" indent="-609600" algn="r" rtl="1" eaLnBrk="1" hangingPunct="1">
              <a:buFont typeface="Wingdings" pitchFamily="2" charset="2"/>
              <a:buAutoNum type="arabicPeriod"/>
            </a:pPr>
            <a:r>
              <a:rPr lang="fa-IR" b="1" smtClean="0"/>
              <a:t>ویرایش نوشته </a:t>
            </a:r>
            <a:r>
              <a:rPr lang="en-US" smtClean="0"/>
              <a:t> </a:t>
            </a:r>
          </a:p>
        </p:txBody>
      </p:sp>
      <p:sp>
        <p:nvSpPr>
          <p:cNvPr id="92162" name="Rectangle 2"/>
          <p:cNvSpPr>
            <a:spLocks noGrp="1" noChangeArrowheads="1"/>
          </p:cNvSpPr>
          <p:nvPr>
            <p:ph type="title"/>
          </p:nvPr>
        </p:nvSpPr>
        <p:spPr>
          <a:xfrm>
            <a:off x="1331913" y="417513"/>
            <a:ext cx="6130925" cy="1139825"/>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2400" dirty="0" smtClean="0">
                <a:solidFill>
                  <a:srgbClr val="FF0000"/>
                </a:solidFill>
                <a:effectLst/>
                <a:cs typeface="B Titr" pitchFamily="2" charset="-78"/>
              </a:rPr>
              <a:t>کارهایی که در نقل قول غیر مستقیم انجام می شود:</a:t>
            </a:r>
            <a:r>
              <a:rPr lang="en-US" sz="2400" dirty="0" smtClean="0">
                <a:solidFill>
                  <a:srgbClr val="FF0000"/>
                </a:solidFill>
                <a:effectLst/>
                <a:cs typeface="B Titr" pitchFamily="2" charset="-78"/>
              </a:rPr>
              <a:t> </a:t>
            </a:r>
          </a:p>
        </p:txBody>
      </p:sp>
    </p:spTree>
  </p:cSld>
  <p:clrMapOvr>
    <a:masterClrMapping/>
  </p:clrMapOvr>
  <p:transition spd="med">
    <p:wipe dir="d"/>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Grp="1" noChangeArrowheads="1"/>
          </p:cNvSpPr>
          <p:nvPr>
            <p:ph idx="1"/>
          </p:nvPr>
        </p:nvSpPr>
        <p:spPr/>
        <p:txBody>
          <a:bodyPr/>
          <a:lstStyle/>
          <a:p>
            <a:pPr algn="justLow" rtl="1" eaLnBrk="1" hangingPunct="1">
              <a:buFont typeface="Wingdings" pitchFamily="2" charset="2"/>
              <a:buNone/>
            </a:pPr>
            <a:r>
              <a:rPr lang="fa-IR" b="1" smtClean="0"/>
              <a:t>نقل قول مستقیم یا نقل به لفظ  : انتقال کلمه ، عبارت ، جمله یا جملاتی از متن مرجع است به متن در دست تولید و درج آن در محل مورد نظر .</a:t>
            </a:r>
            <a:endParaRPr lang="en-US" b="1" smtClean="0"/>
          </a:p>
        </p:txBody>
      </p:sp>
      <p:sp>
        <p:nvSpPr>
          <p:cNvPr id="9318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نقل قول مستقیم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p:cNvSpPr>
            <a:spLocks noGrp="1" noChangeArrowheads="1"/>
          </p:cNvSpPr>
          <p:nvPr>
            <p:ph idx="1"/>
          </p:nvPr>
        </p:nvSpPr>
        <p:spPr>
          <a:xfrm>
            <a:off x="457200" y="1008063"/>
            <a:ext cx="8229600" cy="5661025"/>
          </a:xfrm>
        </p:spPr>
        <p:txBody>
          <a:bodyPr/>
          <a:lstStyle/>
          <a:p>
            <a:pPr marL="609600" indent="-609600" algn="r" rtl="1" eaLnBrk="1" hangingPunct="1">
              <a:lnSpc>
                <a:spcPct val="80000"/>
              </a:lnSpc>
              <a:buFont typeface="Wingdings" pitchFamily="2" charset="2"/>
              <a:buAutoNum type="arabicPeriod"/>
            </a:pPr>
            <a:r>
              <a:rPr lang="fa-IR" sz="2400" b="1" smtClean="0"/>
              <a:t>تمام تاکیدات و نشانه های سجاوندی ( نقطه گذاری ) موجود درمتن باید حفظ گردد </a:t>
            </a:r>
          </a:p>
          <a:p>
            <a:pPr marL="609600" indent="-609600" algn="r" rtl="1" eaLnBrk="1" hangingPunct="1">
              <a:lnSpc>
                <a:spcPct val="80000"/>
              </a:lnSpc>
              <a:buFont typeface="Wingdings" pitchFamily="2" charset="2"/>
              <a:buAutoNum type="arabicPeriod"/>
            </a:pPr>
            <a:r>
              <a:rPr lang="fa-IR" sz="2400" b="1" smtClean="0"/>
              <a:t>در صورتیکه خودمان بخواهیم روی جزیی از متن منقول تاکیدی داشته باشیم باید در پانوشت قید کنیم  &lt;&lt; تاکید از ماست &gt;&gt;</a:t>
            </a:r>
          </a:p>
          <a:p>
            <a:pPr marL="609600" indent="-609600" algn="r" rtl="1" eaLnBrk="1" hangingPunct="1">
              <a:lnSpc>
                <a:spcPct val="80000"/>
              </a:lnSpc>
              <a:buFont typeface="Wingdings" pitchFamily="2" charset="2"/>
              <a:buAutoNum type="arabicPeriod"/>
            </a:pPr>
            <a:r>
              <a:rPr lang="fa-IR" sz="2400" b="1" smtClean="0"/>
              <a:t>اگر بخواهیم جزیی از مطلب منقول را حزف کنیم بجای آن  (...) را می گذاریم .</a:t>
            </a:r>
          </a:p>
          <a:p>
            <a:pPr marL="609600" indent="-609600" algn="r" rtl="1" eaLnBrk="1" hangingPunct="1">
              <a:lnSpc>
                <a:spcPct val="80000"/>
              </a:lnSpc>
              <a:buFont typeface="Wingdings" pitchFamily="2" charset="2"/>
              <a:buAutoNum type="arabicPeriod"/>
            </a:pPr>
            <a:r>
              <a:rPr lang="fa-IR" sz="2400" b="1" smtClean="0"/>
              <a:t>اگر بخواهیم جزیی از مطلب را که به نظر ما اشتباه یا نادرست است اصلاح کنیم آن جزء را بی تغییر قید می کنیم و صورت به نظر ما صحیح را در [ ]  می گذاریم .</a:t>
            </a:r>
          </a:p>
          <a:p>
            <a:pPr marL="609600" indent="-609600" algn="r" rtl="1" eaLnBrk="1" hangingPunct="1">
              <a:lnSpc>
                <a:spcPct val="80000"/>
              </a:lnSpc>
              <a:buFont typeface="Wingdings" pitchFamily="2" charset="2"/>
              <a:buAutoNum type="arabicPeriod"/>
            </a:pPr>
            <a:r>
              <a:rPr lang="fa-IR" sz="2400" b="1" smtClean="0"/>
              <a:t>اگر اندازه مطلب منقول حداکثر 4 سطر باشد نیازی به نوشتپار ( پاراگراف )جدید نیست ولی اگر اندازه مطلب بیش از 4 سطر باشد آن را بصورت یک نوشتپار می نویسیم .</a:t>
            </a:r>
          </a:p>
          <a:p>
            <a:pPr marL="609600" indent="-609600" algn="r" rtl="1" eaLnBrk="1" hangingPunct="1">
              <a:lnSpc>
                <a:spcPct val="80000"/>
              </a:lnSpc>
              <a:buFont typeface="Wingdings" pitchFamily="2" charset="2"/>
              <a:buAutoNum type="arabicPeriod"/>
            </a:pPr>
            <a:r>
              <a:rPr lang="fa-IR" sz="2400" b="1" smtClean="0"/>
              <a:t>اگر دو نوشتپار متوالی منقول داشته باشیم بین آن دو یک سطر فاصله ایجاد می کنیم .</a:t>
            </a:r>
          </a:p>
          <a:p>
            <a:pPr marL="609600" indent="-609600" algn="r" rtl="1" eaLnBrk="1" hangingPunct="1">
              <a:lnSpc>
                <a:spcPct val="80000"/>
              </a:lnSpc>
              <a:buFont typeface="Wingdings" pitchFamily="2" charset="2"/>
              <a:buAutoNum type="arabicPeriod"/>
            </a:pPr>
            <a:r>
              <a:rPr lang="fa-IR" sz="2400" b="1" smtClean="0"/>
              <a:t>اگراندازه مطلب منقول بیش از نیم صفحه باشد بهتر است آن را در بخش پیوستها درج کنیم </a:t>
            </a:r>
          </a:p>
          <a:p>
            <a:pPr marL="609600" indent="-609600" algn="r" rtl="1" eaLnBrk="1" hangingPunct="1">
              <a:lnSpc>
                <a:spcPct val="80000"/>
              </a:lnSpc>
              <a:buFont typeface="Wingdings" pitchFamily="2" charset="2"/>
              <a:buAutoNum type="arabicPeriod"/>
            </a:pPr>
            <a:r>
              <a:rPr lang="fa-IR" sz="2400" b="1" smtClean="0"/>
              <a:t>درج بیش از یک نوشتپار منقول در صفحه توصیه نمی شود .</a:t>
            </a:r>
            <a:endParaRPr lang="en-US" sz="2400" b="1" smtClean="0"/>
          </a:p>
        </p:txBody>
      </p:sp>
      <p:sp>
        <p:nvSpPr>
          <p:cNvPr id="94210" name="Rectangle 2"/>
          <p:cNvSpPr>
            <a:spLocks noGrp="1" noChangeArrowheads="1"/>
          </p:cNvSpPr>
          <p:nvPr>
            <p:ph type="title"/>
          </p:nvPr>
        </p:nvSpPr>
        <p:spPr>
          <a:xfrm>
            <a:off x="468313" y="0"/>
            <a:ext cx="8229600" cy="836613"/>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نکاتی که باید در نقل قول مستقیم رعایت گردد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p:cNvSpPr>
            <a:spLocks noGrp="1" noChangeArrowheads="1"/>
          </p:cNvSpPr>
          <p:nvPr>
            <p:ph idx="1"/>
          </p:nvPr>
        </p:nvSpPr>
        <p:spPr/>
        <p:txBody>
          <a:bodyPr/>
          <a:lstStyle/>
          <a:p>
            <a:pPr algn="justLow" rtl="1" eaLnBrk="1" hangingPunct="1"/>
            <a:r>
              <a:rPr lang="fa-IR" b="1" smtClean="0"/>
              <a:t>پس از کسب اطلاعات در مورد موضوع و تهیه یادداشتهای لازم باید آنها را بر حسب توالی منطقی بین عناوین داخلی مرتب کرد . هر چه این کار مرتب تر و سامان یافته تر باشد استفاده از آن در تولید متن اصلی سریعتر خواهد بود .</a:t>
            </a:r>
            <a:endParaRPr lang="en-US" b="1" smtClean="0"/>
          </a:p>
        </p:txBody>
      </p:sp>
      <p:sp>
        <p:nvSpPr>
          <p:cNvPr id="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سازماندهی اطلاعات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4">
            <a:hlinkClick r:id="rId2" action="ppaction://hlinksldjump"/>
          </p:cNvPr>
          <p:cNvSpPr txBox="1">
            <a:spLocks noChangeArrowheads="1"/>
          </p:cNvSpPr>
          <p:nvPr/>
        </p:nvSpPr>
        <p:spPr bwMode="auto">
          <a:xfrm>
            <a:off x="2124075" y="2133600"/>
            <a:ext cx="4751388" cy="762000"/>
          </a:xfrm>
          <a:prstGeom prst="rect">
            <a:avLst/>
          </a:prstGeom>
          <a:noFill/>
          <a:ln w="9525">
            <a:noFill/>
            <a:miter lim="800000"/>
            <a:headEnd/>
            <a:tailEnd/>
          </a:ln>
        </p:spPr>
        <p:txBody>
          <a:bodyPr>
            <a:spAutoFit/>
          </a:bodyPr>
          <a:lstStyle/>
          <a:p>
            <a:pPr rtl="1"/>
            <a:r>
              <a:rPr lang="fa-IR" sz="4400" dirty="0" err="1">
                <a:solidFill>
                  <a:schemeClr val="tx1"/>
                </a:solidFill>
                <a:cs typeface="B Titr" panose="00000700000000000000" pitchFamily="2" charset="-78"/>
              </a:rPr>
              <a:t>توليد</a:t>
            </a:r>
            <a:r>
              <a:rPr lang="fa-IR" sz="4400" dirty="0">
                <a:solidFill>
                  <a:schemeClr val="tx1"/>
                </a:solidFill>
                <a:cs typeface="B Titr" panose="00000700000000000000" pitchFamily="2" charset="-78"/>
              </a:rPr>
              <a:t> متن </a:t>
            </a:r>
            <a:r>
              <a:rPr lang="fa-IR" sz="4400" dirty="0" err="1">
                <a:solidFill>
                  <a:schemeClr val="tx1"/>
                </a:solidFill>
                <a:cs typeface="B Titr" panose="00000700000000000000" pitchFamily="2" charset="-78"/>
              </a:rPr>
              <a:t>اصلي</a:t>
            </a:r>
            <a:endParaRPr lang="en-US" sz="4400" dirty="0">
              <a:solidFill>
                <a:schemeClr val="tx1"/>
              </a:solidFill>
              <a:cs typeface="B Titr" panose="00000700000000000000" pitchFamily="2" charset="-78"/>
            </a:endParaRPr>
          </a:p>
        </p:txBody>
      </p:sp>
    </p:spTree>
  </p:cSld>
  <p:clrMapOvr>
    <a:masterClrMapping/>
  </p:clrMapOvr>
  <p:transition spd="med">
    <p:wipe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3"/>
          <p:cNvSpPr>
            <a:spLocks noGrp="1" noChangeArrowheads="1"/>
          </p:cNvSpPr>
          <p:nvPr>
            <p:ph idx="1"/>
          </p:nvPr>
        </p:nvSpPr>
        <p:spPr/>
        <p:txBody>
          <a:bodyPr/>
          <a:lstStyle/>
          <a:p>
            <a:pPr algn="justLow" rtl="1" eaLnBrk="1" hangingPunct="1"/>
            <a:r>
              <a:rPr lang="fa-IR" b="1" smtClean="0"/>
              <a:t>این مرحله مهمترین و اساسی ترین مرحله کاراست در همین مرحله است که کار دشوار و ظریف تولید متن انجام می شود .  تمام عناصر کانال ارائه کننده در این مرحله نقش دارند ( خواه نقش منفی و خواه نقش مثبت )</a:t>
            </a:r>
            <a:r>
              <a:rPr lang="fa-IR" smtClean="0"/>
              <a:t> </a:t>
            </a:r>
            <a:endParaRPr lang="en-US" smtClean="0"/>
          </a:p>
        </p:txBody>
      </p:sp>
      <p:sp>
        <p:nvSpPr>
          <p:cNvPr id="9728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تولید متن اصلی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4"/>
          <p:cNvSpPr>
            <a:spLocks noChangeArrowheads="1"/>
          </p:cNvSpPr>
          <p:nvPr/>
        </p:nvSpPr>
        <p:spPr bwMode="auto">
          <a:xfrm>
            <a:off x="6700838" y="395288"/>
            <a:ext cx="1435100" cy="376237"/>
          </a:xfrm>
          <a:prstGeom prst="rect">
            <a:avLst/>
          </a:prstGeom>
          <a:solidFill>
            <a:schemeClr val="accent1"/>
          </a:solidFill>
          <a:ln w="9525" algn="ctr">
            <a:solidFill>
              <a:schemeClr val="tx1"/>
            </a:solidFill>
            <a:miter lim="800000"/>
            <a:headEnd/>
            <a:tailEnd/>
          </a:ln>
        </p:spPr>
        <p:txBody>
          <a:bodyPr wrap="none" anchor="ctr">
            <a:spAutoFit/>
          </a:bodyPr>
          <a:lstStyle/>
          <a:p>
            <a:r>
              <a:rPr lang="fa-IR"/>
              <a:t>توليد متن اصلي</a:t>
            </a:r>
            <a:r>
              <a:rPr lang="fa-IR" b="0"/>
              <a:t> </a:t>
            </a:r>
            <a:endParaRPr lang="en-US" b="0"/>
          </a:p>
        </p:txBody>
      </p:sp>
      <p:sp>
        <p:nvSpPr>
          <p:cNvPr id="89091" name="Rectangle 5"/>
          <p:cNvSpPr>
            <a:spLocks noChangeArrowheads="1"/>
          </p:cNvSpPr>
          <p:nvPr/>
        </p:nvSpPr>
        <p:spPr bwMode="auto">
          <a:xfrm>
            <a:off x="250825" y="0"/>
            <a:ext cx="1296988" cy="620713"/>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89092" name="Rectangle 6"/>
          <p:cNvSpPr>
            <a:spLocks noChangeArrowheads="1"/>
          </p:cNvSpPr>
          <p:nvPr/>
        </p:nvSpPr>
        <p:spPr bwMode="auto">
          <a:xfrm>
            <a:off x="539750" y="260350"/>
            <a:ext cx="1368425" cy="620713"/>
          </a:xfrm>
          <a:prstGeom prst="rect">
            <a:avLst/>
          </a:prstGeom>
          <a:solidFill>
            <a:schemeClr val="accent1"/>
          </a:solidFill>
          <a:ln w="9525" algn="ctr">
            <a:solidFill>
              <a:schemeClr val="tx1"/>
            </a:solidFill>
            <a:miter lim="800000"/>
            <a:headEnd/>
            <a:tailEnd/>
          </a:ln>
        </p:spPr>
        <p:txBody>
          <a:bodyPr wrap="none" anchor="ctr">
            <a:spAutoFit/>
          </a:bodyPr>
          <a:lstStyle/>
          <a:p>
            <a:endParaRPr lang="en-US"/>
          </a:p>
        </p:txBody>
      </p:sp>
      <p:sp>
        <p:nvSpPr>
          <p:cNvPr id="89093" name="Rectangle 7"/>
          <p:cNvSpPr>
            <a:spLocks noChangeArrowheads="1"/>
          </p:cNvSpPr>
          <p:nvPr/>
        </p:nvSpPr>
        <p:spPr bwMode="auto">
          <a:xfrm>
            <a:off x="912813" y="523875"/>
            <a:ext cx="1206500" cy="528638"/>
          </a:xfrm>
          <a:prstGeom prst="rect">
            <a:avLst/>
          </a:prstGeom>
          <a:solidFill>
            <a:schemeClr val="accent1"/>
          </a:solidFill>
          <a:ln w="9525" algn="ctr">
            <a:solidFill>
              <a:schemeClr val="tx1"/>
            </a:solidFill>
            <a:miter lim="800000"/>
            <a:headEnd/>
            <a:tailEnd/>
          </a:ln>
        </p:spPr>
        <p:txBody>
          <a:bodyPr wrap="none" anchor="ctr">
            <a:spAutoFit/>
          </a:bodyPr>
          <a:lstStyle/>
          <a:p>
            <a:r>
              <a:rPr lang="fa-IR" sz="2800"/>
              <a:t>يادداشت</a:t>
            </a:r>
            <a:r>
              <a:rPr lang="fa-IR" b="0"/>
              <a:t> </a:t>
            </a:r>
            <a:endParaRPr lang="en-US" b="0"/>
          </a:p>
        </p:txBody>
      </p:sp>
      <p:sp>
        <p:nvSpPr>
          <p:cNvPr id="89094" name="Oval 8"/>
          <p:cNvSpPr>
            <a:spLocks noChangeArrowheads="1"/>
          </p:cNvSpPr>
          <p:nvPr/>
        </p:nvSpPr>
        <p:spPr bwMode="auto">
          <a:xfrm>
            <a:off x="3492500" y="908050"/>
            <a:ext cx="2447925" cy="877888"/>
          </a:xfrm>
          <a:prstGeom prst="ellipse">
            <a:avLst/>
          </a:prstGeom>
          <a:solidFill>
            <a:schemeClr val="accent1"/>
          </a:solidFill>
          <a:ln w="9525" algn="ctr">
            <a:solidFill>
              <a:schemeClr val="tx1"/>
            </a:solidFill>
            <a:round/>
            <a:headEnd/>
            <a:tailEnd/>
          </a:ln>
        </p:spPr>
        <p:txBody>
          <a:bodyPr anchor="ctr">
            <a:spAutoFit/>
          </a:bodyPr>
          <a:lstStyle/>
          <a:p>
            <a:r>
              <a:rPr lang="fa-IR"/>
              <a:t>كانال ارائه كننده توليد پيش نويس</a:t>
            </a:r>
            <a:endParaRPr lang="en-US"/>
          </a:p>
        </p:txBody>
      </p:sp>
      <p:sp>
        <p:nvSpPr>
          <p:cNvPr id="89095" name="Rectangle 10"/>
          <p:cNvSpPr>
            <a:spLocks noChangeArrowheads="1"/>
          </p:cNvSpPr>
          <p:nvPr/>
        </p:nvSpPr>
        <p:spPr bwMode="auto">
          <a:xfrm>
            <a:off x="3878263" y="2376488"/>
            <a:ext cx="1903412" cy="376237"/>
          </a:xfrm>
          <a:prstGeom prst="rect">
            <a:avLst/>
          </a:prstGeom>
          <a:solidFill>
            <a:schemeClr val="accent1"/>
          </a:solidFill>
          <a:ln w="9525" algn="ctr">
            <a:solidFill>
              <a:schemeClr val="tx1"/>
            </a:solidFill>
            <a:miter lim="800000"/>
            <a:headEnd/>
            <a:tailEnd/>
          </a:ln>
        </p:spPr>
        <p:txBody>
          <a:bodyPr wrap="none" anchor="ctr">
            <a:spAutoFit/>
          </a:bodyPr>
          <a:lstStyle/>
          <a:p>
            <a:r>
              <a:rPr lang="fa-IR"/>
              <a:t>پيش نويس متن اصلي </a:t>
            </a:r>
            <a:endParaRPr lang="en-US"/>
          </a:p>
        </p:txBody>
      </p:sp>
      <p:sp>
        <p:nvSpPr>
          <p:cNvPr id="89096" name="AutoShape 11"/>
          <p:cNvSpPr>
            <a:spLocks noChangeArrowheads="1"/>
          </p:cNvSpPr>
          <p:nvPr/>
        </p:nvSpPr>
        <p:spPr bwMode="auto">
          <a:xfrm>
            <a:off x="3995738" y="3082925"/>
            <a:ext cx="1655762" cy="1266825"/>
          </a:xfrm>
          <a:prstGeom prst="flowChartConnector">
            <a:avLst/>
          </a:prstGeom>
          <a:solidFill>
            <a:schemeClr val="accent1"/>
          </a:solidFill>
          <a:ln w="9525" algn="ctr">
            <a:solidFill>
              <a:schemeClr val="tx1"/>
            </a:solidFill>
            <a:round/>
            <a:headEnd/>
            <a:tailEnd/>
          </a:ln>
        </p:spPr>
        <p:txBody>
          <a:bodyPr anchor="ctr">
            <a:spAutoFit/>
          </a:bodyPr>
          <a:lstStyle/>
          <a:p>
            <a:r>
              <a:rPr lang="fa-IR"/>
              <a:t>كانال ارايه كننده :كنترل كمي - كيفي</a:t>
            </a:r>
            <a:endParaRPr lang="en-US"/>
          </a:p>
        </p:txBody>
      </p:sp>
      <p:sp>
        <p:nvSpPr>
          <p:cNvPr id="89097" name="AutoShape 13"/>
          <p:cNvSpPr>
            <a:spLocks noChangeArrowheads="1"/>
          </p:cNvSpPr>
          <p:nvPr/>
        </p:nvSpPr>
        <p:spPr bwMode="auto">
          <a:xfrm>
            <a:off x="3708400" y="4651375"/>
            <a:ext cx="2305050" cy="650875"/>
          </a:xfrm>
          <a:prstGeom prst="flowChartPreparation">
            <a:avLst/>
          </a:prstGeom>
          <a:solidFill>
            <a:schemeClr val="accent1"/>
          </a:solidFill>
          <a:ln w="9525" algn="ctr">
            <a:solidFill>
              <a:schemeClr val="tx1"/>
            </a:solidFill>
            <a:miter lim="800000"/>
            <a:headEnd/>
            <a:tailEnd/>
          </a:ln>
        </p:spPr>
        <p:txBody>
          <a:bodyPr anchor="ctr">
            <a:spAutoFit/>
          </a:bodyPr>
          <a:lstStyle/>
          <a:p>
            <a:r>
              <a:rPr lang="fa-IR"/>
              <a:t>كنترل كمي – كيفي تمام شده؟</a:t>
            </a:r>
            <a:endParaRPr lang="en-US"/>
          </a:p>
        </p:txBody>
      </p:sp>
      <p:sp>
        <p:nvSpPr>
          <p:cNvPr id="89098" name="AutoShape 14"/>
          <p:cNvSpPr>
            <a:spLocks noChangeArrowheads="1"/>
          </p:cNvSpPr>
          <p:nvPr/>
        </p:nvSpPr>
        <p:spPr bwMode="auto">
          <a:xfrm>
            <a:off x="3903663" y="5653088"/>
            <a:ext cx="1985962" cy="376237"/>
          </a:xfrm>
          <a:prstGeom prst="flowChartProcess">
            <a:avLst/>
          </a:prstGeom>
          <a:solidFill>
            <a:schemeClr val="accent1"/>
          </a:solidFill>
          <a:ln w="9525" algn="ctr">
            <a:solidFill>
              <a:schemeClr val="tx1"/>
            </a:solidFill>
            <a:miter lim="800000"/>
            <a:headEnd/>
            <a:tailEnd/>
          </a:ln>
        </p:spPr>
        <p:txBody>
          <a:bodyPr wrap="none" anchor="ctr">
            <a:spAutoFit/>
          </a:bodyPr>
          <a:lstStyle/>
          <a:p>
            <a:r>
              <a:rPr lang="fa-IR"/>
              <a:t>تنظيم ساختار سه بخشي</a:t>
            </a:r>
            <a:endParaRPr lang="en-US"/>
          </a:p>
        </p:txBody>
      </p:sp>
      <p:sp>
        <p:nvSpPr>
          <p:cNvPr id="89099" name="AutoShape 15"/>
          <p:cNvSpPr>
            <a:spLocks noChangeArrowheads="1"/>
          </p:cNvSpPr>
          <p:nvPr/>
        </p:nvSpPr>
        <p:spPr bwMode="auto">
          <a:xfrm>
            <a:off x="4265613" y="6445250"/>
            <a:ext cx="1266825" cy="466725"/>
          </a:xfrm>
          <a:prstGeom prst="flowChartProcess">
            <a:avLst/>
          </a:prstGeom>
          <a:solidFill>
            <a:schemeClr val="accent1"/>
          </a:solidFill>
          <a:ln w="9525" algn="ctr">
            <a:solidFill>
              <a:schemeClr val="tx1"/>
            </a:solidFill>
            <a:miter lim="800000"/>
            <a:headEnd/>
            <a:tailEnd/>
          </a:ln>
        </p:spPr>
        <p:txBody>
          <a:bodyPr wrap="none" anchor="ctr">
            <a:spAutoFit/>
          </a:bodyPr>
          <a:lstStyle/>
          <a:p>
            <a:r>
              <a:rPr lang="fa-IR" sz="2400"/>
              <a:t>ارائه كتبي</a:t>
            </a:r>
            <a:r>
              <a:rPr lang="fa-IR"/>
              <a:t> </a:t>
            </a:r>
            <a:endParaRPr lang="en-US"/>
          </a:p>
        </p:txBody>
      </p:sp>
      <p:sp>
        <p:nvSpPr>
          <p:cNvPr id="89100" name="Line 16"/>
          <p:cNvSpPr>
            <a:spLocks noChangeShapeType="1"/>
          </p:cNvSpPr>
          <p:nvPr/>
        </p:nvSpPr>
        <p:spPr bwMode="auto">
          <a:xfrm flipH="1">
            <a:off x="5651500" y="765175"/>
            <a:ext cx="1512888" cy="287338"/>
          </a:xfrm>
          <a:prstGeom prst="line">
            <a:avLst/>
          </a:prstGeom>
          <a:noFill/>
          <a:ln w="9525">
            <a:solidFill>
              <a:schemeClr val="tx1"/>
            </a:solidFill>
            <a:round/>
            <a:headEnd/>
            <a:tailEnd type="triangle" w="med" len="med"/>
          </a:ln>
        </p:spPr>
        <p:txBody>
          <a:bodyPr wrap="none">
            <a:spAutoFit/>
          </a:bodyPr>
          <a:lstStyle/>
          <a:p>
            <a:endParaRPr lang="en-US"/>
          </a:p>
        </p:txBody>
      </p:sp>
      <p:sp>
        <p:nvSpPr>
          <p:cNvPr id="89101" name="Line 18"/>
          <p:cNvSpPr>
            <a:spLocks noChangeShapeType="1"/>
          </p:cNvSpPr>
          <p:nvPr/>
        </p:nvSpPr>
        <p:spPr bwMode="auto">
          <a:xfrm>
            <a:off x="2195513" y="908050"/>
            <a:ext cx="1368425" cy="288925"/>
          </a:xfrm>
          <a:prstGeom prst="line">
            <a:avLst/>
          </a:prstGeom>
          <a:noFill/>
          <a:ln w="9525">
            <a:solidFill>
              <a:schemeClr val="tx1"/>
            </a:solidFill>
            <a:round/>
            <a:headEnd/>
            <a:tailEnd type="triangle" w="med" len="med"/>
          </a:ln>
        </p:spPr>
        <p:txBody>
          <a:bodyPr wrap="none">
            <a:spAutoFit/>
          </a:bodyPr>
          <a:lstStyle/>
          <a:p>
            <a:endParaRPr lang="en-US"/>
          </a:p>
        </p:txBody>
      </p:sp>
      <p:sp>
        <p:nvSpPr>
          <p:cNvPr id="89102" name="Line 19"/>
          <p:cNvSpPr>
            <a:spLocks noChangeShapeType="1"/>
          </p:cNvSpPr>
          <p:nvPr/>
        </p:nvSpPr>
        <p:spPr bwMode="auto">
          <a:xfrm>
            <a:off x="4787900" y="1844675"/>
            <a:ext cx="0" cy="576263"/>
          </a:xfrm>
          <a:prstGeom prst="line">
            <a:avLst/>
          </a:prstGeom>
          <a:noFill/>
          <a:ln w="9525">
            <a:solidFill>
              <a:schemeClr val="tx1"/>
            </a:solidFill>
            <a:round/>
            <a:headEnd/>
            <a:tailEnd type="triangle" w="med" len="med"/>
          </a:ln>
        </p:spPr>
        <p:txBody>
          <a:bodyPr wrap="none">
            <a:spAutoFit/>
          </a:bodyPr>
          <a:lstStyle/>
          <a:p>
            <a:endParaRPr lang="en-US"/>
          </a:p>
        </p:txBody>
      </p:sp>
      <p:sp>
        <p:nvSpPr>
          <p:cNvPr id="89103" name="Line 20"/>
          <p:cNvSpPr>
            <a:spLocks noChangeShapeType="1"/>
          </p:cNvSpPr>
          <p:nvPr/>
        </p:nvSpPr>
        <p:spPr bwMode="auto">
          <a:xfrm>
            <a:off x="4787900" y="2781300"/>
            <a:ext cx="0" cy="360363"/>
          </a:xfrm>
          <a:prstGeom prst="line">
            <a:avLst/>
          </a:prstGeom>
          <a:noFill/>
          <a:ln w="9525">
            <a:solidFill>
              <a:schemeClr val="tx1"/>
            </a:solidFill>
            <a:round/>
            <a:headEnd/>
            <a:tailEnd type="triangle" w="med" len="med"/>
          </a:ln>
        </p:spPr>
        <p:txBody>
          <a:bodyPr wrap="none">
            <a:spAutoFit/>
          </a:bodyPr>
          <a:lstStyle/>
          <a:p>
            <a:endParaRPr lang="en-US"/>
          </a:p>
        </p:txBody>
      </p:sp>
      <p:sp>
        <p:nvSpPr>
          <p:cNvPr id="89104" name="Line 21"/>
          <p:cNvSpPr>
            <a:spLocks noChangeShapeType="1"/>
          </p:cNvSpPr>
          <p:nvPr/>
        </p:nvSpPr>
        <p:spPr bwMode="auto">
          <a:xfrm>
            <a:off x="4787900" y="4365625"/>
            <a:ext cx="0" cy="287338"/>
          </a:xfrm>
          <a:prstGeom prst="line">
            <a:avLst/>
          </a:prstGeom>
          <a:noFill/>
          <a:ln w="9525">
            <a:solidFill>
              <a:schemeClr val="tx1"/>
            </a:solidFill>
            <a:round/>
            <a:headEnd/>
            <a:tailEnd type="triangle" w="med" len="med"/>
          </a:ln>
        </p:spPr>
        <p:txBody>
          <a:bodyPr wrap="none">
            <a:spAutoFit/>
          </a:bodyPr>
          <a:lstStyle/>
          <a:p>
            <a:endParaRPr lang="en-US"/>
          </a:p>
        </p:txBody>
      </p:sp>
      <p:sp>
        <p:nvSpPr>
          <p:cNvPr id="89105" name="Line 22"/>
          <p:cNvSpPr>
            <a:spLocks noChangeShapeType="1"/>
          </p:cNvSpPr>
          <p:nvPr/>
        </p:nvSpPr>
        <p:spPr bwMode="auto">
          <a:xfrm>
            <a:off x="4859338" y="5300663"/>
            <a:ext cx="0" cy="288925"/>
          </a:xfrm>
          <a:prstGeom prst="line">
            <a:avLst/>
          </a:prstGeom>
          <a:noFill/>
          <a:ln w="9525">
            <a:solidFill>
              <a:schemeClr val="tx1"/>
            </a:solidFill>
            <a:round/>
            <a:headEnd/>
            <a:tailEnd type="triangle" w="med" len="med"/>
          </a:ln>
        </p:spPr>
        <p:txBody>
          <a:bodyPr wrap="none">
            <a:spAutoFit/>
          </a:bodyPr>
          <a:lstStyle/>
          <a:p>
            <a:endParaRPr lang="en-US"/>
          </a:p>
        </p:txBody>
      </p:sp>
      <p:sp>
        <p:nvSpPr>
          <p:cNvPr id="89106" name="Line 23"/>
          <p:cNvSpPr>
            <a:spLocks noChangeShapeType="1"/>
          </p:cNvSpPr>
          <p:nvPr/>
        </p:nvSpPr>
        <p:spPr bwMode="auto">
          <a:xfrm>
            <a:off x="4859338" y="6092825"/>
            <a:ext cx="0" cy="288925"/>
          </a:xfrm>
          <a:prstGeom prst="line">
            <a:avLst/>
          </a:prstGeom>
          <a:noFill/>
          <a:ln w="9525">
            <a:solidFill>
              <a:schemeClr val="tx1"/>
            </a:solidFill>
            <a:round/>
            <a:headEnd/>
            <a:tailEnd type="triangle" w="med" len="med"/>
          </a:ln>
        </p:spPr>
        <p:txBody>
          <a:bodyPr wrap="none">
            <a:spAutoFit/>
          </a:bodyPr>
          <a:lstStyle/>
          <a:p>
            <a:endParaRPr lang="en-US"/>
          </a:p>
        </p:txBody>
      </p:sp>
      <p:sp>
        <p:nvSpPr>
          <p:cNvPr id="89107" name="Line 25"/>
          <p:cNvSpPr>
            <a:spLocks noChangeShapeType="1"/>
          </p:cNvSpPr>
          <p:nvPr/>
        </p:nvSpPr>
        <p:spPr bwMode="auto">
          <a:xfrm>
            <a:off x="5940425" y="4941888"/>
            <a:ext cx="719138" cy="0"/>
          </a:xfrm>
          <a:prstGeom prst="line">
            <a:avLst/>
          </a:prstGeom>
          <a:noFill/>
          <a:ln w="9525">
            <a:solidFill>
              <a:schemeClr val="tx1"/>
            </a:solidFill>
            <a:round/>
            <a:headEnd/>
            <a:tailEnd/>
          </a:ln>
        </p:spPr>
        <p:txBody>
          <a:bodyPr wrap="none">
            <a:spAutoFit/>
          </a:bodyPr>
          <a:lstStyle/>
          <a:p>
            <a:endParaRPr lang="en-US"/>
          </a:p>
        </p:txBody>
      </p:sp>
      <p:sp>
        <p:nvSpPr>
          <p:cNvPr id="89108" name="Line 26"/>
          <p:cNvSpPr>
            <a:spLocks noChangeShapeType="1"/>
          </p:cNvSpPr>
          <p:nvPr/>
        </p:nvSpPr>
        <p:spPr bwMode="auto">
          <a:xfrm flipV="1">
            <a:off x="6659563" y="2924175"/>
            <a:ext cx="0" cy="2017713"/>
          </a:xfrm>
          <a:prstGeom prst="line">
            <a:avLst/>
          </a:prstGeom>
          <a:noFill/>
          <a:ln w="9525">
            <a:solidFill>
              <a:schemeClr val="tx1"/>
            </a:solidFill>
            <a:round/>
            <a:headEnd/>
            <a:tailEnd/>
          </a:ln>
        </p:spPr>
        <p:txBody>
          <a:bodyPr wrap="none">
            <a:spAutoFit/>
          </a:bodyPr>
          <a:lstStyle/>
          <a:p>
            <a:endParaRPr lang="en-US"/>
          </a:p>
        </p:txBody>
      </p:sp>
      <p:sp>
        <p:nvSpPr>
          <p:cNvPr id="89109" name="Line 27"/>
          <p:cNvSpPr>
            <a:spLocks noChangeShapeType="1"/>
          </p:cNvSpPr>
          <p:nvPr/>
        </p:nvSpPr>
        <p:spPr bwMode="auto">
          <a:xfrm flipH="1">
            <a:off x="4787900" y="2924175"/>
            <a:ext cx="1871663" cy="0"/>
          </a:xfrm>
          <a:prstGeom prst="line">
            <a:avLst/>
          </a:prstGeom>
          <a:noFill/>
          <a:ln w="9525">
            <a:solidFill>
              <a:schemeClr val="tx1"/>
            </a:solidFill>
            <a:round/>
            <a:headEnd/>
            <a:tailEnd type="triangle" w="med" len="med"/>
          </a:ln>
        </p:spPr>
        <p:txBody>
          <a:bodyPr wrap="none">
            <a:spAutoFit/>
          </a:bodyPr>
          <a:lstStyle/>
          <a:p>
            <a:endParaRPr lang="en-US"/>
          </a:p>
        </p:txBody>
      </p:sp>
    </p:spTree>
  </p:cSld>
  <p:clrMapOvr>
    <a:overrideClrMapping bg1="dk2" tx1="lt1" bg2="dk1" tx2="lt2" accent1="accent1" accent2="accent2" accent3="accent3" accent4="accent4" accent5="accent5" accent6="accent6" hlink="hlink" folHlink="folHlink"/>
  </p:clrMapOvr>
  <p:transition spd="med">
    <p:wipe dir="d"/>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3"/>
          <p:cNvSpPr>
            <a:spLocks noGrp="1" noChangeArrowheads="1"/>
          </p:cNvSpPr>
          <p:nvPr>
            <p:ph idx="1"/>
          </p:nvPr>
        </p:nvSpPr>
        <p:spPr>
          <a:xfrm>
            <a:off x="457200" y="1052513"/>
            <a:ext cx="8229600" cy="5078412"/>
          </a:xfrm>
        </p:spPr>
        <p:txBody>
          <a:bodyPr/>
          <a:lstStyle/>
          <a:p>
            <a:pPr algn="r" rtl="1" eaLnBrk="1" hangingPunct="1">
              <a:lnSpc>
                <a:spcPct val="90000"/>
              </a:lnSpc>
              <a:buFont typeface="Wingdings" pitchFamily="2" charset="2"/>
              <a:buNone/>
            </a:pPr>
            <a:r>
              <a:rPr lang="fa-IR" b="1" smtClean="0"/>
              <a:t>علاوه بر تهیه وسایل معمول و نیز انتخاب زمان و مکان مناسب امکانات زیر باید آماده گردد :</a:t>
            </a:r>
          </a:p>
          <a:p>
            <a:pPr algn="r" rtl="1" eaLnBrk="1" hangingPunct="1">
              <a:lnSpc>
                <a:spcPct val="90000"/>
              </a:lnSpc>
            </a:pPr>
            <a:r>
              <a:rPr lang="fa-IR" smtClean="0"/>
              <a:t> </a:t>
            </a:r>
            <a:r>
              <a:rPr lang="fa-IR" b="1" smtClean="0"/>
              <a:t>فرهنگ لغات فارسی </a:t>
            </a:r>
            <a:endParaRPr lang="en-US" smtClean="0"/>
          </a:p>
          <a:p>
            <a:pPr algn="r" rtl="1" eaLnBrk="1" hangingPunct="1">
              <a:lnSpc>
                <a:spcPct val="90000"/>
              </a:lnSpc>
            </a:pPr>
            <a:r>
              <a:rPr lang="fa-IR" b="1" smtClean="0"/>
              <a:t>فرهنگ لغات  بیگانه ( یک زبانه )</a:t>
            </a:r>
            <a:endParaRPr lang="en-US" smtClean="0"/>
          </a:p>
          <a:p>
            <a:pPr algn="r" rtl="1" eaLnBrk="1" hangingPunct="1">
              <a:lnSpc>
                <a:spcPct val="90000"/>
              </a:lnSpc>
            </a:pPr>
            <a:r>
              <a:rPr lang="fa-IR" b="1" smtClean="0"/>
              <a:t>کتاب آیین نگارش </a:t>
            </a:r>
            <a:endParaRPr lang="en-US" smtClean="0"/>
          </a:p>
          <a:p>
            <a:pPr algn="r" rtl="1" eaLnBrk="1" hangingPunct="1">
              <a:lnSpc>
                <a:spcPct val="90000"/>
              </a:lnSpc>
            </a:pPr>
            <a:r>
              <a:rPr lang="fa-IR" b="1" smtClean="0"/>
              <a:t>کتاب دستور زبان فارسی </a:t>
            </a:r>
            <a:endParaRPr lang="en-US" smtClean="0"/>
          </a:p>
          <a:p>
            <a:pPr algn="r" rtl="1" eaLnBrk="1" hangingPunct="1">
              <a:lnSpc>
                <a:spcPct val="90000"/>
              </a:lnSpc>
            </a:pPr>
            <a:r>
              <a:rPr lang="fa-IR" b="1" smtClean="0"/>
              <a:t>دائره المعارف فارسی و بیگانه</a:t>
            </a:r>
            <a:endParaRPr lang="en-US" smtClean="0"/>
          </a:p>
          <a:p>
            <a:pPr algn="r" rtl="1" eaLnBrk="1" hangingPunct="1">
              <a:lnSpc>
                <a:spcPct val="90000"/>
              </a:lnSpc>
            </a:pPr>
            <a:r>
              <a:rPr lang="fa-IR" b="1" smtClean="0"/>
              <a:t>فرهنگ لغات تخصصی </a:t>
            </a:r>
            <a:endParaRPr lang="en-US" smtClean="0"/>
          </a:p>
          <a:p>
            <a:pPr algn="r" rtl="1" eaLnBrk="1" hangingPunct="1">
              <a:lnSpc>
                <a:spcPct val="90000"/>
              </a:lnSpc>
            </a:pPr>
            <a:r>
              <a:rPr lang="fa-IR" b="1" smtClean="0"/>
              <a:t>فرهنگ لغات فارسی – بیگانه  </a:t>
            </a:r>
            <a:endParaRPr lang="en-US" smtClean="0"/>
          </a:p>
          <a:p>
            <a:pPr algn="r" rtl="1" eaLnBrk="1" hangingPunct="1">
              <a:lnSpc>
                <a:spcPct val="90000"/>
              </a:lnSpc>
              <a:buFont typeface="Symbol" pitchFamily="18" charset="2"/>
              <a:buChar char=""/>
            </a:pPr>
            <a:endParaRPr lang="en-US" smtClean="0"/>
          </a:p>
        </p:txBody>
      </p:sp>
      <p:sp>
        <p:nvSpPr>
          <p:cNvPr id="99330" name="Rectangle 2"/>
          <p:cNvSpPr>
            <a:spLocks noGrp="1" noChangeArrowheads="1"/>
          </p:cNvSpPr>
          <p:nvPr>
            <p:ph type="title"/>
          </p:nvPr>
        </p:nvSpPr>
        <p:spPr>
          <a:xfrm>
            <a:off x="285721" y="277813"/>
            <a:ext cx="8572560" cy="703262"/>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dirty="0" smtClean="0">
                <a:solidFill>
                  <a:srgbClr val="FF0000"/>
                </a:solidFill>
                <a:effectLst/>
                <a:cs typeface="B Titr" pitchFamily="2" charset="-78"/>
              </a:rPr>
              <a:t>امکاناتی را که قبل از نوشتن باید فراهم کرد :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3"/>
          <p:cNvSpPr>
            <a:spLocks noGrp="1" noChangeArrowheads="1"/>
          </p:cNvSpPr>
          <p:nvPr>
            <p:ph idx="1"/>
          </p:nvPr>
        </p:nvSpPr>
        <p:spPr/>
        <p:txBody>
          <a:bodyPr/>
          <a:lstStyle/>
          <a:p>
            <a:pPr marL="609600" indent="-609600" algn="r" rtl="1" eaLnBrk="1" hangingPunct="1">
              <a:lnSpc>
                <a:spcPct val="90000"/>
              </a:lnSpc>
              <a:buFont typeface="Wingdings" pitchFamily="2" charset="2"/>
              <a:buAutoNum type="arabicPeriod"/>
            </a:pPr>
            <a:r>
              <a:rPr lang="fa-IR" sz="2800" b="1" smtClean="0"/>
              <a:t>تهیه پیش نویس متن اصلی </a:t>
            </a:r>
          </a:p>
          <a:p>
            <a:pPr marL="609600" indent="-609600" algn="r" rtl="1" eaLnBrk="1" hangingPunct="1">
              <a:lnSpc>
                <a:spcPct val="90000"/>
              </a:lnSpc>
              <a:buFont typeface="Wingdings" pitchFamily="2" charset="2"/>
              <a:buAutoNum type="arabicPeriod"/>
            </a:pPr>
            <a:r>
              <a:rPr lang="fa-IR" sz="2800" b="1" smtClean="0"/>
              <a:t>بازخوانی و انجام اصلاحات ( کنترل کمی و کیفی ) و تهیه نسخه اول </a:t>
            </a:r>
          </a:p>
          <a:p>
            <a:pPr marL="609600" indent="-609600" algn="r" rtl="1" eaLnBrk="1" hangingPunct="1">
              <a:lnSpc>
                <a:spcPct val="90000"/>
              </a:lnSpc>
              <a:buFont typeface="Wingdings" pitchFamily="2" charset="2"/>
              <a:buAutoNum type="arabicPeriod"/>
            </a:pPr>
            <a:r>
              <a:rPr lang="fa-IR" sz="2800" b="1" smtClean="0"/>
              <a:t>درج پانوشت ها</a:t>
            </a:r>
          </a:p>
          <a:p>
            <a:pPr marL="609600" indent="-609600" algn="r" rtl="1" eaLnBrk="1" hangingPunct="1">
              <a:lnSpc>
                <a:spcPct val="90000"/>
              </a:lnSpc>
              <a:buFont typeface="Wingdings" pitchFamily="2" charset="2"/>
              <a:buAutoNum type="arabicPeriod"/>
            </a:pPr>
            <a:r>
              <a:rPr lang="fa-IR" sz="2800" b="1" smtClean="0"/>
              <a:t>درج شکلها و جدولها </a:t>
            </a:r>
          </a:p>
          <a:p>
            <a:pPr marL="609600" indent="-609600" algn="r" rtl="1" eaLnBrk="1" hangingPunct="1">
              <a:lnSpc>
                <a:spcPct val="90000"/>
              </a:lnSpc>
              <a:buFont typeface="Wingdings" pitchFamily="2" charset="2"/>
              <a:buAutoNum type="arabicPeriod"/>
            </a:pPr>
            <a:r>
              <a:rPr lang="fa-IR" sz="2800" b="1" smtClean="0"/>
              <a:t>نوشتن نتیجه و خلاصه نهایی </a:t>
            </a:r>
          </a:p>
          <a:p>
            <a:pPr marL="609600" indent="-609600" algn="r" rtl="1" eaLnBrk="1" hangingPunct="1">
              <a:lnSpc>
                <a:spcPct val="90000"/>
              </a:lnSpc>
              <a:buFont typeface="Wingdings" pitchFamily="2" charset="2"/>
              <a:buAutoNum type="arabicPeriod"/>
            </a:pPr>
            <a:r>
              <a:rPr lang="fa-IR" sz="2800" b="1" smtClean="0"/>
              <a:t>دیگرخوانی و اعمال نظرات منطقی و سازنده دیگران </a:t>
            </a:r>
          </a:p>
          <a:p>
            <a:pPr marL="609600" indent="-609600" algn="r" rtl="1" eaLnBrk="1" hangingPunct="1">
              <a:lnSpc>
                <a:spcPct val="90000"/>
              </a:lnSpc>
              <a:buFont typeface="Wingdings" pitchFamily="2" charset="2"/>
              <a:buAutoNum type="arabicPeriod"/>
            </a:pPr>
            <a:r>
              <a:rPr lang="fa-IR" sz="2800" b="1" smtClean="0"/>
              <a:t>بازخوانی و کنترل کمی – کیفی  نهایی </a:t>
            </a:r>
          </a:p>
          <a:p>
            <a:pPr marL="609600" indent="-609600" algn="r" rtl="1" eaLnBrk="1" hangingPunct="1">
              <a:lnSpc>
                <a:spcPct val="90000"/>
              </a:lnSpc>
              <a:buFont typeface="Wingdings" pitchFamily="2" charset="2"/>
              <a:buAutoNum type="arabicPeriod"/>
            </a:pPr>
            <a:r>
              <a:rPr lang="fa-IR" sz="2800" b="1" smtClean="0"/>
              <a:t>ویرایش نهایی و تهیه نسخه نهایی</a:t>
            </a:r>
            <a:r>
              <a:rPr lang="fa-IR" sz="2800" smtClean="0"/>
              <a:t> </a:t>
            </a:r>
            <a:endParaRPr lang="en-US" sz="2800" smtClean="0"/>
          </a:p>
        </p:txBody>
      </p:sp>
      <p:sp>
        <p:nvSpPr>
          <p:cNvPr id="10035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روش کار در تولید متن اصلی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3"/>
          <p:cNvSpPr>
            <a:spLocks noGrp="1" noChangeArrowheads="1"/>
          </p:cNvSpPr>
          <p:nvPr>
            <p:ph idx="1"/>
          </p:nvPr>
        </p:nvSpPr>
        <p:spPr>
          <a:xfrm>
            <a:off x="457200" y="1600200"/>
            <a:ext cx="8229600" cy="5257800"/>
          </a:xfrm>
        </p:spPr>
        <p:txBody>
          <a:bodyPr/>
          <a:lstStyle/>
          <a:p>
            <a:pPr marL="609600" indent="-609600" algn="r" rtl="1" eaLnBrk="1" hangingPunct="1">
              <a:lnSpc>
                <a:spcPct val="80000"/>
              </a:lnSpc>
              <a:buFont typeface="Wingdings" pitchFamily="2" charset="2"/>
              <a:buAutoNum type="arabicPeriod"/>
            </a:pPr>
            <a:r>
              <a:rPr lang="fa-IR" sz="2400" b="1" smtClean="0"/>
              <a:t>بررسی درباره طرح اولیه متن اصلی و اعمال تغییرات لازم </a:t>
            </a:r>
          </a:p>
          <a:p>
            <a:pPr marL="609600" indent="-609600" algn="r" rtl="1" eaLnBrk="1" hangingPunct="1">
              <a:lnSpc>
                <a:spcPct val="80000"/>
              </a:lnSpc>
              <a:buFont typeface="Wingdings" pitchFamily="2" charset="2"/>
              <a:buAutoNum type="arabicPeriod"/>
            </a:pPr>
            <a:r>
              <a:rPr lang="fa-IR" sz="2400" b="1" smtClean="0"/>
              <a:t>تصمیم گیری نهایی در مورد توالی  منطقی عناوین داخلی ( در سطوح مختلف ) </a:t>
            </a:r>
          </a:p>
          <a:p>
            <a:pPr marL="609600" indent="-609600" algn="r" rtl="1" eaLnBrk="1" hangingPunct="1">
              <a:lnSpc>
                <a:spcPct val="80000"/>
              </a:lnSpc>
              <a:buFont typeface="Wingdings" pitchFamily="2" charset="2"/>
              <a:buAutoNum type="arabicPeriod"/>
            </a:pPr>
            <a:r>
              <a:rPr lang="fa-IR" sz="2400" b="1" smtClean="0"/>
              <a:t>انتخاب یک عنوان داخلی با رعایت توالی منطقی </a:t>
            </a:r>
          </a:p>
          <a:p>
            <a:pPr marL="609600" indent="-609600" algn="r" rtl="1" eaLnBrk="1" hangingPunct="1">
              <a:lnSpc>
                <a:spcPct val="80000"/>
              </a:lnSpc>
              <a:buFont typeface="Wingdings" pitchFamily="2" charset="2"/>
              <a:buAutoNum type="arabicPeriod"/>
            </a:pPr>
            <a:r>
              <a:rPr lang="fa-IR" sz="2400" b="1" smtClean="0"/>
              <a:t>بررسی یادداشتهای مربوط به این عنوان </a:t>
            </a:r>
          </a:p>
          <a:p>
            <a:pPr marL="609600" indent="-609600" algn="r" rtl="1" eaLnBrk="1" hangingPunct="1">
              <a:lnSpc>
                <a:spcPct val="80000"/>
              </a:lnSpc>
              <a:buFont typeface="Wingdings" pitchFamily="2" charset="2"/>
              <a:buAutoNum type="arabicPeriod"/>
            </a:pPr>
            <a:r>
              <a:rPr lang="fa-IR" sz="2400" b="1" smtClean="0"/>
              <a:t>اندیشیدن به خصوصیات مخاطب و هدف اصلی ارائه </a:t>
            </a:r>
          </a:p>
          <a:p>
            <a:pPr marL="609600" indent="-609600" algn="r" rtl="1" eaLnBrk="1" hangingPunct="1">
              <a:lnSpc>
                <a:spcPct val="80000"/>
              </a:lnSpc>
              <a:buFont typeface="Wingdings" pitchFamily="2" charset="2"/>
              <a:buAutoNum type="arabicPeriod"/>
            </a:pPr>
            <a:r>
              <a:rPr lang="fa-IR" sz="2400" b="1" smtClean="0"/>
              <a:t>طرح ایده اصلی ذیل همین عنوان داخلی و مقدمه چینی </a:t>
            </a:r>
          </a:p>
          <a:p>
            <a:pPr marL="609600" indent="-609600" algn="r" rtl="1" eaLnBrk="1" hangingPunct="1">
              <a:lnSpc>
                <a:spcPct val="80000"/>
              </a:lnSpc>
              <a:buFont typeface="Wingdings" pitchFamily="2" charset="2"/>
              <a:buAutoNum type="arabicPeriod"/>
            </a:pPr>
            <a:r>
              <a:rPr lang="fa-IR" sz="2400" b="1" smtClean="0"/>
              <a:t>تعرف مفاهیم و اصطلاحاتی که در طول بحث استفاده می شوند </a:t>
            </a:r>
          </a:p>
          <a:p>
            <a:pPr marL="609600" indent="-609600" algn="r" rtl="1" eaLnBrk="1" hangingPunct="1">
              <a:lnSpc>
                <a:spcPct val="80000"/>
              </a:lnSpc>
              <a:buFont typeface="Wingdings" pitchFamily="2" charset="2"/>
              <a:buAutoNum type="arabicPeriod"/>
            </a:pPr>
            <a:r>
              <a:rPr lang="fa-IR" sz="2400" b="1" smtClean="0"/>
              <a:t>شرح وبسط موضوع با استفاده از عناوین داخلی تر </a:t>
            </a:r>
          </a:p>
          <a:p>
            <a:pPr marL="609600" indent="-609600" algn="r" rtl="1" eaLnBrk="1" hangingPunct="1">
              <a:lnSpc>
                <a:spcPct val="80000"/>
              </a:lnSpc>
              <a:buFont typeface="Wingdings" pitchFamily="2" charset="2"/>
              <a:buAutoNum type="arabicPeriod"/>
            </a:pPr>
            <a:r>
              <a:rPr lang="fa-IR" sz="2400" b="1" smtClean="0"/>
              <a:t>تنظیم درست نوشتپارهای مربوط به نتیجه بحث مطرح شده ذیل همین عنوان داخلی </a:t>
            </a:r>
          </a:p>
          <a:p>
            <a:pPr marL="609600" indent="-609600" algn="r" rtl="1" eaLnBrk="1" hangingPunct="1">
              <a:lnSpc>
                <a:spcPct val="80000"/>
              </a:lnSpc>
              <a:buFont typeface="Wingdings" pitchFamily="2" charset="2"/>
              <a:buAutoNum type="arabicPeriod"/>
            </a:pPr>
            <a:r>
              <a:rPr lang="fa-IR" sz="2400" b="1" smtClean="0"/>
              <a:t> انتخاب عنوان داخلی بعدی با رعایت توالی منطقی و تکرار کار از شماره 4 به بعد</a:t>
            </a:r>
            <a:r>
              <a:rPr lang="fa-IR" sz="2400" smtClean="0"/>
              <a:t> </a:t>
            </a:r>
            <a:endParaRPr lang="en-US" sz="2400" smtClean="0"/>
          </a:p>
        </p:txBody>
      </p:sp>
      <p:sp>
        <p:nvSpPr>
          <p:cNvPr id="10137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روش کار در تهیه پیش نویس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p:cNvSpPr>
            <a:spLocks noGrp="1" noChangeArrowheads="1"/>
          </p:cNvSpPr>
          <p:nvPr>
            <p:ph idx="1"/>
          </p:nvPr>
        </p:nvSpPr>
        <p:spPr>
          <a:xfrm>
            <a:off x="457200" y="1125538"/>
            <a:ext cx="8229600" cy="5005387"/>
          </a:xfrm>
        </p:spPr>
        <p:txBody>
          <a:bodyPr/>
          <a:lstStyle/>
          <a:p>
            <a:pPr algn="r" rtl="1" eaLnBrk="1" hangingPunct="1">
              <a:lnSpc>
                <a:spcPct val="90000"/>
              </a:lnSpc>
            </a:pPr>
            <a:r>
              <a:rPr lang="fa-IR" b="1" dirty="0" smtClean="0">
                <a:solidFill>
                  <a:srgbClr val="0070C0"/>
                </a:solidFill>
              </a:rPr>
              <a:t>بسط مکانی </a:t>
            </a:r>
            <a:endParaRPr lang="en-US" dirty="0" smtClean="0">
              <a:solidFill>
                <a:srgbClr val="0070C0"/>
              </a:solidFill>
            </a:endParaRPr>
          </a:p>
          <a:p>
            <a:pPr algn="r" rtl="1" eaLnBrk="1" hangingPunct="1">
              <a:lnSpc>
                <a:spcPct val="90000"/>
              </a:lnSpc>
            </a:pPr>
            <a:r>
              <a:rPr lang="fa-IR" b="1" dirty="0" smtClean="0">
                <a:solidFill>
                  <a:srgbClr val="0070C0"/>
                </a:solidFill>
              </a:rPr>
              <a:t>بسط زمانی </a:t>
            </a:r>
            <a:endParaRPr lang="en-US" dirty="0" smtClean="0">
              <a:solidFill>
                <a:srgbClr val="0070C0"/>
              </a:solidFill>
            </a:endParaRPr>
          </a:p>
          <a:p>
            <a:pPr algn="r" rtl="1" eaLnBrk="1" hangingPunct="1">
              <a:lnSpc>
                <a:spcPct val="90000"/>
              </a:lnSpc>
            </a:pPr>
            <a:r>
              <a:rPr lang="fa-IR" b="1" dirty="0" smtClean="0">
                <a:solidFill>
                  <a:srgbClr val="0070C0"/>
                </a:solidFill>
              </a:rPr>
              <a:t>بسط از مطلب آشنا به ناآشنا ( معلوم به مجهول )</a:t>
            </a:r>
            <a:endParaRPr lang="en-US" dirty="0" smtClean="0">
              <a:solidFill>
                <a:srgbClr val="0070C0"/>
              </a:solidFill>
            </a:endParaRPr>
          </a:p>
          <a:p>
            <a:pPr algn="r" rtl="1" eaLnBrk="1" hangingPunct="1">
              <a:lnSpc>
                <a:spcPct val="90000"/>
              </a:lnSpc>
            </a:pPr>
            <a:r>
              <a:rPr lang="fa-IR" b="1" dirty="0" smtClean="0">
                <a:solidFill>
                  <a:srgbClr val="0070C0"/>
                </a:solidFill>
              </a:rPr>
              <a:t>بسط از طریق تشابه </a:t>
            </a:r>
            <a:endParaRPr lang="en-US" dirty="0" smtClean="0">
              <a:solidFill>
                <a:srgbClr val="0070C0"/>
              </a:solidFill>
            </a:endParaRPr>
          </a:p>
          <a:p>
            <a:pPr algn="r" rtl="1" eaLnBrk="1" hangingPunct="1">
              <a:lnSpc>
                <a:spcPct val="90000"/>
              </a:lnSpc>
            </a:pPr>
            <a:r>
              <a:rPr lang="fa-IR" b="1" dirty="0" smtClean="0">
                <a:solidFill>
                  <a:srgbClr val="0070C0"/>
                </a:solidFill>
              </a:rPr>
              <a:t>بسط از ساده به پیچیده </a:t>
            </a:r>
            <a:endParaRPr lang="en-US" dirty="0" smtClean="0">
              <a:solidFill>
                <a:srgbClr val="0070C0"/>
              </a:solidFill>
            </a:endParaRPr>
          </a:p>
          <a:p>
            <a:pPr algn="r" rtl="1" eaLnBrk="1" hangingPunct="1">
              <a:lnSpc>
                <a:spcPct val="90000"/>
              </a:lnSpc>
            </a:pPr>
            <a:r>
              <a:rPr lang="fa-IR" b="1" dirty="0" smtClean="0">
                <a:solidFill>
                  <a:srgbClr val="0070C0"/>
                </a:solidFill>
              </a:rPr>
              <a:t>بسط از طریق تضاد </a:t>
            </a:r>
            <a:endParaRPr lang="en-US" dirty="0" smtClean="0">
              <a:solidFill>
                <a:srgbClr val="0070C0"/>
              </a:solidFill>
            </a:endParaRPr>
          </a:p>
          <a:p>
            <a:pPr algn="r" rtl="1" eaLnBrk="1" hangingPunct="1">
              <a:lnSpc>
                <a:spcPct val="90000"/>
              </a:lnSpc>
            </a:pPr>
            <a:r>
              <a:rPr lang="fa-IR" b="1" dirty="0" smtClean="0">
                <a:solidFill>
                  <a:srgbClr val="0070C0"/>
                </a:solidFill>
              </a:rPr>
              <a:t>بسط از علت به معلول ( ا </a:t>
            </a:r>
            <a:r>
              <a:rPr lang="fa-IR" b="1" dirty="0" err="1" smtClean="0">
                <a:solidFill>
                  <a:srgbClr val="0070C0"/>
                </a:solidFill>
              </a:rPr>
              <a:t>ثر</a:t>
            </a:r>
            <a:r>
              <a:rPr lang="fa-IR" b="1" dirty="0" smtClean="0">
                <a:solidFill>
                  <a:srgbClr val="0070C0"/>
                </a:solidFill>
              </a:rPr>
              <a:t> به نتیجه ) </a:t>
            </a:r>
            <a:endParaRPr lang="en-US" dirty="0" smtClean="0">
              <a:solidFill>
                <a:srgbClr val="0070C0"/>
              </a:solidFill>
            </a:endParaRPr>
          </a:p>
          <a:p>
            <a:pPr algn="r" rtl="1" eaLnBrk="1" hangingPunct="1">
              <a:lnSpc>
                <a:spcPct val="90000"/>
              </a:lnSpc>
            </a:pPr>
            <a:r>
              <a:rPr lang="fa-IR" b="1" dirty="0" smtClean="0">
                <a:solidFill>
                  <a:srgbClr val="0070C0"/>
                </a:solidFill>
              </a:rPr>
              <a:t>بسط از معلول به علت ( نتیجه به اثر )</a:t>
            </a:r>
            <a:endParaRPr lang="en-US" dirty="0" smtClean="0">
              <a:solidFill>
                <a:srgbClr val="0070C0"/>
              </a:solidFill>
            </a:endParaRPr>
          </a:p>
          <a:p>
            <a:pPr algn="r" rtl="1" eaLnBrk="1" hangingPunct="1">
              <a:lnSpc>
                <a:spcPct val="90000"/>
              </a:lnSpc>
            </a:pPr>
            <a:r>
              <a:rPr lang="fa-IR" b="1" dirty="0" smtClean="0">
                <a:solidFill>
                  <a:srgbClr val="0070C0"/>
                </a:solidFill>
              </a:rPr>
              <a:t>بسط از جزء به کل</a:t>
            </a:r>
            <a:r>
              <a:rPr lang="fa-IR" dirty="0" smtClean="0">
                <a:solidFill>
                  <a:srgbClr val="0070C0"/>
                </a:solidFill>
              </a:rPr>
              <a:t> </a:t>
            </a:r>
            <a:endParaRPr lang="en-US" dirty="0" smtClean="0">
              <a:solidFill>
                <a:srgbClr val="0070C0"/>
              </a:solidFill>
            </a:endParaRPr>
          </a:p>
        </p:txBody>
      </p:sp>
      <p:sp>
        <p:nvSpPr>
          <p:cNvPr id="102402" name="Rectangle 2"/>
          <p:cNvSpPr>
            <a:spLocks noGrp="1" noChangeArrowheads="1"/>
          </p:cNvSpPr>
          <p:nvPr>
            <p:ph type="title"/>
          </p:nvPr>
        </p:nvSpPr>
        <p:spPr>
          <a:xfrm>
            <a:off x="357159" y="333375"/>
            <a:ext cx="8462992" cy="630238"/>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2400" dirty="0" smtClean="0">
                <a:solidFill>
                  <a:srgbClr val="FF0000"/>
                </a:solidFill>
                <a:effectLst/>
                <a:cs typeface="B Titr" pitchFamily="2" charset="-78"/>
              </a:rPr>
              <a:t>روشهای متداول بسط یا پرداختن به موضوع ( در متون علمی – فنی ): </a:t>
            </a:r>
            <a:endParaRPr lang="en-US" sz="24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
          <p:cNvSpPr>
            <a:spLocks noGrp="1" noChangeArrowheads="1"/>
          </p:cNvSpPr>
          <p:nvPr>
            <p:ph idx="1"/>
          </p:nvPr>
        </p:nvSpPr>
        <p:spPr>
          <a:xfrm>
            <a:off x="457200" y="981075"/>
            <a:ext cx="8229600" cy="5616575"/>
          </a:xfrm>
        </p:spPr>
        <p:txBody>
          <a:bodyPr/>
          <a:lstStyle/>
          <a:p>
            <a:pPr marL="609600" indent="-609600" algn="r" rtl="1" eaLnBrk="1" hangingPunct="1">
              <a:lnSpc>
                <a:spcPct val="90000"/>
              </a:lnSpc>
              <a:buFont typeface="Wingdings" pitchFamily="2" charset="2"/>
              <a:buAutoNum type="arabicPeriod"/>
            </a:pPr>
            <a:r>
              <a:rPr lang="fa-IR" sz="2400" b="1" dirty="0" smtClean="0"/>
              <a:t>مقداری از متن است که فقط یک ایده ساده را بیان می کند </a:t>
            </a:r>
          </a:p>
          <a:p>
            <a:pPr marL="609600" indent="-609600" algn="r" rtl="1" eaLnBrk="1" hangingPunct="1">
              <a:lnSpc>
                <a:spcPct val="90000"/>
              </a:lnSpc>
              <a:buFont typeface="Wingdings" pitchFamily="2" charset="2"/>
              <a:buAutoNum type="arabicPeriod"/>
            </a:pPr>
            <a:r>
              <a:rPr lang="fa-IR" sz="2400" b="1" dirty="0" smtClean="0"/>
              <a:t>بهتر است اندازه </a:t>
            </a:r>
            <a:r>
              <a:rPr lang="fa-IR" sz="2400" b="1" dirty="0" err="1" smtClean="0"/>
              <a:t>اش</a:t>
            </a:r>
            <a:r>
              <a:rPr lang="fa-IR" sz="2400" b="1" dirty="0" smtClean="0"/>
              <a:t> بین 100 تا 150 کلمه باشد </a:t>
            </a:r>
          </a:p>
          <a:p>
            <a:pPr marL="609600" indent="-609600" algn="r" rtl="1" eaLnBrk="1" hangingPunct="1">
              <a:lnSpc>
                <a:spcPct val="90000"/>
              </a:lnSpc>
              <a:buFont typeface="Wingdings" pitchFamily="2" charset="2"/>
              <a:buAutoNum type="arabicPeriod"/>
            </a:pPr>
            <a:r>
              <a:rPr lang="fa-IR" sz="2400" b="1" dirty="0" smtClean="0">
                <a:solidFill>
                  <a:srgbClr val="0070C0"/>
                </a:solidFill>
              </a:rPr>
              <a:t>با یک یا دو جمله اصلی شروع </a:t>
            </a:r>
            <a:r>
              <a:rPr lang="fa-IR" sz="2400" b="1" dirty="0" err="1" smtClean="0">
                <a:solidFill>
                  <a:srgbClr val="0070C0"/>
                </a:solidFill>
              </a:rPr>
              <a:t>می‌شود</a:t>
            </a:r>
            <a:r>
              <a:rPr lang="fa-IR" sz="2400" b="1" dirty="0" smtClean="0">
                <a:solidFill>
                  <a:srgbClr val="0070C0"/>
                </a:solidFill>
              </a:rPr>
              <a:t> که در آنها ایده اصلی مطرح  </a:t>
            </a:r>
            <a:r>
              <a:rPr lang="fa-IR" sz="2400" b="1" dirty="0" err="1" smtClean="0">
                <a:solidFill>
                  <a:srgbClr val="0070C0"/>
                </a:solidFill>
              </a:rPr>
              <a:t>می‌شود</a:t>
            </a:r>
            <a:r>
              <a:rPr lang="fa-IR" sz="2400" b="1" dirty="0" smtClean="0">
                <a:solidFill>
                  <a:srgbClr val="0070C0"/>
                </a:solidFill>
              </a:rPr>
              <a:t> </a:t>
            </a:r>
          </a:p>
          <a:p>
            <a:pPr marL="609600" indent="-609600" algn="r" rtl="1" eaLnBrk="1" hangingPunct="1">
              <a:lnSpc>
                <a:spcPct val="90000"/>
              </a:lnSpc>
              <a:buFont typeface="Wingdings" pitchFamily="2" charset="2"/>
              <a:buAutoNum type="arabicPeriod"/>
            </a:pPr>
            <a:r>
              <a:rPr lang="fa-IR" sz="2400" b="1" dirty="0" smtClean="0"/>
              <a:t>دارای تعدادی جمله توضیحی است که به کمک آنها ایده طرح شده در جمله های آغازین شرح داده می شود </a:t>
            </a:r>
          </a:p>
          <a:p>
            <a:pPr marL="609600" indent="-609600" algn="r" rtl="1" eaLnBrk="1" hangingPunct="1">
              <a:lnSpc>
                <a:spcPct val="90000"/>
              </a:lnSpc>
              <a:buFont typeface="Wingdings" pitchFamily="2" charset="2"/>
              <a:buAutoNum type="arabicPeriod"/>
            </a:pPr>
            <a:r>
              <a:rPr lang="fa-IR" sz="2400" b="1" dirty="0" smtClean="0"/>
              <a:t>واحد کنترل کمی - کیفی و نیز واحد انتقال اطلاعات است </a:t>
            </a:r>
          </a:p>
          <a:p>
            <a:pPr marL="609600" indent="-609600" algn="r" rtl="1" eaLnBrk="1" hangingPunct="1">
              <a:lnSpc>
                <a:spcPct val="90000"/>
              </a:lnSpc>
              <a:buFont typeface="Wingdings" pitchFamily="2" charset="2"/>
              <a:buAutoNum type="arabicPeriod"/>
            </a:pPr>
            <a:r>
              <a:rPr lang="fa-IR" sz="2400" b="1" dirty="0" smtClean="0"/>
              <a:t>بین هر دو </a:t>
            </a:r>
            <a:r>
              <a:rPr lang="fa-IR" sz="2400" b="1" dirty="0" err="1" smtClean="0"/>
              <a:t>نوشتپار</a:t>
            </a:r>
            <a:r>
              <a:rPr lang="fa-IR" sz="2400" b="1" dirty="0" smtClean="0"/>
              <a:t> پی در پی باید ارتباط معنایی و انسجام مفهومی و ساختاری برقرار شود </a:t>
            </a:r>
          </a:p>
          <a:p>
            <a:pPr marL="609600" indent="-609600" algn="r" rtl="1" eaLnBrk="1" hangingPunct="1">
              <a:lnSpc>
                <a:spcPct val="90000"/>
              </a:lnSpc>
              <a:buFont typeface="Wingdings" pitchFamily="2" charset="2"/>
              <a:buAutoNum type="arabicPeriod"/>
            </a:pPr>
            <a:r>
              <a:rPr lang="fa-IR" sz="2400" b="1" dirty="0" smtClean="0"/>
              <a:t>هر </a:t>
            </a:r>
            <a:r>
              <a:rPr lang="fa-IR" sz="2400" b="1" dirty="0" err="1" smtClean="0"/>
              <a:t>نوشتپار</a:t>
            </a:r>
            <a:r>
              <a:rPr lang="fa-IR" sz="2400" b="1" dirty="0" smtClean="0"/>
              <a:t> را می توان یک تصنیف در مقیاس کوچک دانست که </a:t>
            </a:r>
            <a:r>
              <a:rPr lang="fa-IR" sz="2400" b="1" dirty="0" smtClean="0">
                <a:solidFill>
                  <a:srgbClr val="0070C0"/>
                </a:solidFill>
              </a:rPr>
              <a:t>به خودی خود کامل است </a:t>
            </a:r>
          </a:p>
          <a:p>
            <a:pPr marL="609600" indent="-609600" algn="r" rtl="1" eaLnBrk="1" hangingPunct="1">
              <a:lnSpc>
                <a:spcPct val="90000"/>
              </a:lnSpc>
              <a:buFont typeface="Wingdings" pitchFamily="2" charset="2"/>
              <a:buAutoNum type="arabicPeriod"/>
            </a:pPr>
            <a:r>
              <a:rPr lang="fa-IR" sz="2400" b="1" dirty="0" smtClean="0"/>
              <a:t>جملات </a:t>
            </a:r>
            <a:r>
              <a:rPr lang="fa-IR" sz="2400" b="1" dirty="0" err="1" smtClean="0"/>
              <a:t>نوشتپار</a:t>
            </a:r>
            <a:r>
              <a:rPr lang="fa-IR" sz="2400" b="1" dirty="0" smtClean="0"/>
              <a:t> </a:t>
            </a:r>
            <a:r>
              <a:rPr lang="fa-IR" sz="2400" b="1" dirty="0" smtClean="0">
                <a:solidFill>
                  <a:srgbClr val="0070C0"/>
                </a:solidFill>
              </a:rPr>
              <a:t>توالی منطقی دارند </a:t>
            </a:r>
            <a:r>
              <a:rPr lang="fa-IR" sz="2400" b="1" dirty="0" smtClean="0"/>
              <a:t>( به ویژه در متون علمی- فنی ) که به این ویژگی توالی گوییم.</a:t>
            </a:r>
          </a:p>
          <a:p>
            <a:pPr marL="609600" indent="-609600" algn="r" rtl="1" eaLnBrk="1" hangingPunct="1">
              <a:lnSpc>
                <a:spcPct val="90000"/>
              </a:lnSpc>
              <a:buFont typeface="Wingdings" pitchFamily="2" charset="2"/>
              <a:buAutoNum type="arabicPeriod"/>
            </a:pPr>
            <a:r>
              <a:rPr lang="fa-IR" sz="2400" b="1" dirty="0" smtClean="0"/>
              <a:t>نکات مهم با جملات  با معنی تر ، صریح تر ، و با تاکید بیشتر نوشته </a:t>
            </a:r>
            <a:r>
              <a:rPr lang="fa-IR" sz="2400" b="1" dirty="0" err="1" smtClean="0"/>
              <a:t>می‌شوند</a:t>
            </a:r>
            <a:r>
              <a:rPr lang="fa-IR" sz="2400" b="1" dirty="0" smtClean="0"/>
              <a:t> . </a:t>
            </a:r>
            <a:r>
              <a:rPr lang="fa-IR" sz="2400" b="1" dirty="0" smtClean="0">
                <a:solidFill>
                  <a:srgbClr val="0070C0"/>
                </a:solidFill>
              </a:rPr>
              <a:t>این ویژگی </a:t>
            </a:r>
            <a:r>
              <a:rPr lang="fa-IR" sz="2400" b="1" dirty="0" err="1" smtClean="0">
                <a:solidFill>
                  <a:srgbClr val="0070C0"/>
                </a:solidFill>
              </a:rPr>
              <a:t>نوشتپار</a:t>
            </a:r>
            <a:r>
              <a:rPr lang="fa-IR" sz="2400" b="1" dirty="0" smtClean="0">
                <a:solidFill>
                  <a:srgbClr val="0070C0"/>
                </a:solidFill>
              </a:rPr>
              <a:t> را </a:t>
            </a:r>
            <a:r>
              <a:rPr lang="fa-IR" sz="2400" b="1" dirty="0" err="1" smtClean="0">
                <a:solidFill>
                  <a:srgbClr val="0070C0"/>
                </a:solidFill>
              </a:rPr>
              <a:t>تاکیدمندی</a:t>
            </a:r>
            <a:r>
              <a:rPr lang="fa-IR" sz="2400" b="1" dirty="0" smtClean="0">
                <a:solidFill>
                  <a:srgbClr val="0070C0"/>
                </a:solidFill>
              </a:rPr>
              <a:t> می </a:t>
            </a:r>
            <a:r>
              <a:rPr lang="fa-IR" sz="2400" b="1" dirty="0" err="1" smtClean="0">
                <a:solidFill>
                  <a:srgbClr val="0070C0"/>
                </a:solidFill>
              </a:rPr>
              <a:t>نامیم</a:t>
            </a:r>
            <a:r>
              <a:rPr lang="fa-IR" sz="2400" b="1" dirty="0" smtClean="0">
                <a:solidFill>
                  <a:srgbClr val="0070C0"/>
                </a:solidFill>
              </a:rPr>
              <a:t> .</a:t>
            </a:r>
            <a:endParaRPr lang="en-US" sz="2400" b="1" dirty="0" smtClean="0">
              <a:solidFill>
                <a:srgbClr val="0070C0"/>
              </a:solidFill>
            </a:endParaRPr>
          </a:p>
        </p:txBody>
      </p:sp>
      <p:sp>
        <p:nvSpPr>
          <p:cNvPr id="103426" name="Rectangle 2"/>
          <p:cNvSpPr>
            <a:spLocks noGrp="1" noChangeArrowheads="1"/>
          </p:cNvSpPr>
          <p:nvPr>
            <p:ph type="title"/>
          </p:nvPr>
        </p:nvSpPr>
        <p:spPr>
          <a:xfrm>
            <a:off x="457200" y="277813"/>
            <a:ext cx="8229600" cy="630237"/>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خصوصیات نوشتپار ( پاراگراف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Line 7"/>
          <p:cNvSpPr>
            <a:spLocks noChangeShapeType="1"/>
          </p:cNvSpPr>
          <p:nvPr/>
        </p:nvSpPr>
        <p:spPr bwMode="auto">
          <a:xfrm>
            <a:off x="3635375" y="1628775"/>
            <a:ext cx="1511300" cy="0"/>
          </a:xfrm>
          <a:prstGeom prst="line">
            <a:avLst/>
          </a:prstGeom>
          <a:noFill/>
          <a:ln w="9525">
            <a:solidFill>
              <a:schemeClr val="tx1"/>
            </a:solidFill>
            <a:round/>
            <a:headEnd/>
            <a:tailEnd type="triangle" w="med" len="med"/>
          </a:ln>
        </p:spPr>
        <p:txBody>
          <a:bodyPr wrap="none">
            <a:spAutoFit/>
          </a:bodyPr>
          <a:lstStyle/>
          <a:p>
            <a:endParaRPr lang="en-US"/>
          </a:p>
        </p:txBody>
      </p:sp>
      <p:sp>
        <p:nvSpPr>
          <p:cNvPr id="95235" name="AutoShape 8"/>
          <p:cNvSpPr>
            <a:spLocks noChangeArrowheads="1"/>
          </p:cNvSpPr>
          <p:nvPr/>
        </p:nvSpPr>
        <p:spPr bwMode="auto">
          <a:xfrm>
            <a:off x="3071813" y="500063"/>
            <a:ext cx="5759450" cy="5400675"/>
          </a:xfrm>
          <a:prstGeom prst="flowChartExtract">
            <a:avLst/>
          </a:prstGeom>
          <a:solidFill>
            <a:srgbClr val="99CC00"/>
          </a:solidFill>
          <a:ln w="9525" algn="ctr">
            <a:solidFill>
              <a:schemeClr val="tx1"/>
            </a:solidFill>
            <a:miter lim="800000"/>
            <a:headEnd/>
            <a:tailEnd/>
          </a:ln>
        </p:spPr>
        <p:txBody>
          <a:bodyPr anchor="ctr">
            <a:spAutoFit/>
          </a:bodyPr>
          <a:lstStyle/>
          <a:p>
            <a:endParaRPr lang="en-US"/>
          </a:p>
        </p:txBody>
      </p:sp>
      <p:sp>
        <p:nvSpPr>
          <p:cNvPr id="95236" name="Line 9"/>
          <p:cNvSpPr>
            <a:spLocks noChangeShapeType="1"/>
          </p:cNvSpPr>
          <p:nvPr/>
        </p:nvSpPr>
        <p:spPr bwMode="auto">
          <a:xfrm>
            <a:off x="5003800" y="2276475"/>
            <a:ext cx="1873250" cy="0"/>
          </a:xfrm>
          <a:prstGeom prst="line">
            <a:avLst/>
          </a:prstGeom>
          <a:noFill/>
          <a:ln w="47625">
            <a:solidFill>
              <a:srgbClr val="FF0000"/>
            </a:solidFill>
            <a:round/>
            <a:headEnd/>
            <a:tailEnd/>
          </a:ln>
        </p:spPr>
        <p:txBody>
          <a:bodyPr wrap="none">
            <a:spAutoFit/>
          </a:bodyPr>
          <a:lstStyle/>
          <a:p>
            <a:endParaRPr lang="en-US"/>
          </a:p>
        </p:txBody>
      </p:sp>
      <p:sp>
        <p:nvSpPr>
          <p:cNvPr id="95237" name="Line 11"/>
          <p:cNvSpPr>
            <a:spLocks noChangeShapeType="1"/>
          </p:cNvSpPr>
          <p:nvPr/>
        </p:nvSpPr>
        <p:spPr bwMode="auto">
          <a:xfrm>
            <a:off x="2555875" y="3789363"/>
            <a:ext cx="1439863" cy="0"/>
          </a:xfrm>
          <a:prstGeom prst="line">
            <a:avLst/>
          </a:prstGeom>
          <a:noFill/>
          <a:ln w="9525">
            <a:solidFill>
              <a:schemeClr val="tx1"/>
            </a:solidFill>
            <a:round/>
            <a:headEnd/>
            <a:tailEnd type="triangle" w="med" len="med"/>
          </a:ln>
        </p:spPr>
        <p:txBody>
          <a:bodyPr wrap="none">
            <a:spAutoFit/>
          </a:bodyPr>
          <a:lstStyle/>
          <a:p>
            <a:endParaRPr lang="en-US"/>
          </a:p>
        </p:txBody>
      </p:sp>
      <p:sp>
        <p:nvSpPr>
          <p:cNvPr id="95238" name="Rectangle 12"/>
          <p:cNvSpPr>
            <a:spLocks noChangeArrowheads="1"/>
          </p:cNvSpPr>
          <p:nvPr/>
        </p:nvSpPr>
        <p:spPr bwMode="auto">
          <a:xfrm>
            <a:off x="2124075" y="1257300"/>
            <a:ext cx="1454150" cy="831850"/>
          </a:xfrm>
          <a:prstGeom prst="rect">
            <a:avLst/>
          </a:prstGeom>
          <a:solidFill>
            <a:schemeClr val="accent1"/>
          </a:solidFill>
          <a:ln w="9525" algn="ctr">
            <a:solidFill>
              <a:schemeClr val="tx1"/>
            </a:solidFill>
            <a:miter lim="800000"/>
            <a:headEnd/>
            <a:tailEnd/>
          </a:ln>
        </p:spPr>
        <p:txBody>
          <a:bodyPr anchor="ctr">
            <a:spAutoFit/>
          </a:bodyPr>
          <a:lstStyle/>
          <a:p>
            <a:r>
              <a:rPr lang="fa-IR" sz="2400"/>
              <a:t>جمله هاي اصلي </a:t>
            </a:r>
            <a:endParaRPr lang="en-US" sz="2400"/>
          </a:p>
        </p:txBody>
      </p:sp>
      <p:sp>
        <p:nvSpPr>
          <p:cNvPr id="95239" name="Rectangle 13"/>
          <p:cNvSpPr>
            <a:spLocks noChangeArrowheads="1"/>
          </p:cNvSpPr>
          <p:nvPr/>
        </p:nvSpPr>
        <p:spPr bwMode="auto">
          <a:xfrm>
            <a:off x="563563" y="3529013"/>
            <a:ext cx="2217737" cy="466725"/>
          </a:xfrm>
          <a:prstGeom prst="rect">
            <a:avLst/>
          </a:prstGeom>
          <a:solidFill>
            <a:schemeClr val="accent1"/>
          </a:solidFill>
          <a:ln w="9525" algn="ctr">
            <a:solidFill>
              <a:schemeClr val="tx1"/>
            </a:solidFill>
            <a:miter lim="800000"/>
            <a:headEnd/>
            <a:tailEnd/>
          </a:ln>
        </p:spPr>
        <p:txBody>
          <a:bodyPr wrap="none" anchor="ctr">
            <a:spAutoFit/>
          </a:bodyPr>
          <a:lstStyle/>
          <a:p>
            <a:r>
              <a:rPr lang="fa-IR" sz="2400"/>
              <a:t>جمله هاي توضيحي </a:t>
            </a:r>
            <a:endParaRPr lang="en-US" sz="2400"/>
          </a:p>
        </p:txBody>
      </p:sp>
    </p:spTree>
  </p:cSld>
  <p:clrMapOvr>
    <a:overrideClrMapping bg1="dk2" tx1="lt1" bg2="dk1" tx2="lt2" accent1="accent1" accent2="accent2" accent3="accent3" accent4="accent4" accent5="accent5" accent6="accent6" hlink="hlink" folHlink="folHlink"/>
  </p:clrMapOvr>
  <p:transition spd="med">
    <p:wipe dir="d"/>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3"/>
          <p:cNvSpPr>
            <a:spLocks noGrp="1" noChangeArrowheads="1"/>
          </p:cNvSpPr>
          <p:nvPr>
            <p:ph idx="1"/>
          </p:nvPr>
        </p:nvSpPr>
        <p:spPr>
          <a:xfrm>
            <a:off x="457200" y="2349500"/>
            <a:ext cx="8229600" cy="3781425"/>
          </a:xfrm>
        </p:spPr>
        <p:txBody>
          <a:bodyPr/>
          <a:lstStyle/>
          <a:p>
            <a:pPr algn="r" rtl="1" eaLnBrk="1" hangingPunct="1"/>
            <a:r>
              <a:rPr lang="fa-IR" b="1" smtClean="0"/>
              <a:t>تعریف یک مفهوم، پدیده ، روش یا مسئله </a:t>
            </a:r>
            <a:endParaRPr lang="en-US" smtClean="0"/>
          </a:p>
          <a:p>
            <a:pPr algn="r" rtl="1" eaLnBrk="1" hangingPunct="1"/>
            <a:r>
              <a:rPr lang="fa-IR" b="1" smtClean="0"/>
              <a:t>رده بندی پدیده یا روشها </a:t>
            </a:r>
            <a:endParaRPr lang="en-US" smtClean="0"/>
          </a:p>
          <a:p>
            <a:pPr algn="r" rtl="1" eaLnBrk="1" hangingPunct="1"/>
            <a:r>
              <a:rPr lang="fa-IR" b="1" smtClean="0"/>
              <a:t>مقایسه پدیده ها ، روشها و ...</a:t>
            </a:r>
            <a:endParaRPr lang="en-US" smtClean="0"/>
          </a:p>
          <a:p>
            <a:pPr algn="r" rtl="1" eaLnBrk="1" hangingPunct="1"/>
            <a:r>
              <a:rPr lang="fa-IR" b="1" smtClean="0"/>
              <a:t>تحلیل و بررسی یک پدیده یا روش </a:t>
            </a:r>
            <a:endParaRPr lang="en-US" smtClean="0"/>
          </a:p>
          <a:p>
            <a:pPr algn="r" rtl="1" eaLnBrk="1" hangingPunct="1"/>
            <a:r>
              <a:rPr lang="fa-IR" b="1" smtClean="0"/>
              <a:t>ارائه مثال از یک پدیده و شرح آن</a:t>
            </a:r>
            <a:r>
              <a:rPr lang="fa-IR" smtClean="0"/>
              <a:t> </a:t>
            </a:r>
            <a:endParaRPr lang="en-US" smtClean="0"/>
          </a:p>
        </p:txBody>
      </p:sp>
      <p:sp>
        <p:nvSpPr>
          <p:cNvPr id="106498" name="Rectangle 2"/>
          <p:cNvSpPr>
            <a:spLocks noGrp="1" noChangeArrowheads="1"/>
          </p:cNvSpPr>
          <p:nvPr>
            <p:ph type="title"/>
          </p:nvPr>
        </p:nvSpPr>
        <p:spPr>
          <a:xfrm>
            <a:off x="1249363" y="620713"/>
            <a:ext cx="7499350" cy="11525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ایده ای که در یک نوشتپار از یک متن علمی  یا فنی مطرح و تشریح می شود معمولا مربوط است به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3"/>
          <p:cNvSpPr>
            <a:spLocks noGrp="1" noChangeArrowheads="1"/>
          </p:cNvSpPr>
          <p:nvPr>
            <p:ph idx="1"/>
          </p:nvPr>
        </p:nvSpPr>
        <p:spPr/>
        <p:txBody>
          <a:bodyPr/>
          <a:lstStyle/>
          <a:p>
            <a:pPr algn="justLow" rtl="1" eaLnBrk="1" hangingPunct="1">
              <a:buFont typeface="Wingdings" pitchFamily="2" charset="2"/>
              <a:buNone/>
            </a:pPr>
            <a:r>
              <a:rPr lang="fa-IR" b="1" dirty="0" err="1" smtClean="0"/>
              <a:t>نوشتپار</a:t>
            </a:r>
            <a:r>
              <a:rPr lang="fa-IR" b="1" dirty="0" smtClean="0"/>
              <a:t> در متون علمی – فنی  نه باید چنان </a:t>
            </a:r>
            <a:r>
              <a:rPr lang="fa-IR" b="1" dirty="0" err="1" smtClean="0"/>
              <a:t>موجز</a:t>
            </a:r>
            <a:r>
              <a:rPr lang="fa-IR" b="1" dirty="0" smtClean="0"/>
              <a:t> باشد که مانع انتقال ایده به خواننده شود </a:t>
            </a:r>
            <a:r>
              <a:rPr lang="fa-IR" b="1" dirty="0" smtClean="0">
                <a:solidFill>
                  <a:srgbClr val="0070C0"/>
                </a:solidFill>
              </a:rPr>
              <a:t>و نه چنان مفصل که خسته کننده شود و خواننده احساس کند که توضیحات اضافی و </a:t>
            </a:r>
            <a:r>
              <a:rPr lang="fa-IR" b="1" dirty="0" err="1" smtClean="0">
                <a:solidFill>
                  <a:srgbClr val="0070C0"/>
                </a:solidFill>
              </a:rPr>
              <a:t>نالازم</a:t>
            </a:r>
            <a:r>
              <a:rPr lang="fa-IR" b="1" dirty="0" smtClean="0">
                <a:solidFill>
                  <a:srgbClr val="0070C0"/>
                </a:solidFill>
              </a:rPr>
              <a:t> را خوانده است .</a:t>
            </a:r>
            <a:endParaRPr lang="en-US" b="1" dirty="0" smtClean="0">
              <a:solidFill>
                <a:srgbClr val="0070C0"/>
              </a:solidFill>
            </a:endParaRPr>
          </a:p>
        </p:txBody>
      </p:sp>
      <p:sp>
        <p:nvSpPr>
          <p:cNvPr id="10752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کنترل کمی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شمارش کلمات هر جمله از نوشتپار </a:t>
            </a:r>
          </a:p>
          <a:p>
            <a:pPr marL="609600" indent="-609600" algn="r" rtl="1" eaLnBrk="1" hangingPunct="1">
              <a:buFont typeface="Wingdings" pitchFamily="2" charset="2"/>
              <a:buAutoNum type="arabicPeriod"/>
            </a:pPr>
            <a:r>
              <a:rPr lang="fa-IR" b="1" smtClean="0"/>
              <a:t>ایجاد تعادل نسبی در اندازه جملات و در صورت لزوم تقسیم جمله طولانی به دو جمله و بر عکس </a:t>
            </a:r>
          </a:p>
          <a:p>
            <a:pPr marL="609600" indent="-609600" algn="r" rtl="1" eaLnBrk="1" hangingPunct="1">
              <a:buFont typeface="Wingdings" pitchFamily="2" charset="2"/>
              <a:buAutoNum type="arabicPeriod"/>
            </a:pPr>
            <a:r>
              <a:rPr lang="fa-IR" b="1" smtClean="0"/>
              <a:t>حذف کلمات و عبارات غیر لازم از هر جمله </a:t>
            </a:r>
          </a:p>
          <a:p>
            <a:pPr marL="609600" indent="-609600" algn="r" rtl="1" eaLnBrk="1" hangingPunct="1">
              <a:buFont typeface="Wingdings" pitchFamily="2" charset="2"/>
              <a:buAutoNum type="arabicPeriod"/>
            </a:pPr>
            <a:r>
              <a:rPr lang="fa-IR" b="1" smtClean="0"/>
              <a:t>ایجاد تعادل نسبی در اندازه های نوشتپارهای پی در پی</a:t>
            </a:r>
            <a:r>
              <a:rPr lang="fa-IR" smtClean="0"/>
              <a:t> </a:t>
            </a:r>
            <a:endParaRPr lang="en-US" smtClean="0"/>
          </a:p>
        </p:txBody>
      </p:sp>
      <p:sp>
        <p:nvSpPr>
          <p:cNvPr id="10854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روش کار در کنترل کمی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3"/>
          <p:cNvSpPr>
            <a:spLocks noGrp="1" noChangeArrowheads="1"/>
          </p:cNvSpPr>
          <p:nvPr>
            <p:ph idx="1"/>
          </p:nvPr>
        </p:nvSpPr>
        <p:spPr/>
        <p:txBody>
          <a:bodyPr/>
          <a:lstStyle/>
          <a:p>
            <a:pPr algn="justLow" rtl="1" eaLnBrk="1" hangingPunct="1">
              <a:buFont typeface="Wingdings" pitchFamily="2" charset="2"/>
              <a:buNone/>
            </a:pPr>
            <a:r>
              <a:rPr lang="fa-IR" b="1" smtClean="0"/>
              <a:t>کنترل کیفی را هم باید نوشتپار به نوشتپار انجام داد . این کنترل باید هم از نظر محتوایی و هم از نظر صوری انجام پذیرد .</a:t>
            </a:r>
            <a:endParaRPr lang="en-US" b="1" smtClean="0"/>
          </a:p>
        </p:txBody>
      </p:sp>
      <p:sp>
        <p:nvSpPr>
          <p:cNvPr id="10957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کنترل کیفی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3"/>
          <p:cNvSpPr>
            <a:spLocks noGrp="1" noChangeArrowheads="1"/>
          </p:cNvSpPr>
          <p:nvPr>
            <p:ph idx="1"/>
          </p:nvPr>
        </p:nvSpPr>
        <p:spPr>
          <a:xfrm>
            <a:off x="457200" y="981075"/>
            <a:ext cx="8229600" cy="5876925"/>
          </a:xfrm>
        </p:spPr>
        <p:txBody>
          <a:bodyPr/>
          <a:lstStyle/>
          <a:p>
            <a:pPr algn="r" rtl="1" eaLnBrk="1" hangingPunct="1">
              <a:lnSpc>
                <a:spcPct val="80000"/>
              </a:lnSpc>
            </a:pPr>
            <a:r>
              <a:rPr lang="fa-IR" sz="2000" b="1" smtClean="0"/>
              <a:t>اعتبار و دقت علمی – فنی </a:t>
            </a:r>
            <a:endParaRPr lang="en-US" sz="2000" smtClean="0"/>
          </a:p>
          <a:p>
            <a:pPr algn="r" rtl="1" eaLnBrk="1" hangingPunct="1">
              <a:lnSpc>
                <a:spcPct val="80000"/>
              </a:lnSpc>
            </a:pPr>
            <a:r>
              <a:rPr lang="fa-IR" sz="2000" b="1" smtClean="0"/>
              <a:t>وجود ارتباط معنایی و انسجام آنها بین نوشتپارهای پی در پی </a:t>
            </a:r>
            <a:endParaRPr lang="en-US" sz="2000" smtClean="0"/>
          </a:p>
          <a:p>
            <a:pPr algn="r" rtl="1" eaLnBrk="1" hangingPunct="1">
              <a:lnSpc>
                <a:spcPct val="80000"/>
              </a:lnSpc>
            </a:pPr>
            <a:r>
              <a:rPr lang="fa-IR" sz="2000" b="1" smtClean="0"/>
              <a:t>منطق مندی و صحت استدلالها </a:t>
            </a:r>
            <a:endParaRPr lang="en-US" sz="2000" smtClean="0"/>
          </a:p>
          <a:p>
            <a:pPr algn="r" rtl="1" eaLnBrk="1" hangingPunct="1">
              <a:lnSpc>
                <a:spcPct val="80000"/>
              </a:lnSpc>
            </a:pPr>
            <a:r>
              <a:rPr lang="fa-IR" sz="2000" b="1" smtClean="0"/>
              <a:t>انتخاب مناسب عنوان اصلی و عناوین داخلی </a:t>
            </a:r>
            <a:endParaRPr lang="en-US" sz="2000" smtClean="0"/>
          </a:p>
          <a:p>
            <a:pPr algn="r" rtl="1" eaLnBrk="1" hangingPunct="1">
              <a:lnSpc>
                <a:spcPct val="80000"/>
              </a:lnSpc>
            </a:pPr>
            <a:r>
              <a:rPr lang="fa-IR" sz="2000" b="1" smtClean="0"/>
              <a:t>رعایت ویژگیهای سبک و زبان متن علمی – فنی </a:t>
            </a:r>
            <a:endParaRPr lang="en-US" sz="2000" smtClean="0"/>
          </a:p>
          <a:p>
            <a:pPr algn="r" rtl="1" eaLnBrk="1" hangingPunct="1">
              <a:lnSpc>
                <a:spcPct val="80000"/>
              </a:lnSpc>
            </a:pPr>
            <a:r>
              <a:rPr lang="fa-IR" sz="2000" b="1" smtClean="0"/>
              <a:t>انتخاب درست و بجای کلمات </a:t>
            </a:r>
            <a:endParaRPr lang="en-US" sz="2000" smtClean="0"/>
          </a:p>
          <a:p>
            <a:pPr algn="r" rtl="1" eaLnBrk="1" hangingPunct="1">
              <a:lnSpc>
                <a:spcPct val="80000"/>
              </a:lnSpc>
            </a:pPr>
            <a:r>
              <a:rPr lang="fa-IR" sz="2000" b="1" smtClean="0"/>
              <a:t>وجود مقدمه مناسب </a:t>
            </a:r>
            <a:endParaRPr lang="en-US" sz="2000" smtClean="0"/>
          </a:p>
          <a:p>
            <a:pPr algn="r" rtl="1" eaLnBrk="1" hangingPunct="1">
              <a:lnSpc>
                <a:spcPct val="80000"/>
              </a:lnSpc>
            </a:pPr>
            <a:r>
              <a:rPr lang="fa-IR" sz="2000" b="1" smtClean="0"/>
              <a:t>رعایت آیین نگارش </a:t>
            </a:r>
            <a:endParaRPr lang="en-US" sz="2000" smtClean="0"/>
          </a:p>
          <a:p>
            <a:pPr algn="r" rtl="1" eaLnBrk="1" hangingPunct="1">
              <a:lnSpc>
                <a:spcPct val="80000"/>
              </a:lnSpc>
            </a:pPr>
            <a:r>
              <a:rPr lang="fa-IR" sz="2000" b="1" smtClean="0"/>
              <a:t>استفاده درست و به جا از علائم سجاوندی </a:t>
            </a:r>
            <a:endParaRPr lang="en-US" sz="2000" smtClean="0"/>
          </a:p>
          <a:p>
            <a:pPr algn="r" rtl="1" eaLnBrk="1" hangingPunct="1">
              <a:lnSpc>
                <a:spcPct val="80000"/>
              </a:lnSpc>
            </a:pPr>
            <a:r>
              <a:rPr lang="fa-IR" sz="2000" b="1" smtClean="0"/>
              <a:t>نوشتن درست ارقام و اعداد </a:t>
            </a:r>
            <a:endParaRPr lang="en-US" sz="2000" smtClean="0"/>
          </a:p>
          <a:p>
            <a:pPr algn="r" rtl="1" eaLnBrk="1" hangingPunct="1">
              <a:lnSpc>
                <a:spcPct val="80000"/>
              </a:lnSpc>
            </a:pPr>
            <a:r>
              <a:rPr lang="fa-IR" sz="2000" b="1" smtClean="0"/>
              <a:t>درج درست پانوشتها </a:t>
            </a:r>
            <a:endParaRPr lang="en-US" sz="2000" smtClean="0"/>
          </a:p>
          <a:p>
            <a:pPr algn="r" rtl="1" eaLnBrk="1" hangingPunct="1">
              <a:lnSpc>
                <a:spcPct val="80000"/>
              </a:lnSpc>
            </a:pPr>
            <a:r>
              <a:rPr lang="fa-IR" sz="2000" b="1" smtClean="0"/>
              <a:t>انتخاب معادل اصطلاحات بیگانه و نوشتن صحیح املای آنها </a:t>
            </a:r>
            <a:endParaRPr lang="en-US" sz="2000" smtClean="0"/>
          </a:p>
          <a:p>
            <a:pPr algn="r" rtl="1" eaLnBrk="1" hangingPunct="1">
              <a:lnSpc>
                <a:spcPct val="80000"/>
              </a:lnSpc>
            </a:pPr>
            <a:r>
              <a:rPr lang="fa-IR" sz="2000" b="1" smtClean="0"/>
              <a:t>درج صحیح نوشتپار منقول </a:t>
            </a:r>
            <a:endParaRPr lang="en-US" sz="2000" smtClean="0"/>
          </a:p>
          <a:p>
            <a:pPr algn="r" rtl="1" eaLnBrk="1" hangingPunct="1">
              <a:lnSpc>
                <a:spcPct val="80000"/>
              </a:lnSpc>
            </a:pPr>
            <a:r>
              <a:rPr lang="fa-IR" sz="2000" b="1" smtClean="0"/>
              <a:t>وضوح شکلها و جدولها </a:t>
            </a:r>
            <a:endParaRPr lang="en-US" sz="2000" smtClean="0"/>
          </a:p>
          <a:p>
            <a:pPr algn="r" rtl="1" eaLnBrk="1" hangingPunct="1">
              <a:lnSpc>
                <a:spcPct val="80000"/>
              </a:lnSpc>
            </a:pPr>
            <a:r>
              <a:rPr lang="fa-IR" sz="2000" b="1" smtClean="0"/>
              <a:t>انتخاب محل مناسب برای درج شکلها و جدولها </a:t>
            </a:r>
            <a:endParaRPr lang="en-US" sz="2000" smtClean="0"/>
          </a:p>
          <a:p>
            <a:pPr algn="r" rtl="1" eaLnBrk="1" hangingPunct="1">
              <a:lnSpc>
                <a:spcPct val="80000"/>
              </a:lnSpc>
            </a:pPr>
            <a:r>
              <a:rPr lang="fa-IR" sz="2000" b="1" smtClean="0"/>
              <a:t>مناسب بودن رسم الخط  </a:t>
            </a:r>
            <a:endParaRPr lang="en-US" sz="2000" smtClean="0"/>
          </a:p>
          <a:p>
            <a:pPr algn="r" rtl="1" eaLnBrk="1" hangingPunct="1">
              <a:lnSpc>
                <a:spcPct val="80000"/>
              </a:lnSpc>
            </a:pPr>
            <a:r>
              <a:rPr lang="fa-IR" sz="2000" b="1" smtClean="0"/>
              <a:t>نوشتن درست فرمولها ، واحدها ، مقیاس ها و کوته نوشتها </a:t>
            </a:r>
            <a:endParaRPr lang="en-US" sz="2000" smtClean="0"/>
          </a:p>
          <a:p>
            <a:pPr algn="r" rtl="1" eaLnBrk="1" hangingPunct="1">
              <a:lnSpc>
                <a:spcPct val="80000"/>
              </a:lnSpc>
            </a:pPr>
            <a:r>
              <a:rPr lang="fa-IR" sz="2000" b="1" smtClean="0"/>
              <a:t>رعایت حاشیه گذاری مناسب </a:t>
            </a:r>
            <a:endParaRPr lang="en-US" sz="2000" smtClean="0"/>
          </a:p>
          <a:p>
            <a:pPr algn="r" rtl="1" eaLnBrk="1" hangingPunct="1">
              <a:lnSpc>
                <a:spcPct val="80000"/>
              </a:lnSpc>
            </a:pPr>
            <a:r>
              <a:rPr lang="fa-IR" sz="2000" b="1" smtClean="0"/>
              <a:t>انتخاب رنگ های مناسب برای جوهر</a:t>
            </a:r>
            <a:r>
              <a:rPr lang="fa-IR" sz="2000" smtClean="0"/>
              <a:t> </a:t>
            </a:r>
            <a:endParaRPr lang="en-US" sz="2000" smtClean="0"/>
          </a:p>
        </p:txBody>
      </p:sp>
      <p:sp>
        <p:nvSpPr>
          <p:cNvPr id="110594" name="Rectangle 2"/>
          <p:cNvSpPr>
            <a:spLocks noGrp="1" noChangeArrowheads="1"/>
          </p:cNvSpPr>
          <p:nvPr>
            <p:ph type="title"/>
          </p:nvPr>
        </p:nvSpPr>
        <p:spPr>
          <a:xfrm>
            <a:off x="285720" y="333375"/>
            <a:ext cx="8715436" cy="703263"/>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2400" dirty="0" smtClean="0">
                <a:solidFill>
                  <a:srgbClr val="FF0000"/>
                </a:solidFill>
                <a:effectLst/>
                <a:cs typeface="B Titr" pitchFamily="2" charset="-78"/>
              </a:rPr>
              <a:t>جنبه هایی که در کنترل کیفی در مورد متون </a:t>
            </a:r>
            <a:r>
              <a:rPr lang="fa-IR" sz="2400" dirty="0" err="1" smtClean="0">
                <a:solidFill>
                  <a:srgbClr val="FF0000"/>
                </a:solidFill>
                <a:effectLst/>
                <a:cs typeface="B Titr" pitchFamily="2" charset="-78"/>
              </a:rPr>
              <a:t>علمی–</a:t>
            </a:r>
            <a:r>
              <a:rPr lang="fa-IR" sz="2400" dirty="0" smtClean="0">
                <a:solidFill>
                  <a:srgbClr val="FF0000"/>
                </a:solidFill>
                <a:effectLst/>
                <a:cs typeface="B Titr" pitchFamily="2" charset="-78"/>
              </a:rPr>
              <a:t> فنی  باید به آنها توجه کرد : </a:t>
            </a:r>
            <a:endParaRPr lang="en-US" sz="24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
          <p:cNvSpPr>
            <a:spLocks noGrp="1" noChangeArrowheads="1"/>
          </p:cNvSpPr>
          <p:nvPr>
            <p:ph idx="1"/>
          </p:nvPr>
        </p:nvSpPr>
        <p:spPr>
          <a:xfrm>
            <a:off x="457200" y="2420938"/>
            <a:ext cx="8229600" cy="3709987"/>
          </a:xfrm>
        </p:spPr>
        <p:txBody>
          <a:bodyPr/>
          <a:lstStyle/>
          <a:p>
            <a:pPr algn="r" rtl="1" eaLnBrk="1" hangingPunct="1"/>
            <a:r>
              <a:rPr lang="fa-IR" b="1" smtClean="0"/>
              <a:t>این افراد باید بصورت زیر انتخاب شوند :</a:t>
            </a:r>
            <a:endParaRPr lang="en-US" smtClean="0"/>
          </a:p>
          <a:p>
            <a:pPr algn="r" rtl="1" eaLnBrk="1" hangingPunct="1"/>
            <a:r>
              <a:rPr lang="fa-IR" b="1" smtClean="0"/>
              <a:t>فرد یا افرادی با خصوصیات مخاطب </a:t>
            </a:r>
            <a:endParaRPr lang="en-US" smtClean="0"/>
          </a:p>
          <a:p>
            <a:pPr algn="r" rtl="1" eaLnBrk="1" hangingPunct="1"/>
            <a:r>
              <a:rPr lang="fa-IR" b="1" smtClean="0"/>
              <a:t>یک یا چند نفر با معلومات همسطح با معلومات ارائه کننده در موضوع </a:t>
            </a:r>
            <a:endParaRPr lang="en-US" smtClean="0"/>
          </a:p>
          <a:p>
            <a:pPr algn="r" rtl="1" eaLnBrk="1" hangingPunct="1"/>
            <a:r>
              <a:rPr lang="fa-IR" b="1" smtClean="0"/>
              <a:t>یک یا چند نفر با معلوملت فراسطح معلومات ارائه کننده در موضوع</a:t>
            </a:r>
            <a:r>
              <a:rPr lang="fa-IR" smtClean="0"/>
              <a:t> </a:t>
            </a:r>
            <a:endParaRPr lang="en-US" smtClean="0"/>
          </a:p>
        </p:txBody>
      </p:sp>
      <p:sp>
        <p:nvSpPr>
          <p:cNvPr id="115714" name="Rectangle 2"/>
          <p:cNvSpPr>
            <a:spLocks noGrp="1" noChangeArrowheads="1"/>
          </p:cNvSpPr>
          <p:nvPr>
            <p:ph type="title"/>
          </p:nvPr>
        </p:nvSpPr>
        <p:spPr>
          <a:xfrm>
            <a:off x="1331913" y="350838"/>
            <a:ext cx="7354887" cy="1782762"/>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2800" dirty="0" smtClean="0">
                <a:solidFill>
                  <a:srgbClr val="FF0000"/>
                </a:solidFill>
                <a:effectLst/>
                <a:cs typeface="B Titr" pitchFamily="2" charset="-78"/>
              </a:rPr>
              <a:t>پس از کنترل کمی و کیفی پیش </a:t>
            </a:r>
            <a:r>
              <a:rPr lang="fa-IR" sz="2800" dirty="0" err="1" smtClean="0">
                <a:solidFill>
                  <a:srgbClr val="FF0000"/>
                </a:solidFill>
                <a:effectLst/>
                <a:cs typeface="B Titr" pitchFamily="2" charset="-78"/>
              </a:rPr>
              <a:t>نویس</a:t>
            </a:r>
            <a:r>
              <a:rPr lang="fa-IR" sz="2800" dirty="0" smtClean="0">
                <a:solidFill>
                  <a:srgbClr val="FF0000"/>
                </a:solidFill>
                <a:effectLst/>
                <a:cs typeface="B Titr" pitchFamily="2" charset="-78"/>
              </a:rPr>
              <a:t>  اولین نسخه متن اصلی را آماده می کنیم اما بهتر است در این مرحله متن را جهت مطالعه و اظهارنظر به افراد دیگر داد .</a:t>
            </a:r>
            <a:endParaRPr lang="en-US" sz="28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 Box 4">
            <a:hlinkClick r:id="rId2" action="ppaction://hlinksldjump"/>
          </p:cNvPr>
          <p:cNvSpPr txBox="1">
            <a:spLocks noChangeArrowheads="1"/>
          </p:cNvSpPr>
          <p:nvPr/>
        </p:nvSpPr>
        <p:spPr bwMode="auto">
          <a:xfrm>
            <a:off x="1619250" y="2420938"/>
            <a:ext cx="5903913" cy="1446550"/>
          </a:xfrm>
          <a:prstGeom prst="rect">
            <a:avLst/>
          </a:prstGeom>
          <a:noFill/>
          <a:ln w="9525">
            <a:noFill/>
            <a:miter lim="800000"/>
            <a:headEnd/>
            <a:tailEnd/>
          </a:ln>
        </p:spPr>
        <p:txBody>
          <a:bodyPr>
            <a:spAutoFit/>
          </a:bodyPr>
          <a:lstStyle/>
          <a:p>
            <a:pPr rtl="1"/>
            <a:r>
              <a:rPr lang="fa-IR" sz="4400" dirty="0">
                <a:solidFill>
                  <a:srgbClr val="0070C0"/>
                </a:solidFill>
                <a:cs typeface="B Titr" panose="00000700000000000000" pitchFamily="2" charset="-78"/>
              </a:rPr>
              <a:t>اجزاء سه </a:t>
            </a:r>
            <a:r>
              <a:rPr lang="fa-IR" sz="4400" dirty="0" err="1">
                <a:solidFill>
                  <a:srgbClr val="0070C0"/>
                </a:solidFill>
                <a:cs typeface="B Titr" panose="00000700000000000000" pitchFamily="2" charset="-78"/>
              </a:rPr>
              <a:t>بخشي</a:t>
            </a:r>
            <a:r>
              <a:rPr lang="fa-IR" sz="4400" dirty="0">
                <a:solidFill>
                  <a:srgbClr val="0070C0"/>
                </a:solidFill>
                <a:cs typeface="B Titr" panose="00000700000000000000" pitchFamily="2" charset="-78"/>
              </a:rPr>
              <a:t> </a:t>
            </a:r>
            <a:r>
              <a:rPr lang="fa-IR" sz="4400" dirty="0" err="1">
                <a:solidFill>
                  <a:srgbClr val="0070C0"/>
                </a:solidFill>
                <a:cs typeface="B Titr" panose="00000700000000000000" pitchFamily="2" charset="-78"/>
              </a:rPr>
              <a:t>يك</a:t>
            </a:r>
            <a:r>
              <a:rPr lang="fa-IR" sz="4400" dirty="0">
                <a:solidFill>
                  <a:srgbClr val="0070C0"/>
                </a:solidFill>
                <a:cs typeface="B Titr" panose="00000700000000000000" pitchFamily="2" charset="-78"/>
              </a:rPr>
              <a:t> ارائه </a:t>
            </a:r>
            <a:r>
              <a:rPr lang="fa-IR" sz="4400" dirty="0" err="1">
                <a:solidFill>
                  <a:srgbClr val="0070C0"/>
                </a:solidFill>
                <a:cs typeface="B Titr" panose="00000700000000000000" pitchFamily="2" charset="-78"/>
              </a:rPr>
              <a:t>كتبي</a:t>
            </a:r>
            <a:endParaRPr lang="en-US" sz="4400" dirty="0">
              <a:solidFill>
                <a:srgbClr val="0070C0"/>
              </a:solidFill>
              <a:cs typeface="B Titr" panose="00000700000000000000" pitchFamily="2" charset="-78"/>
            </a:endParaRPr>
          </a:p>
        </p:txBody>
      </p:sp>
    </p:spTree>
  </p:cSld>
  <p:clrMapOvr>
    <a:masterClrMapping/>
  </p:clrMapOvr>
  <p:transition spd="med">
    <p:wipe dir="d"/>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3"/>
          <p:cNvSpPr>
            <a:spLocks noGrp="1" noChangeArrowheads="1"/>
          </p:cNvSpPr>
          <p:nvPr>
            <p:ph idx="1"/>
          </p:nvPr>
        </p:nvSpPr>
        <p:spPr>
          <a:xfrm>
            <a:off x="457200" y="2565400"/>
            <a:ext cx="8229600" cy="3565525"/>
          </a:xfrm>
        </p:spPr>
        <p:txBody>
          <a:bodyPr/>
          <a:lstStyle/>
          <a:p>
            <a:pPr algn="justLow" rtl="1" eaLnBrk="1" hangingPunct="1"/>
            <a:r>
              <a:rPr lang="fa-IR" b="1" dirty="0" smtClean="0">
                <a:solidFill>
                  <a:srgbClr val="0070C0"/>
                </a:solidFill>
              </a:rPr>
              <a:t>به تعدادی </a:t>
            </a:r>
            <a:r>
              <a:rPr lang="fa-IR" b="1" dirty="0" err="1" smtClean="0">
                <a:solidFill>
                  <a:srgbClr val="0070C0"/>
                </a:solidFill>
              </a:rPr>
              <a:t>نوشتپار</a:t>
            </a:r>
            <a:r>
              <a:rPr lang="fa-IR" b="1" dirty="0" smtClean="0">
                <a:solidFill>
                  <a:srgbClr val="0070C0"/>
                </a:solidFill>
              </a:rPr>
              <a:t> ذیل داخلی ترین عنوان در یک شاخه از طرح اولیه بند یا متن پار گوییم . متن پار </a:t>
            </a:r>
            <a:r>
              <a:rPr lang="fa-IR" b="1" dirty="0" err="1" smtClean="0">
                <a:solidFill>
                  <a:srgbClr val="0070C0"/>
                </a:solidFill>
              </a:rPr>
              <a:t>کمیتی</a:t>
            </a:r>
            <a:r>
              <a:rPr lang="fa-IR" b="1" dirty="0" smtClean="0">
                <a:solidFill>
                  <a:srgbClr val="0070C0"/>
                </a:solidFill>
              </a:rPr>
              <a:t> از  متن است که خود یک عنوان دارد </a:t>
            </a:r>
            <a:r>
              <a:rPr lang="fa-IR" b="1" dirty="0" err="1" smtClean="0">
                <a:solidFill>
                  <a:srgbClr val="0070C0"/>
                </a:solidFill>
              </a:rPr>
              <a:t>ودر</a:t>
            </a:r>
            <a:r>
              <a:rPr lang="fa-IR" b="1" dirty="0" smtClean="0">
                <a:solidFill>
                  <a:srgbClr val="0070C0"/>
                </a:solidFill>
              </a:rPr>
              <a:t> درونش دیگر عنوانی وجود ندارد و از تعدادی </a:t>
            </a:r>
            <a:r>
              <a:rPr lang="fa-IR" b="1" dirty="0" err="1" smtClean="0">
                <a:solidFill>
                  <a:srgbClr val="0070C0"/>
                </a:solidFill>
              </a:rPr>
              <a:t>نوشتپار</a:t>
            </a:r>
            <a:r>
              <a:rPr lang="fa-IR" b="1" dirty="0" smtClean="0">
                <a:solidFill>
                  <a:srgbClr val="0070C0"/>
                </a:solidFill>
              </a:rPr>
              <a:t> تشکیل شده است .</a:t>
            </a:r>
            <a:endParaRPr lang="en-US" b="1" dirty="0" smtClean="0">
              <a:solidFill>
                <a:srgbClr val="0070C0"/>
              </a:solidFill>
            </a:endParaRPr>
          </a:p>
        </p:txBody>
      </p:sp>
      <p:sp>
        <p:nvSpPr>
          <p:cNvPr id="111618" name="Rectangle 2"/>
          <p:cNvSpPr>
            <a:spLocks noGrp="1" noChangeArrowheads="1"/>
          </p:cNvSpPr>
          <p:nvPr>
            <p:ph type="title"/>
          </p:nvPr>
        </p:nvSpPr>
        <p:spPr>
          <a:xfrm>
            <a:off x="457200" y="277813"/>
            <a:ext cx="8229600" cy="1998662"/>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بند  یا متن پار ( </a:t>
            </a:r>
            <a:r>
              <a:rPr lang="en-US" smtClean="0">
                <a:solidFill>
                  <a:srgbClr val="FF0000"/>
                </a:solidFill>
                <a:effectLst/>
                <a:cs typeface="B Titr" pitchFamily="2" charset="-78"/>
              </a:rPr>
              <a:t>clause</a:t>
            </a:r>
            <a:r>
              <a:rPr lang="fa-IR" smtClean="0">
                <a:solidFill>
                  <a:srgbClr val="FF0000"/>
                </a:solidFill>
                <a:effectLst/>
                <a:cs typeface="B Titr" pitchFamily="2" charset="-78"/>
              </a:rPr>
              <a:t>)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4"/>
          <p:cNvSpPr>
            <a:spLocks noChangeArrowheads="1"/>
          </p:cNvSpPr>
          <p:nvPr/>
        </p:nvSpPr>
        <p:spPr bwMode="auto">
          <a:xfrm>
            <a:off x="3500438" y="112713"/>
            <a:ext cx="1720850" cy="466725"/>
          </a:xfrm>
          <a:prstGeom prst="rect">
            <a:avLst/>
          </a:prstGeom>
          <a:solidFill>
            <a:schemeClr val="accent1"/>
          </a:solidFill>
          <a:ln w="9525" algn="ctr">
            <a:solidFill>
              <a:schemeClr val="tx1"/>
            </a:solidFill>
            <a:miter lim="800000"/>
            <a:headEnd/>
            <a:tailEnd/>
          </a:ln>
        </p:spPr>
        <p:txBody>
          <a:bodyPr wrap="none" anchor="ctr">
            <a:spAutoFit/>
          </a:bodyPr>
          <a:lstStyle/>
          <a:p>
            <a:r>
              <a:rPr lang="fa-IR" sz="2400"/>
              <a:t>نوشتپار مقدمه </a:t>
            </a:r>
            <a:endParaRPr lang="en-US" sz="2400"/>
          </a:p>
        </p:txBody>
      </p:sp>
      <p:sp>
        <p:nvSpPr>
          <p:cNvPr id="106499" name="Rectangle 5"/>
          <p:cNvSpPr>
            <a:spLocks noChangeArrowheads="1"/>
          </p:cNvSpPr>
          <p:nvPr/>
        </p:nvSpPr>
        <p:spPr bwMode="auto">
          <a:xfrm>
            <a:off x="3611563" y="1238250"/>
            <a:ext cx="1493837" cy="466725"/>
          </a:xfrm>
          <a:prstGeom prst="rect">
            <a:avLst/>
          </a:prstGeom>
          <a:solidFill>
            <a:schemeClr val="accent1"/>
          </a:solidFill>
          <a:ln w="9525" algn="ctr">
            <a:solidFill>
              <a:schemeClr val="tx1"/>
            </a:solidFill>
            <a:miter lim="800000"/>
            <a:headEnd/>
            <a:tailEnd/>
          </a:ln>
        </p:spPr>
        <p:txBody>
          <a:bodyPr wrap="none" anchor="ctr">
            <a:spAutoFit/>
          </a:bodyPr>
          <a:lstStyle/>
          <a:p>
            <a:r>
              <a:rPr lang="fa-IR" sz="2400"/>
              <a:t>نوشتپار رابط</a:t>
            </a:r>
            <a:endParaRPr lang="en-US" sz="2400"/>
          </a:p>
        </p:txBody>
      </p:sp>
      <p:sp>
        <p:nvSpPr>
          <p:cNvPr id="106500" name="Rectangle 6"/>
          <p:cNvSpPr>
            <a:spLocks noChangeArrowheads="1"/>
          </p:cNvSpPr>
          <p:nvPr/>
        </p:nvSpPr>
        <p:spPr bwMode="auto">
          <a:xfrm>
            <a:off x="3502025" y="2533650"/>
            <a:ext cx="1857375" cy="466725"/>
          </a:xfrm>
          <a:prstGeom prst="rect">
            <a:avLst/>
          </a:prstGeom>
          <a:solidFill>
            <a:schemeClr val="accent1"/>
          </a:solidFill>
          <a:ln w="9525" algn="ctr">
            <a:solidFill>
              <a:schemeClr val="tx1"/>
            </a:solidFill>
            <a:miter lim="800000"/>
            <a:headEnd/>
            <a:tailEnd/>
          </a:ln>
        </p:spPr>
        <p:txBody>
          <a:bodyPr wrap="none" anchor="ctr">
            <a:spAutoFit/>
          </a:bodyPr>
          <a:lstStyle/>
          <a:p>
            <a:r>
              <a:rPr lang="fa-IR" sz="2400"/>
              <a:t>نوشتپار اصلي 1</a:t>
            </a:r>
            <a:endParaRPr lang="en-US" sz="2400"/>
          </a:p>
        </p:txBody>
      </p:sp>
      <p:sp>
        <p:nvSpPr>
          <p:cNvPr id="106501" name="Rectangle 7"/>
          <p:cNvSpPr>
            <a:spLocks noChangeArrowheads="1"/>
          </p:cNvSpPr>
          <p:nvPr/>
        </p:nvSpPr>
        <p:spPr bwMode="auto">
          <a:xfrm>
            <a:off x="3400425" y="5054600"/>
            <a:ext cx="1770063" cy="466725"/>
          </a:xfrm>
          <a:prstGeom prst="rect">
            <a:avLst/>
          </a:prstGeom>
          <a:solidFill>
            <a:schemeClr val="accent1"/>
          </a:solidFill>
          <a:ln w="9525" algn="ctr">
            <a:solidFill>
              <a:schemeClr val="tx1"/>
            </a:solidFill>
            <a:miter lim="800000"/>
            <a:headEnd/>
            <a:tailEnd/>
          </a:ln>
        </p:spPr>
        <p:txBody>
          <a:bodyPr wrap="none" anchor="ctr">
            <a:spAutoFit/>
          </a:bodyPr>
          <a:lstStyle/>
          <a:p>
            <a:pPr rtl="1"/>
            <a:r>
              <a:rPr lang="fa-IR" sz="2400"/>
              <a:t>نوشتپار اصلي </a:t>
            </a:r>
            <a:r>
              <a:rPr lang="en-US" sz="2400"/>
              <a:t>i</a:t>
            </a:r>
          </a:p>
        </p:txBody>
      </p:sp>
      <p:sp>
        <p:nvSpPr>
          <p:cNvPr id="106502" name="Rectangle 8"/>
          <p:cNvSpPr>
            <a:spLocks noChangeArrowheads="1"/>
          </p:cNvSpPr>
          <p:nvPr/>
        </p:nvSpPr>
        <p:spPr bwMode="auto">
          <a:xfrm>
            <a:off x="3482975" y="6278563"/>
            <a:ext cx="1604963" cy="466725"/>
          </a:xfrm>
          <a:prstGeom prst="rect">
            <a:avLst/>
          </a:prstGeom>
          <a:solidFill>
            <a:schemeClr val="accent1"/>
          </a:solidFill>
          <a:ln w="9525" algn="ctr">
            <a:solidFill>
              <a:schemeClr val="tx1"/>
            </a:solidFill>
            <a:miter lim="800000"/>
            <a:headEnd/>
            <a:tailEnd/>
          </a:ln>
        </p:spPr>
        <p:txBody>
          <a:bodyPr wrap="none" anchor="ctr">
            <a:spAutoFit/>
          </a:bodyPr>
          <a:lstStyle/>
          <a:p>
            <a:r>
              <a:rPr lang="ar-SA" sz="2400"/>
              <a:t>نوشتذار نتيجه</a:t>
            </a:r>
            <a:endParaRPr lang="en-US" sz="2400"/>
          </a:p>
        </p:txBody>
      </p:sp>
      <p:sp>
        <p:nvSpPr>
          <p:cNvPr id="106503" name="Line 9"/>
          <p:cNvSpPr>
            <a:spLocks noChangeShapeType="1"/>
          </p:cNvSpPr>
          <p:nvPr/>
        </p:nvSpPr>
        <p:spPr bwMode="auto">
          <a:xfrm>
            <a:off x="4356100" y="692150"/>
            <a:ext cx="0" cy="433388"/>
          </a:xfrm>
          <a:prstGeom prst="line">
            <a:avLst/>
          </a:prstGeom>
          <a:noFill/>
          <a:ln w="9525">
            <a:solidFill>
              <a:schemeClr val="tx1"/>
            </a:solidFill>
            <a:round/>
            <a:headEnd/>
            <a:tailEnd/>
          </a:ln>
        </p:spPr>
        <p:txBody>
          <a:bodyPr wrap="none">
            <a:spAutoFit/>
          </a:bodyPr>
          <a:lstStyle/>
          <a:p>
            <a:endParaRPr lang="en-US"/>
          </a:p>
        </p:txBody>
      </p:sp>
      <p:sp>
        <p:nvSpPr>
          <p:cNvPr id="106504" name="Line 10"/>
          <p:cNvSpPr>
            <a:spLocks noChangeShapeType="1"/>
          </p:cNvSpPr>
          <p:nvPr/>
        </p:nvSpPr>
        <p:spPr bwMode="auto">
          <a:xfrm>
            <a:off x="4356100" y="1844675"/>
            <a:ext cx="0" cy="576263"/>
          </a:xfrm>
          <a:prstGeom prst="line">
            <a:avLst/>
          </a:prstGeom>
          <a:noFill/>
          <a:ln w="9525">
            <a:solidFill>
              <a:schemeClr val="tx1"/>
            </a:solidFill>
            <a:round/>
            <a:headEnd/>
            <a:tailEnd/>
          </a:ln>
        </p:spPr>
        <p:txBody>
          <a:bodyPr wrap="none">
            <a:spAutoFit/>
          </a:bodyPr>
          <a:lstStyle/>
          <a:p>
            <a:endParaRPr lang="en-US"/>
          </a:p>
        </p:txBody>
      </p:sp>
      <p:sp>
        <p:nvSpPr>
          <p:cNvPr id="106505" name="Line 11"/>
          <p:cNvSpPr>
            <a:spLocks noChangeShapeType="1"/>
          </p:cNvSpPr>
          <p:nvPr/>
        </p:nvSpPr>
        <p:spPr bwMode="auto">
          <a:xfrm>
            <a:off x="4356100" y="3141663"/>
            <a:ext cx="0" cy="431800"/>
          </a:xfrm>
          <a:prstGeom prst="line">
            <a:avLst/>
          </a:prstGeom>
          <a:noFill/>
          <a:ln w="9525">
            <a:solidFill>
              <a:schemeClr val="tx1"/>
            </a:solidFill>
            <a:round/>
            <a:headEnd/>
            <a:tailEnd/>
          </a:ln>
        </p:spPr>
        <p:txBody>
          <a:bodyPr wrap="none">
            <a:spAutoFit/>
          </a:bodyPr>
          <a:lstStyle/>
          <a:p>
            <a:endParaRPr lang="en-US"/>
          </a:p>
        </p:txBody>
      </p:sp>
      <p:sp>
        <p:nvSpPr>
          <p:cNvPr id="106506" name="Line 12"/>
          <p:cNvSpPr>
            <a:spLocks noChangeShapeType="1"/>
          </p:cNvSpPr>
          <p:nvPr/>
        </p:nvSpPr>
        <p:spPr bwMode="auto">
          <a:xfrm>
            <a:off x="4356100" y="4292600"/>
            <a:ext cx="0" cy="649288"/>
          </a:xfrm>
          <a:prstGeom prst="line">
            <a:avLst/>
          </a:prstGeom>
          <a:noFill/>
          <a:ln w="9525">
            <a:solidFill>
              <a:schemeClr val="tx1"/>
            </a:solidFill>
            <a:round/>
            <a:headEnd/>
            <a:tailEnd/>
          </a:ln>
        </p:spPr>
        <p:txBody>
          <a:bodyPr wrap="none">
            <a:spAutoFit/>
          </a:bodyPr>
          <a:lstStyle/>
          <a:p>
            <a:endParaRPr lang="en-US"/>
          </a:p>
        </p:txBody>
      </p:sp>
      <p:sp>
        <p:nvSpPr>
          <p:cNvPr id="106507" name="Line 13"/>
          <p:cNvSpPr>
            <a:spLocks noChangeShapeType="1"/>
          </p:cNvSpPr>
          <p:nvPr/>
        </p:nvSpPr>
        <p:spPr bwMode="auto">
          <a:xfrm>
            <a:off x="4356100" y="5661025"/>
            <a:ext cx="0" cy="504825"/>
          </a:xfrm>
          <a:prstGeom prst="line">
            <a:avLst/>
          </a:prstGeom>
          <a:noFill/>
          <a:ln w="9525">
            <a:solidFill>
              <a:schemeClr val="tx1"/>
            </a:solidFill>
            <a:round/>
            <a:headEnd/>
            <a:tailEnd/>
          </a:ln>
        </p:spPr>
        <p:txBody>
          <a:bodyPr wrap="none">
            <a:spAutoFit/>
          </a:bodyPr>
          <a:lstStyle/>
          <a:p>
            <a:endParaRPr lang="en-US"/>
          </a:p>
        </p:txBody>
      </p:sp>
      <p:sp>
        <p:nvSpPr>
          <p:cNvPr id="106508" name="Line 14"/>
          <p:cNvSpPr>
            <a:spLocks noChangeShapeType="1"/>
          </p:cNvSpPr>
          <p:nvPr/>
        </p:nvSpPr>
        <p:spPr bwMode="auto">
          <a:xfrm>
            <a:off x="4356100" y="3573463"/>
            <a:ext cx="0" cy="719137"/>
          </a:xfrm>
          <a:prstGeom prst="line">
            <a:avLst/>
          </a:prstGeom>
          <a:noFill/>
          <a:ln w="6350">
            <a:solidFill>
              <a:schemeClr val="tx1"/>
            </a:solidFill>
            <a:prstDash val="sysDot"/>
            <a:round/>
            <a:headEnd/>
            <a:tailEnd/>
          </a:ln>
        </p:spPr>
        <p:txBody>
          <a:bodyPr wrap="none">
            <a:spAutoFit/>
          </a:bodyPr>
          <a:lstStyle/>
          <a:p>
            <a:endParaRPr lang="en-US"/>
          </a:p>
        </p:txBody>
      </p:sp>
    </p:spTree>
  </p:cSld>
  <p:clrMapOvr>
    <a:masterClrMapping/>
  </p:clrMapOvr>
  <p:transition spd="med">
    <p:wipe dir="d"/>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3"/>
          <p:cNvSpPr>
            <a:spLocks noGrp="1" noChangeArrowheads="1"/>
          </p:cNvSpPr>
          <p:nvPr>
            <p:ph idx="1"/>
          </p:nvPr>
        </p:nvSpPr>
        <p:spPr/>
        <p:txBody>
          <a:bodyPr/>
          <a:lstStyle/>
          <a:p>
            <a:pPr algn="justLow" rtl="1" eaLnBrk="1" hangingPunct="1">
              <a:buFont typeface="Wingdings" pitchFamily="2" charset="2"/>
              <a:buNone/>
            </a:pPr>
            <a:r>
              <a:rPr lang="fa-IR" b="1" smtClean="0"/>
              <a:t>متن پار ممکن است مرکب باشد یعنی چند متن پار در درون خود داشته باشد . در شکل زیر ساختار متن پار مرکب نشان داده شده است . می توان متن پار مرکب را متن بخش نامید .</a:t>
            </a:r>
            <a:endParaRPr lang="en-US" b="1" smtClean="0"/>
          </a:p>
        </p:txBody>
      </p:sp>
      <p:sp>
        <p:nvSpPr>
          <p:cNvPr id="11776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متن پار مرکب یا متن بخش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4"/>
          <p:cNvSpPr>
            <a:spLocks noChangeArrowheads="1"/>
          </p:cNvSpPr>
          <p:nvPr/>
        </p:nvSpPr>
        <p:spPr bwMode="auto">
          <a:xfrm>
            <a:off x="1331913" y="1196975"/>
            <a:ext cx="6696075" cy="5661025"/>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108547" name="Rectangle 5"/>
          <p:cNvSpPr>
            <a:spLocks noChangeArrowheads="1"/>
          </p:cNvSpPr>
          <p:nvPr/>
        </p:nvSpPr>
        <p:spPr bwMode="auto">
          <a:xfrm>
            <a:off x="3779838" y="2420938"/>
            <a:ext cx="1697037" cy="650875"/>
          </a:xfrm>
          <a:prstGeom prst="rect">
            <a:avLst/>
          </a:prstGeom>
          <a:solidFill>
            <a:schemeClr val="accent1"/>
          </a:solidFill>
          <a:ln w="9525" algn="ctr">
            <a:solidFill>
              <a:schemeClr val="tx1"/>
            </a:solidFill>
            <a:miter lim="800000"/>
            <a:headEnd/>
            <a:tailEnd/>
          </a:ln>
        </p:spPr>
        <p:txBody>
          <a:bodyPr wrap="none" anchor="ctr">
            <a:spAutoFit/>
          </a:bodyPr>
          <a:lstStyle/>
          <a:p>
            <a:r>
              <a:rPr lang="ar-SA" sz="3600"/>
              <a:t>متن </a:t>
            </a:r>
            <a:r>
              <a:rPr lang="fa-IR" sz="3600"/>
              <a:t>پار</a:t>
            </a:r>
            <a:r>
              <a:rPr lang="ar-SA" sz="3600"/>
              <a:t> 1</a:t>
            </a:r>
            <a:endParaRPr lang="en-US" sz="3600"/>
          </a:p>
        </p:txBody>
      </p:sp>
      <p:sp>
        <p:nvSpPr>
          <p:cNvPr id="108548" name="Rectangle 7"/>
          <p:cNvSpPr>
            <a:spLocks noChangeArrowheads="1"/>
          </p:cNvSpPr>
          <p:nvPr/>
        </p:nvSpPr>
        <p:spPr bwMode="auto">
          <a:xfrm>
            <a:off x="3492500" y="5516563"/>
            <a:ext cx="2328863" cy="1076325"/>
          </a:xfrm>
          <a:prstGeom prst="rect">
            <a:avLst/>
          </a:prstGeom>
          <a:solidFill>
            <a:schemeClr val="accent1"/>
          </a:solidFill>
          <a:ln w="9525" algn="ctr">
            <a:solidFill>
              <a:schemeClr val="tx1"/>
            </a:solidFill>
            <a:miter lim="800000"/>
            <a:headEnd/>
            <a:tailEnd/>
          </a:ln>
        </p:spPr>
        <p:txBody>
          <a:bodyPr anchor="ctr">
            <a:spAutoFit/>
          </a:bodyPr>
          <a:lstStyle/>
          <a:p>
            <a:pPr rtl="1"/>
            <a:r>
              <a:rPr lang="ar-SA" sz="3200"/>
              <a:t>متن </a:t>
            </a:r>
            <a:r>
              <a:rPr lang="fa-IR" sz="3200"/>
              <a:t>پار</a:t>
            </a:r>
            <a:r>
              <a:rPr lang="ar-SA" sz="3200"/>
              <a:t> </a:t>
            </a:r>
            <a:r>
              <a:rPr lang="en-US" sz="3200"/>
              <a:t>i</a:t>
            </a:r>
          </a:p>
          <a:p>
            <a:endParaRPr lang="en-US" sz="3200" b="0"/>
          </a:p>
        </p:txBody>
      </p:sp>
      <p:sp>
        <p:nvSpPr>
          <p:cNvPr id="108549" name="Line 9"/>
          <p:cNvSpPr>
            <a:spLocks noChangeShapeType="1"/>
          </p:cNvSpPr>
          <p:nvPr/>
        </p:nvSpPr>
        <p:spPr bwMode="auto">
          <a:xfrm>
            <a:off x="4572000" y="3068638"/>
            <a:ext cx="0" cy="2016125"/>
          </a:xfrm>
          <a:prstGeom prst="line">
            <a:avLst/>
          </a:prstGeom>
          <a:noFill/>
          <a:ln w="0">
            <a:solidFill>
              <a:srgbClr val="FFFF00"/>
            </a:solidFill>
            <a:prstDash val="lgDashDotDot"/>
            <a:round/>
            <a:headEnd/>
            <a:tailEnd/>
          </a:ln>
        </p:spPr>
        <p:txBody>
          <a:bodyPr wrap="none">
            <a:spAutoFit/>
          </a:bodyPr>
          <a:lstStyle/>
          <a:p>
            <a:endParaRPr lang="en-US"/>
          </a:p>
        </p:txBody>
      </p:sp>
      <p:sp>
        <p:nvSpPr>
          <p:cNvPr id="108550" name="Rectangle 10"/>
          <p:cNvSpPr>
            <a:spLocks noChangeArrowheads="1"/>
          </p:cNvSpPr>
          <p:nvPr/>
        </p:nvSpPr>
        <p:spPr bwMode="auto">
          <a:xfrm>
            <a:off x="5330825" y="1452563"/>
            <a:ext cx="1577975" cy="711200"/>
          </a:xfrm>
          <a:prstGeom prst="rect">
            <a:avLst/>
          </a:prstGeom>
          <a:solidFill>
            <a:schemeClr val="accent1"/>
          </a:solidFill>
          <a:ln w="9525" algn="ctr">
            <a:solidFill>
              <a:schemeClr val="accent1"/>
            </a:solidFill>
            <a:miter lim="800000"/>
            <a:headEnd/>
            <a:tailEnd/>
          </a:ln>
        </p:spPr>
        <p:txBody>
          <a:bodyPr anchor="ctr">
            <a:spAutoFit/>
          </a:bodyPr>
          <a:lstStyle/>
          <a:p>
            <a:r>
              <a:rPr lang="ar-SA" sz="2000"/>
              <a:t>عنوان</a:t>
            </a:r>
            <a:r>
              <a:rPr lang="fa-IR" sz="2000"/>
              <a:t> د</a:t>
            </a:r>
            <a:r>
              <a:rPr lang="ar-SA" sz="2000"/>
              <a:t>اخلي</a:t>
            </a:r>
            <a:r>
              <a:rPr lang="fa-IR" sz="2000"/>
              <a:t> تر</a:t>
            </a:r>
            <a:r>
              <a:rPr lang="ar-SA" sz="2000"/>
              <a:t> </a:t>
            </a:r>
            <a:endParaRPr lang="en-US" sz="2000"/>
          </a:p>
          <a:p>
            <a:endParaRPr lang="en-US" sz="2000"/>
          </a:p>
        </p:txBody>
      </p:sp>
      <p:sp>
        <p:nvSpPr>
          <p:cNvPr id="108551" name="Rectangle 11"/>
          <p:cNvSpPr>
            <a:spLocks noChangeArrowheads="1"/>
          </p:cNvSpPr>
          <p:nvPr/>
        </p:nvSpPr>
        <p:spPr bwMode="auto">
          <a:xfrm>
            <a:off x="6011863" y="333375"/>
            <a:ext cx="1784350" cy="528638"/>
          </a:xfrm>
          <a:prstGeom prst="rect">
            <a:avLst/>
          </a:prstGeom>
          <a:solidFill>
            <a:srgbClr val="0000FF"/>
          </a:solidFill>
          <a:ln w="9525" algn="ctr">
            <a:solidFill>
              <a:schemeClr val="bg1"/>
            </a:solidFill>
            <a:miter lim="800000"/>
            <a:headEnd/>
            <a:tailEnd/>
          </a:ln>
        </p:spPr>
        <p:txBody>
          <a:bodyPr wrap="none" anchor="ctr">
            <a:spAutoFit/>
          </a:bodyPr>
          <a:lstStyle/>
          <a:p>
            <a:r>
              <a:rPr lang="ar-SA" sz="2800">
                <a:solidFill>
                  <a:schemeClr val="tx1"/>
                </a:solidFill>
              </a:rPr>
              <a:t>عنوان</a:t>
            </a:r>
            <a:r>
              <a:rPr lang="fa-IR" sz="2800">
                <a:solidFill>
                  <a:schemeClr val="tx1"/>
                </a:solidFill>
              </a:rPr>
              <a:t> د</a:t>
            </a:r>
            <a:r>
              <a:rPr lang="ar-SA" sz="2800">
                <a:solidFill>
                  <a:schemeClr val="tx1"/>
                </a:solidFill>
              </a:rPr>
              <a:t>اخلي</a:t>
            </a:r>
            <a:r>
              <a:rPr lang="ar-SA" sz="2800"/>
              <a:t> </a:t>
            </a:r>
            <a:endParaRPr lang="en-US" sz="2800"/>
          </a:p>
        </p:txBody>
      </p:sp>
      <p:sp>
        <p:nvSpPr>
          <p:cNvPr id="108552" name="Rectangle 12"/>
          <p:cNvSpPr>
            <a:spLocks noChangeArrowheads="1"/>
          </p:cNvSpPr>
          <p:nvPr/>
        </p:nvSpPr>
        <p:spPr bwMode="auto">
          <a:xfrm>
            <a:off x="5364163" y="4652963"/>
            <a:ext cx="1577975" cy="711200"/>
          </a:xfrm>
          <a:prstGeom prst="rect">
            <a:avLst/>
          </a:prstGeom>
          <a:solidFill>
            <a:schemeClr val="accent1"/>
          </a:solidFill>
          <a:ln w="9525" algn="ctr">
            <a:solidFill>
              <a:schemeClr val="accent1"/>
            </a:solidFill>
            <a:miter lim="800000"/>
            <a:headEnd/>
            <a:tailEnd/>
          </a:ln>
        </p:spPr>
        <p:txBody>
          <a:bodyPr anchor="ctr">
            <a:spAutoFit/>
          </a:bodyPr>
          <a:lstStyle/>
          <a:p>
            <a:r>
              <a:rPr lang="ar-SA" sz="2000"/>
              <a:t>عنوان</a:t>
            </a:r>
            <a:r>
              <a:rPr lang="fa-IR" sz="2000"/>
              <a:t> د</a:t>
            </a:r>
            <a:r>
              <a:rPr lang="ar-SA" sz="2000"/>
              <a:t>اخلي</a:t>
            </a:r>
            <a:r>
              <a:rPr lang="fa-IR" sz="2000"/>
              <a:t> تر</a:t>
            </a:r>
            <a:r>
              <a:rPr lang="ar-SA" sz="2000"/>
              <a:t> </a:t>
            </a:r>
            <a:endParaRPr lang="en-US" sz="2000"/>
          </a:p>
          <a:p>
            <a:endParaRPr lang="en-US" sz="2000"/>
          </a:p>
        </p:txBody>
      </p:sp>
    </p:spTree>
  </p:cSld>
  <p:clrMapOvr>
    <a:masterClrMapping/>
  </p:clrMapOvr>
  <p:transition spd="med">
    <p:wipe dir="d"/>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3"/>
          <p:cNvSpPr>
            <a:spLocks noGrp="1" noChangeArrowheads="1"/>
          </p:cNvSpPr>
          <p:nvPr>
            <p:ph idx="1"/>
          </p:nvPr>
        </p:nvSpPr>
        <p:spPr/>
        <p:txBody>
          <a:bodyPr/>
          <a:lstStyle/>
          <a:p>
            <a:pPr algn="justLow" rtl="1" eaLnBrk="1" hangingPunct="1">
              <a:buFont typeface="Wingdings" pitchFamily="2" charset="2"/>
              <a:buNone/>
            </a:pPr>
            <a:r>
              <a:rPr lang="fa-IR" sz="3600" b="1" smtClean="0"/>
              <a:t>روشن است که در یک ارائه با کمیت زیاد مثلا گزارش تفصیلی یا کتاب متن بخش نیز می تواند مرکب باشد یعنی تعدادی متن بخش دارای یک عنوان داخلی که می توان آن را قسمت یا فصل نامید .</a:t>
            </a:r>
            <a:endParaRPr lang="en-US" sz="3600" b="1" smtClean="0"/>
          </a:p>
        </p:txBody>
      </p:sp>
      <p:sp>
        <p:nvSpPr>
          <p:cNvPr id="11878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قسمت یا فصل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3"/>
          <p:cNvSpPr>
            <a:spLocks noGrp="1" noChangeArrowheads="1"/>
          </p:cNvSpPr>
          <p:nvPr>
            <p:ph idx="1"/>
          </p:nvPr>
        </p:nvSpPr>
        <p:spPr/>
        <p:txBody>
          <a:bodyPr/>
          <a:lstStyle/>
          <a:p>
            <a:pPr algn="justLow" rtl="1" eaLnBrk="1" hangingPunct="1">
              <a:buFont typeface="Wingdings" pitchFamily="2" charset="2"/>
              <a:buNone/>
            </a:pPr>
            <a:r>
              <a:rPr lang="fa-IR" b="1" dirty="0" smtClean="0"/>
              <a:t>اجزاء متن اصلی یعنی متن پار ، متن بخش و ... و حتی خود </a:t>
            </a:r>
            <a:r>
              <a:rPr lang="fa-IR" b="1" dirty="0" err="1" smtClean="0"/>
              <a:t>نوشتپار</a:t>
            </a:r>
            <a:r>
              <a:rPr lang="fa-IR" b="1" dirty="0" smtClean="0"/>
              <a:t> باید </a:t>
            </a:r>
            <a:r>
              <a:rPr lang="fa-IR" b="1" dirty="0" smtClean="0">
                <a:solidFill>
                  <a:srgbClr val="0070C0"/>
                </a:solidFill>
              </a:rPr>
              <a:t>شالوده ای داشته باشد شامل مقدمه ، شرح و نتیجه که اصطلاحا  به آن شالوده ارسطویی</a:t>
            </a:r>
            <a:r>
              <a:rPr lang="fa-IR" b="1" dirty="0" smtClean="0"/>
              <a:t> می گویند.</a:t>
            </a:r>
            <a:r>
              <a:rPr lang="fa-IR" dirty="0" smtClean="0"/>
              <a:t> </a:t>
            </a:r>
            <a:endParaRPr lang="en-US" dirty="0" smtClean="0"/>
          </a:p>
        </p:txBody>
      </p:sp>
      <p:sp>
        <p:nvSpPr>
          <p:cNvPr id="11264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شالوده ارسطویی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3"/>
          <p:cNvSpPr>
            <a:spLocks noGrp="1" noChangeArrowheads="1"/>
          </p:cNvSpPr>
          <p:nvPr>
            <p:ph idx="1"/>
          </p:nvPr>
        </p:nvSpPr>
        <p:spPr>
          <a:xfrm>
            <a:off x="457200" y="1268413"/>
            <a:ext cx="8229600" cy="5573712"/>
          </a:xfrm>
        </p:spPr>
        <p:txBody>
          <a:bodyPr/>
          <a:lstStyle/>
          <a:p>
            <a:pPr marL="609600" indent="-609600" algn="r" rtl="1" eaLnBrk="1" hangingPunct="1">
              <a:lnSpc>
                <a:spcPct val="90000"/>
              </a:lnSpc>
              <a:buFont typeface="Wingdings" pitchFamily="2" charset="2"/>
              <a:buAutoNum type="arabicPeriod"/>
            </a:pPr>
            <a:r>
              <a:rPr lang="fa-IR" sz="2800" b="1" smtClean="0"/>
              <a:t>دقت در انتخاب نوع کاغذ ، رنگ جوهر ، حاشیه گذاری مناسب ، خوانانویسی و نقطه گذاری </a:t>
            </a:r>
          </a:p>
          <a:p>
            <a:pPr marL="609600" indent="-609600" algn="r" rtl="1" eaLnBrk="1" hangingPunct="1">
              <a:lnSpc>
                <a:spcPct val="90000"/>
              </a:lnSpc>
              <a:buFont typeface="Wingdings" pitchFamily="2" charset="2"/>
              <a:buAutoNum type="arabicPeriod"/>
            </a:pPr>
            <a:r>
              <a:rPr lang="fa-IR" sz="2800" b="1" smtClean="0"/>
              <a:t>بهگزینی واژه ها و دقت در انتخاب الفاظ</a:t>
            </a:r>
          </a:p>
          <a:p>
            <a:pPr marL="609600" indent="-609600" algn="r" rtl="1" eaLnBrk="1" hangingPunct="1">
              <a:lnSpc>
                <a:spcPct val="90000"/>
              </a:lnSpc>
              <a:buFont typeface="Wingdings" pitchFamily="2" charset="2"/>
              <a:buAutoNum type="arabicPeriod"/>
            </a:pPr>
            <a:r>
              <a:rPr lang="fa-IR" sz="2800" b="1" smtClean="0"/>
              <a:t>درست نویسی واژه ها و پیروی از قواعد منطقی املای فارسی </a:t>
            </a:r>
          </a:p>
          <a:p>
            <a:pPr marL="609600" indent="-609600" algn="r" rtl="1" eaLnBrk="1" hangingPunct="1">
              <a:lnSpc>
                <a:spcPct val="90000"/>
              </a:lnSpc>
              <a:buFont typeface="Wingdings" pitchFamily="2" charset="2"/>
              <a:buAutoNum type="arabicPeriod"/>
            </a:pPr>
            <a:r>
              <a:rPr lang="fa-IR" sz="2800" b="1" smtClean="0"/>
              <a:t>پیروی از دستور زبا فارسی و پرهیز از استعمال کلمات و ترکیبات نادرست </a:t>
            </a:r>
          </a:p>
          <a:p>
            <a:pPr marL="609600" indent="-609600" algn="r" rtl="1" eaLnBrk="1" hangingPunct="1">
              <a:lnSpc>
                <a:spcPct val="90000"/>
              </a:lnSpc>
              <a:buFont typeface="Wingdings" pitchFamily="2" charset="2"/>
              <a:buAutoNum type="arabicPeriod"/>
            </a:pPr>
            <a:r>
              <a:rPr lang="fa-IR" sz="2800" b="1" smtClean="0"/>
              <a:t>ساده نویسی و پرهیز از عبارت پردازی و فضل فروشی </a:t>
            </a:r>
          </a:p>
          <a:p>
            <a:pPr marL="609600" indent="-609600" algn="r" rtl="1" eaLnBrk="1" hangingPunct="1">
              <a:lnSpc>
                <a:spcPct val="90000"/>
              </a:lnSpc>
              <a:buFont typeface="Wingdings" pitchFamily="2" charset="2"/>
              <a:buAutoNum type="arabicPeriod"/>
            </a:pPr>
            <a:r>
              <a:rPr lang="fa-IR" sz="2800" b="1" smtClean="0"/>
              <a:t>کوتاه نویسی و پرهیز از تفصیلهای نابجا </a:t>
            </a:r>
          </a:p>
          <a:p>
            <a:pPr marL="609600" indent="-609600" algn="r" rtl="1" eaLnBrk="1" hangingPunct="1">
              <a:lnSpc>
                <a:spcPct val="90000"/>
              </a:lnSpc>
              <a:buFont typeface="Wingdings" pitchFamily="2" charset="2"/>
              <a:buAutoNum type="arabicPeriod"/>
            </a:pPr>
            <a:r>
              <a:rPr lang="fa-IR" sz="2800" b="1" smtClean="0"/>
              <a:t>حقیقت نویسی و پیروی از منطق و استدلال </a:t>
            </a:r>
          </a:p>
          <a:p>
            <a:pPr marL="609600" indent="-609600" algn="r" rtl="1" eaLnBrk="1" hangingPunct="1">
              <a:lnSpc>
                <a:spcPct val="90000"/>
              </a:lnSpc>
              <a:buFont typeface="Wingdings" pitchFamily="2" charset="2"/>
              <a:buAutoNum type="arabicPeriod"/>
            </a:pPr>
            <a:r>
              <a:rPr lang="fa-IR" sz="2800" b="1" smtClean="0"/>
              <a:t>دقت در مقدمه چینی و نتیجه گیری </a:t>
            </a:r>
          </a:p>
          <a:p>
            <a:pPr marL="609600" indent="-609600" algn="r" rtl="1" eaLnBrk="1" hangingPunct="1">
              <a:lnSpc>
                <a:spcPct val="90000"/>
              </a:lnSpc>
              <a:buFont typeface="Wingdings" pitchFamily="2" charset="2"/>
              <a:buAutoNum type="arabicPeriod"/>
            </a:pPr>
            <a:r>
              <a:rPr lang="fa-IR" sz="2800" b="1" smtClean="0"/>
              <a:t>تیزبینی و باریک بینی </a:t>
            </a:r>
          </a:p>
          <a:p>
            <a:pPr marL="609600" indent="-609600" algn="r" rtl="1" eaLnBrk="1" hangingPunct="1">
              <a:lnSpc>
                <a:spcPct val="90000"/>
              </a:lnSpc>
              <a:buFont typeface="Wingdings" pitchFamily="2" charset="2"/>
              <a:buAutoNum type="arabicPeriod"/>
            </a:pPr>
            <a:r>
              <a:rPr lang="fa-IR" sz="2800" b="1" smtClean="0"/>
              <a:t>تصحیح و وارسی نوشته و حک و اصلاح مکرر</a:t>
            </a:r>
            <a:r>
              <a:rPr lang="fa-IR" sz="2800" smtClean="0"/>
              <a:t> </a:t>
            </a:r>
            <a:endParaRPr lang="en-US" sz="2800" smtClean="0"/>
          </a:p>
        </p:txBody>
      </p:sp>
      <p:sp>
        <p:nvSpPr>
          <p:cNvPr id="119810" name="Rectangle 2"/>
          <p:cNvSpPr>
            <a:spLocks noGrp="1" noChangeArrowheads="1"/>
          </p:cNvSpPr>
          <p:nvPr>
            <p:ph type="title"/>
          </p:nvPr>
        </p:nvSpPr>
        <p:spPr>
          <a:xfrm>
            <a:off x="457200" y="115888"/>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چند توصیه برای نگارش بهتر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3"/>
          <p:cNvSpPr>
            <a:spLocks noGrp="1" noChangeArrowheads="1"/>
          </p:cNvSpPr>
          <p:nvPr>
            <p:ph idx="1"/>
          </p:nvPr>
        </p:nvSpPr>
        <p:spPr>
          <a:xfrm>
            <a:off x="457200" y="1196975"/>
            <a:ext cx="8229600" cy="5661025"/>
          </a:xfrm>
        </p:spPr>
        <p:txBody>
          <a:bodyPr/>
          <a:lstStyle/>
          <a:p>
            <a:pPr algn="r" rtl="1" eaLnBrk="1" hangingPunct="1">
              <a:lnSpc>
                <a:spcPct val="80000"/>
              </a:lnSpc>
            </a:pPr>
            <a:r>
              <a:rPr lang="fa-IR" sz="2800" b="1" smtClean="0"/>
              <a:t>جلد ( روی جلد )</a:t>
            </a:r>
            <a:endParaRPr lang="en-US" sz="2800" smtClean="0"/>
          </a:p>
          <a:p>
            <a:pPr algn="r" rtl="1" eaLnBrk="1" hangingPunct="1">
              <a:lnSpc>
                <a:spcPct val="80000"/>
              </a:lnSpc>
            </a:pPr>
            <a:r>
              <a:rPr lang="fa-IR" sz="2800" b="1" smtClean="0"/>
              <a:t>صفحه سفید ابتدایی ( برگ آزاد )</a:t>
            </a:r>
            <a:endParaRPr lang="en-US" sz="2800" smtClean="0"/>
          </a:p>
          <a:p>
            <a:pPr algn="r" rtl="1" eaLnBrk="1" hangingPunct="1">
              <a:lnSpc>
                <a:spcPct val="80000"/>
              </a:lnSpc>
            </a:pPr>
            <a:r>
              <a:rPr lang="fa-IR" sz="2800" b="1" smtClean="0"/>
              <a:t>صفحه عنوان </a:t>
            </a:r>
            <a:endParaRPr lang="en-US" sz="2800" smtClean="0"/>
          </a:p>
          <a:p>
            <a:pPr algn="r" rtl="1" eaLnBrk="1" hangingPunct="1">
              <a:lnSpc>
                <a:spcPct val="80000"/>
              </a:lnSpc>
            </a:pPr>
            <a:r>
              <a:rPr lang="fa-IR" sz="2800" b="1" smtClean="0"/>
              <a:t>صفحع رعایت شئون فرهنگی </a:t>
            </a:r>
            <a:endParaRPr lang="en-US" sz="2800" smtClean="0"/>
          </a:p>
          <a:p>
            <a:pPr algn="r" rtl="1" eaLnBrk="1" hangingPunct="1">
              <a:lnSpc>
                <a:spcPct val="80000"/>
              </a:lnSpc>
            </a:pPr>
            <a:r>
              <a:rPr lang="fa-IR" sz="2800" b="1" smtClean="0"/>
              <a:t>صفحه نظر داوران </a:t>
            </a:r>
            <a:endParaRPr lang="en-US" sz="2800" smtClean="0"/>
          </a:p>
          <a:p>
            <a:pPr algn="r" rtl="1" eaLnBrk="1" hangingPunct="1">
              <a:lnSpc>
                <a:spcPct val="80000"/>
              </a:lnSpc>
            </a:pPr>
            <a:r>
              <a:rPr lang="fa-IR" sz="2800" b="1" smtClean="0"/>
              <a:t>پیشگفتار </a:t>
            </a:r>
            <a:endParaRPr lang="en-US" sz="2800" smtClean="0"/>
          </a:p>
          <a:p>
            <a:pPr algn="r" rtl="1" eaLnBrk="1" hangingPunct="1">
              <a:lnSpc>
                <a:spcPct val="80000"/>
              </a:lnSpc>
            </a:pPr>
            <a:r>
              <a:rPr lang="fa-IR" sz="2800" b="1" smtClean="0"/>
              <a:t>اپی نگاشت ( </a:t>
            </a:r>
            <a:r>
              <a:rPr lang="en-US" sz="2800" b="1" smtClean="0"/>
              <a:t>epigraph</a:t>
            </a:r>
            <a:r>
              <a:rPr lang="fa-IR" sz="2800" b="1" smtClean="0"/>
              <a:t>)</a:t>
            </a:r>
            <a:endParaRPr lang="en-US" sz="2800" smtClean="0"/>
          </a:p>
          <a:p>
            <a:pPr algn="r" rtl="1" eaLnBrk="1" hangingPunct="1">
              <a:lnSpc>
                <a:spcPct val="80000"/>
              </a:lnSpc>
            </a:pPr>
            <a:r>
              <a:rPr lang="fa-IR" sz="2800" b="1" smtClean="0"/>
              <a:t>صفحه های تقدیم وسپاس </a:t>
            </a:r>
            <a:endParaRPr lang="en-US" sz="2800" smtClean="0"/>
          </a:p>
          <a:p>
            <a:pPr algn="r" rtl="1" eaLnBrk="1" hangingPunct="1">
              <a:lnSpc>
                <a:spcPct val="80000"/>
              </a:lnSpc>
            </a:pPr>
            <a:r>
              <a:rPr lang="fa-IR" sz="2800" b="1" smtClean="0"/>
              <a:t>صفحه های فهرست مطالب </a:t>
            </a:r>
            <a:endParaRPr lang="en-US" sz="2800" smtClean="0"/>
          </a:p>
          <a:p>
            <a:pPr algn="r" rtl="1" eaLnBrk="1" hangingPunct="1">
              <a:lnSpc>
                <a:spcPct val="80000"/>
              </a:lnSpc>
            </a:pPr>
            <a:r>
              <a:rPr lang="fa-IR" sz="2800" b="1" smtClean="0"/>
              <a:t>صفحه های فهرست جدولها و شکلها </a:t>
            </a:r>
            <a:endParaRPr lang="en-US" sz="2800" smtClean="0"/>
          </a:p>
          <a:p>
            <a:pPr algn="r" rtl="1" eaLnBrk="1" hangingPunct="1">
              <a:lnSpc>
                <a:spcPct val="80000"/>
              </a:lnSpc>
            </a:pPr>
            <a:r>
              <a:rPr lang="fa-IR" sz="2800" b="1" smtClean="0"/>
              <a:t>صفحه های فهرست نمادها و نشانه ها ( می تواند در بخش پیوستها گذاشته شود ) </a:t>
            </a:r>
            <a:endParaRPr lang="en-US" sz="2800" smtClean="0"/>
          </a:p>
          <a:p>
            <a:pPr algn="r" rtl="1" eaLnBrk="1" hangingPunct="1">
              <a:lnSpc>
                <a:spcPct val="80000"/>
              </a:lnSpc>
            </a:pPr>
            <a:r>
              <a:rPr lang="fa-IR" sz="2800" b="1" smtClean="0"/>
              <a:t>چکیده مولف </a:t>
            </a:r>
            <a:endParaRPr lang="en-US" sz="2800" smtClean="0"/>
          </a:p>
          <a:p>
            <a:pPr algn="r" rtl="1" eaLnBrk="1" hangingPunct="1">
              <a:lnSpc>
                <a:spcPct val="80000"/>
              </a:lnSpc>
            </a:pPr>
            <a:endParaRPr lang="en-US" sz="2800" smtClean="0"/>
          </a:p>
        </p:txBody>
      </p:sp>
      <p:sp>
        <p:nvSpPr>
          <p:cNvPr id="120834" name="Rectangle 2"/>
          <p:cNvSpPr>
            <a:spLocks noGrp="1" noChangeArrowheads="1"/>
          </p:cNvSpPr>
          <p:nvPr>
            <p:ph type="title"/>
          </p:nvPr>
        </p:nvSpPr>
        <p:spPr>
          <a:xfrm>
            <a:off x="468313" y="0"/>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اجزای بخش آغازین در یک ارائه کتبی: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3"/>
          <p:cNvSpPr>
            <a:spLocks noGrp="1" noChangeArrowheads="1"/>
          </p:cNvSpPr>
          <p:nvPr>
            <p:ph idx="1"/>
          </p:nvPr>
        </p:nvSpPr>
        <p:spPr>
          <a:xfrm>
            <a:off x="457200" y="1600200"/>
            <a:ext cx="8229600" cy="5257800"/>
          </a:xfrm>
        </p:spPr>
        <p:txBody>
          <a:bodyPr/>
          <a:lstStyle/>
          <a:p>
            <a:pPr algn="r" rtl="1" eaLnBrk="1" hangingPunct="1"/>
            <a:r>
              <a:rPr lang="fa-IR" b="1" smtClean="0"/>
              <a:t>پیشنهادات و نظرات </a:t>
            </a:r>
            <a:endParaRPr lang="en-US" smtClean="0"/>
          </a:p>
          <a:p>
            <a:pPr algn="r" rtl="1" eaLnBrk="1" hangingPunct="1"/>
            <a:r>
              <a:rPr lang="fa-IR" b="1" smtClean="0"/>
              <a:t>پیوستها </a:t>
            </a:r>
            <a:endParaRPr lang="en-US" smtClean="0"/>
          </a:p>
          <a:p>
            <a:pPr algn="r" rtl="1" eaLnBrk="1" hangingPunct="1"/>
            <a:r>
              <a:rPr lang="fa-IR" b="1" smtClean="0"/>
              <a:t>فهرست منابع </a:t>
            </a:r>
            <a:endParaRPr lang="en-US" smtClean="0"/>
          </a:p>
          <a:p>
            <a:pPr algn="r" rtl="1" eaLnBrk="1" hangingPunct="1"/>
            <a:r>
              <a:rPr lang="fa-IR" b="1" smtClean="0"/>
              <a:t>چکیده ( به زبان انگلیسی ) </a:t>
            </a:r>
            <a:endParaRPr lang="en-US" smtClean="0"/>
          </a:p>
          <a:p>
            <a:pPr algn="r" rtl="1" eaLnBrk="1" hangingPunct="1"/>
            <a:r>
              <a:rPr lang="fa-IR" b="1" smtClean="0"/>
              <a:t>صفحه عنوان ( به زبان انگلیسی )</a:t>
            </a:r>
            <a:endParaRPr lang="en-US" smtClean="0"/>
          </a:p>
          <a:p>
            <a:pPr algn="r" rtl="1" eaLnBrk="1" hangingPunct="1"/>
            <a:r>
              <a:rPr lang="fa-IR" b="1" smtClean="0"/>
              <a:t>صفحه سفید انتهایی </a:t>
            </a:r>
            <a:endParaRPr lang="en-US" smtClean="0"/>
          </a:p>
          <a:p>
            <a:pPr algn="r" rtl="1" eaLnBrk="1" hangingPunct="1"/>
            <a:r>
              <a:rPr lang="fa-IR" b="1" smtClean="0"/>
              <a:t>جلد ( پشت جلد )</a:t>
            </a:r>
            <a:endParaRPr lang="en-US" smtClean="0"/>
          </a:p>
          <a:p>
            <a:pPr algn="r" rtl="1" eaLnBrk="1" hangingPunct="1"/>
            <a:endParaRPr lang="en-US" smtClean="0"/>
          </a:p>
        </p:txBody>
      </p:sp>
      <p:sp>
        <p:nvSpPr>
          <p:cNvPr id="12185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اجزای بخش پایانی در یک ارائه کتبی: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3"/>
          <p:cNvSpPr>
            <a:spLocks noGrp="1" noChangeArrowheads="1"/>
          </p:cNvSpPr>
          <p:nvPr>
            <p:ph idx="1"/>
          </p:nvPr>
        </p:nvSpPr>
        <p:spPr/>
        <p:txBody>
          <a:bodyPr/>
          <a:lstStyle/>
          <a:p>
            <a:pPr algn="justLow" rtl="1" eaLnBrk="1" hangingPunct="1">
              <a:buFont typeface="Wingdings" pitchFamily="2" charset="2"/>
              <a:buNone/>
            </a:pPr>
            <a:r>
              <a:rPr lang="fa-IR" b="1" smtClean="0"/>
              <a:t>این اجزاء عبارتند از پانوشت ، شکل ، جدول ، نتیجه نهایی و خلاصه نهایی و متن اصلی که جزء اصلی این این بخش  است .</a:t>
            </a:r>
            <a:endParaRPr lang="en-US" b="1" smtClean="0"/>
          </a:p>
        </p:txBody>
      </p:sp>
      <p:sp>
        <p:nvSpPr>
          <p:cNvPr id="122882" name="Rectangle 2"/>
          <p:cNvSpPr>
            <a:spLocks noGrp="1" noChangeArrowheads="1"/>
          </p:cNvSpPr>
          <p:nvPr>
            <p:ph type="title"/>
          </p:nvPr>
        </p:nvSpPr>
        <p:spPr>
          <a:xfrm>
            <a:off x="806450"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اجزاء درون بخش میانی در یک ارائه کتبی:</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3"/>
          <p:cNvSpPr>
            <a:spLocks noGrp="1" noChangeArrowheads="1"/>
          </p:cNvSpPr>
          <p:nvPr>
            <p:ph idx="1"/>
          </p:nvPr>
        </p:nvSpPr>
        <p:spPr/>
        <p:txBody>
          <a:bodyPr/>
          <a:lstStyle/>
          <a:p>
            <a:pPr algn="r" rtl="1" eaLnBrk="1" hangingPunct="1">
              <a:buFont typeface="Wingdings" pitchFamily="2" charset="2"/>
              <a:buNone/>
            </a:pPr>
            <a:r>
              <a:rPr lang="fa-IR" b="1" smtClean="0"/>
              <a:t>پانوشت که به آن زیرنوشته ، پی نوشت ، پابرگ ، زیرنویس و پاورقی هم گفته می شود : کلمه ، عبارت ، جمله یا جملاتی است که در پایین متن اصلی در صفحه نوشته می‌شود و با موضوع مطرح شده در متن صفحه رابطه معنایی و موضوعی دارد . گاه به پانوشت حاشیه هم می‌گویند .</a:t>
            </a:r>
            <a:r>
              <a:rPr lang="fa-IR" smtClean="0"/>
              <a:t> </a:t>
            </a:r>
            <a:endParaRPr lang="en-US" smtClean="0"/>
          </a:p>
        </p:txBody>
      </p:sp>
      <p:sp>
        <p:nvSpPr>
          <p:cNvPr id="12390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 پانوشت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استنادی </a:t>
            </a:r>
          </a:p>
          <a:p>
            <a:pPr marL="609600" indent="-609600" algn="r" rtl="1" eaLnBrk="1" hangingPunct="1">
              <a:buFont typeface="Wingdings" pitchFamily="2" charset="2"/>
              <a:buAutoNum type="arabicPeriod"/>
            </a:pPr>
            <a:r>
              <a:rPr lang="fa-IR" b="1" smtClean="0"/>
              <a:t>ارجاعی </a:t>
            </a:r>
          </a:p>
          <a:p>
            <a:pPr marL="609600" indent="-609600" algn="r" rtl="1" eaLnBrk="1" hangingPunct="1">
              <a:buFont typeface="Wingdings" pitchFamily="2" charset="2"/>
              <a:buAutoNum type="arabicPeriod"/>
            </a:pPr>
            <a:r>
              <a:rPr lang="fa-IR" b="1" smtClean="0"/>
              <a:t>توضیحی </a:t>
            </a:r>
          </a:p>
          <a:p>
            <a:pPr marL="609600" indent="-609600" algn="r" rtl="1" eaLnBrk="1" hangingPunct="1">
              <a:buFont typeface="Wingdings" pitchFamily="2" charset="2"/>
              <a:buAutoNum type="arabicPeriod"/>
            </a:pPr>
            <a:r>
              <a:rPr lang="fa-IR" b="1" smtClean="0"/>
              <a:t>اطلاع دهنده</a:t>
            </a:r>
            <a:r>
              <a:rPr lang="fa-IR" smtClean="0"/>
              <a:t> </a:t>
            </a:r>
            <a:endParaRPr lang="en-US" smtClean="0"/>
          </a:p>
        </p:txBody>
      </p:sp>
      <p:sp>
        <p:nvSpPr>
          <p:cNvPr id="12595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انواع پانوشت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3"/>
          <p:cNvSpPr>
            <a:spLocks noGrp="1" noChangeArrowheads="1"/>
          </p:cNvSpPr>
          <p:nvPr>
            <p:ph idx="1"/>
          </p:nvPr>
        </p:nvSpPr>
        <p:spPr/>
        <p:txBody>
          <a:bodyPr/>
          <a:lstStyle/>
          <a:p>
            <a:pPr algn="justLow" rtl="1" eaLnBrk="1" hangingPunct="1"/>
            <a:r>
              <a:rPr lang="fa-IR" b="1" smtClean="0"/>
              <a:t>رعایت امانت : در نقل قول و در تلخیص باید منبع مرجع را معرفی کنیم </a:t>
            </a:r>
            <a:endParaRPr lang="en-US" smtClean="0"/>
          </a:p>
          <a:p>
            <a:pPr algn="justLow" rtl="1" eaLnBrk="1" hangingPunct="1"/>
            <a:r>
              <a:rPr lang="fa-IR" b="1" smtClean="0"/>
              <a:t>اعتبار بخشیدن به مطلبی که می نویسیم </a:t>
            </a:r>
            <a:endParaRPr lang="en-US" smtClean="0"/>
          </a:p>
          <a:p>
            <a:pPr algn="justLow" rtl="1" eaLnBrk="1" hangingPunct="1"/>
            <a:r>
              <a:rPr lang="fa-IR" b="1" smtClean="0"/>
              <a:t>ارجاع دادن خواننده به قسمتی دیگر از متن </a:t>
            </a:r>
            <a:endParaRPr lang="en-US" smtClean="0"/>
          </a:p>
          <a:p>
            <a:pPr algn="justLow" rtl="1" eaLnBrk="1" hangingPunct="1"/>
            <a:r>
              <a:rPr lang="fa-IR" b="1" smtClean="0"/>
              <a:t>توضیح بیشتر درباره ایده ای که در متن مطرح شده است </a:t>
            </a:r>
            <a:endParaRPr lang="en-US" smtClean="0"/>
          </a:p>
          <a:p>
            <a:pPr algn="justLow" rtl="1" eaLnBrk="1" hangingPunct="1"/>
            <a:r>
              <a:rPr lang="fa-IR" b="1" smtClean="0"/>
              <a:t>دادن اطلاعاتی به خواننده از قبیل : املاء اسامی بیگانه ، معادل بیگانه یک اصطلاح فارسی ، معرفی اجمالی یک شخصیت – یک مکان – یک رویداد و یک برهه تاریخی</a:t>
            </a:r>
            <a:r>
              <a:rPr lang="fa-IR" smtClean="0"/>
              <a:t> </a:t>
            </a:r>
            <a:endParaRPr lang="en-US" smtClean="0"/>
          </a:p>
        </p:txBody>
      </p:sp>
      <p:sp>
        <p:nvSpPr>
          <p:cNvPr id="12493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منظور از نوشتن پانوشت</a:t>
            </a:r>
            <a:r>
              <a:rPr lang="en-US" smtClean="0">
                <a:solidFill>
                  <a:srgbClr val="FF0000"/>
                </a:solidFill>
                <a:effectLst/>
                <a:cs typeface="B Titr" pitchFamily="2" charset="-78"/>
              </a:rPr>
              <a:t> : </a:t>
            </a:r>
          </a:p>
        </p:txBody>
      </p:sp>
    </p:spTree>
  </p:cSld>
  <p:clrMapOvr>
    <a:masterClrMapping/>
  </p:clrMapOvr>
  <p:transition spd="med">
    <p:wipe dir="d"/>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3"/>
          <p:cNvSpPr>
            <a:spLocks noGrp="1" noChangeArrowheads="1"/>
          </p:cNvSpPr>
          <p:nvPr>
            <p:ph idx="1"/>
          </p:nvPr>
        </p:nvSpPr>
        <p:spPr/>
        <p:txBody>
          <a:bodyPr/>
          <a:lstStyle/>
          <a:p>
            <a:pPr algn="r" rtl="1" eaLnBrk="1" hangingPunct="1">
              <a:buFont typeface="Wingdings" pitchFamily="2" charset="2"/>
              <a:buNone/>
            </a:pPr>
            <a:r>
              <a:rPr lang="fa-IR" b="1" smtClean="0"/>
              <a:t>در ساده ترین صورت و صرفنظر از پاره ای جزئیات  در بار اول ارجاع یا استناد باید سه مجموعه اطلاع به خواننده داده شود : </a:t>
            </a:r>
          </a:p>
          <a:p>
            <a:pPr eaLnBrk="1" hangingPunct="1">
              <a:buFont typeface="Wingdings" pitchFamily="2" charset="2"/>
              <a:buNone/>
            </a:pPr>
            <a:endParaRPr lang="fa-IR" b="1" smtClean="0"/>
          </a:p>
          <a:p>
            <a:pPr eaLnBrk="1" hangingPunct="1"/>
            <a:endParaRPr lang="en-US" b="1" smtClean="0"/>
          </a:p>
          <a:p>
            <a:pPr eaLnBrk="1" hangingPunct="1">
              <a:buFont typeface="Wingdings" pitchFamily="2" charset="2"/>
              <a:buNone/>
            </a:pPr>
            <a:endParaRPr lang="en-US" b="1" smtClean="0"/>
          </a:p>
        </p:txBody>
      </p:sp>
      <p:sp>
        <p:nvSpPr>
          <p:cNvPr id="126978" name="Rectangle 2"/>
          <p:cNvSpPr>
            <a:spLocks noGrp="1" noChangeArrowheads="1"/>
          </p:cNvSpPr>
          <p:nvPr>
            <p:ph type="title"/>
          </p:nvPr>
        </p:nvSpPr>
        <p:spPr>
          <a:xfrm>
            <a:off x="590550"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نحوه نوشتن پانوشت استنادی و ارجاعی: </a:t>
            </a:r>
            <a:endParaRPr lang="en-US" smtClean="0">
              <a:solidFill>
                <a:srgbClr val="FF0000"/>
              </a:solidFill>
              <a:effectLst/>
              <a:cs typeface="B Titr" pitchFamily="2" charset="-78"/>
            </a:endParaRPr>
          </a:p>
        </p:txBody>
      </p:sp>
      <p:sp>
        <p:nvSpPr>
          <p:cNvPr id="126980" name="Rectangle 4"/>
          <p:cNvSpPr>
            <a:spLocks noChangeArrowheads="1"/>
          </p:cNvSpPr>
          <p:nvPr/>
        </p:nvSpPr>
        <p:spPr bwMode="auto">
          <a:xfrm>
            <a:off x="323850" y="4005263"/>
            <a:ext cx="1897063" cy="528637"/>
          </a:xfrm>
          <a:prstGeom prst="rect">
            <a:avLst/>
          </a:prstGeom>
          <a:solidFill>
            <a:schemeClr val="accent1"/>
          </a:solidFill>
          <a:ln w="9525" algn="ctr">
            <a:solidFill>
              <a:schemeClr val="tx1"/>
            </a:solidFill>
            <a:miter lim="800000"/>
            <a:headEnd/>
            <a:tailEnd/>
          </a:ln>
          <a:effectLst/>
        </p:spPr>
        <p:txBody>
          <a:bodyPr wrap="none" anchor="ctr">
            <a:spAutoFit/>
          </a:bodyPr>
          <a:lstStyle/>
          <a:p>
            <a:pPr>
              <a:defRPr/>
            </a:pPr>
            <a:r>
              <a:rPr lang="fa-IR" sz="2800">
                <a:solidFill>
                  <a:schemeClr val="tx1"/>
                </a:solidFill>
                <a:effectLst>
                  <a:outerShdw blurRad="38100" dist="38100" dir="2700000" algn="tl">
                    <a:srgbClr val="000000"/>
                  </a:outerShdw>
                </a:effectLst>
              </a:rPr>
              <a:t>مشخصات نشر</a:t>
            </a:r>
            <a:endParaRPr lang="en-US" sz="2800">
              <a:solidFill>
                <a:schemeClr val="tx1"/>
              </a:solidFill>
              <a:effectLst>
                <a:outerShdw blurRad="38100" dist="38100" dir="2700000" algn="tl">
                  <a:srgbClr val="000000"/>
                </a:outerShdw>
              </a:effectLst>
            </a:endParaRPr>
          </a:p>
        </p:txBody>
      </p:sp>
      <p:sp>
        <p:nvSpPr>
          <p:cNvPr id="126982" name="Rectangle 6"/>
          <p:cNvSpPr>
            <a:spLocks noChangeArrowheads="1"/>
          </p:cNvSpPr>
          <p:nvPr/>
        </p:nvSpPr>
        <p:spPr bwMode="auto">
          <a:xfrm>
            <a:off x="6372225" y="4005263"/>
            <a:ext cx="2363788" cy="588962"/>
          </a:xfrm>
          <a:prstGeom prst="rect">
            <a:avLst/>
          </a:prstGeom>
          <a:solidFill>
            <a:schemeClr val="accent1"/>
          </a:solidFill>
          <a:ln w="9525" algn="ctr">
            <a:solidFill>
              <a:schemeClr val="tx1"/>
            </a:solidFill>
            <a:miter lim="800000"/>
            <a:headEnd/>
            <a:tailEnd/>
          </a:ln>
          <a:effectLst/>
        </p:spPr>
        <p:txBody>
          <a:bodyPr wrap="none" anchor="ctr">
            <a:spAutoFit/>
          </a:bodyPr>
          <a:lstStyle/>
          <a:p>
            <a:pPr>
              <a:defRPr/>
            </a:pPr>
            <a:r>
              <a:rPr lang="fa-IR" sz="3200">
                <a:solidFill>
                  <a:schemeClr val="tx1"/>
                </a:solidFill>
                <a:effectLst>
                  <a:outerShdw blurRad="38100" dist="38100" dir="2700000" algn="tl">
                    <a:srgbClr val="000000"/>
                  </a:outerShdw>
                </a:effectLst>
              </a:rPr>
              <a:t>مشخصات مولف</a:t>
            </a:r>
            <a:endParaRPr lang="en-US" sz="3200">
              <a:solidFill>
                <a:schemeClr val="tx1"/>
              </a:solidFill>
              <a:effectLst>
                <a:outerShdw blurRad="38100" dist="38100" dir="2700000" algn="tl">
                  <a:srgbClr val="000000"/>
                </a:outerShdw>
              </a:effectLst>
            </a:endParaRPr>
          </a:p>
        </p:txBody>
      </p:sp>
      <p:sp>
        <p:nvSpPr>
          <p:cNvPr id="126983" name="Rectangle 7"/>
          <p:cNvSpPr>
            <a:spLocks noChangeArrowheads="1"/>
          </p:cNvSpPr>
          <p:nvPr/>
        </p:nvSpPr>
        <p:spPr bwMode="auto">
          <a:xfrm>
            <a:off x="3132138" y="3716338"/>
            <a:ext cx="2254250" cy="1200150"/>
          </a:xfrm>
          <a:prstGeom prst="rect">
            <a:avLst/>
          </a:prstGeom>
          <a:solidFill>
            <a:schemeClr val="accent1"/>
          </a:solidFill>
          <a:ln w="9525" algn="ctr">
            <a:solidFill>
              <a:schemeClr val="tx1"/>
            </a:solidFill>
            <a:miter lim="800000"/>
            <a:headEnd/>
            <a:tailEnd/>
          </a:ln>
          <a:effectLst/>
        </p:spPr>
        <p:txBody>
          <a:bodyPr anchor="ctr">
            <a:spAutoFit/>
          </a:bodyPr>
          <a:lstStyle/>
          <a:p>
            <a:pPr>
              <a:defRPr/>
            </a:pPr>
            <a:r>
              <a:rPr lang="fa-IR" sz="3600">
                <a:solidFill>
                  <a:schemeClr val="tx1"/>
                </a:solidFill>
                <a:effectLst>
                  <a:outerShdw blurRad="38100" dist="38100" dir="2700000" algn="tl">
                    <a:srgbClr val="000000"/>
                  </a:outerShdw>
                </a:effectLst>
              </a:rPr>
              <a:t>مشخصات منبع</a:t>
            </a:r>
            <a:endParaRPr lang="en-US" sz="3600">
              <a:solidFill>
                <a:schemeClr val="tx1"/>
              </a:solidFill>
              <a:effectLst>
                <a:outerShdw blurRad="38100" dist="38100" dir="2700000" algn="tl">
                  <a:srgbClr val="000000"/>
                </a:outerShdw>
              </a:effectLst>
            </a:endParaRPr>
          </a:p>
        </p:txBody>
      </p:sp>
      <p:sp>
        <p:nvSpPr>
          <p:cNvPr id="118791" name="Line 8"/>
          <p:cNvSpPr>
            <a:spLocks noChangeShapeType="1"/>
          </p:cNvSpPr>
          <p:nvPr/>
        </p:nvSpPr>
        <p:spPr bwMode="auto">
          <a:xfrm>
            <a:off x="2700338" y="4076700"/>
            <a:ext cx="0" cy="503238"/>
          </a:xfrm>
          <a:prstGeom prst="line">
            <a:avLst/>
          </a:prstGeom>
          <a:noFill/>
          <a:ln w="9525">
            <a:solidFill>
              <a:schemeClr val="tx1"/>
            </a:solidFill>
            <a:round/>
            <a:headEnd/>
            <a:tailEnd/>
          </a:ln>
        </p:spPr>
        <p:txBody>
          <a:bodyPr wrap="none">
            <a:spAutoFit/>
          </a:bodyPr>
          <a:lstStyle/>
          <a:p>
            <a:endParaRPr lang="en-US"/>
          </a:p>
        </p:txBody>
      </p:sp>
      <p:sp>
        <p:nvSpPr>
          <p:cNvPr id="118792" name="Line 9"/>
          <p:cNvSpPr>
            <a:spLocks noChangeShapeType="1"/>
          </p:cNvSpPr>
          <p:nvPr/>
        </p:nvSpPr>
        <p:spPr bwMode="auto">
          <a:xfrm>
            <a:off x="2484438" y="4292600"/>
            <a:ext cx="503237" cy="0"/>
          </a:xfrm>
          <a:prstGeom prst="line">
            <a:avLst/>
          </a:prstGeom>
          <a:noFill/>
          <a:ln w="9525">
            <a:solidFill>
              <a:schemeClr val="tx1"/>
            </a:solidFill>
            <a:round/>
            <a:headEnd/>
            <a:tailEnd/>
          </a:ln>
        </p:spPr>
        <p:txBody>
          <a:bodyPr wrap="none">
            <a:spAutoFit/>
          </a:bodyPr>
          <a:lstStyle/>
          <a:p>
            <a:endParaRPr lang="en-US"/>
          </a:p>
        </p:txBody>
      </p:sp>
      <p:sp>
        <p:nvSpPr>
          <p:cNvPr id="118793" name="Line 10"/>
          <p:cNvSpPr>
            <a:spLocks noChangeShapeType="1"/>
          </p:cNvSpPr>
          <p:nvPr/>
        </p:nvSpPr>
        <p:spPr bwMode="auto">
          <a:xfrm>
            <a:off x="5724525" y="4076700"/>
            <a:ext cx="0" cy="503238"/>
          </a:xfrm>
          <a:prstGeom prst="line">
            <a:avLst/>
          </a:prstGeom>
          <a:noFill/>
          <a:ln w="9525">
            <a:solidFill>
              <a:schemeClr val="tx1"/>
            </a:solidFill>
            <a:round/>
            <a:headEnd/>
            <a:tailEnd/>
          </a:ln>
        </p:spPr>
        <p:txBody>
          <a:bodyPr wrap="none">
            <a:spAutoFit/>
          </a:bodyPr>
          <a:lstStyle/>
          <a:p>
            <a:endParaRPr lang="en-US"/>
          </a:p>
        </p:txBody>
      </p:sp>
      <p:sp>
        <p:nvSpPr>
          <p:cNvPr id="118794" name="Line 11"/>
          <p:cNvSpPr>
            <a:spLocks noChangeShapeType="1"/>
          </p:cNvSpPr>
          <p:nvPr/>
        </p:nvSpPr>
        <p:spPr bwMode="auto">
          <a:xfrm>
            <a:off x="5508625" y="4292600"/>
            <a:ext cx="503238" cy="0"/>
          </a:xfrm>
          <a:prstGeom prst="line">
            <a:avLst/>
          </a:prstGeom>
          <a:noFill/>
          <a:ln w="9525">
            <a:solidFill>
              <a:schemeClr val="tx1"/>
            </a:solidFill>
            <a:round/>
            <a:headEnd/>
            <a:tailEnd/>
          </a:ln>
        </p:spPr>
        <p:txBody>
          <a:bodyPr wrap="none">
            <a:spAutoFit/>
          </a:bodyPr>
          <a:lstStyle/>
          <a:p>
            <a:endParaRPr lang="en-US"/>
          </a:p>
        </p:txBody>
      </p:sp>
    </p:spTree>
  </p:cSld>
  <p:clrMapOvr>
    <a:masterClrMapping/>
  </p:clrMapOvr>
  <p:transition spd="med">
    <p:wipe dir="d"/>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8111" name="Group 111"/>
          <p:cNvGraphicFramePr>
            <a:graphicFrameLocks noGrp="1"/>
          </p:cNvGraphicFramePr>
          <p:nvPr/>
        </p:nvGraphicFramePr>
        <p:xfrm>
          <a:off x="-36513" y="0"/>
          <a:ext cx="9180513" cy="6711569"/>
        </p:xfrm>
        <a:graphic>
          <a:graphicData uri="http://schemas.openxmlformats.org/drawingml/2006/table">
            <a:tbl>
              <a:tblPr/>
              <a:tblGrid>
                <a:gridCol w="3071813">
                  <a:extLst>
                    <a:ext uri="{9D8B030D-6E8A-4147-A177-3AD203B41FA5}">
                      <a16:colId xmlns:a16="http://schemas.microsoft.com/office/drawing/2014/main" val="20000"/>
                    </a:ext>
                  </a:extLst>
                </a:gridCol>
                <a:gridCol w="2905125">
                  <a:extLst>
                    <a:ext uri="{9D8B030D-6E8A-4147-A177-3AD203B41FA5}">
                      <a16:colId xmlns:a16="http://schemas.microsoft.com/office/drawing/2014/main" val="20001"/>
                    </a:ext>
                  </a:extLst>
                </a:gridCol>
                <a:gridCol w="2232025">
                  <a:extLst>
                    <a:ext uri="{9D8B030D-6E8A-4147-A177-3AD203B41FA5}">
                      <a16:colId xmlns:a16="http://schemas.microsoft.com/office/drawing/2014/main" val="20002"/>
                    </a:ext>
                  </a:extLst>
                </a:gridCol>
                <a:gridCol w="971550">
                  <a:extLst>
                    <a:ext uri="{9D8B030D-6E8A-4147-A177-3AD203B41FA5}">
                      <a16:colId xmlns:a16="http://schemas.microsoft.com/office/drawing/2014/main" val="20003"/>
                    </a:ext>
                  </a:extLst>
                </a:gridCol>
              </a:tblGrid>
              <a:tr h="765175">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مشخصات نشر</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مشخصات منبع </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مشخصات مولف</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نوع </a:t>
                      </a:r>
                    </a:p>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منبع</a:t>
                      </a:r>
                      <a:r>
                        <a:rPr kumimoji="0" lang="fa-IR"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 </a:t>
                      </a: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50950">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نام ناشر ويرگول  محل نشر ويرگول تاريخ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كتاب ويرگول شماره مجلد ويرگول شماره ويراست ويرگول نام و نام خانوادگي مترجم ويرگول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نام ونام خانوادگي مولف ويرگول</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كتاب</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35050">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مجله ويرگول شماره مسلسل ويرگول تاريخ نقطه ويرگول شماره صفحه (ها) نقطه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مقاله (محصور در علامت ”‌  ” ) ويرگول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به همان صورت بالا </a:t>
                      </a:r>
                    </a:p>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مقاله از مجله</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346200">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روزنامه ويرگول محل انتشار ويرگول تاريخ كامل ويرگول شماره صفحه ويرگول شماره ستون نقطه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مقاله ويرگول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به همان صورت بالا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مقاله از روزنامه</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76325">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شماره مجلد ويرگول تاريخ نقطه ويرگول شماره صفحه (ها) ويرگول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دائره المعارف ويرگول</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به همان صورت بالا </a:t>
                      </a:r>
                    </a:p>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مقاله از دائره المعارف</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035050">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نام ناشر ويرگول محل نشر ويرگول تاريخ نقطه ويرگول شماره صفحه(ها) نقطه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فرهنگ لغات ويرگول</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به همان صورت بالا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فرهنگ لغت</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 name="Rectangle 2"/>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3"/>
          <p:cNvSpPr>
            <a:spLocks noGrp="1" noChangeArrowheads="1"/>
          </p:cNvSpPr>
          <p:nvPr>
            <p:ph idx="1"/>
          </p:nvPr>
        </p:nvSpPr>
        <p:spPr>
          <a:xfrm>
            <a:off x="457200" y="981075"/>
            <a:ext cx="8229600" cy="5876925"/>
          </a:xfrm>
        </p:spPr>
        <p:txBody>
          <a:bodyPr/>
          <a:lstStyle/>
          <a:p>
            <a:pPr algn="justLow" rtl="1" eaLnBrk="1" hangingPunct="1">
              <a:lnSpc>
                <a:spcPct val="90000"/>
              </a:lnSpc>
              <a:buFont typeface="Wingdings" pitchFamily="2" charset="2"/>
              <a:buNone/>
            </a:pPr>
            <a:r>
              <a:rPr lang="fa-IR" sz="2400" b="1" smtClean="0"/>
              <a:t>معمولا در متن علمی – فنی به جای استفاده از پانوشت استنادی یا ارجاعی  در همان متن به یکی از دو روش زیر عمل می شود :</a:t>
            </a:r>
            <a:endParaRPr lang="en-US" sz="2400" b="1" smtClean="0"/>
          </a:p>
          <a:p>
            <a:pPr algn="justLow" rtl="1" eaLnBrk="1" hangingPunct="1">
              <a:lnSpc>
                <a:spcPct val="90000"/>
              </a:lnSpc>
              <a:buFont typeface="Wingdings" pitchFamily="2" charset="2"/>
              <a:buNone/>
            </a:pPr>
            <a:endParaRPr lang="fa-IR" sz="2400" b="1" smtClean="0"/>
          </a:p>
          <a:p>
            <a:pPr algn="justLow" rtl="1" eaLnBrk="1" hangingPunct="1">
              <a:lnSpc>
                <a:spcPct val="90000"/>
              </a:lnSpc>
              <a:buFont typeface="Wingdings" pitchFamily="2" charset="2"/>
              <a:buNone/>
            </a:pPr>
            <a:r>
              <a:rPr lang="fa-IR" sz="2400" b="1" smtClean="0"/>
              <a:t>1- ( نام خانوادگی مولف ، شماره منبع در فهرست منابع و شماره صفحه ) </a:t>
            </a:r>
          </a:p>
          <a:p>
            <a:pPr algn="justLow" rtl="1" eaLnBrk="1" hangingPunct="1">
              <a:lnSpc>
                <a:spcPct val="90000"/>
              </a:lnSpc>
              <a:buFont typeface="Wingdings" pitchFamily="2" charset="2"/>
              <a:buNone/>
            </a:pPr>
            <a:r>
              <a:rPr lang="fa-IR" sz="2400" b="1" smtClean="0"/>
              <a:t>     مثال : در متن فارسی    ( بیرشک ، 7 ، ص 20)</a:t>
            </a:r>
          </a:p>
          <a:p>
            <a:pPr algn="justLow" rtl="1" eaLnBrk="1" hangingPunct="1">
              <a:lnSpc>
                <a:spcPct val="90000"/>
              </a:lnSpc>
              <a:buFont typeface="Wingdings" pitchFamily="2" charset="2"/>
              <a:buNone/>
            </a:pPr>
            <a:r>
              <a:rPr lang="fa-IR" sz="2400" b="1" smtClean="0"/>
              <a:t>  در متن بیگانه   (  </a:t>
            </a:r>
            <a:r>
              <a:rPr lang="en-US" sz="2400" b="1" smtClean="0"/>
              <a:t> knuth  / 8 / p.52</a:t>
            </a:r>
            <a:r>
              <a:rPr lang="fa-IR" sz="2400" b="1" smtClean="0"/>
              <a:t>)</a:t>
            </a:r>
          </a:p>
          <a:p>
            <a:pPr algn="justLow" rtl="1" eaLnBrk="1" hangingPunct="1">
              <a:lnSpc>
                <a:spcPct val="90000"/>
              </a:lnSpc>
              <a:buFont typeface="Wingdings" pitchFamily="2" charset="2"/>
              <a:buNone/>
            </a:pPr>
            <a:r>
              <a:rPr lang="fa-IR" sz="2400" b="1" smtClean="0"/>
              <a:t> </a:t>
            </a:r>
          </a:p>
          <a:p>
            <a:pPr algn="justLow" rtl="1" eaLnBrk="1" hangingPunct="1">
              <a:lnSpc>
                <a:spcPct val="90000"/>
              </a:lnSpc>
              <a:buFont typeface="Wingdings" pitchFamily="2" charset="2"/>
              <a:buNone/>
            </a:pPr>
            <a:r>
              <a:rPr lang="fa-IR" sz="2400" b="1" smtClean="0"/>
              <a:t>2-  ( نام و نام خانوادگی مولف   تاریخ نشر  )</a:t>
            </a:r>
          </a:p>
          <a:p>
            <a:pPr algn="justLow" rtl="1" eaLnBrk="1" hangingPunct="1">
              <a:lnSpc>
                <a:spcPct val="90000"/>
              </a:lnSpc>
              <a:buFont typeface="Wingdings" pitchFamily="2" charset="2"/>
              <a:buNone/>
            </a:pPr>
            <a:r>
              <a:rPr lang="fa-IR" sz="2400" b="1" smtClean="0"/>
              <a:t>     </a:t>
            </a:r>
          </a:p>
          <a:p>
            <a:pPr algn="justLow" rtl="1" eaLnBrk="1" hangingPunct="1">
              <a:lnSpc>
                <a:spcPct val="90000"/>
              </a:lnSpc>
              <a:buFont typeface="Wingdings" pitchFamily="2" charset="2"/>
              <a:buNone/>
            </a:pPr>
            <a:r>
              <a:rPr lang="fa-IR" sz="2400" b="1" smtClean="0"/>
              <a:t>      مثال : در متن فارسی ( ادیب سلطانی   1365)</a:t>
            </a:r>
          </a:p>
          <a:p>
            <a:pPr algn="justLow" rtl="1" eaLnBrk="1" hangingPunct="1">
              <a:lnSpc>
                <a:spcPct val="90000"/>
              </a:lnSpc>
              <a:buFont typeface="Wingdings" pitchFamily="2" charset="2"/>
              <a:buNone/>
            </a:pPr>
            <a:r>
              <a:rPr lang="fa-IR" sz="2400" b="1" smtClean="0"/>
              <a:t>               در متن بیگانه  ( </a:t>
            </a:r>
            <a:r>
              <a:rPr lang="en-US" sz="2400" b="1" smtClean="0"/>
              <a:t>tannbaum   1997</a:t>
            </a:r>
            <a:r>
              <a:rPr lang="fa-IR" sz="2400" b="1" smtClean="0"/>
              <a:t> )</a:t>
            </a:r>
          </a:p>
          <a:p>
            <a:pPr algn="justLow" rtl="1" eaLnBrk="1" hangingPunct="1">
              <a:lnSpc>
                <a:spcPct val="90000"/>
              </a:lnSpc>
              <a:buFont typeface="Wingdings" pitchFamily="2" charset="2"/>
              <a:buNone/>
            </a:pPr>
            <a:r>
              <a:rPr lang="fa-IR" sz="2400" b="1" smtClean="0"/>
              <a:t>اگر از یک مولف بیش از یک اثر در فهرست آمده باشد  آنها را به کمک حروف الفبا مشخص می کنیم .</a:t>
            </a:r>
          </a:p>
          <a:p>
            <a:pPr algn="justLow" rtl="1" eaLnBrk="1" hangingPunct="1">
              <a:lnSpc>
                <a:spcPct val="90000"/>
              </a:lnSpc>
              <a:buFont typeface="Wingdings" pitchFamily="2" charset="2"/>
              <a:buNone/>
            </a:pPr>
            <a:r>
              <a:rPr lang="fa-IR" sz="2400" b="1" smtClean="0"/>
              <a:t> مثال  :  ( آرام   1358- الف )</a:t>
            </a:r>
            <a:r>
              <a:rPr lang="fa-IR" sz="2400" smtClean="0"/>
              <a:t> </a:t>
            </a:r>
            <a:endParaRPr lang="en-US" sz="2400" smtClean="0"/>
          </a:p>
        </p:txBody>
      </p:sp>
      <p:sp>
        <p:nvSpPr>
          <p:cNvPr id="130050" name="Rectangle 2"/>
          <p:cNvSpPr>
            <a:spLocks noGrp="1" noChangeArrowheads="1"/>
          </p:cNvSpPr>
          <p:nvPr>
            <p:ph type="title"/>
          </p:nvPr>
        </p:nvSpPr>
        <p:spPr>
          <a:xfrm>
            <a:off x="785786" y="277813"/>
            <a:ext cx="7858180" cy="703262"/>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dirty="0" smtClean="0">
                <a:solidFill>
                  <a:srgbClr val="FF0000"/>
                </a:solidFill>
                <a:effectLst/>
                <a:cs typeface="B Titr" pitchFamily="2" charset="-78"/>
              </a:rPr>
              <a:t> روش استناد یا ارجاع در متون علمی – فنی : </a:t>
            </a:r>
            <a:endParaRPr lang="en-US" dirty="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4">
            <a:hlinkClick r:id="rId2" action="ppaction://hlinksldjump"/>
          </p:cNvPr>
          <p:cNvSpPr txBox="1">
            <a:spLocks noChangeArrowheads="1"/>
          </p:cNvSpPr>
          <p:nvPr/>
        </p:nvSpPr>
        <p:spPr bwMode="auto">
          <a:xfrm>
            <a:off x="1763713" y="2522538"/>
            <a:ext cx="5616575" cy="762000"/>
          </a:xfrm>
          <a:prstGeom prst="rect">
            <a:avLst/>
          </a:prstGeom>
          <a:noFill/>
          <a:ln w="9525">
            <a:noFill/>
            <a:miter lim="800000"/>
            <a:headEnd/>
            <a:tailEnd/>
          </a:ln>
        </p:spPr>
        <p:txBody>
          <a:bodyPr>
            <a:spAutoFit/>
          </a:bodyPr>
          <a:lstStyle/>
          <a:p>
            <a:pPr rtl="1"/>
            <a:r>
              <a:rPr lang="fa-IR" sz="4400" dirty="0">
                <a:solidFill>
                  <a:schemeClr val="tx1"/>
                </a:solidFill>
                <a:cs typeface="B Titr" panose="00000700000000000000" pitchFamily="2" charset="-78"/>
              </a:rPr>
              <a:t>استفاده از </a:t>
            </a:r>
            <a:r>
              <a:rPr lang="fa-IR" sz="4400" dirty="0" err="1">
                <a:solidFill>
                  <a:schemeClr val="tx1"/>
                </a:solidFill>
                <a:cs typeface="B Titr" panose="00000700000000000000" pitchFamily="2" charset="-78"/>
              </a:rPr>
              <a:t>شكل</a:t>
            </a:r>
            <a:r>
              <a:rPr lang="fa-IR" sz="4400" dirty="0">
                <a:solidFill>
                  <a:schemeClr val="tx1"/>
                </a:solidFill>
                <a:cs typeface="B Titr" panose="00000700000000000000" pitchFamily="2" charset="-78"/>
              </a:rPr>
              <a:t> و جدول </a:t>
            </a:r>
            <a:endParaRPr lang="en-US" sz="4400" dirty="0">
              <a:solidFill>
                <a:schemeClr val="tx1"/>
              </a:solidFill>
              <a:cs typeface="B Titr" panose="00000700000000000000" pitchFamily="2" charset="-78"/>
            </a:endParaRPr>
          </a:p>
        </p:txBody>
      </p:sp>
    </p:spTree>
  </p:cSld>
  <p:clrMapOvr>
    <a:masterClrMapping/>
  </p:clrMapOvr>
  <p:transition spd="med">
    <p:wipe dir="d"/>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3"/>
          <p:cNvSpPr>
            <a:spLocks noGrp="1" noChangeArrowheads="1"/>
          </p:cNvSpPr>
          <p:nvPr>
            <p:ph idx="1"/>
          </p:nvPr>
        </p:nvSpPr>
        <p:spPr/>
        <p:txBody>
          <a:bodyPr/>
          <a:lstStyle/>
          <a:p>
            <a:pPr algn="justLow" rtl="1" eaLnBrk="1" hangingPunct="1">
              <a:buFont typeface="Wingdings" pitchFamily="2" charset="2"/>
              <a:buNone/>
            </a:pPr>
            <a:r>
              <a:rPr lang="fa-IR" sz="4000" b="1" smtClean="0"/>
              <a:t>شکل امکانی است برای کمک به افزایش وضوح ارائه و سرعت بخشیدن و آسان کردن دریافت و درک مطلب برای مخاطب . </a:t>
            </a:r>
          </a:p>
          <a:p>
            <a:pPr algn="justLow" rtl="1" eaLnBrk="1" hangingPunct="1">
              <a:buFont typeface="Wingdings" pitchFamily="2" charset="2"/>
              <a:buNone/>
            </a:pPr>
            <a:r>
              <a:rPr lang="fa-IR" sz="4000" b="1" smtClean="0"/>
              <a:t>استفاده از شکل در متون علمی – فنی بسیار رایج است . نقش اطلاع رسانی یک شکل خوب و مناسب معادل نقش صدها کلمه است .</a:t>
            </a:r>
            <a:endParaRPr lang="en-US" sz="4000" b="1" smtClean="0"/>
          </a:p>
        </p:txBody>
      </p:sp>
      <p:sp>
        <p:nvSpPr>
          <p:cNvPr id="13209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شکل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3"/>
          <p:cNvSpPr>
            <a:spLocks noGrp="1" noChangeArrowheads="1"/>
          </p:cNvSpPr>
          <p:nvPr>
            <p:ph idx="1"/>
          </p:nvPr>
        </p:nvSpPr>
        <p:spPr/>
        <p:txBody>
          <a:bodyPr/>
          <a:lstStyle/>
          <a:p>
            <a:pPr algn="r" rtl="1" eaLnBrk="1" hangingPunct="1"/>
            <a:r>
              <a:rPr lang="fa-IR" b="1" smtClean="0"/>
              <a:t>رسم </a:t>
            </a:r>
            <a:endParaRPr lang="en-US" smtClean="0"/>
          </a:p>
          <a:p>
            <a:pPr algn="r" rtl="1" eaLnBrk="1" hangingPunct="1"/>
            <a:r>
              <a:rPr lang="fa-IR" b="1" smtClean="0"/>
              <a:t>عکس  </a:t>
            </a:r>
            <a:endParaRPr lang="en-US" smtClean="0"/>
          </a:p>
          <a:p>
            <a:pPr algn="r" rtl="1" eaLnBrk="1" hangingPunct="1"/>
            <a:r>
              <a:rPr lang="fa-IR" b="1" smtClean="0"/>
              <a:t>نقشه </a:t>
            </a:r>
            <a:endParaRPr lang="en-US" smtClean="0"/>
          </a:p>
          <a:p>
            <a:pPr algn="r" rtl="1" eaLnBrk="1" hangingPunct="1"/>
            <a:r>
              <a:rPr lang="fa-IR" b="1" smtClean="0"/>
              <a:t>منحنی </a:t>
            </a:r>
            <a:endParaRPr lang="en-US" smtClean="0"/>
          </a:p>
          <a:p>
            <a:pPr algn="r" rtl="1" eaLnBrk="1" hangingPunct="1"/>
            <a:r>
              <a:rPr lang="fa-IR" b="1" smtClean="0"/>
              <a:t>گراف </a:t>
            </a:r>
            <a:endParaRPr lang="en-US" smtClean="0"/>
          </a:p>
          <a:p>
            <a:pPr algn="r" rtl="1" eaLnBrk="1" hangingPunct="1"/>
            <a:r>
              <a:rPr lang="fa-IR" b="1" smtClean="0"/>
              <a:t>نمودار ( خطی ، میله ای ، سطحی ، حجمی ، پیکتو گراف و ...  ) </a:t>
            </a:r>
            <a:endParaRPr lang="en-US" smtClean="0"/>
          </a:p>
          <a:p>
            <a:pPr algn="r" rtl="1" eaLnBrk="1" hangingPunct="1"/>
            <a:endParaRPr lang="en-US" smtClean="0"/>
          </a:p>
        </p:txBody>
      </p:sp>
      <p:sp>
        <p:nvSpPr>
          <p:cNvPr id="13312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گونه های مختلف شکل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4190" name="Group 46"/>
          <p:cNvGraphicFramePr>
            <a:graphicFrameLocks noGrp="1"/>
          </p:cNvGraphicFramePr>
          <p:nvPr/>
        </p:nvGraphicFramePr>
        <p:xfrm>
          <a:off x="1547813" y="765175"/>
          <a:ext cx="6096000" cy="5669280"/>
        </p:xfrm>
        <a:graphic>
          <a:graphicData uri="http://schemas.openxmlformats.org/drawingml/2006/table">
            <a:tbl>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9350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تعداد شكلها و جدولها</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تعداد صفحات</a:t>
                      </a:r>
                      <a:r>
                        <a:rPr kumimoji="0" lang="fa-IR" sz="3600" b="0"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 </a:t>
                      </a:r>
                      <a:endParaRPr kumimoji="0" lang="en-US" sz="3600" b="0"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0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 يا 2</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2/1</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 يا 2</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80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 يا 2</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2</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80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1-6</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3</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80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1-8</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4</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80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1-12</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6</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11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1-15</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8</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 name="Rectangle 2"/>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3"/>
          <p:cNvSpPr>
            <a:spLocks noGrp="1" noChangeArrowheads="1"/>
          </p:cNvSpPr>
          <p:nvPr>
            <p:ph idx="1"/>
          </p:nvPr>
        </p:nvSpPr>
        <p:spPr/>
        <p:txBody>
          <a:bodyPr/>
          <a:lstStyle/>
          <a:p>
            <a:pPr algn="r" rtl="1" eaLnBrk="1" hangingPunct="1">
              <a:lnSpc>
                <a:spcPct val="90000"/>
              </a:lnSpc>
            </a:pPr>
            <a:r>
              <a:rPr lang="fa-IR" b="1" smtClean="0"/>
              <a:t>سادگی و وضوح </a:t>
            </a:r>
            <a:endParaRPr lang="en-US" smtClean="0"/>
          </a:p>
          <a:p>
            <a:pPr algn="r" rtl="1" eaLnBrk="1" hangingPunct="1">
              <a:lnSpc>
                <a:spcPct val="90000"/>
              </a:lnSpc>
            </a:pPr>
            <a:r>
              <a:rPr lang="fa-IR" b="1" smtClean="0"/>
              <a:t>وحدت ایده </a:t>
            </a:r>
            <a:endParaRPr lang="en-US" smtClean="0"/>
          </a:p>
          <a:p>
            <a:pPr algn="r" rtl="1" eaLnBrk="1" hangingPunct="1">
              <a:lnSpc>
                <a:spcPct val="90000"/>
              </a:lnSpc>
            </a:pPr>
            <a:r>
              <a:rPr lang="fa-IR" b="1" smtClean="0"/>
              <a:t>استقلال از متن </a:t>
            </a:r>
            <a:endParaRPr lang="en-US" smtClean="0"/>
          </a:p>
          <a:p>
            <a:pPr algn="r" rtl="1" eaLnBrk="1" hangingPunct="1">
              <a:lnSpc>
                <a:spcPct val="90000"/>
              </a:lnSpc>
            </a:pPr>
            <a:r>
              <a:rPr lang="fa-IR" b="1" smtClean="0"/>
              <a:t>تناسب با متناظر واقعی </a:t>
            </a:r>
            <a:endParaRPr lang="en-US" smtClean="0"/>
          </a:p>
          <a:p>
            <a:pPr algn="r" rtl="1" eaLnBrk="1" hangingPunct="1">
              <a:lnSpc>
                <a:spcPct val="90000"/>
              </a:lnSpc>
            </a:pPr>
            <a:r>
              <a:rPr lang="fa-IR" b="1" smtClean="0"/>
              <a:t>مقیاس داشته باشد </a:t>
            </a:r>
            <a:endParaRPr lang="en-US" smtClean="0"/>
          </a:p>
          <a:p>
            <a:pPr algn="r" rtl="1" eaLnBrk="1" hangingPunct="1">
              <a:lnSpc>
                <a:spcPct val="90000"/>
              </a:lnSpc>
            </a:pPr>
            <a:r>
              <a:rPr lang="fa-IR" b="1" smtClean="0"/>
              <a:t>دارای نمادها و علائم راهنمای لازم باشد </a:t>
            </a:r>
            <a:endParaRPr lang="en-US" smtClean="0"/>
          </a:p>
          <a:p>
            <a:pPr algn="r" rtl="1" eaLnBrk="1" hangingPunct="1">
              <a:lnSpc>
                <a:spcPct val="90000"/>
              </a:lnSpc>
            </a:pPr>
            <a:r>
              <a:rPr lang="fa-IR" b="1" smtClean="0"/>
              <a:t>دارای شماره و عنوان باشد </a:t>
            </a:r>
            <a:endParaRPr lang="en-US" smtClean="0"/>
          </a:p>
          <a:p>
            <a:pPr algn="r" rtl="1" eaLnBrk="1" hangingPunct="1">
              <a:lnSpc>
                <a:spcPct val="90000"/>
              </a:lnSpc>
            </a:pPr>
            <a:r>
              <a:rPr lang="fa-IR" b="1" smtClean="0"/>
              <a:t>اندازه مناسب </a:t>
            </a:r>
            <a:endParaRPr lang="en-US" smtClean="0"/>
          </a:p>
          <a:p>
            <a:pPr algn="r" rtl="1" eaLnBrk="1" hangingPunct="1">
              <a:lnSpc>
                <a:spcPct val="90000"/>
              </a:lnSpc>
            </a:pPr>
            <a:endParaRPr lang="en-US" smtClean="0"/>
          </a:p>
        </p:txBody>
      </p:sp>
      <p:sp>
        <p:nvSpPr>
          <p:cNvPr id="13619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ویژگیهای شکل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p:cNvSpPr>
            <a:spLocks noGrp="1" noChangeArrowheads="1"/>
          </p:cNvSpPr>
          <p:nvPr>
            <p:ph idx="1"/>
          </p:nvPr>
        </p:nvSpPr>
        <p:spPr>
          <a:xfrm>
            <a:off x="457200" y="1600200"/>
            <a:ext cx="8229600" cy="5257800"/>
          </a:xfrm>
        </p:spPr>
        <p:txBody>
          <a:bodyPr/>
          <a:lstStyle/>
          <a:p>
            <a:pPr algn="justLow" rtl="1" eaLnBrk="1" hangingPunct="1">
              <a:buFont typeface="Wingdings" pitchFamily="2" charset="2"/>
              <a:buNone/>
            </a:pPr>
            <a:r>
              <a:rPr lang="fa-IR" b="1" smtClean="0"/>
              <a:t>شکل باید حتی الامکان نزدیک به متن مربوطه اش و بین دو نوشتپار و با دو سطر فاصله از آنها درج شود اگر حداکثر 3 صفحه از متن مربوطه اش فاصله داشته باشد قید شماره شکل برای ارجاع به آن کفایت می کند در غیر اینصورت شماره صفحه را هم باید قید کرد . اگر شکل از منبعی گرفته شده باشد حتما باید منبع را معرفی کنیم .</a:t>
            </a:r>
            <a:endParaRPr lang="en-US" b="1" smtClean="0"/>
          </a:p>
        </p:txBody>
      </p:sp>
      <p:sp>
        <p:nvSpPr>
          <p:cNvPr id="13721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محل درج و نحوه ارجاع شکل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3"/>
          <p:cNvSpPr>
            <a:spLocks noGrp="1" noChangeArrowheads="1"/>
          </p:cNvSpPr>
          <p:nvPr>
            <p:ph idx="1"/>
          </p:nvPr>
        </p:nvSpPr>
        <p:spPr>
          <a:xfrm>
            <a:off x="457200" y="1600200"/>
            <a:ext cx="8229600" cy="5257800"/>
          </a:xfrm>
        </p:spPr>
        <p:txBody>
          <a:bodyPr/>
          <a:lstStyle/>
          <a:p>
            <a:pPr algn="justLow" rtl="1" eaLnBrk="1" hangingPunct="1">
              <a:buFont typeface="Wingdings" pitchFamily="2" charset="2"/>
              <a:buNone/>
            </a:pPr>
            <a:r>
              <a:rPr lang="fa-IR" sz="3600" b="1" smtClean="0"/>
              <a:t>جدول ساختاری است منظم حاوی مجموعه ای از داده ها مانند رقمها ، نشانه ها ، کوته نوشتها ، نامها وخلاصه مطالب که معمولا بهم مربوطند و یا ربط داده می شوند . جدول امکانی است برای ارائه یک ایده و یا جمع بندی یک بحث و به عنوان وسیله تجزیه و تحلیل کمی و کیفی اطلاعات مورد استفاده قرار می گیرد .</a:t>
            </a:r>
            <a:endParaRPr lang="en-US" sz="3600" b="1" smtClean="0"/>
          </a:p>
        </p:txBody>
      </p:sp>
      <p:sp>
        <p:nvSpPr>
          <p:cNvPr id="13824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جدول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3"/>
          <p:cNvSpPr>
            <a:spLocks noGrp="1" noChangeArrowheads="1"/>
          </p:cNvSpPr>
          <p:nvPr>
            <p:ph idx="1"/>
          </p:nvPr>
        </p:nvSpPr>
        <p:spPr>
          <a:xfrm>
            <a:off x="457200" y="1600200"/>
            <a:ext cx="8229600" cy="5257800"/>
          </a:xfrm>
        </p:spPr>
        <p:txBody>
          <a:bodyPr/>
          <a:lstStyle/>
          <a:p>
            <a:pPr algn="r" rtl="1" eaLnBrk="1" hangingPunct="1">
              <a:lnSpc>
                <a:spcPct val="90000"/>
              </a:lnSpc>
            </a:pPr>
            <a:r>
              <a:rPr lang="fa-IR" sz="2400" b="1" smtClean="0"/>
              <a:t>جدول  باید ساده و واضح و خوشنما باشد </a:t>
            </a:r>
            <a:endParaRPr lang="en-US" sz="2400" smtClean="0"/>
          </a:p>
          <a:p>
            <a:pPr algn="r" rtl="1" eaLnBrk="1" hangingPunct="1">
              <a:lnSpc>
                <a:spcPct val="90000"/>
              </a:lnSpc>
            </a:pPr>
            <a:r>
              <a:rPr lang="fa-IR" sz="2400" b="1" smtClean="0"/>
              <a:t>جدول باید فشرده و منحصر باشد </a:t>
            </a:r>
            <a:endParaRPr lang="en-US" sz="2400" smtClean="0"/>
          </a:p>
          <a:p>
            <a:pPr algn="r" rtl="1" eaLnBrk="1" hangingPunct="1">
              <a:lnSpc>
                <a:spcPct val="90000"/>
              </a:lnSpc>
            </a:pPr>
            <a:r>
              <a:rPr lang="fa-IR" sz="2400" b="1" smtClean="0"/>
              <a:t>جدول باید وحدت ایده داشته باشد </a:t>
            </a:r>
            <a:endParaRPr lang="en-US" sz="2400" smtClean="0"/>
          </a:p>
          <a:p>
            <a:pPr algn="r" rtl="1" eaLnBrk="1" hangingPunct="1">
              <a:lnSpc>
                <a:spcPct val="90000"/>
              </a:lnSpc>
            </a:pPr>
            <a:r>
              <a:rPr lang="fa-IR" sz="2400" b="1" smtClean="0"/>
              <a:t>جدول باید استقلال وجودی داشته باشد </a:t>
            </a:r>
            <a:endParaRPr lang="en-US" sz="2400" smtClean="0"/>
          </a:p>
          <a:p>
            <a:pPr algn="r" rtl="1" eaLnBrk="1" hangingPunct="1">
              <a:lnSpc>
                <a:spcPct val="90000"/>
              </a:lnSpc>
            </a:pPr>
            <a:r>
              <a:rPr lang="fa-IR" sz="2400" b="1" smtClean="0"/>
              <a:t>جدول باید قابل ارائه بصورتهای مختلف چاپی باشد </a:t>
            </a:r>
            <a:endParaRPr lang="en-US" sz="2400" smtClean="0"/>
          </a:p>
          <a:p>
            <a:pPr algn="r" rtl="1" eaLnBrk="1" hangingPunct="1">
              <a:lnSpc>
                <a:spcPct val="90000"/>
              </a:lnSpc>
            </a:pPr>
            <a:r>
              <a:rPr lang="fa-IR" sz="2400" b="1" smtClean="0"/>
              <a:t>اندازه اش مناسب باشد </a:t>
            </a:r>
            <a:endParaRPr lang="en-US" sz="2400" smtClean="0"/>
          </a:p>
          <a:p>
            <a:pPr algn="r" rtl="1" eaLnBrk="1" hangingPunct="1">
              <a:lnSpc>
                <a:spcPct val="90000"/>
              </a:lnSpc>
            </a:pPr>
            <a:r>
              <a:rPr lang="fa-IR" sz="2400" b="1" smtClean="0"/>
              <a:t>کرانهای راست و چپ جدول باید از کرانهای راست و چپ  کاغذ فاصله داشته باشد </a:t>
            </a:r>
            <a:endParaRPr lang="en-US" sz="2400" smtClean="0"/>
          </a:p>
          <a:p>
            <a:pPr algn="r" rtl="1" eaLnBrk="1" hangingPunct="1">
              <a:lnSpc>
                <a:spcPct val="90000"/>
              </a:lnSpc>
            </a:pPr>
            <a:r>
              <a:rPr lang="fa-IR" sz="2400" b="1" smtClean="0"/>
              <a:t>برای رسم جدول استفاده از سه خط افقی کافی است </a:t>
            </a:r>
            <a:endParaRPr lang="en-US" sz="2400" smtClean="0"/>
          </a:p>
          <a:p>
            <a:pPr algn="r" rtl="1" eaLnBrk="1" hangingPunct="1">
              <a:lnSpc>
                <a:spcPct val="90000"/>
              </a:lnSpc>
            </a:pPr>
            <a:r>
              <a:rPr lang="fa-IR" sz="2400" b="1" smtClean="0"/>
              <a:t>جدول باید دارای شماره و عنوان باشد </a:t>
            </a:r>
            <a:endParaRPr lang="en-US" sz="2400" smtClean="0"/>
          </a:p>
          <a:p>
            <a:pPr algn="r" rtl="1" eaLnBrk="1" hangingPunct="1">
              <a:lnSpc>
                <a:spcPct val="90000"/>
              </a:lnSpc>
            </a:pPr>
            <a:r>
              <a:rPr lang="fa-IR" sz="2400" b="1" smtClean="0"/>
              <a:t>جدول لزوما همیشه حاوی اعداد و ارقام نیست </a:t>
            </a:r>
            <a:endParaRPr lang="en-US" sz="2400" smtClean="0"/>
          </a:p>
          <a:p>
            <a:pPr algn="r" rtl="1" eaLnBrk="1" hangingPunct="1">
              <a:lnSpc>
                <a:spcPct val="90000"/>
              </a:lnSpc>
            </a:pPr>
            <a:r>
              <a:rPr lang="fa-IR" sz="2400" b="1" smtClean="0"/>
              <a:t>در متن باید توضیحاتی در حد لازم و اختصار در مورد جدول آورده شود</a:t>
            </a:r>
            <a:r>
              <a:rPr lang="fa-IR" sz="2400" smtClean="0"/>
              <a:t> </a:t>
            </a:r>
            <a:endParaRPr lang="en-US" sz="2400" smtClean="0"/>
          </a:p>
        </p:txBody>
      </p:sp>
      <p:sp>
        <p:nvSpPr>
          <p:cNvPr id="13926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ویژگیهای جدول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4"/>
          <p:cNvSpPr>
            <a:spLocks noChangeArrowheads="1"/>
          </p:cNvSpPr>
          <p:nvPr/>
        </p:nvSpPr>
        <p:spPr bwMode="auto">
          <a:xfrm>
            <a:off x="3917950" y="825500"/>
            <a:ext cx="4484688" cy="528638"/>
          </a:xfrm>
          <a:prstGeom prst="rect">
            <a:avLst/>
          </a:prstGeom>
          <a:solidFill>
            <a:schemeClr val="bg1"/>
          </a:solidFill>
          <a:ln w="9525" algn="ctr">
            <a:solidFill>
              <a:schemeClr val="bg1"/>
            </a:solidFill>
            <a:miter lim="800000"/>
            <a:headEnd/>
            <a:tailEnd/>
          </a:ln>
        </p:spPr>
        <p:txBody>
          <a:bodyPr wrap="none" anchor="ctr">
            <a:spAutoFit/>
          </a:bodyPr>
          <a:lstStyle/>
          <a:p>
            <a:r>
              <a:rPr lang="fa-IR" sz="2800">
                <a:solidFill>
                  <a:schemeClr val="tx1"/>
                </a:solidFill>
              </a:rPr>
              <a:t>جدول   ...... : .........................</a:t>
            </a:r>
            <a:endParaRPr lang="en-US" sz="2800">
              <a:solidFill>
                <a:schemeClr val="tx1"/>
              </a:solidFill>
            </a:endParaRPr>
          </a:p>
        </p:txBody>
      </p:sp>
      <p:graphicFrame>
        <p:nvGraphicFramePr>
          <p:cNvPr id="140572" name="Group 284"/>
          <p:cNvGraphicFramePr>
            <a:graphicFrameLocks noGrp="1"/>
          </p:cNvGraphicFramePr>
          <p:nvPr/>
        </p:nvGraphicFramePr>
        <p:xfrm>
          <a:off x="611188" y="1557338"/>
          <a:ext cx="8032750" cy="808038"/>
        </p:xfrm>
        <a:graphic>
          <a:graphicData uri="http://schemas.openxmlformats.org/drawingml/2006/table">
            <a:tbl>
              <a:tblPr/>
              <a:tblGrid>
                <a:gridCol w="1628775">
                  <a:extLst>
                    <a:ext uri="{9D8B030D-6E8A-4147-A177-3AD203B41FA5}">
                      <a16:colId xmlns:a16="http://schemas.microsoft.com/office/drawing/2014/main" val="20000"/>
                    </a:ext>
                  </a:extLst>
                </a:gridCol>
                <a:gridCol w="1404937">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gridCol w="1952625">
                  <a:extLst>
                    <a:ext uri="{9D8B030D-6E8A-4147-A177-3AD203B41FA5}">
                      <a16:colId xmlns:a16="http://schemas.microsoft.com/office/drawing/2014/main" val="20003"/>
                    </a:ext>
                  </a:extLst>
                </a:gridCol>
                <a:gridCol w="1712913">
                  <a:extLst>
                    <a:ext uri="{9D8B030D-6E8A-4147-A177-3AD203B41FA5}">
                      <a16:colId xmlns:a16="http://schemas.microsoft.com/office/drawing/2014/main" val="20004"/>
                    </a:ext>
                  </a:extLst>
                </a:gridCol>
              </a:tblGrid>
              <a:tr h="8080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عنوان ستون</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عنوان ستون</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2107" name="Line 286"/>
          <p:cNvSpPr>
            <a:spLocks noChangeShapeType="1"/>
          </p:cNvSpPr>
          <p:nvPr/>
        </p:nvSpPr>
        <p:spPr bwMode="auto">
          <a:xfrm flipH="1">
            <a:off x="611188" y="5373688"/>
            <a:ext cx="7993062" cy="71437"/>
          </a:xfrm>
          <a:prstGeom prst="line">
            <a:avLst/>
          </a:prstGeom>
          <a:noFill/>
          <a:ln w="9525">
            <a:solidFill>
              <a:schemeClr val="tx1"/>
            </a:solidFill>
            <a:round/>
            <a:headEnd/>
            <a:tailEnd/>
          </a:ln>
        </p:spPr>
        <p:txBody>
          <a:bodyPr>
            <a:spAutoFit/>
          </a:bodyPr>
          <a:lstStyle/>
          <a:p>
            <a:endParaRPr lang="en-US"/>
          </a:p>
        </p:txBody>
      </p:sp>
    </p:spTree>
  </p:cSld>
  <p:clrMapOvr>
    <a:masterClrMapping/>
  </p:clrMapOvr>
  <p:transition spd="med">
    <p:wipe dir="d"/>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0233" name="Group 489"/>
          <p:cNvGraphicFramePr>
            <a:graphicFrameLocks noGrp="1"/>
          </p:cNvGraphicFramePr>
          <p:nvPr/>
        </p:nvGraphicFramePr>
        <p:xfrm>
          <a:off x="1258888" y="-26988"/>
          <a:ext cx="6672262" cy="6918960"/>
        </p:xfrm>
        <a:graphic>
          <a:graphicData uri="http://schemas.openxmlformats.org/drawingml/2006/table">
            <a:tbl>
              <a:tblPr/>
              <a:tblGrid>
                <a:gridCol w="2608262">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رنگ كاغذ</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رنگ جوهر </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ar-SA"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ر</a:t>
                      </a:r>
                      <a:r>
                        <a:rPr kumimoji="0" lang="fa-IR"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ديف</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3388">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زرد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سياه </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سفيد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سبز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2</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سفيد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قرمز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3</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9875">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سفيد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آبي</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4</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آبي</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سفيد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5</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سفيد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سياه</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6</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9875">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قرمز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زرد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7</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سبز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سفيد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8</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قرمز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سفيد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9</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69875">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سياه </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سفيد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10</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زرد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قرمز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11</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قرمز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سبز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12</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69875">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سبز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قرمز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13</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قرمز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آبي</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14</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Tree>
  </p:cSld>
  <p:clrMapOvr>
    <a:masterClrMapping/>
  </p:clrMapOvr>
  <p:transition spd="med">
    <p:wipe dir="d"/>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3"/>
          <p:cNvSpPr>
            <a:spLocks noGrp="1" noChangeArrowheads="1"/>
          </p:cNvSpPr>
          <p:nvPr>
            <p:ph idx="1"/>
          </p:nvPr>
        </p:nvSpPr>
        <p:spPr/>
        <p:txBody>
          <a:bodyPr/>
          <a:lstStyle/>
          <a:p>
            <a:pPr algn="justLow" rtl="1" eaLnBrk="1" hangingPunct="1">
              <a:buFont typeface="Wingdings" pitchFamily="2" charset="2"/>
              <a:buNone/>
            </a:pPr>
            <a:r>
              <a:rPr lang="fa-IR" b="1" smtClean="0"/>
              <a:t>این دو جزء در پایان متن اصلی درج می شوند. اندازه نتیجه و خلاصه بستگی به اندازه متن اصلی دارد مثلا در مورد مقاله علمی – فنی ( 8 تا12 صفحه ) هر یک از این دو جزء یک یا دو نوشتپار است .</a:t>
            </a:r>
            <a:endParaRPr lang="en-US" b="1" smtClean="0"/>
          </a:p>
        </p:txBody>
      </p:sp>
      <p:sp>
        <p:nvSpPr>
          <p:cNvPr id="14131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نتیجه و خلاصه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3"/>
          <p:cNvSpPr>
            <a:spLocks noGrp="1" noChangeArrowheads="1"/>
          </p:cNvSpPr>
          <p:nvPr>
            <p:ph idx="1"/>
          </p:nvPr>
        </p:nvSpPr>
        <p:spPr/>
        <p:txBody>
          <a:bodyPr/>
          <a:lstStyle/>
          <a:p>
            <a:pPr algn="justLow" rtl="1" eaLnBrk="1" hangingPunct="1">
              <a:buFont typeface="Wingdings" pitchFamily="2" charset="2"/>
              <a:buNone/>
            </a:pPr>
            <a:r>
              <a:rPr lang="fa-IR" b="1" dirty="0" smtClean="0"/>
              <a:t>هر مطلبی که نوشته می شود به ویژه مطالب علمی و فنی نتیجه ای دارد . نتیجه یک مطلب منظور اصلی و نهایی آن است . مخاطب ارائه نوشتاری همیشه انتظار دارد که از نتیجه نهایی آن گونه که مورد نظر ارائه کننده است آگاه شود و احیانا ان را با نتیجه ای که خود از متن اصلی </a:t>
            </a:r>
            <a:r>
              <a:rPr lang="fa-IR" b="1" dirty="0" err="1" smtClean="0"/>
              <a:t>می‌گیرد</a:t>
            </a:r>
            <a:r>
              <a:rPr lang="fa-IR" b="1" dirty="0" smtClean="0"/>
              <a:t> مقایسه کند .</a:t>
            </a:r>
            <a:endParaRPr lang="en-US" b="1" dirty="0" smtClean="0"/>
          </a:p>
        </p:txBody>
      </p:sp>
      <p:sp>
        <p:nvSpPr>
          <p:cNvPr id="14233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نتیجه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3"/>
          <p:cNvSpPr>
            <a:spLocks noGrp="1" noChangeArrowheads="1"/>
          </p:cNvSpPr>
          <p:nvPr>
            <p:ph idx="1"/>
          </p:nvPr>
        </p:nvSpPr>
        <p:spPr>
          <a:xfrm>
            <a:off x="457200" y="1600200"/>
            <a:ext cx="8229600" cy="4997450"/>
          </a:xfrm>
        </p:spPr>
        <p:txBody>
          <a:bodyPr/>
          <a:lstStyle/>
          <a:p>
            <a:pPr algn="ctr" eaLnBrk="1" hangingPunct="1">
              <a:buFont typeface="Wingdings" pitchFamily="2" charset="2"/>
              <a:buNone/>
            </a:pPr>
            <a:r>
              <a:rPr lang="fa-IR" sz="3600" b="1" smtClean="0"/>
              <a:t>در تنظیم نتیجه ضمن جمع بندی استدلالها و بیان مختصر ارتباط منطقی بین مفاهیم اساسی و ایده اصلی بحث  نتیجه یا نتایج مهم را بصورت ساده و واضح بیان می کنیم . چنانچه متن اصلی از چند فصل یا قسمت تشکیل شده باشد بهتر است نتیجه هر فصل در انتهای آن درج شود .</a:t>
            </a:r>
            <a:endParaRPr lang="en-US" sz="3600" b="1" smtClean="0"/>
          </a:p>
        </p:txBody>
      </p:sp>
      <p:sp>
        <p:nvSpPr>
          <p:cNvPr id="14336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نحوه تنظیم نتیجه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3"/>
          <p:cNvSpPr>
            <a:spLocks noGrp="1" noChangeArrowheads="1"/>
          </p:cNvSpPr>
          <p:nvPr>
            <p:ph idx="1"/>
          </p:nvPr>
        </p:nvSpPr>
        <p:spPr/>
        <p:txBody>
          <a:bodyPr/>
          <a:lstStyle/>
          <a:p>
            <a:pPr algn="ctr" rtl="1" eaLnBrk="1" hangingPunct="1">
              <a:buFont typeface="Wingdings" pitchFamily="2" charset="2"/>
              <a:buNone/>
            </a:pPr>
            <a:r>
              <a:rPr lang="fa-IR" b="1" smtClean="0"/>
              <a:t>خلاصه نوع خاصی از چکیده عام است و هدف از درج آن کم و بیش همان است که در بحث چکیده مولف خواهد آمد اما تفاوتهایی با چکیده مولف دارد . در نوشتن خلاصه فرض بر این است که خواننده متن را خوانده است در حالیکه در چکیده مولف چنین نیست .</a:t>
            </a:r>
            <a:endParaRPr lang="en-US" b="1" smtClean="0"/>
          </a:p>
        </p:txBody>
      </p:sp>
      <p:sp>
        <p:nvSpPr>
          <p:cNvPr id="14438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خلاصه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3"/>
          <p:cNvSpPr>
            <a:spLocks noGrp="1" noChangeArrowheads="1"/>
          </p:cNvSpPr>
          <p:nvPr>
            <p:ph idx="1"/>
          </p:nvPr>
        </p:nvSpPr>
        <p:spPr/>
        <p:txBody>
          <a:bodyPr/>
          <a:lstStyle/>
          <a:p>
            <a:pPr marL="533400" indent="-533400" algn="justLow" rtl="1" eaLnBrk="1" hangingPunct="1">
              <a:lnSpc>
                <a:spcPct val="90000"/>
              </a:lnSpc>
              <a:buFont typeface="Wingdings" pitchFamily="2" charset="2"/>
              <a:buNone/>
            </a:pPr>
            <a:r>
              <a:rPr lang="fa-IR" b="1" smtClean="0"/>
              <a:t>      در تنظیم خلاصه یک ارائه کتبی علمی – فنی هرچند می‌توان به روش گفته شده در بحث تلخیص عمل کرداما باید توجه داشت که چنین خلاصه ای باید به گونه‌ای نوشته شود که پاسخ پر سشهای زیر از آن بدست آید :</a:t>
            </a:r>
            <a:endParaRPr lang="en-US" smtClean="0"/>
          </a:p>
          <a:p>
            <a:pPr marL="533400" indent="-533400" algn="r" rtl="1" eaLnBrk="1" hangingPunct="1">
              <a:lnSpc>
                <a:spcPct val="90000"/>
              </a:lnSpc>
            </a:pPr>
            <a:r>
              <a:rPr lang="fa-IR" b="1" smtClean="0"/>
              <a:t>موضوع یا مسئله دقیقا چه بوده است </a:t>
            </a:r>
            <a:endParaRPr lang="en-US" smtClean="0"/>
          </a:p>
          <a:p>
            <a:pPr marL="533400" indent="-533400" algn="r" rtl="1" eaLnBrk="1" hangingPunct="1">
              <a:lnSpc>
                <a:spcPct val="90000"/>
              </a:lnSpc>
            </a:pPr>
            <a:r>
              <a:rPr lang="fa-IR" b="1" smtClean="0"/>
              <a:t>حیطه و حدود آن چگونه بوده است </a:t>
            </a:r>
            <a:endParaRPr lang="en-US" smtClean="0"/>
          </a:p>
          <a:p>
            <a:pPr marL="533400" indent="-533400" algn="r" rtl="1" eaLnBrk="1" hangingPunct="1">
              <a:lnSpc>
                <a:spcPct val="90000"/>
              </a:lnSpc>
            </a:pPr>
            <a:r>
              <a:rPr lang="fa-IR" b="1" smtClean="0"/>
              <a:t>چه کارهایی انجام شده است ؟</a:t>
            </a:r>
            <a:endParaRPr lang="en-US" smtClean="0"/>
          </a:p>
          <a:p>
            <a:pPr marL="533400" indent="-533400" algn="r" rtl="1" eaLnBrk="1" hangingPunct="1">
              <a:lnSpc>
                <a:spcPct val="90000"/>
              </a:lnSpc>
            </a:pPr>
            <a:r>
              <a:rPr lang="fa-IR" b="1" smtClean="0"/>
              <a:t>چه راه حل هایی ارائه شده است ؟</a:t>
            </a:r>
            <a:endParaRPr lang="en-US" smtClean="0"/>
          </a:p>
          <a:p>
            <a:pPr marL="533400" indent="-533400" algn="r" rtl="1" eaLnBrk="1" hangingPunct="1">
              <a:lnSpc>
                <a:spcPct val="90000"/>
              </a:lnSpc>
            </a:pPr>
            <a:r>
              <a:rPr lang="fa-IR" b="1" smtClean="0"/>
              <a:t>مهمترین نتیجه بدست آمده چه بوده است ؟</a:t>
            </a:r>
            <a:endParaRPr lang="en-US" smtClean="0"/>
          </a:p>
          <a:p>
            <a:pPr marL="533400" indent="-533400" algn="r" rtl="1" eaLnBrk="1" hangingPunct="1">
              <a:lnSpc>
                <a:spcPct val="90000"/>
              </a:lnSpc>
            </a:pPr>
            <a:endParaRPr lang="en-US" smtClean="0"/>
          </a:p>
        </p:txBody>
      </p:sp>
      <p:sp>
        <p:nvSpPr>
          <p:cNvPr id="14541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روش تنظیم خلاصه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4">
            <a:hlinkClick r:id="rId2" action="ppaction://hlinksldjump"/>
          </p:cNvPr>
          <p:cNvSpPr txBox="1">
            <a:spLocks noChangeArrowheads="1"/>
          </p:cNvSpPr>
          <p:nvPr/>
        </p:nvSpPr>
        <p:spPr bwMode="auto">
          <a:xfrm>
            <a:off x="2051050" y="2379663"/>
            <a:ext cx="4968875" cy="1446550"/>
          </a:xfrm>
          <a:prstGeom prst="rect">
            <a:avLst/>
          </a:prstGeom>
          <a:noFill/>
          <a:ln w="9525">
            <a:noFill/>
            <a:miter lim="800000"/>
            <a:headEnd/>
            <a:tailEnd/>
          </a:ln>
        </p:spPr>
        <p:txBody>
          <a:bodyPr>
            <a:spAutoFit/>
          </a:bodyPr>
          <a:lstStyle/>
          <a:p>
            <a:pPr rtl="1"/>
            <a:r>
              <a:rPr lang="fa-IR" sz="4400" dirty="0">
                <a:solidFill>
                  <a:schemeClr val="tx1"/>
                </a:solidFill>
                <a:cs typeface="B Titr" panose="00000700000000000000" pitchFamily="2" charset="-78"/>
              </a:rPr>
              <a:t>اجزاء </a:t>
            </a:r>
            <a:r>
              <a:rPr lang="fa-IR" sz="4400" dirty="0" err="1">
                <a:solidFill>
                  <a:schemeClr val="tx1"/>
                </a:solidFill>
                <a:cs typeface="B Titr" panose="00000700000000000000" pitchFamily="2" charset="-78"/>
              </a:rPr>
              <a:t>آغازين</a:t>
            </a:r>
            <a:r>
              <a:rPr lang="fa-IR" sz="4400" dirty="0">
                <a:solidFill>
                  <a:schemeClr val="tx1"/>
                </a:solidFill>
                <a:cs typeface="B Titr" panose="00000700000000000000" pitchFamily="2" charset="-78"/>
              </a:rPr>
              <a:t> ارائه </a:t>
            </a:r>
            <a:r>
              <a:rPr lang="fa-IR" sz="4400" dirty="0" err="1">
                <a:solidFill>
                  <a:schemeClr val="tx1"/>
                </a:solidFill>
                <a:cs typeface="B Titr" panose="00000700000000000000" pitchFamily="2" charset="-78"/>
              </a:rPr>
              <a:t>كتبي</a:t>
            </a:r>
            <a:endParaRPr lang="en-US" sz="4400" dirty="0">
              <a:solidFill>
                <a:schemeClr val="tx1"/>
              </a:solidFill>
              <a:cs typeface="B Titr" panose="00000700000000000000" pitchFamily="2" charset="-78"/>
            </a:endParaRPr>
          </a:p>
        </p:txBody>
      </p:sp>
    </p:spTree>
  </p:cSld>
  <p:clrMapOvr>
    <a:masterClrMapping/>
  </p:clrMapOvr>
  <p:transition spd="med">
    <p:wipe dir="d"/>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468313" y="2205038"/>
            <a:ext cx="822960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در اینجا به شرح بعضی از اجزاء  بخش آغازین در یک ارائه کتبی می پردازیم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3"/>
          <p:cNvSpPr>
            <a:spLocks noGrp="1" noChangeArrowheads="1"/>
          </p:cNvSpPr>
          <p:nvPr>
            <p:ph idx="1"/>
          </p:nvPr>
        </p:nvSpPr>
        <p:spPr>
          <a:xfrm>
            <a:off x="395288" y="2060575"/>
            <a:ext cx="8229600" cy="3052763"/>
          </a:xfrm>
        </p:spPr>
        <p:txBody>
          <a:bodyPr/>
          <a:lstStyle/>
          <a:p>
            <a:pPr algn="justLow" rtl="1" eaLnBrk="1" hangingPunct="1">
              <a:buFont typeface="Wingdings" pitchFamily="2" charset="2"/>
              <a:buNone/>
            </a:pPr>
            <a:r>
              <a:rPr lang="fa-IR" b="1" dirty="0" smtClean="0"/>
              <a:t>در بعضی  از گونه های ارائه کتبی لازم </a:t>
            </a:r>
            <a:r>
              <a:rPr lang="fa-IR" b="1" dirty="0" err="1" smtClean="0"/>
              <a:t>ودر</a:t>
            </a:r>
            <a:r>
              <a:rPr lang="fa-IR" b="1" dirty="0" smtClean="0"/>
              <a:t> بعضی دیگر لازم نیست. معمولا در آن گونه هایی که نیاز به جلد دارند محتوای صفحه عنوان روی جلد هم درج می شود .</a:t>
            </a:r>
            <a:endParaRPr lang="en-US" b="1" dirty="0" smtClean="0"/>
          </a:p>
        </p:txBody>
      </p:sp>
      <p:sp>
        <p:nvSpPr>
          <p:cNvPr id="14848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جلد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3"/>
          <p:cNvSpPr>
            <a:spLocks noGrp="1" noChangeArrowheads="1"/>
          </p:cNvSpPr>
          <p:nvPr>
            <p:ph idx="1"/>
          </p:nvPr>
        </p:nvSpPr>
        <p:spPr/>
        <p:txBody>
          <a:bodyPr/>
          <a:lstStyle/>
          <a:p>
            <a:pPr algn="justLow" rtl="1" eaLnBrk="1" hangingPunct="1">
              <a:buFont typeface="Wingdings" pitchFamily="2" charset="2"/>
              <a:buNone/>
            </a:pPr>
            <a:r>
              <a:rPr lang="fa-IR" sz="3600" b="1" smtClean="0"/>
              <a:t>در بیشتر گونه های ارائه کتبی صفحه عنوان صفحه جداگانه ای است که صورت و محتوای خاص خود را دارد.</a:t>
            </a:r>
            <a:r>
              <a:rPr lang="fa-IR" sz="3600" smtClean="0"/>
              <a:t> </a:t>
            </a:r>
            <a:endParaRPr lang="en-US" sz="3600" smtClean="0"/>
          </a:p>
        </p:txBody>
      </p:sp>
      <p:sp>
        <p:nvSpPr>
          <p:cNvPr id="14950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صفحه عنوان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3"/>
          <p:cNvSpPr>
            <a:spLocks noGrp="1" noChangeArrowheads="1"/>
          </p:cNvSpPr>
          <p:nvPr>
            <p:ph idx="1"/>
          </p:nvPr>
        </p:nvSpPr>
        <p:spPr/>
        <p:txBody>
          <a:bodyPr/>
          <a:lstStyle/>
          <a:p>
            <a:pPr algn="justLow" rtl="1" eaLnBrk="1" hangingPunct="1">
              <a:buFont typeface="Wingdings" pitchFamily="2" charset="2"/>
              <a:buNone/>
            </a:pPr>
            <a:r>
              <a:rPr lang="fa-IR" sz="4000" b="1" dirty="0" smtClean="0"/>
              <a:t>متنی است که ارائه کننده در بعضی گونه های کتبی می نویسد تا اطلاعاتی را در مورد ارائه کتبی </a:t>
            </a:r>
            <a:r>
              <a:rPr lang="fa-IR" sz="4000" b="1" dirty="0" err="1" smtClean="0"/>
              <a:t>وجنبه</a:t>
            </a:r>
            <a:r>
              <a:rPr lang="fa-IR" sz="4000" b="1" dirty="0" smtClean="0"/>
              <a:t> های مرتبط با آن به خواننده بدهد. محتوای پیشگفتار بستگی به نظر ارائه کننده و قلم و قدرت نگارش او دارد .</a:t>
            </a:r>
            <a:endParaRPr lang="en-US" sz="4000" b="1" dirty="0" smtClean="0"/>
          </a:p>
        </p:txBody>
      </p:sp>
      <p:sp>
        <p:nvSpPr>
          <p:cNvPr id="15053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پیشگفتار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3"/>
          <p:cNvSpPr>
            <a:spLocks noGrp="1" noChangeArrowheads="1"/>
          </p:cNvSpPr>
          <p:nvPr>
            <p:ph idx="1"/>
          </p:nvPr>
        </p:nvSpPr>
        <p:spPr>
          <a:xfrm>
            <a:off x="457200" y="1600200"/>
            <a:ext cx="8229600" cy="5257800"/>
          </a:xfrm>
        </p:spPr>
        <p:txBody>
          <a:bodyPr/>
          <a:lstStyle/>
          <a:p>
            <a:pPr algn="r" rtl="1" eaLnBrk="1" hangingPunct="1">
              <a:lnSpc>
                <a:spcPct val="80000"/>
              </a:lnSpc>
            </a:pPr>
            <a:r>
              <a:rPr lang="fa-IR" sz="2000" b="1" dirty="0" smtClean="0"/>
              <a:t>یک یا دو جمله آغازین و جذب کننده  </a:t>
            </a:r>
            <a:endParaRPr lang="en-US" sz="2000" dirty="0" smtClean="0"/>
          </a:p>
          <a:p>
            <a:pPr algn="r" rtl="1" eaLnBrk="1" hangingPunct="1">
              <a:lnSpc>
                <a:spcPct val="80000"/>
              </a:lnSpc>
            </a:pPr>
            <a:r>
              <a:rPr lang="fa-IR" sz="2000" b="1" dirty="0" smtClean="0"/>
              <a:t>اهمیت و جایگاه موضوع </a:t>
            </a:r>
            <a:endParaRPr lang="en-US" sz="2000" dirty="0" smtClean="0"/>
          </a:p>
          <a:p>
            <a:pPr algn="r" rtl="1" eaLnBrk="1" hangingPunct="1">
              <a:lnSpc>
                <a:spcPct val="80000"/>
              </a:lnSpc>
            </a:pPr>
            <a:r>
              <a:rPr lang="fa-IR" sz="2000" b="1" dirty="0" smtClean="0"/>
              <a:t>انگیزه و هدف از انتخاب موضوع</a:t>
            </a:r>
            <a:endParaRPr lang="en-US" sz="2000" dirty="0" smtClean="0"/>
          </a:p>
          <a:p>
            <a:pPr algn="r" rtl="1" eaLnBrk="1" hangingPunct="1">
              <a:lnSpc>
                <a:spcPct val="80000"/>
              </a:lnSpc>
            </a:pPr>
            <a:r>
              <a:rPr lang="fa-IR" sz="2000" b="1" dirty="0" smtClean="0"/>
              <a:t>سوابق کارهای انجام شده توسط دیگران در موضوع </a:t>
            </a:r>
            <a:endParaRPr lang="en-US" sz="2000" dirty="0" smtClean="0"/>
          </a:p>
          <a:p>
            <a:pPr algn="r" rtl="1" eaLnBrk="1" hangingPunct="1">
              <a:lnSpc>
                <a:spcPct val="80000"/>
              </a:lnSpc>
            </a:pPr>
            <a:r>
              <a:rPr lang="fa-IR" sz="2000" b="1" dirty="0" smtClean="0"/>
              <a:t>امکانات و </a:t>
            </a:r>
            <a:r>
              <a:rPr lang="fa-IR" sz="2000" b="1" dirty="0" err="1" smtClean="0"/>
              <a:t>دشواریهای</a:t>
            </a:r>
            <a:r>
              <a:rPr lang="fa-IR" sz="2000" b="1" dirty="0" smtClean="0"/>
              <a:t> مطالعه </a:t>
            </a:r>
            <a:r>
              <a:rPr lang="fa-IR" sz="2000" b="1" dirty="0" err="1" smtClean="0"/>
              <a:t>وتحقیق</a:t>
            </a:r>
            <a:endParaRPr lang="en-US" sz="2000" dirty="0" smtClean="0"/>
          </a:p>
          <a:p>
            <a:pPr algn="r" rtl="1" eaLnBrk="1" hangingPunct="1">
              <a:lnSpc>
                <a:spcPct val="80000"/>
              </a:lnSpc>
            </a:pPr>
            <a:r>
              <a:rPr lang="fa-IR" sz="2000" b="1" dirty="0" smtClean="0"/>
              <a:t>روش تحقیق و کسب اطلاعات </a:t>
            </a:r>
            <a:endParaRPr lang="en-US" sz="2000" dirty="0" smtClean="0"/>
          </a:p>
          <a:p>
            <a:pPr algn="r" rtl="1" eaLnBrk="1" hangingPunct="1">
              <a:lnSpc>
                <a:spcPct val="80000"/>
              </a:lnSpc>
            </a:pPr>
            <a:r>
              <a:rPr lang="fa-IR" sz="2000" b="1" dirty="0" smtClean="0"/>
              <a:t>مخاطبین و سطح پیش دانسته های آنها</a:t>
            </a:r>
            <a:endParaRPr lang="en-US" sz="2000" dirty="0" smtClean="0"/>
          </a:p>
          <a:p>
            <a:pPr algn="r" rtl="1" eaLnBrk="1" hangingPunct="1">
              <a:lnSpc>
                <a:spcPct val="80000"/>
              </a:lnSpc>
            </a:pPr>
            <a:r>
              <a:rPr lang="fa-IR" sz="2000" b="1" dirty="0" smtClean="0"/>
              <a:t>نحوه مطالعه ارائه کتبی </a:t>
            </a:r>
            <a:endParaRPr lang="en-US" sz="2000" dirty="0" smtClean="0"/>
          </a:p>
          <a:p>
            <a:pPr algn="r" rtl="1" eaLnBrk="1" hangingPunct="1">
              <a:lnSpc>
                <a:spcPct val="80000"/>
              </a:lnSpc>
            </a:pPr>
            <a:r>
              <a:rPr lang="fa-IR" sz="2000" b="1" dirty="0" smtClean="0"/>
              <a:t>توضیح علائم اختصاری و قراردادهای نگارشی و غیره </a:t>
            </a:r>
            <a:endParaRPr lang="en-US" sz="2000" dirty="0" smtClean="0"/>
          </a:p>
          <a:p>
            <a:pPr algn="r" rtl="1" eaLnBrk="1" hangingPunct="1">
              <a:lnSpc>
                <a:spcPct val="80000"/>
              </a:lnSpc>
            </a:pPr>
            <a:r>
              <a:rPr lang="fa-IR" sz="2000" b="1" dirty="0" smtClean="0"/>
              <a:t>توضیح در مورد نحوه انتخاب معادل های کلمات بیگانه </a:t>
            </a:r>
            <a:endParaRPr lang="en-US" sz="2000" dirty="0" smtClean="0"/>
          </a:p>
          <a:p>
            <a:pPr algn="r" rtl="1" eaLnBrk="1" hangingPunct="1">
              <a:lnSpc>
                <a:spcPct val="80000"/>
              </a:lnSpc>
            </a:pPr>
            <a:r>
              <a:rPr lang="fa-IR" sz="2000" b="1" dirty="0" smtClean="0"/>
              <a:t>تقدیم و سپاسگزاری  </a:t>
            </a:r>
            <a:endParaRPr lang="en-US" sz="2000" dirty="0" smtClean="0"/>
          </a:p>
          <a:p>
            <a:pPr algn="r" rtl="1" eaLnBrk="1" hangingPunct="1">
              <a:lnSpc>
                <a:spcPct val="80000"/>
              </a:lnSpc>
            </a:pPr>
            <a:r>
              <a:rPr lang="fa-IR" sz="2000" b="1" dirty="0" smtClean="0"/>
              <a:t>یک یا دو جمله پایانی تاثیرگذار</a:t>
            </a:r>
            <a:endParaRPr lang="en-US" sz="2000" dirty="0" smtClean="0"/>
          </a:p>
          <a:p>
            <a:pPr algn="r" rtl="1" eaLnBrk="1" hangingPunct="1">
              <a:lnSpc>
                <a:spcPct val="80000"/>
              </a:lnSpc>
            </a:pPr>
            <a:r>
              <a:rPr lang="fa-IR" sz="2000" b="1" dirty="0" smtClean="0"/>
              <a:t>درج یک یا دو عبارت یا جمله از </a:t>
            </a:r>
            <a:r>
              <a:rPr lang="fa-IR" sz="2000" b="1" dirty="0" err="1" smtClean="0"/>
              <a:t>حکیمان</a:t>
            </a:r>
            <a:r>
              <a:rPr lang="fa-IR" sz="2000" b="1" dirty="0" smtClean="0"/>
              <a:t> و دانایان متناسب با موضوع توصیه میشود .</a:t>
            </a:r>
            <a:endParaRPr lang="en-US" sz="2000" dirty="0" smtClean="0"/>
          </a:p>
          <a:p>
            <a:pPr algn="r" rtl="1" eaLnBrk="1" hangingPunct="1">
              <a:lnSpc>
                <a:spcPct val="80000"/>
              </a:lnSpc>
            </a:pPr>
            <a:r>
              <a:rPr lang="fa-IR" sz="2000" b="1" dirty="0" smtClean="0"/>
              <a:t>نام و نام خانوادگی نویسنده</a:t>
            </a:r>
            <a:r>
              <a:rPr lang="fa-IR" sz="2000" dirty="0" smtClean="0"/>
              <a:t> </a:t>
            </a:r>
            <a:endParaRPr lang="en-US" sz="2000" dirty="0" smtClean="0"/>
          </a:p>
        </p:txBody>
      </p:sp>
      <p:sp>
        <p:nvSpPr>
          <p:cNvPr id="151554" name="Rectangle 2"/>
          <p:cNvSpPr>
            <a:spLocks noGrp="1" noChangeArrowheads="1"/>
          </p:cNvSpPr>
          <p:nvPr>
            <p:ph type="title"/>
          </p:nvPr>
        </p:nvSpPr>
        <p:spPr>
          <a:xfrm>
            <a:off x="571473" y="277813"/>
            <a:ext cx="8115328"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dirty="0" smtClean="0">
                <a:solidFill>
                  <a:srgbClr val="FF0000"/>
                </a:solidFill>
                <a:effectLst/>
                <a:cs typeface="B Titr" pitchFamily="2" charset="-78"/>
              </a:rPr>
              <a:t>در یک ارائه علمی – فنی معمولا به نکات زیر در پیشگفتار اشاره و پرداخته می شود :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4"/>
          <p:cNvSpPr>
            <a:spLocks noChangeArrowheads="1"/>
          </p:cNvSpPr>
          <p:nvPr/>
        </p:nvSpPr>
        <p:spPr bwMode="auto">
          <a:xfrm>
            <a:off x="2195513" y="0"/>
            <a:ext cx="5113337" cy="6858000"/>
          </a:xfrm>
          <a:prstGeom prst="rect">
            <a:avLst/>
          </a:prstGeom>
          <a:solidFill>
            <a:srgbClr val="008000"/>
          </a:solidFill>
          <a:ln w="9525" algn="ctr">
            <a:solidFill>
              <a:schemeClr val="tx1"/>
            </a:solidFill>
            <a:miter lim="800000"/>
            <a:headEnd/>
            <a:tailEnd/>
          </a:ln>
        </p:spPr>
        <p:txBody>
          <a:bodyPr anchor="ctr">
            <a:spAutoFit/>
          </a:bodyPr>
          <a:lstStyle/>
          <a:p>
            <a:endParaRPr lang="en-US"/>
          </a:p>
        </p:txBody>
      </p:sp>
      <p:sp>
        <p:nvSpPr>
          <p:cNvPr id="147459" name="Line 5"/>
          <p:cNvSpPr>
            <a:spLocks noChangeShapeType="1"/>
          </p:cNvSpPr>
          <p:nvPr/>
        </p:nvSpPr>
        <p:spPr bwMode="auto">
          <a:xfrm flipH="1">
            <a:off x="2195513" y="692150"/>
            <a:ext cx="5040312" cy="0"/>
          </a:xfrm>
          <a:prstGeom prst="line">
            <a:avLst/>
          </a:prstGeom>
          <a:noFill/>
          <a:ln w="9525">
            <a:solidFill>
              <a:schemeClr val="tx1"/>
            </a:solidFill>
            <a:prstDash val="dashDot"/>
            <a:round/>
            <a:headEnd/>
            <a:tailEnd/>
          </a:ln>
        </p:spPr>
        <p:txBody>
          <a:bodyPr>
            <a:spAutoFit/>
          </a:bodyPr>
          <a:lstStyle/>
          <a:p>
            <a:endParaRPr lang="en-US"/>
          </a:p>
        </p:txBody>
      </p:sp>
      <p:sp>
        <p:nvSpPr>
          <p:cNvPr id="147460" name="Line 6"/>
          <p:cNvSpPr>
            <a:spLocks noChangeShapeType="1"/>
          </p:cNvSpPr>
          <p:nvPr/>
        </p:nvSpPr>
        <p:spPr bwMode="auto">
          <a:xfrm>
            <a:off x="6659563" y="0"/>
            <a:ext cx="0" cy="6858000"/>
          </a:xfrm>
          <a:prstGeom prst="line">
            <a:avLst/>
          </a:prstGeom>
          <a:noFill/>
          <a:ln w="9525">
            <a:solidFill>
              <a:schemeClr val="tx1"/>
            </a:solidFill>
            <a:prstDash val="dashDot"/>
            <a:round/>
            <a:headEnd/>
            <a:tailEnd/>
          </a:ln>
        </p:spPr>
        <p:txBody>
          <a:bodyPr wrap="none">
            <a:spAutoFit/>
          </a:bodyPr>
          <a:lstStyle/>
          <a:p>
            <a:endParaRPr lang="en-US"/>
          </a:p>
        </p:txBody>
      </p:sp>
      <p:sp>
        <p:nvSpPr>
          <p:cNvPr id="147461" name="Line 7"/>
          <p:cNvSpPr>
            <a:spLocks noChangeShapeType="1"/>
          </p:cNvSpPr>
          <p:nvPr/>
        </p:nvSpPr>
        <p:spPr bwMode="auto">
          <a:xfrm>
            <a:off x="2916238" y="0"/>
            <a:ext cx="0" cy="6858000"/>
          </a:xfrm>
          <a:prstGeom prst="line">
            <a:avLst/>
          </a:prstGeom>
          <a:noFill/>
          <a:ln w="9525">
            <a:solidFill>
              <a:schemeClr val="tx1"/>
            </a:solidFill>
            <a:prstDash val="dashDot"/>
            <a:round/>
            <a:headEnd/>
            <a:tailEnd/>
          </a:ln>
        </p:spPr>
        <p:txBody>
          <a:bodyPr wrap="none">
            <a:spAutoFit/>
          </a:bodyPr>
          <a:lstStyle/>
          <a:p>
            <a:endParaRPr lang="en-US"/>
          </a:p>
        </p:txBody>
      </p:sp>
      <p:sp>
        <p:nvSpPr>
          <p:cNvPr id="147462" name="AutoShape 8"/>
          <p:cNvSpPr>
            <a:spLocks/>
          </p:cNvSpPr>
          <p:nvPr/>
        </p:nvSpPr>
        <p:spPr bwMode="auto">
          <a:xfrm>
            <a:off x="7596188" y="0"/>
            <a:ext cx="71437" cy="620713"/>
          </a:xfrm>
          <a:prstGeom prst="rightBrace">
            <a:avLst>
              <a:gd name="adj1" fmla="val 72408"/>
              <a:gd name="adj2" fmla="val 50000"/>
            </a:avLst>
          </a:prstGeom>
          <a:noFill/>
          <a:ln w="9525">
            <a:solidFill>
              <a:schemeClr val="tx1"/>
            </a:solidFill>
            <a:round/>
            <a:headEnd/>
            <a:tailEnd/>
          </a:ln>
        </p:spPr>
        <p:txBody>
          <a:bodyPr wrap="none" anchor="ctr">
            <a:spAutoFit/>
          </a:bodyPr>
          <a:lstStyle/>
          <a:p>
            <a:endParaRPr lang="en-US"/>
          </a:p>
        </p:txBody>
      </p:sp>
      <p:sp>
        <p:nvSpPr>
          <p:cNvPr id="147463" name="AutoShape 9"/>
          <p:cNvSpPr>
            <a:spLocks/>
          </p:cNvSpPr>
          <p:nvPr/>
        </p:nvSpPr>
        <p:spPr bwMode="auto">
          <a:xfrm>
            <a:off x="7596188" y="836613"/>
            <a:ext cx="142875" cy="360362"/>
          </a:xfrm>
          <a:prstGeom prst="rightBrace">
            <a:avLst>
              <a:gd name="adj1" fmla="val 21018"/>
              <a:gd name="adj2" fmla="val 50000"/>
            </a:avLst>
          </a:prstGeom>
          <a:noFill/>
          <a:ln w="9525">
            <a:solidFill>
              <a:schemeClr val="tx1"/>
            </a:solidFill>
            <a:round/>
            <a:headEnd/>
            <a:tailEnd/>
          </a:ln>
        </p:spPr>
        <p:txBody>
          <a:bodyPr wrap="none" anchor="ctr">
            <a:spAutoFit/>
          </a:bodyPr>
          <a:lstStyle/>
          <a:p>
            <a:endParaRPr lang="en-US"/>
          </a:p>
        </p:txBody>
      </p:sp>
      <p:sp>
        <p:nvSpPr>
          <p:cNvPr id="147464" name="Line 10"/>
          <p:cNvSpPr>
            <a:spLocks noChangeShapeType="1"/>
          </p:cNvSpPr>
          <p:nvPr/>
        </p:nvSpPr>
        <p:spPr bwMode="auto">
          <a:xfrm flipH="1">
            <a:off x="6659563" y="1196975"/>
            <a:ext cx="576262" cy="0"/>
          </a:xfrm>
          <a:prstGeom prst="line">
            <a:avLst/>
          </a:prstGeom>
          <a:noFill/>
          <a:ln w="9525">
            <a:solidFill>
              <a:schemeClr val="tx1"/>
            </a:solidFill>
            <a:prstDash val="dashDot"/>
            <a:round/>
            <a:headEnd/>
            <a:tailEnd/>
          </a:ln>
        </p:spPr>
        <p:txBody>
          <a:bodyPr wrap="none">
            <a:spAutoFit/>
          </a:bodyPr>
          <a:lstStyle/>
          <a:p>
            <a:endParaRPr lang="en-US"/>
          </a:p>
        </p:txBody>
      </p:sp>
      <p:sp>
        <p:nvSpPr>
          <p:cNvPr id="147465" name="Line 11"/>
          <p:cNvSpPr>
            <a:spLocks noChangeShapeType="1"/>
          </p:cNvSpPr>
          <p:nvPr/>
        </p:nvSpPr>
        <p:spPr bwMode="auto">
          <a:xfrm flipH="1">
            <a:off x="2195513" y="1196975"/>
            <a:ext cx="647700" cy="0"/>
          </a:xfrm>
          <a:prstGeom prst="line">
            <a:avLst/>
          </a:prstGeom>
          <a:noFill/>
          <a:ln w="9525">
            <a:solidFill>
              <a:schemeClr val="tx1"/>
            </a:solidFill>
            <a:prstDash val="dashDot"/>
            <a:round/>
            <a:headEnd/>
            <a:tailEnd/>
          </a:ln>
        </p:spPr>
        <p:txBody>
          <a:bodyPr>
            <a:spAutoFit/>
          </a:bodyPr>
          <a:lstStyle/>
          <a:p>
            <a:endParaRPr lang="en-US"/>
          </a:p>
        </p:txBody>
      </p:sp>
      <p:sp>
        <p:nvSpPr>
          <p:cNvPr id="147466" name="Rectangle 12"/>
          <p:cNvSpPr>
            <a:spLocks noChangeArrowheads="1"/>
          </p:cNvSpPr>
          <p:nvPr/>
        </p:nvSpPr>
        <p:spPr bwMode="auto">
          <a:xfrm>
            <a:off x="4151313" y="544513"/>
            <a:ext cx="1279525" cy="366712"/>
          </a:xfrm>
          <a:prstGeom prst="rect">
            <a:avLst/>
          </a:prstGeom>
          <a:solidFill>
            <a:schemeClr val="accent1"/>
          </a:solidFill>
          <a:ln w="9525" algn="ctr">
            <a:noFill/>
            <a:miter lim="800000"/>
            <a:headEnd/>
            <a:tailEnd/>
          </a:ln>
        </p:spPr>
        <p:txBody>
          <a:bodyPr wrap="none" anchor="ctr">
            <a:spAutoFit/>
          </a:bodyPr>
          <a:lstStyle/>
          <a:p>
            <a:r>
              <a:rPr lang="fa-IR"/>
              <a:t>فهرست مطالب</a:t>
            </a:r>
            <a:endParaRPr lang="en-US"/>
          </a:p>
        </p:txBody>
      </p:sp>
      <p:sp>
        <p:nvSpPr>
          <p:cNvPr id="147467" name="Rectangle 14"/>
          <p:cNvSpPr>
            <a:spLocks noChangeArrowheads="1"/>
          </p:cNvSpPr>
          <p:nvPr/>
        </p:nvSpPr>
        <p:spPr bwMode="auto">
          <a:xfrm>
            <a:off x="7745413" y="49213"/>
            <a:ext cx="1212850" cy="376237"/>
          </a:xfrm>
          <a:prstGeom prst="rect">
            <a:avLst/>
          </a:prstGeom>
          <a:solidFill>
            <a:schemeClr val="accent1"/>
          </a:solidFill>
          <a:ln w="9525" algn="ctr">
            <a:solidFill>
              <a:schemeClr val="tx1"/>
            </a:solidFill>
            <a:miter lim="800000"/>
            <a:headEnd/>
            <a:tailEnd/>
          </a:ln>
        </p:spPr>
        <p:txBody>
          <a:bodyPr wrap="none" anchor="ctr">
            <a:spAutoFit/>
          </a:bodyPr>
          <a:lstStyle/>
          <a:p>
            <a:r>
              <a:rPr lang="fa-IR"/>
              <a:t>5/2 سانتيمتر</a:t>
            </a:r>
            <a:endParaRPr lang="en-US"/>
          </a:p>
        </p:txBody>
      </p:sp>
      <p:sp>
        <p:nvSpPr>
          <p:cNvPr id="147468" name="Rectangle 15"/>
          <p:cNvSpPr>
            <a:spLocks noChangeArrowheads="1"/>
          </p:cNvSpPr>
          <p:nvPr/>
        </p:nvSpPr>
        <p:spPr bwMode="auto">
          <a:xfrm>
            <a:off x="7745413" y="814388"/>
            <a:ext cx="1212850" cy="376237"/>
          </a:xfrm>
          <a:prstGeom prst="rect">
            <a:avLst/>
          </a:prstGeom>
          <a:solidFill>
            <a:schemeClr val="accent1"/>
          </a:solidFill>
          <a:ln w="9525" algn="ctr">
            <a:solidFill>
              <a:schemeClr val="tx1"/>
            </a:solidFill>
            <a:miter lim="800000"/>
            <a:headEnd/>
            <a:tailEnd/>
          </a:ln>
        </p:spPr>
        <p:txBody>
          <a:bodyPr wrap="none" anchor="ctr">
            <a:spAutoFit/>
          </a:bodyPr>
          <a:lstStyle/>
          <a:p>
            <a:r>
              <a:rPr lang="fa-IR"/>
              <a:t>5/1 سانتيمتر</a:t>
            </a:r>
            <a:endParaRPr lang="en-US"/>
          </a:p>
        </p:txBody>
      </p:sp>
      <p:sp>
        <p:nvSpPr>
          <p:cNvPr id="147469" name="Rectangle 16"/>
          <p:cNvSpPr>
            <a:spLocks noChangeArrowheads="1"/>
          </p:cNvSpPr>
          <p:nvPr/>
        </p:nvSpPr>
        <p:spPr bwMode="auto">
          <a:xfrm>
            <a:off x="3132138" y="1035050"/>
            <a:ext cx="649287" cy="366713"/>
          </a:xfrm>
          <a:prstGeom prst="rect">
            <a:avLst/>
          </a:prstGeom>
          <a:solidFill>
            <a:schemeClr val="accent1"/>
          </a:solidFill>
          <a:ln w="9525" algn="ctr">
            <a:noFill/>
            <a:miter lim="800000"/>
            <a:headEnd/>
            <a:tailEnd/>
          </a:ln>
        </p:spPr>
        <p:txBody>
          <a:bodyPr wrap="none" anchor="ctr">
            <a:spAutoFit/>
          </a:bodyPr>
          <a:lstStyle/>
          <a:p>
            <a:r>
              <a:rPr lang="fa-IR"/>
              <a:t>صفحه</a:t>
            </a:r>
            <a:endParaRPr lang="en-US"/>
          </a:p>
        </p:txBody>
      </p:sp>
      <p:sp>
        <p:nvSpPr>
          <p:cNvPr id="147470" name="Rectangle 23"/>
          <p:cNvSpPr>
            <a:spLocks noChangeArrowheads="1"/>
          </p:cNvSpPr>
          <p:nvPr/>
        </p:nvSpPr>
        <p:spPr bwMode="auto">
          <a:xfrm>
            <a:off x="5694363" y="1035050"/>
            <a:ext cx="709612" cy="366713"/>
          </a:xfrm>
          <a:prstGeom prst="rect">
            <a:avLst/>
          </a:prstGeom>
          <a:solidFill>
            <a:schemeClr val="accent1"/>
          </a:solidFill>
          <a:ln w="9525" algn="ctr">
            <a:noFill/>
            <a:miter lim="800000"/>
            <a:headEnd/>
            <a:tailEnd/>
          </a:ln>
        </p:spPr>
        <p:txBody>
          <a:bodyPr wrap="none" anchor="ctr">
            <a:spAutoFit/>
          </a:bodyPr>
          <a:lstStyle/>
          <a:p>
            <a:r>
              <a:rPr lang="fa-IR"/>
              <a:t>عنوان </a:t>
            </a:r>
            <a:endParaRPr lang="en-US"/>
          </a:p>
        </p:txBody>
      </p:sp>
      <p:sp>
        <p:nvSpPr>
          <p:cNvPr id="147471" name="Rectangle 25"/>
          <p:cNvSpPr>
            <a:spLocks noChangeArrowheads="1"/>
          </p:cNvSpPr>
          <p:nvPr/>
        </p:nvSpPr>
        <p:spPr bwMode="auto">
          <a:xfrm>
            <a:off x="5364163" y="2133600"/>
            <a:ext cx="709612" cy="366713"/>
          </a:xfrm>
          <a:prstGeom prst="rect">
            <a:avLst/>
          </a:prstGeom>
          <a:solidFill>
            <a:schemeClr val="accent1"/>
          </a:solidFill>
          <a:ln w="9525" algn="ctr">
            <a:noFill/>
            <a:miter lim="800000"/>
            <a:headEnd/>
            <a:tailEnd/>
          </a:ln>
        </p:spPr>
        <p:txBody>
          <a:bodyPr wrap="none" anchor="ctr">
            <a:spAutoFit/>
          </a:bodyPr>
          <a:lstStyle/>
          <a:p>
            <a:r>
              <a:rPr lang="fa-IR"/>
              <a:t>عنوان </a:t>
            </a:r>
            <a:endParaRPr lang="en-US"/>
          </a:p>
        </p:txBody>
      </p:sp>
      <p:sp>
        <p:nvSpPr>
          <p:cNvPr id="147472" name="Rectangle 27"/>
          <p:cNvSpPr>
            <a:spLocks noChangeArrowheads="1"/>
          </p:cNvSpPr>
          <p:nvPr/>
        </p:nvSpPr>
        <p:spPr bwMode="auto">
          <a:xfrm>
            <a:off x="5364163" y="3573463"/>
            <a:ext cx="709612" cy="366712"/>
          </a:xfrm>
          <a:prstGeom prst="rect">
            <a:avLst/>
          </a:prstGeom>
          <a:solidFill>
            <a:schemeClr val="accent1"/>
          </a:solidFill>
          <a:ln w="9525" algn="ctr">
            <a:noFill/>
            <a:miter lim="800000"/>
            <a:headEnd/>
            <a:tailEnd/>
          </a:ln>
        </p:spPr>
        <p:txBody>
          <a:bodyPr wrap="none" anchor="ctr">
            <a:spAutoFit/>
          </a:bodyPr>
          <a:lstStyle/>
          <a:p>
            <a:r>
              <a:rPr lang="fa-IR"/>
              <a:t>عنوان </a:t>
            </a:r>
            <a:endParaRPr lang="en-US"/>
          </a:p>
        </p:txBody>
      </p:sp>
      <p:sp>
        <p:nvSpPr>
          <p:cNvPr id="147473" name="Rectangle 28"/>
          <p:cNvSpPr>
            <a:spLocks noChangeArrowheads="1"/>
          </p:cNvSpPr>
          <p:nvPr/>
        </p:nvSpPr>
        <p:spPr bwMode="auto">
          <a:xfrm>
            <a:off x="5364163" y="2708275"/>
            <a:ext cx="709612" cy="366713"/>
          </a:xfrm>
          <a:prstGeom prst="rect">
            <a:avLst/>
          </a:prstGeom>
          <a:solidFill>
            <a:schemeClr val="accent1"/>
          </a:solidFill>
          <a:ln w="9525" algn="ctr">
            <a:noFill/>
            <a:miter lim="800000"/>
            <a:headEnd/>
            <a:tailEnd/>
          </a:ln>
        </p:spPr>
        <p:txBody>
          <a:bodyPr wrap="none" anchor="ctr">
            <a:spAutoFit/>
          </a:bodyPr>
          <a:lstStyle/>
          <a:p>
            <a:r>
              <a:rPr lang="fa-IR"/>
              <a:t>عنوان </a:t>
            </a:r>
            <a:endParaRPr lang="en-US"/>
          </a:p>
        </p:txBody>
      </p:sp>
      <p:sp>
        <p:nvSpPr>
          <p:cNvPr id="147474" name="Rectangle 31"/>
          <p:cNvSpPr>
            <a:spLocks noChangeArrowheads="1"/>
          </p:cNvSpPr>
          <p:nvPr/>
        </p:nvSpPr>
        <p:spPr bwMode="auto">
          <a:xfrm>
            <a:off x="222250" y="836613"/>
            <a:ext cx="1212850" cy="376237"/>
          </a:xfrm>
          <a:prstGeom prst="rect">
            <a:avLst/>
          </a:prstGeom>
          <a:solidFill>
            <a:schemeClr val="accent1"/>
          </a:solidFill>
          <a:ln w="9525" algn="ctr">
            <a:solidFill>
              <a:schemeClr val="tx1"/>
            </a:solidFill>
            <a:miter lim="800000"/>
            <a:headEnd/>
            <a:tailEnd/>
          </a:ln>
        </p:spPr>
        <p:txBody>
          <a:bodyPr wrap="none" anchor="ctr">
            <a:spAutoFit/>
          </a:bodyPr>
          <a:lstStyle/>
          <a:p>
            <a:r>
              <a:rPr lang="fa-IR"/>
              <a:t>5/1 سانتيمتر</a:t>
            </a:r>
            <a:endParaRPr lang="en-US"/>
          </a:p>
        </p:txBody>
      </p:sp>
      <p:sp>
        <p:nvSpPr>
          <p:cNvPr id="147475" name="AutoShape 32"/>
          <p:cNvSpPr>
            <a:spLocks/>
          </p:cNvSpPr>
          <p:nvPr/>
        </p:nvSpPr>
        <p:spPr bwMode="auto">
          <a:xfrm>
            <a:off x="1908175" y="765175"/>
            <a:ext cx="71438" cy="431800"/>
          </a:xfrm>
          <a:prstGeom prst="leftBrace">
            <a:avLst>
              <a:gd name="adj1" fmla="val 50370"/>
              <a:gd name="adj2" fmla="val 50000"/>
            </a:avLst>
          </a:prstGeom>
          <a:noFill/>
          <a:ln w="9525">
            <a:solidFill>
              <a:schemeClr val="tx1"/>
            </a:solidFill>
            <a:round/>
            <a:headEnd/>
            <a:tailEnd/>
          </a:ln>
        </p:spPr>
        <p:txBody>
          <a:bodyPr wrap="none" anchor="ctr">
            <a:spAutoFit/>
          </a:bodyPr>
          <a:lstStyle/>
          <a:p>
            <a:endParaRPr lang="en-US"/>
          </a:p>
        </p:txBody>
      </p:sp>
      <p:sp>
        <p:nvSpPr>
          <p:cNvPr id="147476" name="Line 34"/>
          <p:cNvSpPr>
            <a:spLocks noChangeShapeType="1"/>
          </p:cNvSpPr>
          <p:nvPr/>
        </p:nvSpPr>
        <p:spPr bwMode="auto">
          <a:xfrm flipH="1">
            <a:off x="6732588" y="3500438"/>
            <a:ext cx="503237" cy="0"/>
          </a:xfrm>
          <a:prstGeom prst="line">
            <a:avLst/>
          </a:prstGeom>
          <a:noFill/>
          <a:ln w="9525">
            <a:solidFill>
              <a:schemeClr val="tx1"/>
            </a:solidFill>
            <a:round/>
            <a:headEnd/>
            <a:tailEnd/>
          </a:ln>
        </p:spPr>
        <p:txBody>
          <a:bodyPr wrap="none">
            <a:spAutoFit/>
          </a:bodyPr>
          <a:lstStyle/>
          <a:p>
            <a:endParaRPr lang="en-US"/>
          </a:p>
        </p:txBody>
      </p:sp>
      <p:sp>
        <p:nvSpPr>
          <p:cNvPr id="147477" name="Line 35"/>
          <p:cNvSpPr>
            <a:spLocks noChangeShapeType="1"/>
          </p:cNvSpPr>
          <p:nvPr/>
        </p:nvSpPr>
        <p:spPr bwMode="auto">
          <a:xfrm flipV="1">
            <a:off x="7019925" y="2924175"/>
            <a:ext cx="0" cy="576263"/>
          </a:xfrm>
          <a:prstGeom prst="line">
            <a:avLst/>
          </a:prstGeom>
          <a:noFill/>
          <a:ln w="9525">
            <a:solidFill>
              <a:schemeClr val="tx1"/>
            </a:solidFill>
            <a:round/>
            <a:headEnd/>
            <a:tailEnd/>
          </a:ln>
        </p:spPr>
        <p:txBody>
          <a:bodyPr>
            <a:spAutoFit/>
          </a:bodyPr>
          <a:lstStyle/>
          <a:p>
            <a:endParaRPr lang="en-US"/>
          </a:p>
        </p:txBody>
      </p:sp>
      <p:sp>
        <p:nvSpPr>
          <p:cNvPr id="147478" name="Rectangle 39"/>
          <p:cNvSpPr>
            <a:spLocks noChangeArrowheads="1"/>
          </p:cNvSpPr>
          <p:nvPr/>
        </p:nvSpPr>
        <p:spPr bwMode="auto">
          <a:xfrm>
            <a:off x="8056563" y="2708275"/>
            <a:ext cx="1020762" cy="376238"/>
          </a:xfrm>
          <a:prstGeom prst="rect">
            <a:avLst/>
          </a:prstGeom>
          <a:solidFill>
            <a:schemeClr val="accent1"/>
          </a:solidFill>
          <a:ln w="9525" algn="ctr">
            <a:solidFill>
              <a:schemeClr val="tx1"/>
            </a:solidFill>
            <a:miter lim="800000"/>
            <a:headEnd/>
            <a:tailEnd/>
          </a:ln>
        </p:spPr>
        <p:txBody>
          <a:bodyPr wrap="none" anchor="ctr">
            <a:spAutoFit/>
          </a:bodyPr>
          <a:lstStyle/>
          <a:p>
            <a:r>
              <a:rPr lang="fa-IR"/>
              <a:t>2 سانتيمتر</a:t>
            </a:r>
            <a:endParaRPr lang="en-US"/>
          </a:p>
        </p:txBody>
      </p:sp>
      <p:sp>
        <p:nvSpPr>
          <p:cNvPr id="147479" name="Line 41"/>
          <p:cNvSpPr>
            <a:spLocks noChangeShapeType="1"/>
          </p:cNvSpPr>
          <p:nvPr/>
        </p:nvSpPr>
        <p:spPr bwMode="auto">
          <a:xfrm>
            <a:off x="7019925" y="2924175"/>
            <a:ext cx="936625" cy="0"/>
          </a:xfrm>
          <a:prstGeom prst="line">
            <a:avLst/>
          </a:prstGeom>
          <a:noFill/>
          <a:ln w="9525">
            <a:solidFill>
              <a:schemeClr val="tx1"/>
            </a:solidFill>
            <a:round/>
            <a:headEnd/>
            <a:tailEnd type="triangle" w="med" len="med"/>
          </a:ln>
        </p:spPr>
        <p:txBody>
          <a:bodyPr wrap="none">
            <a:spAutoFit/>
          </a:bodyPr>
          <a:lstStyle/>
          <a:p>
            <a:endParaRPr lang="en-US"/>
          </a:p>
        </p:txBody>
      </p:sp>
      <p:sp>
        <p:nvSpPr>
          <p:cNvPr id="24" name="Rectangle 2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3"/>
          <p:cNvSpPr>
            <a:spLocks noGrp="1" noChangeArrowheads="1"/>
          </p:cNvSpPr>
          <p:nvPr>
            <p:ph idx="1"/>
          </p:nvPr>
        </p:nvSpPr>
        <p:spPr/>
        <p:txBody>
          <a:bodyPr/>
          <a:lstStyle/>
          <a:p>
            <a:pPr algn="justLow" rtl="1" eaLnBrk="1" hangingPunct="1">
              <a:buFont typeface="Wingdings" pitchFamily="2" charset="2"/>
              <a:buNone/>
            </a:pPr>
            <a:r>
              <a:rPr lang="fa-IR" b="1" dirty="0" smtClean="0"/>
              <a:t>برای تنظیم این فهرستها به همان ترتیب فهرست مطالب عمل می گردد با این  تغییر  که به جای عبارت &lt;&lt; فهرست مطالب &gt;&gt; عبارت &lt;&lt; فهرست شکلها &gt;&gt; یا &lt;&lt; فهرست جدولها &gt;&gt; گذاشته  می شود  . </a:t>
            </a:r>
          </a:p>
          <a:p>
            <a:pPr algn="justLow" rtl="1" eaLnBrk="1" hangingPunct="1">
              <a:buFont typeface="Wingdings" pitchFamily="2" charset="2"/>
              <a:buNone/>
            </a:pPr>
            <a:r>
              <a:rPr lang="fa-IR" b="1" dirty="0" smtClean="0"/>
              <a:t>اگر تعداد شکلها و جدولها کم باشد نیازی به دو فهرست جداگانه نیست .</a:t>
            </a:r>
            <a:endParaRPr lang="en-US" b="1" dirty="0" smtClean="0"/>
          </a:p>
        </p:txBody>
      </p:sp>
      <p:sp>
        <p:nvSpPr>
          <p:cNvPr id="16179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فهرست شکلها و جدولها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3"/>
          <p:cNvSpPr>
            <a:spLocks noGrp="1" noChangeArrowheads="1"/>
          </p:cNvSpPr>
          <p:nvPr>
            <p:ph idx="1"/>
          </p:nvPr>
        </p:nvSpPr>
        <p:spPr>
          <a:xfrm>
            <a:off x="457200" y="1628775"/>
            <a:ext cx="8229600" cy="4530725"/>
          </a:xfrm>
        </p:spPr>
        <p:txBody>
          <a:bodyPr/>
          <a:lstStyle/>
          <a:p>
            <a:pPr algn="justLow" rtl="1" eaLnBrk="1" hangingPunct="1">
              <a:buFont typeface="Wingdings" pitchFamily="2" charset="2"/>
              <a:buNone/>
            </a:pPr>
            <a:r>
              <a:rPr lang="fa-IR" b="1" dirty="0" smtClean="0"/>
              <a:t>برای اصطلاح چکیده تعریفهای متعددی ارائه شده است و گاه آن را با خلاصه یکسان می دانند و گفته می شود :  خلاصه ای بسیار فشرده از یک متن  .  اما چکیده  از دیدگاه تخصصی چکیده </a:t>
            </a:r>
            <a:r>
              <a:rPr lang="fa-IR" b="1" dirty="0" err="1" smtClean="0"/>
              <a:t>نویسان</a:t>
            </a:r>
            <a:r>
              <a:rPr lang="fa-IR" b="1" dirty="0" smtClean="0"/>
              <a:t> انواع دارد . چکیده </a:t>
            </a:r>
            <a:r>
              <a:rPr lang="fa-IR" b="1" dirty="0" err="1" smtClean="0"/>
              <a:t>نویسی</a:t>
            </a:r>
            <a:r>
              <a:rPr lang="fa-IR" b="1" dirty="0" smtClean="0"/>
              <a:t> در معنای گسترده آن نوعی تخصص است و کارشناسان خاص خود را دارد .</a:t>
            </a:r>
            <a:endParaRPr lang="en-US" b="1" dirty="0" smtClean="0"/>
          </a:p>
        </p:txBody>
      </p:sp>
      <p:sp>
        <p:nvSpPr>
          <p:cNvPr id="15360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چکیده مولف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3"/>
          <p:cNvSpPr>
            <a:spLocks noGrp="1" noChangeArrowheads="1"/>
          </p:cNvSpPr>
          <p:nvPr>
            <p:ph idx="1"/>
          </p:nvPr>
        </p:nvSpPr>
        <p:spPr/>
        <p:txBody>
          <a:bodyPr/>
          <a:lstStyle/>
          <a:p>
            <a:pPr algn="r" rtl="1" eaLnBrk="1" hangingPunct="1"/>
            <a:r>
              <a:rPr lang="fa-IR" b="1" smtClean="0"/>
              <a:t>صرفه جویی در زمان مطالعه </a:t>
            </a:r>
            <a:endParaRPr lang="en-US" smtClean="0"/>
          </a:p>
          <a:p>
            <a:pPr algn="r" rtl="1" eaLnBrk="1" hangingPunct="1"/>
            <a:r>
              <a:rPr lang="fa-IR" b="1" smtClean="0"/>
              <a:t>رفع مشکل زبان  : چکیده معمولا به زبانهای زیادی تولید می شود .</a:t>
            </a:r>
            <a:endParaRPr lang="en-US" smtClean="0"/>
          </a:p>
          <a:p>
            <a:pPr algn="r" rtl="1" eaLnBrk="1" hangingPunct="1"/>
            <a:r>
              <a:rPr lang="fa-IR" b="1" smtClean="0"/>
              <a:t>تسهیل در تصمیم گیری در انتخاب منبع </a:t>
            </a:r>
            <a:endParaRPr lang="en-US" smtClean="0"/>
          </a:p>
          <a:p>
            <a:pPr algn="r" rtl="1" eaLnBrk="1" hangingPunct="1"/>
            <a:r>
              <a:rPr lang="fa-IR" b="1" smtClean="0"/>
              <a:t>تسهیل در جستجوی مطلب </a:t>
            </a:r>
            <a:endParaRPr lang="en-US" smtClean="0"/>
          </a:p>
          <a:p>
            <a:pPr algn="r" rtl="1" eaLnBrk="1" hangingPunct="1"/>
            <a:r>
              <a:rPr lang="fa-IR" b="1" smtClean="0"/>
              <a:t>کمک به نشر دانش و فن </a:t>
            </a:r>
            <a:endParaRPr lang="en-US" smtClean="0"/>
          </a:p>
          <a:p>
            <a:pPr algn="r" rtl="1" eaLnBrk="1" hangingPunct="1"/>
            <a:endParaRPr lang="en-US" smtClean="0"/>
          </a:p>
        </p:txBody>
      </p:sp>
      <p:sp>
        <p:nvSpPr>
          <p:cNvPr id="154626" name="Rectangle 2"/>
          <p:cNvSpPr>
            <a:spLocks noGrp="1" noChangeArrowheads="1"/>
          </p:cNvSpPr>
          <p:nvPr>
            <p:ph type="title"/>
          </p:nvPr>
        </p:nvSpPr>
        <p:spPr>
          <a:xfrm>
            <a:off x="1619250" y="277813"/>
            <a:ext cx="6778625"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اهداف چکیده نویسی در معنای گسترده عبارتند از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3"/>
          <p:cNvSpPr>
            <a:spLocks noGrp="1" noChangeArrowheads="1"/>
          </p:cNvSpPr>
          <p:nvPr>
            <p:ph idx="1"/>
          </p:nvPr>
        </p:nvSpPr>
        <p:spPr>
          <a:xfrm>
            <a:off x="457200" y="1735138"/>
            <a:ext cx="8229600" cy="4789487"/>
          </a:xfrm>
        </p:spPr>
        <p:txBody>
          <a:bodyPr/>
          <a:lstStyle/>
          <a:p>
            <a:pPr algn="r" rtl="1" eaLnBrk="1" hangingPunct="1">
              <a:lnSpc>
                <a:spcPct val="90000"/>
              </a:lnSpc>
            </a:pPr>
            <a:r>
              <a:rPr lang="fa-IR" b="1" smtClean="0"/>
              <a:t>اندازه چکیده  : بین 50 تا 250 کلمه </a:t>
            </a:r>
            <a:endParaRPr lang="en-US" smtClean="0"/>
          </a:p>
          <a:p>
            <a:pPr algn="r" rtl="1" eaLnBrk="1" hangingPunct="1">
              <a:lnSpc>
                <a:spcPct val="90000"/>
              </a:lnSpc>
            </a:pPr>
            <a:r>
              <a:rPr lang="fa-IR" b="1" smtClean="0"/>
              <a:t>چکیده باید به طرزی تنظیم شود که بدون مراجعه به متن اصلی ایده اصلی متن به خواننده منتقل شود .</a:t>
            </a:r>
            <a:endParaRPr lang="en-US" smtClean="0"/>
          </a:p>
          <a:p>
            <a:pPr algn="r" rtl="1" eaLnBrk="1" hangingPunct="1">
              <a:lnSpc>
                <a:spcPct val="90000"/>
              </a:lnSpc>
            </a:pPr>
            <a:r>
              <a:rPr lang="fa-IR" b="1" smtClean="0"/>
              <a:t>مفاهیم اصلی متن ( کلمات کلیدی ) باید در انتهای چکیده ذکر شوند .</a:t>
            </a:r>
            <a:endParaRPr lang="en-US" smtClean="0"/>
          </a:p>
          <a:p>
            <a:pPr algn="r" rtl="1" eaLnBrk="1" hangingPunct="1">
              <a:lnSpc>
                <a:spcPct val="90000"/>
              </a:lnSpc>
            </a:pPr>
            <a:r>
              <a:rPr lang="fa-IR" b="1" smtClean="0"/>
              <a:t>چکیده معمولا درست قبل از شروع متن اصلی آورده می‌شود .</a:t>
            </a:r>
            <a:endParaRPr lang="en-US" smtClean="0"/>
          </a:p>
          <a:p>
            <a:pPr algn="r" rtl="1" eaLnBrk="1" hangingPunct="1">
              <a:lnSpc>
                <a:spcPct val="90000"/>
              </a:lnSpc>
            </a:pPr>
            <a:r>
              <a:rPr lang="fa-IR" b="1" smtClean="0"/>
              <a:t>چکیده ارائه کتبی آکادمیک بهتر است به دو زبان ( فارسي و انگلیسی ) نوشته شود .</a:t>
            </a:r>
            <a:endParaRPr lang="en-US" b="1" smtClean="0"/>
          </a:p>
        </p:txBody>
      </p:sp>
      <p:sp>
        <p:nvSpPr>
          <p:cNvPr id="155650" name="Rectangle 2"/>
          <p:cNvSpPr>
            <a:spLocks noGrp="1" noChangeArrowheads="1"/>
          </p:cNvSpPr>
          <p:nvPr>
            <p:ph type="title"/>
          </p:nvPr>
        </p:nvSpPr>
        <p:spPr>
          <a:xfrm>
            <a:off x="1547813" y="493713"/>
            <a:ext cx="6707187" cy="8477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نکاتی که در نوشتن چکیده مولف باید رعایت گردد:</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3"/>
          <p:cNvSpPr>
            <a:spLocks noGrp="1" noChangeArrowheads="1"/>
          </p:cNvSpPr>
          <p:nvPr>
            <p:ph idx="1"/>
          </p:nvPr>
        </p:nvSpPr>
        <p:spPr/>
        <p:txBody>
          <a:bodyPr/>
          <a:lstStyle/>
          <a:p>
            <a:pPr algn="justLow" rtl="1" eaLnBrk="1" hangingPunct="1">
              <a:buFont typeface="Wingdings" pitchFamily="2" charset="2"/>
              <a:buNone/>
            </a:pPr>
            <a:r>
              <a:rPr lang="fa-IR" smtClean="0"/>
              <a:t> </a:t>
            </a:r>
            <a:r>
              <a:rPr lang="fa-IR" b="1" smtClean="0"/>
              <a:t>در برخی از گونه های ارائه کتبی مثل گزارشهای اداری ، فنی ، گزارش کار آموزی ، رساله فارغ التحصیلی و غیره لازم است که ارائه کننده پیشنهادات و نظرات خود را به طور منطقی و منسجم ارائه کند . در هر حال در متون علمی وفنی پیشنهادات و نظرات باید صریح – صادقانه – مسئولانه – و خیرخواهانه و منطبق بر &lt;&lt; منطق سرد &gt;&gt; نوشته شوند و خالی از حب و بغض باشند .</a:t>
            </a:r>
            <a:endParaRPr lang="en-US" b="1" smtClean="0"/>
          </a:p>
        </p:txBody>
      </p:sp>
      <p:sp>
        <p:nvSpPr>
          <p:cNvPr id="15667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پیشنهادات و نظرات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3"/>
          <p:cNvSpPr>
            <a:spLocks noGrp="1" noChangeArrowheads="1"/>
          </p:cNvSpPr>
          <p:nvPr>
            <p:ph idx="1"/>
          </p:nvPr>
        </p:nvSpPr>
        <p:spPr/>
        <p:txBody>
          <a:bodyPr/>
          <a:lstStyle/>
          <a:p>
            <a:pPr algn="justLow" rtl="1" eaLnBrk="1" hangingPunct="1"/>
            <a:r>
              <a:rPr lang="fa-IR" b="1" smtClean="0"/>
              <a:t>در ارائه کتبی گاه لازم است مطالبی را که به نحوی از نظر موضوعی یا مفهومی مرتبط با مطالب متن اصلی هستند اضافه کنیم .  تشخیص اینکه چه مطالبی را باید در قسمت پیوستها آورد همیشه آسان نیست .</a:t>
            </a:r>
            <a:endParaRPr lang="en-US" b="1" smtClean="0"/>
          </a:p>
        </p:txBody>
      </p:sp>
      <p:sp>
        <p:nvSpPr>
          <p:cNvPr id="15769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پیوستها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3"/>
          <p:cNvSpPr>
            <a:spLocks noGrp="1" noChangeArrowheads="1"/>
          </p:cNvSpPr>
          <p:nvPr>
            <p:ph idx="1"/>
          </p:nvPr>
        </p:nvSpPr>
        <p:spPr/>
        <p:txBody>
          <a:bodyPr/>
          <a:lstStyle/>
          <a:p>
            <a:pPr algn="justLow" rtl="1" eaLnBrk="1" hangingPunct="1">
              <a:buFont typeface="Wingdings" pitchFamily="2" charset="2"/>
              <a:buNone/>
            </a:pPr>
            <a:r>
              <a:rPr lang="fa-IR" b="1" smtClean="0"/>
              <a:t>مطالبی که از نظر ارائه  کننده اصلی نبوده ولی به نحوی با مباحث متن اصلی در ارتباط هستند مطالبی که پس از تنظیم نهایی ارائه کتبی به آنها دست یافته باشیم توضیح بیشتر بعضی از اصطلاحات متن اصلی انواع فهرستها مثل فهرست اختصارات وعلایم بکار رفته در متن اصلی ، فهرست اسامی خاص ، نمایه ها  و غیره جدولها ، شکلها و فرمولهای کامپیوتری که به دلیلی امکان درج آنها در متن اصلی نباشد .</a:t>
            </a:r>
            <a:endParaRPr lang="en-US" smtClean="0"/>
          </a:p>
          <a:p>
            <a:pPr algn="justLow" rtl="1" eaLnBrk="1" hangingPunct="1"/>
            <a:endParaRPr lang="en-US" smtClean="0"/>
          </a:p>
        </p:txBody>
      </p:sp>
      <p:sp>
        <p:nvSpPr>
          <p:cNvPr id="158722" name="Rectangle 2"/>
          <p:cNvSpPr>
            <a:spLocks noGrp="1" noChangeArrowheads="1"/>
          </p:cNvSpPr>
          <p:nvPr>
            <p:ph type="title"/>
          </p:nvPr>
        </p:nvSpPr>
        <p:spPr>
          <a:xfrm>
            <a:off x="1619250" y="277813"/>
            <a:ext cx="6418263"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معمولا در موارد زیر مطالب را در قسمت پیوستها درج می کنیم: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3"/>
          <p:cNvSpPr>
            <a:spLocks noGrp="1" noChangeArrowheads="1"/>
          </p:cNvSpPr>
          <p:nvPr>
            <p:ph idx="1"/>
          </p:nvPr>
        </p:nvSpPr>
        <p:spPr/>
        <p:txBody>
          <a:bodyPr/>
          <a:lstStyle/>
          <a:p>
            <a:pPr algn="justLow" rtl="1" eaLnBrk="1" hangingPunct="1">
              <a:buFont typeface="Wingdings" pitchFamily="2" charset="2"/>
              <a:buNone/>
            </a:pPr>
            <a:r>
              <a:rPr lang="fa-IR" smtClean="0"/>
              <a:t> </a:t>
            </a:r>
            <a:r>
              <a:rPr lang="fa-IR" b="1" smtClean="0"/>
              <a:t>این فهرست را کتابنامه ، کتابشناسی ، و گاه کتابنگاری نیز می گویند . در اکثر انواع ارائه نوشتاری حتما باید منابعی که در تنظیم و آماده سازی محتوای ارائه مورد استفاده قرار گرفته اند معرفی شوند زیرا اصل رعایت امانت نزد اهل اندیشه و قلم چنین حکم می کند .</a:t>
            </a:r>
            <a:endParaRPr lang="en-US" b="1" smtClean="0"/>
          </a:p>
        </p:txBody>
      </p:sp>
      <p:sp>
        <p:nvSpPr>
          <p:cNvPr id="13517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فهرست منابع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3"/>
          <p:cNvSpPr>
            <a:spLocks noGrp="1" noChangeArrowheads="1"/>
          </p:cNvSpPr>
          <p:nvPr>
            <p:ph idx="1"/>
          </p:nvPr>
        </p:nvSpPr>
        <p:spPr/>
        <p:txBody>
          <a:bodyPr/>
          <a:lstStyle/>
          <a:p>
            <a:pPr marL="609600" indent="-609600" algn="r" rtl="1" eaLnBrk="1" hangingPunct="1"/>
            <a:r>
              <a:rPr lang="fa-IR" b="1" smtClean="0"/>
              <a:t>برحسب فرم انتشار منبع </a:t>
            </a:r>
          </a:p>
          <a:p>
            <a:pPr marL="609600" indent="-609600" algn="r" rtl="1" eaLnBrk="1" hangingPunct="1"/>
            <a:r>
              <a:rPr lang="fa-IR" b="1" smtClean="0"/>
              <a:t>برحسب اصلی و فرعی بودن منبع</a:t>
            </a:r>
          </a:p>
          <a:p>
            <a:pPr marL="609600" indent="-609600" algn="r" rtl="1" eaLnBrk="1" hangingPunct="1"/>
            <a:r>
              <a:rPr lang="fa-IR" b="1" smtClean="0"/>
              <a:t>بر حسب تاریخ انتشار </a:t>
            </a:r>
          </a:p>
          <a:p>
            <a:pPr marL="609600" indent="-609600" algn="r" rtl="1" eaLnBrk="1" hangingPunct="1"/>
            <a:r>
              <a:rPr lang="fa-IR" b="1" smtClean="0"/>
              <a:t>بر حسب نظم الفبایی نام مولفین </a:t>
            </a:r>
          </a:p>
          <a:p>
            <a:pPr marL="609600" indent="-609600" algn="r" rtl="1" eaLnBrk="1" hangingPunct="1"/>
            <a:r>
              <a:rPr lang="fa-IR" b="1" smtClean="0"/>
              <a:t>برحسب نظم الفبایی عنوان منابع </a:t>
            </a:r>
          </a:p>
          <a:p>
            <a:pPr marL="609600" indent="-609600" algn="r" rtl="1" eaLnBrk="1" hangingPunct="1"/>
            <a:r>
              <a:rPr lang="fa-IR" b="1" smtClean="0"/>
              <a:t>برحسب موضوعات </a:t>
            </a:r>
          </a:p>
          <a:p>
            <a:pPr marL="609600" indent="-609600" algn="r" rtl="1" eaLnBrk="1" hangingPunct="1"/>
            <a:r>
              <a:rPr lang="fa-IR" b="1" smtClean="0"/>
              <a:t>بر حسب زبان</a:t>
            </a:r>
            <a:r>
              <a:rPr lang="fa-IR" smtClean="0"/>
              <a:t> </a:t>
            </a:r>
            <a:endParaRPr lang="en-US" smtClean="0"/>
          </a:p>
        </p:txBody>
      </p:sp>
      <p:sp>
        <p:nvSpPr>
          <p:cNvPr id="162818" name="Rectangle 2"/>
          <p:cNvSpPr>
            <a:spLocks noGrp="1" noChangeArrowheads="1"/>
          </p:cNvSpPr>
          <p:nvPr>
            <p:ph type="title"/>
          </p:nvPr>
        </p:nvSpPr>
        <p:spPr>
          <a:xfrm>
            <a:off x="1331913" y="277813"/>
            <a:ext cx="706755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فهرست منابع را می توان بر اساس ضوابط مختلفی تنظیم کرد از جمله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3"/>
          <p:cNvSpPr>
            <a:spLocks noGrp="1" noChangeArrowheads="1"/>
          </p:cNvSpPr>
          <p:nvPr>
            <p:ph idx="1"/>
          </p:nvPr>
        </p:nvSpPr>
        <p:spPr/>
        <p:txBody>
          <a:bodyPr/>
          <a:lstStyle/>
          <a:p>
            <a:pPr algn="r" rtl="1" eaLnBrk="1" hangingPunct="1">
              <a:lnSpc>
                <a:spcPct val="90000"/>
              </a:lnSpc>
            </a:pPr>
            <a:r>
              <a:rPr lang="fa-IR" sz="2800" b="1" smtClean="0"/>
              <a:t>در متون  علمی – فنی گاه به سبب اهمیت فقره اطلاع  تاریخ آ ن را بلافاصله بعد از نام کوچک مولف قید مکنند .</a:t>
            </a:r>
            <a:endParaRPr lang="en-US" sz="2800" smtClean="0"/>
          </a:p>
          <a:p>
            <a:pPr algn="r" rtl="1" eaLnBrk="1" hangingPunct="1">
              <a:lnSpc>
                <a:spcPct val="90000"/>
              </a:lnSpc>
            </a:pPr>
            <a:r>
              <a:rPr lang="fa-IR" sz="2800" b="1" smtClean="0"/>
              <a:t>اگر از یک مولف بیش از یک منبع مورد استفاده قرار گرفته باشد تکرار نام خانوادگی و نام کوچک او لزومی ندارد  . </a:t>
            </a:r>
            <a:endParaRPr lang="en-US" sz="2800" smtClean="0"/>
          </a:p>
          <a:p>
            <a:pPr algn="r" rtl="1" eaLnBrk="1" hangingPunct="1">
              <a:lnSpc>
                <a:spcPct val="90000"/>
              </a:lnSpc>
            </a:pPr>
            <a:r>
              <a:rPr lang="fa-IR" sz="2800" b="1" smtClean="0"/>
              <a:t>گاه چهار حرف اول نام خانوادگی مولف و دو رقم تاریخ محصور در علامت [  ]  قبل از نام خانوادگی مولف آورده میشود .</a:t>
            </a:r>
            <a:endParaRPr lang="en-US" sz="2800" smtClean="0"/>
          </a:p>
          <a:p>
            <a:pPr algn="r" rtl="1" eaLnBrk="1" hangingPunct="1">
              <a:lnSpc>
                <a:spcPct val="90000"/>
              </a:lnSpc>
            </a:pPr>
            <a:r>
              <a:rPr lang="fa-IR" sz="2800" b="1" smtClean="0"/>
              <a:t>توجه داشته باشیم که در جزئیات اطلاعات فوق به ویژه استفاده از نشانه های سجاوندی بین مولفین ، ویراستاران و ناشران چندان اتفاق نظر نیست .								</a:t>
            </a:r>
            <a:endParaRPr lang="en-US" sz="2800" b="1" smtClean="0"/>
          </a:p>
        </p:txBody>
      </p:sp>
      <p:sp>
        <p:nvSpPr>
          <p:cNvPr id="17510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نکاتی در مورد نحوه نوشتن مشخصات منبع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7230" name="Group 78"/>
          <p:cNvGraphicFramePr>
            <a:graphicFrameLocks noGrp="1"/>
          </p:cNvGraphicFramePr>
          <p:nvPr/>
        </p:nvGraphicFramePr>
        <p:xfrm>
          <a:off x="250825" y="260350"/>
          <a:ext cx="8785225" cy="6448298"/>
        </p:xfrm>
        <a:graphic>
          <a:graphicData uri="http://schemas.openxmlformats.org/drawingml/2006/table">
            <a:tbl>
              <a:tblPr/>
              <a:tblGrid>
                <a:gridCol w="2676525">
                  <a:extLst>
                    <a:ext uri="{9D8B030D-6E8A-4147-A177-3AD203B41FA5}">
                      <a16:colId xmlns:a16="http://schemas.microsoft.com/office/drawing/2014/main" val="20000"/>
                    </a:ext>
                  </a:extLst>
                </a:gridCol>
                <a:gridCol w="2905125">
                  <a:extLst>
                    <a:ext uri="{9D8B030D-6E8A-4147-A177-3AD203B41FA5}">
                      <a16:colId xmlns:a16="http://schemas.microsoft.com/office/drawing/2014/main" val="20001"/>
                    </a:ext>
                  </a:extLst>
                </a:gridCol>
                <a:gridCol w="2232025">
                  <a:extLst>
                    <a:ext uri="{9D8B030D-6E8A-4147-A177-3AD203B41FA5}">
                      <a16:colId xmlns:a16="http://schemas.microsoft.com/office/drawing/2014/main" val="20002"/>
                    </a:ext>
                  </a:extLst>
                </a:gridCol>
                <a:gridCol w="971550">
                  <a:extLst>
                    <a:ext uri="{9D8B030D-6E8A-4147-A177-3AD203B41FA5}">
                      <a16:colId xmlns:a16="http://schemas.microsoft.com/office/drawing/2014/main" val="20003"/>
                    </a:ext>
                  </a:extLst>
                </a:gridCol>
              </a:tblGrid>
              <a:tr h="404813">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مشخصات نشر</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مشخصات منبع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مشخصات مولف</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نوع </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منبع</a:t>
                      </a:r>
                      <a:r>
                        <a:rPr kumimoji="0" lang="fa-IR" sz="20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 </a:t>
                      </a:r>
                      <a:endParaRPr kumimoji="0" lang="en-US" sz="20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5095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 محل نشر علامت : نام ناشر ويرگول  تاريخ نشر نقطه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كامل كتاب ويرگولنام ويراستار يا مترجم باقيد كلمه ويراسته يا ترجمه ويرگول شماره مجلد ويرگول شماره ويراست نقطه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نام خانوادگي مولف (مولفين ) ، نام (هاي) كوچك مولف (مولفين)  يا  نام ويراستار به عنوان مولف يا موسسه اي كه نقش مولف  را دارد نقطه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كتاب</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3505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مجله ويرگول شماره مسلسل ويرگول تاريخ ويرگول شماره صفحات    اول و آخر نقطه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كامل مقاله محصور در علامت ”‌  ”  نقطه</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به همان صورت بالا </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مقاله از مجله</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5013">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محل نشر علامت : نام ناشر ويرگول شماره صفحه (ها) نقطه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مقاله محصور در علامت ”  ”  ويرگول كلمه «در» عنوان كتاب ويرگول نام ويراستار (ها) كلمه ويراستار در پرانتز نقطه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مثل بالا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مقاله از كتاب</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49288">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نام دانشگاه ويرگول تاريخ ويرگول شماره صفحه (ها) نقطه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رساله ويرگول درجه اي كه رساله براي اخذ آن نوشته است در پرانتز ويرگول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مثل بالا </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رسا له (تز)</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6263">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روزنامه ويرگول محل نشر ويرگول تاريخ نقطه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مثل مقاله از مجله </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مثل مقاله از مجله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مقاله از روزنامه</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4770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دايره المعارف ويرگول شماره مجلد ويرگول شماره صفحات اول وآخر نقطه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مثل مقاله از مجله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مثل كتاب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مقاله از دائره المعارف</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3" name="Rectangle 2"/>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8" name="Rectangle 4"/>
          <p:cNvSpPr>
            <a:spLocks noChangeArrowheads="1"/>
          </p:cNvSpPr>
          <p:nvPr/>
        </p:nvSpPr>
        <p:spPr bwMode="auto">
          <a:xfrm>
            <a:off x="1547813" y="2492375"/>
            <a:ext cx="6049962" cy="1139825"/>
          </a:xfrm>
          <a:prstGeom prst="rect">
            <a:avLst/>
          </a:prstGeom>
          <a:noFill/>
          <a:ln w="9525">
            <a:noFill/>
            <a:miter lim="800000"/>
            <a:headEnd/>
            <a:tailEnd/>
          </a:ln>
          <a:effectLst/>
        </p:spPr>
        <p:txBody>
          <a:bodyPr anchor="ctr" anchorCtr="1"/>
          <a:lstStyle/>
          <a:p>
            <a:pPr algn="l" rtl="1">
              <a:defRPr/>
            </a:pPr>
            <a:r>
              <a:rPr lang="fa-IR" sz="4400" b="0" dirty="0" err="1">
                <a:solidFill>
                  <a:schemeClr val="tx1"/>
                </a:solidFill>
                <a:effectLst>
                  <a:outerShdw blurRad="38100" dist="38100" dir="2700000" algn="tl">
                    <a:srgbClr val="000000"/>
                  </a:outerShdw>
                </a:effectLst>
                <a:latin typeface="Arial Black" pitchFamily="34" charset="0"/>
                <a:cs typeface="B Titr" panose="00000700000000000000" pitchFamily="2" charset="-78"/>
              </a:rPr>
              <a:t>ويژگيهاي</a:t>
            </a:r>
            <a:r>
              <a:rPr lang="fa-IR" sz="4400" b="0" dirty="0">
                <a:solidFill>
                  <a:schemeClr val="tx1"/>
                </a:solidFill>
                <a:effectLst>
                  <a:outerShdw blurRad="38100" dist="38100" dir="2700000" algn="tl">
                    <a:srgbClr val="000000"/>
                  </a:outerShdw>
                </a:effectLst>
                <a:latin typeface="Arial Black" pitchFamily="34" charset="0"/>
                <a:cs typeface="B Titr" panose="00000700000000000000" pitchFamily="2" charset="-78"/>
              </a:rPr>
              <a:t> نوشتار </a:t>
            </a:r>
            <a:r>
              <a:rPr lang="fa-IR" sz="4400" b="0" dirty="0" err="1">
                <a:solidFill>
                  <a:schemeClr val="tx1"/>
                </a:solidFill>
                <a:effectLst>
                  <a:outerShdw blurRad="38100" dist="38100" dir="2700000" algn="tl">
                    <a:srgbClr val="000000"/>
                  </a:outerShdw>
                </a:effectLst>
                <a:latin typeface="Arial Black" pitchFamily="34" charset="0"/>
                <a:cs typeface="B Titr" panose="00000700000000000000" pitchFamily="2" charset="-78"/>
              </a:rPr>
              <a:t>علمي</a:t>
            </a:r>
            <a:r>
              <a:rPr lang="fa-IR" sz="4400" b="0" dirty="0">
                <a:solidFill>
                  <a:schemeClr val="tx1"/>
                </a:solidFill>
                <a:effectLst>
                  <a:outerShdw blurRad="38100" dist="38100" dir="2700000" algn="tl">
                    <a:srgbClr val="000000"/>
                  </a:outerShdw>
                </a:effectLst>
                <a:latin typeface="Arial Black" pitchFamily="34" charset="0"/>
                <a:cs typeface="B Titr" panose="00000700000000000000" pitchFamily="2" charset="-78"/>
              </a:rPr>
              <a:t> -</a:t>
            </a:r>
            <a:r>
              <a:rPr lang="fa-IR" sz="4400" b="0" dirty="0" err="1">
                <a:solidFill>
                  <a:schemeClr val="tx1"/>
                </a:solidFill>
                <a:effectLst>
                  <a:outerShdw blurRad="38100" dist="38100" dir="2700000" algn="tl">
                    <a:srgbClr val="000000"/>
                  </a:outerShdw>
                </a:effectLst>
                <a:latin typeface="Arial Black" pitchFamily="34" charset="0"/>
                <a:cs typeface="B Titr" panose="00000700000000000000" pitchFamily="2" charset="-78"/>
              </a:rPr>
              <a:t>فني</a:t>
            </a:r>
            <a:r>
              <a:rPr lang="fa-IR" sz="4400" b="0" dirty="0">
                <a:solidFill>
                  <a:schemeClr val="tx1"/>
                </a:solidFill>
                <a:effectLst>
                  <a:outerShdw blurRad="38100" dist="38100" dir="2700000" algn="tl">
                    <a:srgbClr val="000000"/>
                  </a:outerShdw>
                </a:effectLst>
                <a:latin typeface="Arial Black" pitchFamily="34" charset="0"/>
                <a:cs typeface="B Titr" panose="00000700000000000000" pitchFamily="2" charset="-78"/>
              </a:rPr>
              <a:t> </a:t>
            </a:r>
            <a:endParaRPr lang="en-US" sz="4400" b="0" dirty="0">
              <a:solidFill>
                <a:schemeClr val="tx1"/>
              </a:solidFill>
              <a:effectLst>
                <a:outerShdw blurRad="38100" dist="38100" dir="2700000" algn="tl">
                  <a:srgbClr val="000000"/>
                </a:outerShdw>
              </a:effectLst>
              <a:latin typeface="Arial Black" pitchFamily="34" charset="0"/>
              <a:cs typeface="B Titr" panose="00000700000000000000" pitchFamily="2" charset="-78"/>
            </a:endParaRPr>
          </a:p>
        </p:txBody>
      </p:sp>
    </p:spTree>
  </p:cSld>
  <p:clrMapOvr>
    <a:masterClrMapping/>
  </p:clrMapOvr>
  <p:transition spd="med">
    <p:wipe dir="d"/>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3"/>
          <p:cNvSpPr>
            <a:spLocks noGrp="1" noChangeArrowheads="1"/>
          </p:cNvSpPr>
          <p:nvPr>
            <p:ph idx="1"/>
          </p:nvPr>
        </p:nvSpPr>
        <p:spPr>
          <a:xfrm>
            <a:off x="323850" y="1962150"/>
            <a:ext cx="8229600" cy="4319588"/>
          </a:xfrm>
        </p:spPr>
        <p:txBody>
          <a:bodyPr/>
          <a:lstStyle/>
          <a:p>
            <a:pPr marL="609600" indent="-609600" algn="r" rtl="1" eaLnBrk="1" hangingPunct="1">
              <a:buFont typeface="Wingdings" pitchFamily="2" charset="2"/>
              <a:buAutoNum type="arabicPeriod"/>
            </a:pPr>
            <a:r>
              <a:rPr lang="fa-IR" b="1" smtClean="0"/>
              <a:t>ویژگیهای زبانی </a:t>
            </a:r>
          </a:p>
          <a:p>
            <a:pPr marL="609600" indent="-609600" algn="r" rtl="1" eaLnBrk="1" hangingPunct="1">
              <a:buFont typeface="Wingdings" pitchFamily="2" charset="2"/>
              <a:buAutoNum type="arabicPeriod"/>
            </a:pPr>
            <a:r>
              <a:rPr lang="fa-IR" b="1" smtClean="0"/>
              <a:t>ویژگیهای کیفی </a:t>
            </a:r>
          </a:p>
          <a:p>
            <a:pPr marL="609600" indent="-609600" algn="r" rtl="1" eaLnBrk="1" hangingPunct="1">
              <a:buFont typeface="Wingdings" pitchFamily="2" charset="2"/>
              <a:buAutoNum type="arabicPeriod"/>
            </a:pPr>
            <a:r>
              <a:rPr lang="fa-IR" b="1" smtClean="0"/>
              <a:t>عوامل منفی در ارائه نوشتاری علمی – فنی </a:t>
            </a:r>
          </a:p>
          <a:p>
            <a:pPr marL="609600" indent="-609600" algn="r" rtl="1" eaLnBrk="1" hangingPunct="1">
              <a:buFont typeface="Wingdings" pitchFamily="2" charset="2"/>
              <a:buAutoNum type="arabicPeriod"/>
            </a:pPr>
            <a:r>
              <a:rPr lang="fa-IR" b="1" smtClean="0"/>
              <a:t>لزوم مدیریت نوشتار علمی – فنی</a:t>
            </a:r>
            <a:r>
              <a:rPr lang="fa-IR" smtClean="0"/>
              <a:t> </a:t>
            </a:r>
            <a:endParaRPr lang="en-US" smtClean="0"/>
          </a:p>
        </p:txBody>
      </p:sp>
      <p:sp>
        <p:nvSpPr>
          <p:cNvPr id="165890" name="Rectangle 2"/>
          <p:cNvSpPr>
            <a:spLocks noGrp="1" noChangeArrowheads="1"/>
          </p:cNvSpPr>
          <p:nvPr>
            <p:ph type="title"/>
          </p:nvPr>
        </p:nvSpPr>
        <p:spPr>
          <a:xfrm>
            <a:off x="1979613" y="333375"/>
            <a:ext cx="5976937"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 ویژگیهای نوشتار علمی- فنی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3"/>
          <p:cNvSpPr>
            <a:spLocks noGrp="1" noChangeArrowheads="1"/>
          </p:cNvSpPr>
          <p:nvPr>
            <p:ph idx="1"/>
          </p:nvPr>
        </p:nvSpPr>
        <p:spPr/>
        <p:txBody>
          <a:bodyPr/>
          <a:lstStyle/>
          <a:p>
            <a:pPr algn="r" rtl="1" eaLnBrk="1" hangingPunct="1">
              <a:lnSpc>
                <a:spcPct val="90000"/>
              </a:lnSpc>
            </a:pPr>
            <a:r>
              <a:rPr lang="fa-IR" sz="2800" b="1" smtClean="0"/>
              <a:t>روانی و سادگی </a:t>
            </a:r>
            <a:endParaRPr lang="en-US" sz="2800" smtClean="0"/>
          </a:p>
          <a:p>
            <a:pPr algn="r" rtl="1" eaLnBrk="1" hangingPunct="1">
              <a:lnSpc>
                <a:spcPct val="90000"/>
              </a:lnSpc>
            </a:pPr>
            <a:r>
              <a:rPr lang="fa-IR" sz="2800" b="1" smtClean="0"/>
              <a:t>طبیعی بودن </a:t>
            </a:r>
            <a:endParaRPr lang="en-US" sz="2800" smtClean="0"/>
          </a:p>
          <a:p>
            <a:pPr algn="r" rtl="1" eaLnBrk="1" hangingPunct="1">
              <a:lnSpc>
                <a:spcPct val="90000"/>
              </a:lnSpc>
            </a:pPr>
            <a:r>
              <a:rPr lang="fa-IR" sz="2800" b="1" smtClean="0"/>
              <a:t>موجز بودن </a:t>
            </a:r>
            <a:endParaRPr lang="en-US" sz="2800" smtClean="0"/>
          </a:p>
          <a:p>
            <a:pPr algn="r" rtl="1" eaLnBrk="1" hangingPunct="1">
              <a:lnSpc>
                <a:spcPct val="90000"/>
              </a:lnSpc>
            </a:pPr>
            <a:r>
              <a:rPr lang="fa-IR" sz="2800" b="1" smtClean="0"/>
              <a:t>کتابتی بودن </a:t>
            </a:r>
            <a:endParaRPr lang="en-US" sz="2800" smtClean="0"/>
          </a:p>
          <a:p>
            <a:pPr algn="r" rtl="1" eaLnBrk="1" hangingPunct="1">
              <a:lnSpc>
                <a:spcPct val="90000"/>
              </a:lnSpc>
            </a:pPr>
            <a:r>
              <a:rPr lang="fa-IR" sz="2800" b="1" smtClean="0"/>
              <a:t>معاصر بودن </a:t>
            </a:r>
            <a:endParaRPr lang="en-US" sz="2800" smtClean="0"/>
          </a:p>
          <a:p>
            <a:pPr algn="r" rtl="1" eaLnBrk="1" hangingPunct="1">
              <a:lnSpc>
                <a:spcPct val="90000"/>
              </a:lnSpc>
            </a:pPr>
            <a:r>
              <a:rPr lang="fa-IR" sz="2800" b="1" smtClean="0"/>
              <a:t>جدی بودن </a:t>
            </a:r>
            <a:endParaRPr lang="en-US" sz="2800" smtClean="0"/>
          </a:p>
          <a:p>
            <a:pPr algn="r" rtl="1" eaLnBrk="1" hangingPunct="1">
              <a:lnSpc>
                <a:spcPct val="90000"/>
              </a:lnSpc>
            </a:pPr>
            <a:r>
              <a:rPr lang="fa-IR" sz="2800" b="1" smtClean="0"/>
              <a:t>نداشتن افعال شخصی </a:t>
            </a:r>
            <a:endParaRPr lang="en-US" sz="2800" smtClean="0"/>
          </a:p>
          <a:p>
            <a:pPr algn="r" rtl="1" eaLnBrk="1" hangingPunct="1">
              <a:lnSpc>
                <a:spcPct val="90000"/>
              </a:lnSpc>
            </a:pPr>
            <a:r>
              <a:rPr lang="fa-IR" sz="2800" b="1" smtClean="0"/>
              <a:t>نداشتن ضمایر شخصی </a:t>
            </a:r>
            <a:endParaRPr lang="en-US" sz="2800" smtClean="0"/>
          </a:p>
          <a:p>
            <a:pPr algn="r" rtl="1" eaLnBrk="1" hangingPunct="1">
              <a:lnSpc>
                <a:spcPct val="90000"/>
              </a:lnSpc>
            </a:pPr>
            <a:r>
              <a:rPr lang="fa-IR" sz="2800" b="1" smtClean="0"/>
              <a:t>نداشتن عبارات یا جملات طولانی</a:t>
            </a:r>
            <a:r>
              <a:rPr lang="fa-IR" sz="2800" smtClean="0"/>
              <a:t> </a:t>
            </a:r>
            <a:endParaRPr lang="en-US" sz="2800" smtClean="0"/>
          </a:p>
        </p:txBody>
      </p:sp>
      <p:sp>
        <p:nvSpPr>
          <p:cNvPr id="16691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ویژگیهای زبانی عبارتند از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3"/>
          <p:cNvSpPr>
            <a:spLocks noGrp="1" noChangeArrowheads="1"/>
          </p:cNvSpPr>
          <p:nvPr>
            <p:ph idx="1"/>
          </p:nvPr>
        </p:nvSpPr>
        <p:spPr>
          <a:xfrm>
            <a:off x="457200" y="1125538"/>
            <a:ext cx="8229600" cy="5732462"/>
          </a:xfrm>
        </p:spPr>
        <p:txBody>
          <a:bodyPr/>
          <a:lstStyle/>
          <a:p>
            <a:pPr algn="r" rtl="1" eaLnBrk="1" hangingPunct="1">
              <a:lnSpc>
                <a:spcPct val="80000"/>
              </a:lnSpc>
            </a:pPr>
            <a:r>
              <a:rPr lang="fa-IR" sz="2000" b="1" smtClean="0"/>
              <a:t>اطلاع دهندگی</a:t>
            </a:r>
            <a:endParaRPr lang="en-US" sz="2000" smtClean="0"/>
          </a:p>
          <a:p>
            <a:pPr algn="r" rtl="1" eaLnBrk="1" hangingPunct="1">
              <a:lnSpc>
                <a:spcPct val="80000"/>
              </a:lnSpc>
            </a:pPr>
            <a:r>
              <a:rPr lang="fa-IR" sz="2000" b="1" smtClean="0"/>
              <a:t>داشتن  اعتبار و درستی علمی – فنی </a:t>
            </a:r>
            <a:endParaRPr lang="en-US" sz="2000" smtClean="0"/>
          </a:p>
          <a:p>
            <a:pPr algn="r" rtl="1" eaLnBrk="1" hangingPunct="1">
              <a:lnSpc>
                <a:spcPct val="80000"/>
              </a:lnSpc>
            </a:pPr>
            <a:r>
              <a:rPr lang="fa-IR" sz="2000" b="1" smtClean="0"/>
              <a:t>منطق مندی </a:t>
            </a:r>
            <a:endParaRPr lang="en-US" sz="2000" smtClean="0"/>
          </a:p>
          <a:p>
            <a:pPr algn="r" rtl="1" eaLnBrk="1" hangingPunct="1">
              <a:lnSpc>
                <a:spcPct val="80000"/>
              </a:lnSpc>
            </a:pPr>
            <a:r>
              <a:rPr lang="fa-IR" sz="2000" b="1" smtClean="0"/>
              <a:t>مستدل بودن </a:t>
            </a:r>
            <a:endParaRPr lang="en-US" sz="2000" smtClean="0"/>
          </a:p>
          <a:p>
            <a:pPr algn="r" rtl="1" eaLnBrk="1" hangingPunct="1">
              <a:lnSpc>
                <a:spcPct val="80000"/>
              </a:lnSpc>
            </a:pPr>
            <a:r>
              <a:rPr lang="fa-IR" sz="2000" b="1" smtClean="0"/>
              <a:t>انسجام و یکدست بودن </a:t>
            </a:r>
            <a:endParaRPr lang="en-US" sz="2000" smtClean="0"/>
          </a:p>
          <a:p>
            <a:pPr algn="r" rtl="1" eaLnBrk="1" hangingPunct="1">
              <a:lnSpc>
                <a:spcPct val="80000"/>
              </a:lnSpc>
            </a:pPr>
            <a:r>
              <a:rPr lang="fa-IR" sz="2000" b="1" smtClean="0"/>
              <a:t>متناسب با موضوع بودن </a:t>
            </a:r>
            <a:endParaRPr lang="en-US" sz="2000" smtClean="0"/>
          </a:p>
          <a:p>
            <a:pPr algn="r" rtl="1" eaLnBrk="1" hangingPunct="1">
              <a:lnSpc>
                <a:spcPct val="80000"/>
              </a:lnSpc>
            </a:pPr>
            <a:r>
              <a:rPr lang="fa-IR" sz="2000" b="1" smtClean="0"/>
              <a:t>وضوح </a:t>
            </a:r>
            <a:endParaRPr lang="en-US" sz="2000" smtClean="0"/>
          </a:p>
          <a:p>
            <a:pPr algn="r" rtl="1" eaLnBrk="1" hangingPunct="1">
              <a:lnSpc>
                <a:spcPct val="80000"/>
              </a:lnSpc>
            </a:pPr>
            <a:r>
              <a:rPr lang="fa-IR" sz="2000" b="1" smtClean="0"/>
              <a:t>کامل بودن </a:t>
            </a:r>
            <a:endParaRPr lang="en-US" sz="2000" smtClean="0"/>
          </a:p>
          <a:p>
            <a:pPr algn="r" rtl="1" eaLnBrk="1" hangingPunct="1">
              <a:lnSpc>
                <a:spcPct val="80000"/>
              </a:lnSpc>
            </a:pPr>
            <a:r>
              <a:rPr lang="fa-IR" sz="2000" b="1" smtClean="0"/>
              <a:t>صریح بودن </a:t>
            </a:r>
            <a:endParaRPr lang="en-US" sz="2000" smtClean="0"/>
          </a:p>
          <a:p>
            <a:pPr algn="r" rtl="1" eaLnBrk="1" hangingPunct="1">
              <a:lnSpc>
                <a:spcPct val="80000"/>
              </a:lnSpc>
            </a:pPr>
            <a:r>
              <a:rPr lang="fa-IR" sz="2000" b="1" smtClean="0"/>
              <a:t>تخصصی و موکد به موضوع بودن </a:t>
            </a:r>
            <a:endParaRPr lang="en-US" sz="2000" smtClean="0"/>
          </a:p>
          <a:p>
            <a:pPr algn="r" rtl="1" eaLnBrk="1" hangingPunct="1">
              <a:lnSpc>
                <a:spcPct val="80000"/>
              </a:lnSpc>
            </a:pPr>
            <a:r>
              <a:rPr lang="fa-IR" sz="2000" b="1" smtClean="0"/>
              <a:t>عینی و واقعیت نما بودن </a:t>
            </a:r>
            <a:endParaRPr lang="en-US" sz="2000" smtClean="0"/>
          </a:p>
          <a:p>
            <a:pPr algn="r" rtl="1" eaLnBrk="1" hangingPunct="1">
              <a:lnSpc>
                <a:spcPct val="80000"/>
              </a:lnSpc>
            </a:pPr>
            <a:r>
              <a:rPr lang="fa-IR" sz="2000" b="1" smtClean="0"/>
              <a:t>امین بودن </a:t>
            </a:r>
            <a:endParaRPr lang="en-US" sz="2000" smtClean="0"/>
          </a:p>
          <a:p>
            <a:pPr algn="r" rtl="1" eaLnBrk="1" hangingPunct="1">
              <a:lnSpc>
                <a:spcPct val="80000"/>
              </a:lnSpc>
            </a:pPr>
            <a:r>
              <a:rPr lang="fa-IR" sz="2000" b="1" smtClean="0"/>
              <a:t>نداشتن لفاظیهای بی مورد </a:t>
            </a:r>
            <a:endParaRPr lang="en-US" sz="2000" smtClean="0"/>
          </a:p>
          <a:p>
            <a:pPr algn="r" rtl="1" eaLnBrk="1" hangingPunct="1">
              <a:lnSpc>
                <a:spcPct val="80000"/>
              </a:lnSpc>
            </a:pPr>
            <a:r>
              <a:rPr lang="fa-IR" sz="2000" b="1" smtClean="0"/>
              <a:t>نداشتن تکیه های بیجا و بیش از اندازه </a:t>
            </a:r>
            <a:endParaRPr lang="en-US" sz="2000" smtClean="0"/>
          </a:p>
          <a:p>
            <a:pPr algn="r" rtl="1" eaLnBrk="1" hangingPunct="1">
              <a:lnSpc>
                <a:spcPct val="80000"/>
              </a:lnSpc>
            </a:pPr>
            <a:r>
              <a:rPr lang="fa-IR" sz="2000" b="1" smtClean="0"/>
              <a:t>اطمینان بخش بودن </a:t>
            </a:r>
            <a:endParaRPr lang="en-US" sz="2000" smtClean="0"/>
          </a:p>
          <a:p>
            <a:pPr algn="r" rtl="1" eaLnBrk="1" hangingPunct="1">
              <a:lnSpc>
                <a:spcPct val="80000"/>
              </a:lnSpc>
            </a:pPr>
            <a:r>
              <a:rPr lang="fa-IR" sz="2000" b="1" smtClean="0"/>
              <a:t>مبالغه آمیز نبودن </a:t>
            </a:r>
            <a:endParaRPr lang="en-US" sz="2000" smtClean="0"/>
          </a:p>
          <a:p>
            <a:pPr algn="r" rtl="1" eaLnBrk="1" hangingPunct="1">
              <a:lnSpc>
                <a:spcPct val="80000"/>
              </a:lnSpc>
            </a:pPr>
            <a:r>
              <a:rPr lang="fa-IR" sz="2000" b="1" smtClean="0"/>
              <a:t>حقیقت مند بودن و غیره</a:t>
            </a:r>
            <a:r>
              <a:rPr lang="fa-IR" sz="2000" smtClean="0"/>
              <a:t> </a:t>
            </a:r>
            <a:endParaRPr lang="en-US" sz="2000" smtClean="0"/>
          </a:p>
        </p:txBody>
      </p:sp>
      <p:sp>
        <p:nvSpPr>
          <p:cNvPr id="167938" name="Rectangle 2"/>
          <p:cNvSpPr>
            <a:spLocks noGrp="1" noChangeArrowheads="1"/>
          </p:cNvSpPr>
          <p:nvPr>
            <p:ph type="title"/>
          </p:nvPr>
        </p:nvSpPr>
        <p:spPr>
          <a:xfrm>
            <a:off x="1116013" y="333375"/>
            <a:ext cx="6789737" cy="774700"/>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ویژگیهای کیفی عبارتند از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3"/>
          <p:cNvSpPr>
            <a:spLocks noGrp="1" noChangeArrowheads="1"/>
          </p:cNvSpPr>
          <p:nvPr>
            <p:ph idx="1"/>
          </p:nvPr>
        </p:nvSpPr>
        <p:spPr>
          <a:xfrm>
            <a:off x="468313" y="908050"/>
            <a:ext cx="8229600" cy="5616575"/>
          </a:xfrm>
        </p:spPr>
        <p:txBody>
          <a:bodyPr/>
          <a:lstStyle/>
          <a:p>
            <a:pPr algn="r" rtl="1" eaLnBrk="1" hangingPunct="1">
              <a:lnSpc>
                <a:spcPct val="80000"/>
              </a:lnSpc>
            </a:pPr>
            <a:r>
              <a:rPr lang="fa-IR" sz="2000" b="1" smtClean="0"/>
              <a:t>نادرستی تعریف موضوع </a:t>
            </a:r>
            <a:endParaRPr lang="en-US" sz="2000" smtClean="0"/>
          </a:p>
          <a:p>
            <a:pPr algn="r" rtl="1" eaLnBrk="1" hangingPunct="1">
              <a:lnSpc>
                <a:spcPct val="80000"/>
              </a:lnSpc>
            </a:pPr>
            <a:r>
              <a:rPr lang="fa-IR" sz="2000" b="1" smtClean="0"/>
              <a:t>عدم دقت در تعیین عنوان اصلی </a:t>
            </a:r>
            <a:endParaRPr lang="en-US" sz="2000" smtClean="0"/>
          </a:p>
          <a:p>
            <a:pPr algn="r" rtl="1" eaLnBrk="1" hangingPunct="1">
              <a:lnSpc>
                <a:spcPct val="80000"/>
              </a:lnSpc>
            </a:pPr>
            <a:r>
              <a:rPr lang="fa-IR" sz="2000" b="1" smtClean="0"/>
              <a:t>عدم انتخاب درست سرفصلها و عناوین داخلی </a:t>
            </a:r>
            <a:endParaRPr lang="en-US" sz="2000" smtClean="0"/>
          </a:p>
          <a:p>
            <a:pPr algn="r" rtl="1" eaLnBrk="1" hangingPunct="1">
              <a:lnSpc>
                <a:spcPct val="80000"/>
              </a:lnSpc>
            </a:pPr>
            <a:r>
              <a:rPr lang="fa-IR" sz="2000" b="1" smtClean="0"/>
              <a:t>روشن نبودن انگیزه نوشتن </a:t>
            </a:r>
            <a:endParaRPr lang="en-US" sz="2000" smtClean="0"/>
          </a:p>
          <a:p>
            <a:pPr algn="r" rtl="1" eaLnBrk="1" hangingPunct="1">
              <a:lnSpc>
                <a:spcPct val="80000"/>
              </a:lnSpc>
            </a:pPr>
            <a:r>
              <a:rPr lang="fa-IR" sz="2000" b="1" smtClean="0"/>
              <a:t>تعیین نادرست خواننده و سطح آن </a:t>
            </a:r>
            <a:endParaRPr lang="en-US" sz="2000" smtClean="0"/>
          </a:p>
          <a:p>
            <a:pPr algn="r" rtl="1" eaLnBrk="1" hangingPunct="1">
              <a:lnSpc>
                <a:spcPct val="80000"/>
              </a:lnSpc>
            </a:pPr>
            <a:r>
              <a:rPr lang="fa-IR" sz="2000" b="1" smtClean="0"/>
              <a:t>نادرستی داده ها </a:t>
            </a:r>
            <a:endParaRPr lang="en-US" sz="2000" smtClean="0"/>
          </a:p>
          <a:p>
            <a:pPr algn="r" rtl="1" eaLnBrk="1" hangingPunct="1">
              <a:lnSpc>
                <a:spcPct val="80000"/>
              </a:lnSpc>
            </a:pPr>
            <a:r>
              <a:rPr lang="fa-IR" sz="2000" b="1" smtClean="0"/>
              <a:t>عدم صراحت بیان </a:t>
            </a:r>
            <a:endParaRPr lang="en-US" sz="2000" smtClean="0"/>
          </a:p>
          <a:p>
            <a:pPr algn="r" rtl="1" eaLnBrk="1" hangingPunct="1">
              <a:lnSpc>
                <a:spcPct val="80000"/>
              </a:lnSpc>
            </a:pPr>
            <a:r>
              <a:rPr lang="fa-IR" sz="2000" b="1" smtClean="0"/>
              <a:t>عدم توانایی نویسنده در بررسی مطلب از دیدگاه خواننده </a:t>
            </a:r>
            <a:endParaRPr lang="en-US" sz="2000" smtClean="0"/>
          </a:p>
          <a:p>
            <a:pPr algn="r" rtl="1" eaLnBrk="1" hangingPunct="1">
              <a:lnSpc>
                <a:spcPct val="80000"/>
              </a:lnSpc>
            </a:pPr>
            <a:r>
              <a:rPr lang="fa-IR" sz="2000" b="1" smtClean="0"/>
              <a:t>عدم انتخاب روشهای مناسب گسترش مطلب </a:t>
            </a:r>
            <a:endParaRPr lang="en-US" sz="2000" smtClean="0"/>
          </a:p>
          <a:p>
            <a:pPr algn="r" rtl="1" eaLnBrk="1" hangingPunct="1">
              <a:lnSpc>
                <a:spcPct val="80000"/>
              </a:lnSpc>
            </a:pPr>
            <a:r>
              <a:rPr lang="fa-IR" sz="2000" b="1" smtClean="0"/>
              <a:t>ضعیف بودن استدلالها</a:t>
            </a:r>
            <a:endParaRPr lang="en-US" sz="2000" smtClean="0"/>
          </a:p>
          <a:p>
            <a:pPr algn="r" rtl="1" eaLnBrk="1" hangingPunct="1">
              <a:lnSpc>
                <a:spcPct val="80000"/>
              </a:lnSpc>
            </a:pPr>
            <a:r>
              <a:rPr lang="fa-IR" sz="2000" b="1" smtClean="0"/>
              <a:t>عدم انسجام و هماهنگی قسمتهای مختلف نوشتار </a:t>
            </a:r>
            <a:endParaRPr lang="en-US" sz="2000" smtClean="0"/>
          </a:p>
          <a:p>
            <a:pPr algn="r" rtl="1" eaLnBrk="1" hangingPunct="1">
              <a:lnSpc>
                <a:spcPct val="80000"/>
              </a:lnSpc>
            </a:pPr>
            <a:r>
              <a:rPr lang="fa-IR" sz="2000" b="1" smtClean="0"/>
              <a:t>عدم وجود توالی  منطقی بین قسمتهای نوشتار </a:t>
            </a:r>
            <a:endParaRPr lang="en-US" sz="2000" smtClean="0"/>
          </a:p>
          <a:p>
            <a:pPr algn="r" rtl="1" eaLnBrk="1" hangingPunct="1">
              <a:lnSpc>
                <a:spcPct val="80000"/>
              </a:lnSpc>
            </a:pPr>
            <a:r>
              <a:rPr lang="fa-IR" sz="2000" b="1" smtClean="0"/>
              <a:t>وجود اطلاعاتی که بدیهی هستند </a:t>
            </a:r>
            <a:endParaRPr lang="en-US" sz="2000" smtClean="0"/>
          </a:p>
          <a:p>
            <a:pPr algn="r" rtl="1" eaLnBrk="1" hangingPunct="1">
              <a:lnSpc>
                <a:spcPct val="80000"/>
              </a:lnSpc>
            </a:pPr>
            <a:r>
              <a:rPr lang="fa-IR" sz="2000" b="1" smtClean="0"/>
              <a:t>چند بار نویسی، لفاظی و حاشیه پردازی</a:t>
            </a:r>
            <a:endParaRPr lang="en-US" sz="2000" smtClean="0"/>
          </a:p>
          <a:p>
            <a:pPr algn="r" rtl="1" eaLnBrk="1" hangingPunct="1">
              <a:lnSpc>
                <a:spcPct val="80000"/>
              </a:lnSpc>
            </a:pPr>
            <a:r>
              <a:rPr lang="fa-IR" sz="2000" b="1" smtClean="0"/>
              <a:t>کامل نبودن نوشته </a:t>
            </a:r>
            <a:endParaRPr lang="en-US" sz="2000" smtClean="0"/>
          </a:p>
          <a:p>
            <a:pPr algn="r" rtl="1" eaLnBrk="1" hangingPunct="1">
              <a:lnSpc>
                <a:spcPct val="80000"/>
              </a:lnSpc>
            </a:pPr>
            <a:r>
              <a:rPr lang="fa-IR" sz="2000" b="1" smtClean="0"/>
              <a:t>وجود اصطلاحات علمی – فنی ناآشنا و غیره</a:t>
            </a:r>
            <a:r>
              <a:rPr lang="fa-IR" sz="2000" smtClean="0"/>
              <a:t> </a:t>
            </a:r>
            <a:endParaRPr lang="en-US" sz="2000" smtClean="0"/>
          </a:p>
        </p:txBody>
      </p:sp>
      <p:sp>
        <p:nvSpPr>
          <p:cNvPr id="168962" name="Rectangle 2"/>
          <p:cNvSpPr>
            <a:spLocks noGrp="1" noChangeArrowheads="1"/>
          </p:cNvSpPr>
          <p:nvPr>
            <p:ph type="title"/>
          </p:nvPr>
        </p:nvSpPr>
        <p:spPr>
          <a:xfrm>
            <a:off x="457200" y="277813"/>
            <a:ext cx="8229600" cy="487362"/>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عوامل  منفی در ارائه  نوشتاری علمی – فنی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3"/>
          <p:cNvSpPr>
            <a:spLocks noGrp="1" noChangeArrowheads="1"/>
          </p:cNvSpPr>
          <p:nvPr>
            <p:ph idx="1"/>
          </p:nvPr>
        </p:nvSpPr>
        <p:spPr/>
        <p:txBody>
          <a:bodyPr/>
          <a:lstStyle/>
          <a:p>
            <a:pPr algn="justLow" rtl="1" eaLnBrk="1" hangingPunct="1">
              <a:buFont typeface="Wingdings" pitchFamily="2" charset="2"/>
              <a:buNone/>
            </a:pPr>
            <a:r>
              <a:rPr lang="fa-IR" b="1" smtClean="0"/>
              <a:t>در سازمانهایی که به نحوی به کار دانش و فن می پردازند اعم از آکادمیک ، دانشگاهی ، فنی – صنعتی، حرفه ای و ... لازم است که بخشی از سازمان به عنوان مسئول تولید نوشتار علمی – فنی در نظر گرفته شود  . این نکته بسیار مهم باید درک شود که در حیطه دانش و فن و به ویژه در کار پژوهش ، تولید و توسعه،  نوشتن امری اساسی است . بدون نوشتن  ایده ها ، یافتارها ، دانستارها و ... و ارائه آنها کار پژوهش ، تولید و توسعه  ناتمام است .</a:t>
            </a:r>
            <a:endParaRPr lang="en-US" b="1" smtClean="0"/>
          </a:p>
        </p:txBody>
      </p:sp>
      <p:sp>
        <p:nvSpPr>
          <p:cNvPr id="16998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لزوم مدیریت نوشتار علمی – فنی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3"/>
          <p:cNvSpPr>
            <a:spLocks noGrp="1" noChangeArrowheads="1"/>
          </p:cNvSpPr>
          <p:nvPr>
            <p:ph idx="1"/>
          </p:nvPr>
        </p:nvSpPr>
        <p:spPr>
          <a:xfrm>
            <a:off x="457200" y="1600200"/>
            <a:ext cx="8229600" cy="4924425"/>
          </a:xfrm>
        </p:spPr>
        <p:txBody>
          <a:bodyPr/>
          <a:lstStyle/>
          <a:p>
            <a:pPr marL="533400" indent="-533400" algn="r" rtl="1" eaLnBrk="1" hangingPunct="1">
              <a:lnSpc>
                <a:spcPct val="90000"/>
              </a:lnSpc>
              <a:buFont typeface="Wingdings" pitchFamily="2" charset="2"/>
              <a:buAutoNum type="arabicPeriod"/>
            </a:pPr>
            <a:r>
              <a:rPr lang="fa-IR" b="1" smtClean="0"/>
              <a:t>تامین نیروی تخصصی تولید نوشتار علمی – فنی </a:t>
            </a:r>
          </a:p>
          <a:p>
            <a:pPr marL="533400" indent="-533400" algn="r" rtl="1" eaLnBrk="1" hangingPunct="1">
              <a:lnSpc>
                <a:spcPct val="90000"/>
              </a:lnSpc>
              <a:buFont typeface="Wingdings" pitchFamily="2" charset="2"/>
              <a:buAutoNum type="arabicPeriod"/>
            </a:pPr>
            <a:r>
              <a:rPr lang="fa-IR" b="1" smtClean="0"/>
              <a:t>تامین مکان و ابزارهای مناسب برای تولید نوشتار </a:t>
            </a:r>
          </a:p>
          <a:p>
            <a:pPr marL="533400" indent="-533400" algn="r" rtl="1" eaLnBrk="1" hangingPunct="1">
              <a:lnSpc>
                <a:spcPct val="90000"/>
              </a:lnSpc>
              <a:buFont typeface="Wingdings" pitchFamily="2" charset="2"/>
              <a:buAutoNum type="arabicPeriod"/>
            </a:pPr>
            <a:r>
              <a:rPr lang="fa-IR" b="1" smtClean="0"/>
              <a:t>سرپرستی نویسندگان  و استفاده بهینه از زمان </a:t>
            </a:r>
          </a:p>
          <a:p>
            <a:pPr marL="533400" indent="-533400" algn="r" rtl="1" eaLnBrk="1" hangingPunct="1">
              <a:lnSpc>
                <a:spcPct val="90000"/>
              </a:lnSpc>
              <a:buFont typeface="Wingdings" pitchFamily="2" charset="2"/>
              <a:buAutoNum type="arabicPeriod"/>
            </a:pPr>
            <a:r>
              <a:rPr lang="fa-IR" b="1" smtClean="0"/>
              <a:t>تبیین صریح و روشن خواسته های مدیریت سازمان از تولیدکنندگان نوشتار</a:t>
            </a:r>
          </a:p>
          <a:p>
            <a:pPr marL="533400" indent="-533400" algn="r" rtl="1" eaLnBrk="1" hangingPunct="1">
              <a:lnSpc>
                <a:spcPct val="90000"/>
              </a:lnSpc>
              <a:buFont typeface="Wingdings" pitchFamily="2" charset="2"/>
              <a:buAutoNum type="arabicPeriod"/>
            </a:pPr>
            <a:r>
              <a:rPr lang="fa-IR" b="1" smtClean="0"/>
              <a:t>نظارت در آماده سازی نوشتار </a:t>
            </a:r>
          </a:p>
          <a:p>
            <a:pPr marL="533400" indent="-533400" algn="r" rtl="1" eaLnBrk="1" hangingPunct="1">
              <a:lnSpc>
                <a:spcPct val="90000"/>
              </a:lnSpc>
              <a:buFont typeface="Wingdings" pitchFamily="2" charset="2"/>
              <a:buAutoNum type="arabicPeriod"/>
            </a:pPr>
            <a:r>
              <a:rPr lang="fa-IR" b="1" smtClean="0"/>
              <a:t>ویرایش نوشتار بطور کامل و صریح </a:t>
            </a:r>
          </a:p>
          <a:p>
            <a:pPr marL="533400" indent="-533400" algn="r" rtl="1" eaLnBrk="1" hangingPunct="1">
              <a:lnSpc>
                <a:spcPct val="90000"/>
              </a:lnSpc>
              <a:buFont typeface="Wingdings" pitchFamily="2" charset="2"/>
              <a:buAutoNum type="arabicPeriod"/>
            </a:pPr>
            <a:r>
              <a:rPr lang="fa-IR" b="1" smtClean="0"/>
              <a:t>تایید نهایی نوشتار و ارائه آن به مدیریت سازمان </a:t>
            </a:r>
          </a:p>
          <a:p>
            <a:pPr marL="533400" indent="-533400" algn="r" rtl="1" eaLnBrk="1" hangingPunct="1">
              <a:lnSpc>
                <a:spcPct val="90000"/>
              </a:lnSpc>
              <a:buFont typeface="Wingdings" pitchFamily="2" charset="2"/>
              <a:buAutoNum type="arabicPeriod"/>
            </a:pPr>
            <a:r>
              <a:rPr lang="fa-IR" b="1" smtClean="0"/>
              <a:t>ارزیابی و تشویق نویسندگان کارآ</a:t>
            </a:r>
            <a:r>
              <a:rPr lang="fa-IR" smtClean="0"/>
              <a:t> </a:t>
            </a:r>
            <a:endParaRPr lang="en-US" smtClean="0"/>
          </a:p>
        </p:txBody>
      </p:sp>
      <p:sp>
        <p:nvSpPr>
          <p:cNvPr id="17101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وظایف مدیریت نوشتار علمی – فنی: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3"/>
          <p:cNvSpPr>
            <a:spLocks noGrp="1" noChangeArrowheads="1"/>
          </p:cNvSpPr>
          <p:nvPr>
            <p:ph idx="1"/>
          </p:nvPr>
        </p:nvSpPr>
        <p:spPr/>
        <p:txBody>
          <a:bodyPr/>
          <a:lstStyle/>
          <a:p>
            <a:pPr algn="justLow" rtl="1" eaLnBrk="1" hangingPunct="1">
              <a:buFont typeface="Wingdings" pitchFamily="2" charset="2"/>
              <a:buNone/>
            </a:pPr>
            <a:r>
              <a:rPr lang="fa-IR" smtClean="0"/>
              <a:t> </a:t>
            </a:r>
            <a:r>
              <a:rPr lang="fa-IR" b="1" smtClean="0"/>
              <a:t>نوشتارهای علمی – فنی را می توان از چند دیدگاه رده بندی کرد مثلا از نظر محیط  تولید ، صورت( فرم )، محتوا ، کاربرد ، سطح و ...</a:t>
            </a:r>
            <a:r>
              <a:rPr lang="fa-IR" smtClean="0"/>
              <a:t> </a:t>
            </a:r>
            <a:endParaRPr lang="en-US" smtClean="0"/>
          </a:p>
        </p:txBody>
      </p:sp>
      <p:sp>
        <p:nvSpPr>
          <p:cNvPr id="17203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dirty="0" smtClean="0">
                <a:solidFill>
                  <a:srgbClr val="FF0000"/>
                </a:solidFill>
                <a:effectLst/>
                <a:cs typeface="B Titr" pitchFamily="2" charset="-78"/>
              </a:rPr>
              <a:t>انواع نوشتار علمی – فنی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a:xfrm>
            <a:off x="1116013" y="277813"/>
            <a:ext cx="685165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انواع نوشتار علمی – فنی باتوجه به هدف اصلی تالیف کتاب حاضر : </a:t>
            </a:r>
            <a:endParaRPr lang="en-US" smtClean="0">
              <a:solidFill>
                <a:srgbClr val="FF0000"/>
              </a:solidFill>
              <a:effectLst/>
              <a:cs typeface="B Titr" pitchFamily="2" charset="-78"/>
            </a:endParaRPr>
          </a:p>
        </p:txBody>
      </p:sp>
      <p:sp>
        <p:nvSpPr>
          <p:cNvPr id="169987" name="Rectangle 4"/>
          <p:cNvSpPr>
            <a:spLocks noChangeArrowheads="1"/>
          </p:cNvSpPr>
          <p:nvPr/>
        </p:nvSpPr>
        <p:spPr bwMode="auto">
          <a:xfrm>
            <a:off x="3203575" y="2276475"/>
            <a:ext cx="3168650" cy="865188"/>
          </a:xfrm>
          <a:prstGeom prst="rect">
            <a:avLst/>
          </a:prstGeom>
          <a:solidFill>
            <a:schemeClr val="tx2">
              <a:lumMod val="50000"/>
            </a:schemeClr>
          </a:solidFill>
          <a:ln w="9525">
            <a:solidFill>
              <a:srgbClr val="339966"/>
            </a:solidFill>
            <a:miter lim="800000"/>
            <a:headEnd/>
            <a:tailEnd/>
          </a:ln>
        </p:spPr>
        <p:txBody>
          <a:bodyPr/>
          <a:lstStyle/>
          <a:p>
            <a:r>
              <a:rPr lang="ar-SA" sz="3600">
                <a:latin typeface="Times New Roman" pitchFamily="18" charset="0"/>
                <a:cs typeface="Times New Roman" pitchFamily="18" charset="0"/>
              </a:rPr>
              <a:t>نوشتار علمی – فنی</a:t>
            </a:r>
            <a:endParaRPr lang="en-US" sz="3600">
              <a:latin typeface="Times New Roman" pitchFamily="18" charset="0"/>
              <a:cs typeface="Times New Roman" pitchFamily="18" charset="0"/>
            </a:endParaRPr>
          </a:p>
          <a:p>
            <a:pPr algn="l"/>
            <a:endParaRPr lang="en-US" sz="3600"/>
          </a:p>
        </p:txBody>
      </p:sp>
      <p:sp>
        <p:nvSpPr>
          <p:cNvPr id="169988" name="Rectangle 5"/>
          <p:cNvSpPr>
            <a:spLocks noChangeArrowheads="1"/>
          </p:cNvSpPr>
          <p:nvPr/>
        </p:nvSpPr>
        <p:spPr bwMode="auto">
          <a:xfrm>
            <a:off x="1476375" y="3789363"/>
            <a:ext cx="1871663" cy="865187"/>
          </a:xfrm>
          <a:prstGeom prst="rect">
            <a:avLst/>
          </a:prstGeom>
          <a:solidFill>
            <a:schemeClr val="tx2">
              <a:lumMod val="50000"/>
            </a:schemeClr>
          </a:solidFill>
          <a:ln w="9525">
            <a:solidFill>
              <a:srgbClr val="000000"/>
            </a:solidFill>
            <a:miter lim="800000"/>
            <a:headEnd/>
            <a:tailEnd/>
          </a:ln>
        </p:spPr>
        <p:txBody>
          <a:bodyPr/>
          <a:lstStyle/>
          <a:p>
            <a:r>
              <a:rPr lang="ar-SA" sz="2800">
                <a:latin typeface="Times New Roman" pitchFamily="18" charset="0"/>
                <a:cs typeface="Times New Roman" pitchFamily="18" charset="0"/>
              </a:rPr>
              <a:t>غیر دانشگاهی</a:t>
            </a:r>
            <a:endParaRPr lang="en-US" sz="4000"/>
          </a:p>
        </p:txBody>
      </p:sp>
      <p:sp>
        <p:nvSpPr>
          <p:cNvPr id="169989" name="Rectangle 6"/>
          <p:cNvSpPr>
            <a:spLocks noChangeArrowheads="1"/>
          </p:cNvSpPr>
          <p:nvPr/>
        </p:nvSpPr>
        <p:spPr bwMode="auto">
          <a:xfrm>
            <a:off x="6300788" y="3789363"/>
            <a:ext cx="1693862" cy="863600"/>
          </a:xfrm>
          <a:prstGeom prst="rect">
            <a:avLst/>
          </a:prstGeom>
          <a:solidFill>
            <a:schemeClr val="tx2">
              <a:lumMod val="50000"/>
            </a:schemeClr>
          </a:solidFill>
          <a:ln w="9525">
            <a:solidFill>
              <a:srgbClr val="000000"/>
            </a:solidFill>
            <a:miter lim="800000"/>
            <a:headEnd/>
            <a:tailEnd/>
          </a:ln>
        </p:spPr>
        <p:txBody>
          <a:bodyPr/>
          <a:lstStyle/>
          <a:p>
            <a:r>
              <a:rPr lang="ar-SA" sz="3200">
                <a:latin typeface="Times New Roman" pitchFamily="18" charset="0"/>
                <a:cs typeface="Times New Roman" pitchFamily="18" charset="0"/>
              </a:rPr>
              <a:t>دانشگاهی</a:t>
            </a:r>
            <a:endParaRPr lang="en-US" sz="4400" b="0"/>
          </a:p>
        </p:txBody>
      </p:sp>
      <p:sp>
        <p:nvSpPr>
          <p:cNvPr id="169990" name="Line 7"/>
          <p:cNvSpPr>
            <a:spLocks noChangeShapeType="1"/>
          </p:cNvSpPr>
          <p:nvPr/>
        </p:nvSpPr>
        <p:spPr bwMode="auto">
          <a:xfrm flipH="1">
            <a:off x="2411413" y="2708275"/>
            <a:ext cx="792162" cy="0"/>
          </a:xfrm>
          <a:prstGeom prst="line">
            <a:avLst/>
          </a:prstGeom>
          <a:noFill/>
          <a:ln w="9525">
            <a:solidFill>
              <a:schemeClr val="tx1"/>
            </a:solidFill>
            <a:round/>
            <a:headEnd/>
            <a:tailEnd/>
          </a:ln>
        </p:spPr>
        <p:txBody>
          <a:bodyPr wrap="none">
            <a:spAutoFit/>
          </a:bodyPr>
          <a:lstStyle/>
          <a:p>
            <a:endParaRPr lang="en-US"/>
          </a:p>
        </p:txBody>
      </p:sp>
      <p:sp>
        <p:nvSpPr>
          <p:cNvPr id="169991" name="Line 8"/>
          <p:cNvSpPr>
            <a:spLocks noChangeShapeType="1"/>
          </p:cNvSpPr>
          <p:nvPr/>
        </p:nvSpPr>
        <p:spPr bwMode="auto">
          <a:xfrm>
            <a:off x="6372225" y="2708275"/>
            <a:ext cx="647700" cy="0"/>
          </a:xfrm>
          <a:prstGeom prst="line">
            <a:avLst/>
          </a:prstGeom>
          <a:noFill/>
          <a:ln w="9525">
            <a:solidFill>
              <a:schemeClr val="tx1"/>
            </a:solidFill>
            <a:round/>
            <a:headEnd/>
            <a:tailEnd/>
          </a:ln>
        </p:spPr>
        <p:txBody>
          <a:bodyPr wrap="none">
            <a:spAutoFit/>
          </a:bodyPr>
          <a:lstStyle/>
          <a:p>
            <a:endParaRPr lang="en-US"/>
          </a:p>
        </p:txBody>
      </p:sp>
      <p:sp>
        <p:nvSpPr>
          <p:cNvPr id="169992" name="Line 9"/>
          <p:cNvSpPr>
            <a:spLocks noChangeShapeType="1"/>
          </p:cNvSpPr>
          <p:nvPr/>
        </p:nvSpPr>
        <p:spPr bwMode="auto">
          <a:xfrm>
            <a:off x="2411413" y="2708275"/>
            <a:ext cx="0" cy="1081088"/>
          </a:xfrm>
          <a:prstGeom prst="line">
            <a:avLst/>
          </a:prstGeom>
          <a:noFill/>
          <a:ln w="9525">
            <a:solidFill>
              <a:schemeClr val="tx1"/>
            </a:solidFill>
            <a:round/>
            <a:headEnd/>
            <a:tailEnd type="triangle" w="med" len="med"/>
          </a:ln>
        </p:spPr>
        <p:txBody>
          <a:bodyPr wrap="none">
            <a:spAutoFit/>
          </a:bodyPr>
          <a:lstStyle/>
          <a:p>
            <a:endParaRPr lang="en-US"/>
          </a:p>
        </p:txBody>
      </p:sp>
      <p:sp>
        <p:nvSpPr>
          <p:cNvPr id="169993" name="Line 10"/>
          <p:cNvSpPr>
            <a:spLocks noChangeShapeType="1"/>
          </p:cNvSpPr>
          <p:nvPr/>
        </p:nvSpPr>
        <p:spPr bwMode="auto">
          <a:xfrm>
            <a:off x="7019925" y="2708275"/>
            <a:ext cx="73025" cy="1081088"/>
          </a:xfrm>
          <a:prstGeom prst="line">
            <a:avLst/>
          </a:prstGeom>
          <a:noFill/>
          <a:ln w="9525">
            <a:solidFill>
              <a:schemeClr val="tx1"/>
            </a:solidFill>
            <a:round/>
            <a:headEnd/>
            <a:tailEnd type="triangle" w="med" len="med"/>
          </a:ln>
        </p:spPr>
        <p:txBody>
          <a:bodyPr wrap="none">
            <a:spAutoFit/>
          </a:bodyPr>
          <a:lstStyle/>
          <a:p>
            <a:endParaRPr lang="en-US"/>
          </a:p>
        </p:txBody>
      </p:sp>
    </p:spTree>
  </p:cSld>
  <p:clrMapOvr>
    <a:masterClrMapping/>
  </p:clrMapOvr>
  <p:transition spd="med">
    <p:wipe dir="d"/>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3"/>
          <p:cNvSpPr>
            <a:spLocks noGrp="1" noChangeArrowheads="1"/>
          </p:cNvSpPr>
          <p:nvPr>
            <p:ph idx="1"/>
          </p:nvPr>
        </p:nvSpPr>
        <p:spPr/>
        <p:txBody>
          <a:bodyPr/>
          <a:lstStyle/>
          <a:p>
            <a:pPr algn="justLow" rtl="1" eaLnBrk="1" hangingPunct="1">
              <a:buFont typeface="Wingdings" pitchFamily="2" charset="2"/>
              <a:buNone/>
            </a:pPr>
            <a:r>
              <a:rPr lang="fa-IR" b="1" smtClean="0"/>
              <a:t>منظور از نوشتار دانشگاهی ( تحصیلی )  بعضی و نه همه نوشتارهایی است که فرد در سطوح مختلف تحصیلات دانشگاهی  تهیه و تنظیم می کند مثلا کتاب و جزوه در اینجا مورد نظر نیست .</a:t>
            </a:r>
          </a:p>
          <a:p>
            <a:pPr algn="justLow" rtl="1" eaLnBrk="1" hangingPunct="1">
              <a:buFont typeface="Wingdings" pitchFamily="2" charset="2"/>
              <a:buNone/>
            </a:pPr>
            <a:r>
              <a:rPr lang="fa-IR" b="1" smtClean="0"/>
              <a:t>منظور از نوشتار غیر دانشگاهی ( کاری ) بعضی و نه همه نوشتارهایی است که یک فرد در محیطهای کاری تهیه وتنظیم میکند و کاربردهای متفاوت دارند .</a:t>
            </a:r>
            <a:r>
              <a:rPr lang="fa-IR" smtClean="0"/>
              <a:t> </a:t>
            </a:r>
            <a:endParaRPr lang="en-US" smtClean="0"/>
          </a:p>
        </p:txBody>
      </p:sp>
      <p:sp>
        <p:nvSpPr>
          <p:cNvPr id="200706" name="Rectangle 2"/>
          <p:cNvSpPr>
            <a:spLocks noGrp="1" noChangeArrowheads="1"/>
          </p:cNvSpPr>
          <p:nvPr>
            <p:ph type="title"/>
          </p:nvPr>
        </p:nvSpPr>
        <p:spPr>
          <a:xfrm>
            <a:off x="457200" y="277813"/>
            <a:ext cx="8229600" cy="8477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نوشتار دانشگاهی  و غیر دانشگاهی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3"/>
          <p:cNvSpPr>
            <a:spLocks noGrp="1" noChangeArrowheads="1"/>
          </p:cNvSpPr>
          <p:nvPr>
            <p:ph idx="1"/>
          </p:nvPr>
        </p:nvSpPr>
        <p:spPr/>
        <p:txBody>
          <a:bodyPr/>
          <a:lstStyle/>
          <a:p>
            <a:pPr algn="justLow" rtl="1" eaLnBrk="1" hangingPunct="1">
              <a:lnSpc>
                <a:spcPct val="80000"/>
              </a:lnSpc>
            </a:pPr>
            <a:r>
              <a:rPr lang="fa-IR" sz="2800" b="1" smtClean="0"/>
              <a:t>گزارش مطالعه  بیشتر ( تحقیق ) در چارچوب یک درس </a:t>
            </a:r>
            <a:endParaRPr lang="en-US" sz="2800" smtClean="0"/>
          </a:p>
          <a:p>
            <a:pPr algn="justLow" rtl="1" eaLnBrk="1" hangingPunct="1">
              <a:lnSpc>
                <a:spcPct val="80000"/>
              </a:lnSpc>
            </a:pPr>
            <a:r>
              <a:rPr lang="fa-IR" sz="2800" b="1" smtClean="0"/>
              <a:t>گزارش درس &lt;&lt; سمینار  &gt;&gt; </a:t>
            </a:r>
            <a:endParaRPr lang="en-US" sz="2800" smtClean="0"/>
          </a:p>
          <a:p>
            <a:pPr algn="justLow" rtl="1" eaLnBrk="1" hangingPunct="1">
              <a:lnSpc>
                <a:spcPct val="80000"/>
              </a:lnSpc>
            </a:pPr>
            <a:r>
              <a:rPr lang="fa-IR" sz="2800" b="1" smtClean="0"/>
              <a:t>گزارش انجام پروژه در چارچوب یک درس ( پروژه درسی )</a:t>
            </a:r>
            <a:endParaRPr lang="en-US" sz="2800" smtClean="0"/>
          </a:p>
          <a:p>
            <a:pPr algn="justLow" rtl="1" eaLnBrk="1" hangingPunct="1">
              <a:lnSpc>
                <a:spcPct val="80000"/>
              </a:lnSpc>
            </a:pPr>
            <a:r>
              <a:rPr lang="fa-IR" sz="2800" b="1" smtClean="0"/>
              <a:t>گزارش انجام &lt;&lt; کارآموزی &gt;&gt;</a:t>
            </a:r>
            <a:endParaRPr lang="en-US" sz="2800" smtClean="0"/>
          </a:p>
          <a:p>
            <a:pPr algn="justLow" rtl="1" eaLnBrk="1" hangingPunct="1">
              <a:lnSpc>
                <a:spcPct val="80000"/>
              </a:lnSpc>
            </a:pPr>
            <a:r>
              <a:rPr lang="fa-IR" sz="2800" b="1" smtClean="0"/>
              <a:t>گزارش پروژه پایان دوره کارشناسی </a:t>
            </a:r>
            <a:endParaRPr lang="en-US" sz="2800" smtClean="0"/>
          </a:p>
          <a:p>
            <a:pPr algn="justLow" rtl="1" eaLnBrk="1" hangingPunct="1">
              <a:lnSpc>
                <a:spcPct val="80000"/>
              </a:lnSpc>
            </a:pPr>
            <a:r>
              <a:rPr lang="fa-IR" sz="2800" b="1" smtClean="0"/>
              <a:t>پایان نامه ( رساله ) دوره کارشناسی ارشد </a:t>
            </a:r>
            <a:endParaRPr lang="en-US" sz="2800" smtClean="0"/>
          </a:p>
          <a:p>
            <a:pPr algn="justLow" rtl="1" eaLnBrk="1" hangingPunct="1">
              <a:lnSpc>
                <a:spcPct val="80000"/>
              </a:lnSpc>
            </a:pPr>
            <a:r>
              <a:rPr lang="fa-IR" sz="2800" b="1" smtClean="0"/>
              <a:t>دانشنامه ( تز ) دوره دکترا و پسا دکترا </a:t>
            </a:r>
            <a:endParaRPr lang="en-US" sz="2800" smtClean="0"/>
          </a:p>
          <a:p>
            <a:pPr algn="justLow" rtl="1" eaLnBrk="1" hangingPunct="1">
              <a:lnSpc>
                <a:spcPct val="80000"/>
              </a:lnSpc>
            </a:pPr>
            <a:r>
              <a:rPr lang="fa-IR" sz="2800" b="1" smtClean="0"/>
              <a:t>گزارش کار آزمایشگاه </a:t>
            </a:r>
            <a:endParaRPr lang="en-US" sz="2800" smtClean="0"/>
          </a:p>
          <a:p>
            <a:pPr algn="justLow" rtl="1" eaLnBrk="1" hangingPunct="1">
              <a:lnSpc>
                <a:spcPct val="80000"/>
              </a:lnSpc>
            </a:pPr>
            <a:r>
              <a:rPr lang="fa-IR" sz="2800" b="1" smtClean="0"/>
              <a:t>مقاله </a:t>
            </a:r>
            <a:endParaRPr lang="en-US" sz="2800" smtClean="0"/>
          </a:p>
          <a:p>
            <a:pPr algn="justLow" rtl="1" eaLnBrk="1" hangingPunct="1">
              <a:lnSpc>
                <a:spcPct val="80000"/>
              </a:lnSpc>
            </a:pPr>
            <a:r>
              <a:rPr lang="fa-IR" sz="2800" b="1" smtClean="0"/>
              <a:t>گزارش بازدید ( گردش ) علمی</a:t>
            </a:r>
            <a:r>
              <a:rPr lang="fa-IR" sz="2800" smtClean="0"/>
              <a:t> </a:t>
            </a:r>
            <a:endParaRPr lang="en-US" sz="2800" smtClean="0"/>
          </a:p>
        </p:txBody>
      </p:sp>
      <p:sp>
        <p:nvSpPr>
          <p:cNvPr id="179202" name="Rectangle 2"/>
          <p:cNvSpPr>
            <a:spLocks noGrp="1" noChangeArrowheads="1"/>
          </p:cNvSpPr>
          <p:nvPr>
            <p:ph type="title"/>
          </p:nvPr>
        </p:nvSpPr>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گونه های رایج  نوشتار دانشگاهی ( تحصیلی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4"/>
          <p:cNvSpPr>
            <a:spLocks noChangeArrowheads="1"/>
          </p:cNvSpPr>
          <p:nvPr/>
        </p:nvSpPr>
        <p:spPr bwMode="auto">
          <a:xfrm>
            <a:off x="7750175" y="3930650"/>
            <a:ext cx="942975" cy="406400"/>
          </a:xfrm>
          <a:prstGeom prst="rect">
            <a:avLst/>
          </a:prstGeom>
          <a:solidFill>
            <a:schemeClr val="accent1"/>
          </a:solidFill>
          <a:ln w="9525" algn="ctr">
            <a:solidFill>
              <a:schemeClr val="tx1"/>
            </a:solidFill>
            <a:miter lim="800000"/>
            <a:headEnd/>
            <a:tailEnd/>
          </a:ln>
        </p:spPr>
        <p:txBody>
          <a:bodyPr anchor="ctr">
            <a:spAutoFit/>
          </a:bodyPr>
          <a:lstStyle/>
          <a:p>
            <a:r>
              <a:rPr lang="fa-IR" sz="2000"/>
              <a:t>تشريحي </a:t>
            </a:r>
            <a:endParaRPr lang="en-US" sz="2000"/>
          </a:p>
        </p:txBody>
      </p:sp>
      <p:sp>
        <p:nvSpPr>
          <p:cNvPr id="173059" name="Rectangle 5"/>
          <p:cNvSpPr>
            <a:spLocks noChangeArrowheads="1"/>
          </p:cNvSpPr>
          <p:nvPr/>
        </p:nvSpPr>
        <p:spPr bwMode="auto">
          <a:xfrm>
            <a:off x="6297613" y="3789363"/>
            <a:ext cx="1106487" cy="711200"/>
          </a:xfrm>
          <a:prstGeom prst="rect">
            <a:avLst/>
          </a:prstGeom>
          <a:solidFill>
            <a:schemeClr val="accent1"/>
          </a:solidFill>
          <a:ln w="9525" algn="ctr">
            <a:solidFill>
              <a:schemeClr val="tx1"/>
            </a:solidFill>
            <a:miter lim="800000"/>
            <a:headEnd/>
            <a:tailEnd/>
          </a:ln>
        </p:spPr>
        <p:txBody>
          <a:bodyPr wrap="none" anchor="ctr">
            <a:spAutoFit/>
          </a:bodyPr>
          <a:lstStyle/>
          <a:p>
            <a:r>
              <a:rPr lang="fa-IR" sz="2000"/>
              <a:t>تبليغاتي – </a:t>
            </a:r>
          </a:p>
          <a:p>
            <a:r>
              <a:rPr lang="fa-IR" sz="2000"/>
              <a:t>تجارتي </a:t>
            </a:r>
            <a:endParaRPr lang="en-US" sz="2000"/>
          </a:p>
        </p:txBody>
      </p:sp>
      <p:sp>
        <p:nvSpPr>
          <p:cNvPr id="173060" name="Rectangle 6"/>
          <p:cNvSpPr>
            <a:spLocks noChangeArrowheads="1"/>
          </p:cNvSpPr>
          <p:nvPr/>
        </p:nvSpPr>
        <p:spPr bwMode="auto">
          <a:xfrm>
            <a:off x="5264150" y="3933825"/>
            <a:ext cx="738188" cy="406400"/>
          </a:xfrm>
          <a:prstGeom prst="rect">
            <a:avLst/>
          </a:prstGeom>
          <a:solidFill>
            <a:schemeClr val="accent1"/>
          </a:solidFill>
          <a:ln w="9525" algn="ctr">
            <a:solidFill>
              <a:schemeClr val="tx1"/>
            </a:solidFill>
            <a:miter lim="800000"/>
            <a:headEnd/>
            <a:tailEnd/>
          </a:ln>
        </p:spPr>
        <p:txBody>
          <a:bodyPr wrap="none" anchor="ctr">
            <a:spAutoFit/>
          </a:bodyPr>
          <a:lstStyle/>
          <a:p>
            <a:r>
              <a:rPr lang="fa-IR" sz="2000"/>
              <a:t>خبري </a:t>
            </a:r>
            <a:endParaRPr lang="en-US" sz="2000"/>
          </a:p>
        </p:txBody>
      </p:sp>
      <p:sp>
        <p:nvSpPr>
          <p:cNvPr id="173061" name="Rectangle 7"/>
          <p:cNvSpPr>
            <a:spLocks noChangeArrowheads="1"/>
          </p:cNvSpPr>
          <p:nvPr/>
        </p:nvSpPr>
        <p:spPr bwMode="auto">
          <a:xfrm>
            <a:off x="3859213" y="3933825"/>
            <a:ext cx="954087" cy="406400"/>
          </a:xfrm>
          <a:prstGeom prst="rect">
            <a:avLst/>
          </a:prstGeom>
          <a:solidFill>
            <a:schemeClr val="accent1"/>
          </a:solidFill>
          <a:ln w="9525" algn="ctr">
            <a:solidFill>
              <a:schemeClr val="tx1"/>
            </a:solidFill>
            <a:miter lim="800000"/>
            <a:headEnd/>
            <a:tailEnd/>
          </a:ln>
        </p:spPr>
        <p:txBody>
          <a:bodyPr wrap="none" anchor="ctr">
            <a:spAutoFit/>
          </a:bodyPr>
          <a:lstStyle/>
          <a:p>
            <a:r>
              <a:rPr lang="fa-IR" sz="2000"/>
              <a:t>كاربردي </a:t>
            </a:r>
            <a:endParaRPr lang="en-US" sz="2000"/>
          </a:p>
        </p:txBody>
      </p:sp>
      <p:sp>
        <p:nvSpPr>
          <p:cNvPr id="173062" name="Rectangle 8"/>
          <p:cNvSpPr>
            <a:spLocks noChangeArrowheads="1"/>
          </p:cNvSpPr>
          <p:nvPr/>
        </p:nvSpPr>
        <p:spPr bwMode="auto">
          <a:xfrm>
            <a:off x="2586038" y="3933825"/>
            <a:ext cx="915987" cy="406400"/>
          </a:xfrm>
          <a:prstGeom prst="rect">
            <a:avLst/>
          </a:prstGeom>
          <a:solidFill>
            <a:schemeClr val="accent1"/>
          </a:solidFill>
          <a:ln w="9525" algn="ctr">
            <a:solidFill>
              <a:schemeClr val="tx1"/>
            </a:solidFill>
            <a:miter lim="800000"/>
            <a:headEnd/>
            <a:tailEnd/>
          </a:ln>
        </p:spPr>
        <p:txBody>
          <a:bodyPr wrap="none" anchor="ctr">
            <a:spAutoFit/>
          </a:bodyPr>
          <a:lstStyle/>
          <a:p>
            <a:r>
              <a:rPr lang="fa-IR" sz="2000"/>
              <a:t>مديريتي </a:t>
            </a:r>
            <a:endParaRPr lang="en-US" sz="2000"/>
          </a:p>
        </p:txBody>
      </p:sp>
      <p:sp>
        <p:nvSpPr>
          <p:cNvPr id="173063" name="Rectangle 9"/>
          <p:cNvSpPr>
            <a:spLocks noChangeArrowheads="1"/>
          </p:cNvSpPr>
          <p:nvPr/>
        </p:nvSpPr>
        <p:spPr bwMode="auto">
          <a:xfrm>
            <a:off x="1268413" y="3933825"/>
            <a:ext cx="952500" cy="406400"/>
          </a:xfrm>
          <a:prstGeom prst="rect">
            <a:avLst/>
          </a:prstGeom>
          <a:solidFill>
            <a:schemeClr val="accent1"/>
          </a:solidFill>
          <a:ln w="9525" algn="ctr">
            <a:solidFill>
              <a:schemeClr val="tx1"/>
            </a:solidFill>
            <a:miter lim="800000"/>
            <a:headEnd/>
            <a:tailEnd/>
          </a:ln>
        </p:spPr>
        <p:txBody>
          <a:bodyPr wrap="none" anchor="ctr">
            <a:spAutoFit/>
          </a:bodyPr>
          <a:lstStyle/>
          <a:p>
            <a:r>
              <a:rPr lang="fa-IR" sz="2000"/>
              <a:t>آموزشي </a:t>
            </a:r>
            <a:endParaRPr lang="en-US" sz="2000"/>
          </a:p>
        </p:txBody>
      </p:sp>
      <p:sp>
        <p:nvSpPr>
          <p:cNvPr id="173064" name="Rectangle 10"/>
          <p:cNvSpPr>
            <a:spLocks noChangeArrowheads="1"/>
          </p:cNvSpPr>
          <p:nvPr/>
        </p:nvSpPr>
        <p:spPr bwMode="auto">
          <a:xfrm>
            <a:off x="0" y="3933825"/>
            <a:ext cx="974725" cy="406400"/>
          </a:xfrm>
          <a:prstGeom prst="rect">
            <a:avLst/>
          </a:prstGeom>
          <a:solidFill>
            <a:schemeClr val="accent1"/>
          </a:solidFill>
          <a:ln w="9525" algn="ctr">
            <a:solidFill>
              <a:schemeClr val="tx1"/>
            </a:solidFill>
            <a:miter lim="800000"/>
            <a:headEnd/>
            <a:tailEnd/>
          </a:ln>
        </p:spPr>
        <p:txBody>
          <a:bodyPr wrap="none" anchor="ctr">
            <a:spAutoFit/>
          </a:bodyPr>
          <a:lstStyle/>
          <a:p>
            <a:r>
              <a:rPr lang="fa-IR" sz="2000"/>
              <a:t>پژوهشي </a:t>
            </a:r>
            <a:endParaRPr lang="en-US" sz="2000"/>
          </a:p>
        </p:txBody>
      </p:sp>
      <p:sp>
        <p:nvSpPr>
          <p:cNvPr id="173065" name="Rectangle 11"/>
          <p:cNvSpPr>
            <a:spLocks noChangeArrowheads="1"/>
          </p:cNvSpPr>
          <p:nvPr/>
        </p:nvSpPr>
        <p:spPr bwMode="auto">
          <a:xfrm>
            <a:off x="1816100" y="330200"/>
            <a:ext cx="6251575" cy="1441450"/>
          </a:xfrm>
          <a:prstGeom prst="rect">
            <a:avLst/>
          </a:prstGeom>
          <a:solidFill>
            <a:schemeClr val="accent1"/>
          </a:solidFill>
          <a:ln w="9525" algn="ctr">
            <a:solidFill>
              <a:schemeClr val="tx1"/>
            </a:solidFill>
            <a:miter lim="800000"/>
            <a:headEnd/>
            <a:tailEnd/>
          </a:ln>
        </p:spPr>
        <p:txBody>
          <a:bodyPr anchor="ctr">
            <a:spAutoFit/>
          </a:bodyPr>
          <a:lstStyle/>
          <a:p>
            <a:r>
              <a:rPr lang="fa-IR" sz="4400"/>
              <a:t>نوشتار علمي – فني غير دانشگاهي</a:t>
            </a:r>
            <a:r>
              <a:rPr lang="fa-IR" sz="4000"/>
              <a:t> </a:t>
            </a:r>
            <a:endParaRPr lang="en-US" sz="4000"/>
          </a:p>
        </p:txBody>
      </p:sp>
      <p:sp>
        <p:nvSpPr>
          <p:cNvPr id="173066" name="Line 16"/>
          <p:cNvSpPr>
            <a:spLocks noChangeShapeType="1"/>
          </p:cNvSpPr>
          <p:nvPr/>
        </p:nvSpPr>
        <p:spPr bwMode="auto">
          <a:xfrm>
            <a:off x="4859338" y="1773238"/>
            <a:ext cx="0" cy="1008062"/>
          </a:xfrm>
          <a:prstGeom prst="line">
            <a:avLst/>
          </a:prstGeom>
          <a:noFill/>
          <a:ln w="9525">
            <a:solidFill>
              <a:schemeClr val="tx1"/>
            </a:solidFill>
            <a:round/>
            <a:headEnd/>
            <a:tailEnd/>
          </a:ln>
        </p:spPr>
        <p:txBody>
          <a:bodyPr>
            <a:spAutoFit/>
          </a:bodyPr>
          <a:lstStyle/>
          <a:p>
            <a:endParaRPr lang="en-US"/>
          </a:p>
        </p:txBody>
      </p:sp>
      <p:sp>
        <p:nvSpPr>
          <p:cNvPr id="173067" name="Line 17"/>
          <p:cNvSpPr>
            <a:spLocks noChangeShapeType="1"/>
          </p:cNvSpPr>
          <p:nvPr/>
        </p:nvSpPr>
        <p:spPr bwMode="auto">
          <a:xfrm>
            <a:off x="539750" y="2852738"/>
            <a:ext cx="7632700" cy="0"/>
          </a:xfrm>
          <a:prstGeom prst="line">
            <a:avLst/>
          </a:prstGeom>
          <a:noFill/>
          <a:ln w="9525">
            <a:solidFill>
              <a:schemeClr val="tx1"/>
            </a:solidFill>
            <a:round/>
            <a:headEnd/>
            <a:tailEnd/>
          </a:ln>
        </p:spPr>
        <p:txBody>
          <a:bodyPr wrap="none">
            <a:spAutoFit/>
          </a:bodyPr>
          <a:lstStyle/>
          <a:p>
            <a:endParaRPr lang="en-US"/>
          </a:p>
        </p:txBody>
      </p:sp>
      <p:sp>
        <p:nvSpPr>
          <p:cNvPr id="173068" name="Line 18"/>
          <p:cNvSpPr>
            <a:spLocks noChangeShapeType="1"/>
          </p:cNvSpPr>
          <p:nvPr/>
        </p:nvSpPr>
        <p:spPr bwMode="auto">
          <a:xfrm>
            <a:off x="8172450" y="2852738"/>
            <a:ext cx="0" cy="1008062"/>
          </a:xfrm>
          <a:prstGeom prst="line">
            <a:avLst/>
          </a:prstGeom>
          <a:noFill/>
          <a:ln w="9525">
            <a:solidFill>
              <a:schemeClr val="tx1"/>
            </a:solidFill>
            <a:round/>
            <a:headEnd/>
            <a:tailEnd/>
          </a:ln>
        </p:spPr>
        <p:txBody>
          <a:bodyPr>
            <a:spAutoFit/>
          </a:bodyPr>
          <a:lstStyle/>
          <a:p>
            <a:endParaRPr lang="en-US"/>
          </a:p>
        </p:txBody>
      </p:sp>
      <p:sp>
        <p:nvSpPr>
          <p:cNvPr id="173069" name="Line 19"/>
          <p:cNvSpPr>
            <a:spLocks noChangeShapeType="1"/>
          </p:cNvSpPr>
          <p:nvPr/>
        </p:nvSpPr>
        <p:spPr bwMode="auto">
          <a:xfrm>
            <a:off x="6877050" y="2852738"/>
            <a:ext cx="0" cy="863600"/>
          </a:xfrm>
          <a:prstGeom prst="line">
            <a:avLst/>
          </a:prstGeom>
          <a:noFill/>
          <a:ln w="9525">
            <a:solidFill>
              <a:schemeClr val="tx1"/>
            </a:solidFill>
            <a:round/>
            <a:headEnd/>
            <a:tailEnd/>
          </a:ln>
        </p:spPr>
        <p:txBody>
          <a:bodyPr>
            <a:spAutoFit/>
          </a:bodyPr>
          <a:lstStyle/>
          <a:p>
            <a:endParaRPr lang="en-US"/>
          </a:p>
        </p:txBody>
      </p:sp>
      <p:sp>
        <p:nvSpPr>
          <p:cNvPr id="173070" name="Line 20"/>
          <p:cNvSpPr>
            <a:spLocks noChangeShapeType="1"/>
          </p:cNvSpPr>
          <p:nvPr/>
        </p:nvSpPr>
        <p:spPr bwMode="auto">
          <a:xfrm>
            <a:off x="5651500" y="2852738"/>
            <a:ext cx="0" cy="1081087"/>
          </a:xfrm>
          <a:prstGeom prst="line">
            <a:avLst/>
          </a:prstGeom>
          <a:noFill/>
          <a:ln w="9525">
            <a:solidFill>
              <a:schemeClr val="tx1"/>
            </a:solidFill>
            <a:round/>
            <a:headEnd/>
            <a:tailEnd/>
          </a:ln>
        </p:spPr>
        <p:txBody>
          <a:bodyPr>
            <a:spAutoFit/>
          </a:bodyPr>
          <a:lstStyle/>
          <a:p>
            <a:endParaRPr lang="en-US"/>
          </a:p>
        </p:txBody>
      </p:sp>
      <p:sp>
        <p:nvSpPr>
          <p:cNvPr id="173071" name="Line 21"/>
          <p:cNvSpPr>
            <a:spLocks noChangeShapeType="1"/>
          </p:cNvSpPr>
          <p:nvPr/>
        </p:nvSpPr>
        <p:spPr bwMode="auto">
          <a:xfrm>
            <a:off x="4356100" y="2852738"/>
            <a:ext cx="0" cy="1081087"/>
          </a:xfrm>
          <a:prstGeom prst="line">
            <a:avLst/>
          </a:prstGeom>
          <a:noFill/>
          <a:ln w="9525">
            <a:solidFill>
              <a:schemeClr val="tx1"/>
            </a:solidFill>
            <a:round/>
            <a:headEnd/>
            <a:tailEnd/>
          </a:ln>
        </p:spPr>
        <p:txBody>
          <a:bodyPr>
            <a:spAutoFit/>
          </a:bodyPr>
          <a:lstStyle/>
          <a:p>
            <a:endParaRPr lang="en-US"/>
          </a:p>
        </p:txBody>
      </p:sp>
      <p:sp>
        <p:nvSpPr>
          <p:cNvPr id="173072" name="Line 22"/>
          <p:cNvSpPr>
            <a:spLocks noChangeShapeType="1"/>
          </p:cNvSpPr>
          <p:nvPr/>
        </p:nvSpPr>
        <p:spPr bwMode="auto">
          <a:xfrm>
            <a:off x="3059113" y="2852738"/>
            <a:ext cx="0" cy="1008062"/>
          </a:xfrm>
          <a:prstGeom prst="line">
            <a:avLst/>
          </a:prstGeom>
          <a:noFill/>
          <a:ln w="9525">
            <a:solidFill>
              <a:schemeClr val="tx1"/>
            </a:solidFill>
            <a:round/>
            <a:headEnd/>
            <a:tailEnd/>
          </a:ln>
        </p:spPr>
        <p:txBody>
          <a:bodyPr>
            <a:spAutoFit/>
          </a:bodyPr>
          <a:lstStyle/>
          <a:p>
            <a:endParaRPr lang="en-US"/>
          </a:p>
        </p:txBody>
      </p:sp>
      <p:sp>
        <p:nvSpPr>
          <p:cNvPr id="173073" name="Line 23"/>
          <p:cNvSpPr>
            <a:spLocks noChangeShapeType="1"/>
          </p:cNvSpPr>
          <p:nvPr/>
        </p:nvSpPr>
        <p:spPr bwMode="auto">
          <a:xfrm>
            <a:off x="1692275" y="2852738"/>
            <a:ext cx="0" cy="1081087"/>
          </a:xfrm>
          <a:prstGeom prst="line">
            <a:avLst/>
          </a:prstGeom>
          <a:noFill/>
          <a:ln w="9525">
            <a:solidFill>
              <a:schemeClr val="tx1"/>
            </a:solidFill>
            <a:round/>
            <a:headEnd/>
            <a:tailEnd/>
          </a:ln>
        </p:spPr>
        <p:txBody>
          <a:bodyPr>
            <a:spAutoFit/>
          </a:bodyPr>
          <a:lstStyle/>
          <a:p>
            <a:endParaRPr lang="en-US"/>
          </a:p>
        </p:txBody>
      </p:sp>
      <p:sp>
        <p:nvSpPr>
          <p:cNvPr id="173074" name="Line 24"/>
          <p:cNvSpPr>
            <a:spLocks noChangeShapeType="1"/>
          </p:cNvSpPr>
          <p:nvPr/>
        </p:nvSpPr>
        <p:spPr bwMode="auto">
          <a:xfrm>
            <a:off x="539750" y="2852738"/>
            <a:ext cx="0" cy="1008062"/>
          </a:xfrm>
          <a:prstGeom prst="line">
            <a:avLst/>
          </a:prstGeom>
          <a:noFill/>
          <a:ln w="9525">
            <a:solidFill>
              <a:schemeClr val="tx1"/>
            </a:solidFill>
            <a:round/>
            <a:headEnd/>
            <a:tailEnd/>
          </a:ln>
        </p:spPr>
        <p:txBody>
          <a:bodyPr>
            <a:spAutoFit/>
          </a:bodyPr>
          <a:lstStyle/>
          <a:p>
            <a:endParaRPr lang="en-US"/>
          </a:p>
        </p:txBody>
      </p:sp>
    </p:spTree>
  </p:cSld>
  <p:clrMapOvr>
    <a:masterClrMapping/>
  </p:clrMapOvr>
  <p:transition spd="med">
    <p:wipe dir="d"/>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ext Box 4">
            <a:hlinkClick r:id="rId2" action="ppaction://hlinksldjump"/>
          </p:cNvPr>
          <p:cNvSpPr txBox="1">
            <a:spLocks noChangeArrowheads="1"/>
          </p:cNvSpPr>
          <p:nvPr/>
        </p:nvSpPr>
        <p:spPr bwMode="auto">
          <a:xfrm>
            <a:off x="1728788" y="2451100"/>
            <a:ext cx="5722937" cy="762000"/>
          </a:xfrm>
          <a:prstGeom prst="rect">
            <a:avLst/>
          </a:prstGeom>
          <a:noFill/>
          <a:ln w="9525">
            <a:noFill/>
            <a:miter lim="800000"/>
            <a:headEnd/>
            <a:tailEnd/>
          </a:ln>
        </p:spPr>
        <p:txBody>
          <a:bodyPr>
            <a:spAutoFit/>
          </a:bodyPr>
          <a:lstStyle/>
          <a:p>
            <a:pPr rtl="1"/>
            <a:r>
              <a:rPr lang="fa-IR" sz="4400" dirty="0">
                <a:solidFill>
                  <a:schemeClr val="tx1"/>
                </a:solidFill>
                <a:cs typeface="B Titr" panose="00000700000000000000" pitchFamily="2" charset="-78"/>
              </a:rPr>
              <a:t>ساختار چند ارائه </a:t>
            </a:r>
            <a:r>
              <a:rPr lang="fa-IR" sz="4400" dirty="0" err="1">
                <a:solidFill>
                  <a:schemeClr val="tx1"/>
                </a:solidFill>
                <a:cs typeface="B Titr" panose="00000700000000000000" pitchFamily="2" charset="-78"/>
              </a:rPr>
              <a:t>دانشگاهي</a:t>
            </a:r>
            <a:endParaRPr lang="en-US" sz="4400" dirty="0">
              <a:solidFill>
                <a:schemeClr val="tx1"/>
              </a:solidFill>
              <a:cs typeface="B Titr" panose="00000700000000000000" pitchFamily="2" charset="-78"/>
            </a:endParaRPr>
          </a:p>
        </p:txBody>
      </p:sp>
      <p:sp>
        <p:nvSpPr>
          <p:cNvPr id="2" name="Rectangle 1"/>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3"/>
          <p:cNvSpPr>
            <a:spLocks noGrp="1" noChangeArrowheads="1"/>
          </p:cNvSpPr>
          <p:nvPr>
            <p:ph idx="1"/>
          </p:nvPr>
        </p:nvSpPr>
        <p:spPr/>
        <p:txBody>
          <a:bodyPr/>
          <a:lstStyle/>
          <a:p>
            <a:pPr algn="justLow" rtl="1" eaLnBrk="1" hangingPunct="1">
              <a:buFont typeface="Wingdings" pitchFamily="2" charset="2"/>
              <a:buNone/>
            </a:pPr>
            <a:r>
              <a:rPr lang="fa-IR" smtClean="0"/>
              <a:t> </a:t>
            </a:r>
            <a:r>
              <a:rPr lang="fa-IR" b="1" smtClean="0"/>
              <a:t>گزارشی مطالعه ای است که دانشجو در چارچوب یک درس به پیشنهاد یا به تکلیف استاد انجام می دهد و هدف اصلی اش کسب آگاهی بیشتر پیرامون موضوع با ایده ای است که استاد معمولا مرتبط با محتوای درس مطرح میکند .</a:t>
            </a:r>
            <a:endParaRPr lang="en-US" b="1" smtClean="0"/>
          </a:p>
        </p:txBody>
      </p:sp>
      <p:sp>
        <p:nvSpPr>
          <p:cNvPr id="180226" name="Rectangle 2"/>
          <p:cNvSpPr>
            <a:spLocks noGrp="1" noChangeArrowheads="1"/>
          </p:cNvSpPr>
          <p:nvPr>
            <p:ph type="title"/>
          </p:nvPr>
        </p:nvSpPr>
        <p:spPr>
          <a:xfrm>
            <a:off x="642910" y="422275"/>
            <a:ext cx="8001056" cy="774700"/>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3200" dirty="0" smtClean="0">
                <a:solidFill>
                  <a:srgbClr val="FF0000"/>
                </a:solidFill>
                <a:effectLst/>
                <a:cs typeface="B Titr" pitchFamily="2" charset="-78"/>
              </a:rPr>
              <a:t>گزارش &lt;&lt; مطالعه بیشتر &gt;&gt;  ( تحقیق ) در چارچوب یک درس:</a:t>
            </a:r>
            <a:endParaRPr lang="en-US" sz="3200" dirty="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3"/>
          <p:cNvSpPr>
            <a:spLocks noGrp="1" noChangeArrowheads="1"/>
          </p:cNvSpPr>
          <p:nvPr>
            <p:ph idx="1"/>
          </p:nvPr>
        </p:nvSpPr>
        <p:spPr>
          <a:xfrm>
            <a:off x="468313" y="1052513"/>
            <a:ext cx="8229600" cy="5472112"/>
          </a:xfrm>
        </p:spPr>
        <p:txBody>
          <a:bodyPr/>
          <a:lstStyle/>
          <a:p>
            <a:pPr marL="609600" indent="-609600" algn="r" rtl="1" eaLnBrk="1" hangingPunct="1">
              <a:lnSpc>
                <a:spcPct val="80000"/>
              </a:lnSpc>
            </a:pPr>
            <a:r>
              <a:rPr lang="fa-IR" sz="2000" b="1" smtClean="0"/>
              <a:t>جلد </a:t>
            </a:r>
          </a:p>
          <a:p>
            <a:pPr marL="609600" indent="-609600" algn="r" rtl="1" eaLnBrk="1" hangingPunct="1">
              <a:lnSpc>
                <a:spcPct val="80000"/>
              </a:lnSpc>
            </a:pPr>
            <a:r>
              <a:rPr lang="fa-IR" sz="2000" b="1" smtClean="0"/>
              <a:t>صفحه سفید </a:t>
            </a:r>
          </a:p>
          <a:p>
            <a:pPr marL="609600" indent="-609600" algn="r" rtl="1" eaLnBrk="1" hangingPunct="1">
              <a:lnSpc>
                <a:spcPct val="80000"/>
              </a:lnSpc>
            </a:pPr>
            <a:r>
              <a:rPr lang="fa-IR" sz="2000" b="1" smtClean="0"/>
              <a:t>صفحه عنوان </a:t>
            </a:r>
          </a:p>
          <a:p>
            <a:pPr marL="609600" indent="-609600" algn="r" rtl="1" eaLnBrk="1" hangingPunct="1">
              <a:lnSpc>
                <a:spcPct val="80000"/>
              </a:lnSpc>
            </a:pPr>
            <a:r>
              <a:rPr lang="fa-IR" sz="2000" b="1" smtClean="0"/>
              <a:t>صفحه رعایت شئون فرهنگی </a:t>
            </a:r>
          </a:p>
          <a:p>
            <a:pPr marL="609600" indent="-609600" algn="r" rtl="1" eaLnBrk="1" hangingPunct="1">
              <a:lnSpc>
                <a:spcPct val="80000"/>
              </a:lnSpc>
            </a:pPr>
            <a:r>
              <a:rPr lang="fa-IR" sz="2000" b="1" smtClean="0"/>
              <a:t>پیشگفتار </a:t>
            </a:r>
          </a:p>
          <a:p>
            <a:pPr marL="609600" indent="-609600" algn="r" rtl="1" eaLnBrk="1" hangingPunct="1">
              <a:lnSpc>
                <a:spcPct val="80000"/>
              </a:lnSpc>
            </a:pPr>
            <a:r>
              <a:rPr lang="fa-IR" sz="2000" b="1" smtClean="0"/>
              <a:t>صفحه فهرست مطالب </a:t>
            </a:r>
          </a:p>
          <a:p>
            <a:pPr marL="609600" indent="-609600" algn="r" rtl="1" eaLnBrk="1" hangingPunct="1">
              <a:lnSpc>
                <a:spcPct val="80000"/>
              </a:lnSpc>
            </a:pPr>
            <a:r>
              <a:rPr lang="fa-IR" sz="2000" b="1" smtClean="0"/>
              <a:t>صفحه فهرست شکلها و جدولها </a:t>
            </a:r>
          </a:p>
          <a:p>
            <a:pPr marL="609600" indent="-609600" algn="r" rtl="1" eaLnBrk="1" hangingPunct="1">
              <a:lnSpc>
                <a:spcPct val="80000"/>
              </a:lnSpc>
            </a:pPr>
            <a:r>
              <a:rPr lang="fa-IR" sz="2000" b="1" smtClean="0"/>
              <a:t>چکیده مولف با عنوان چکیده </a:t>
            </a:r>
          </a:p>
          <a:p>
            <a:pPr marL="609600" indent="-609600" algn="r" rtl="1" eaLnBrk="1" hangingPunct="1">
              <a:lnSpc>
                <a:spcPct val="80000"/>
              </a:lnSpc>
            </a:pPr>
            <a:r>
              <a:rPr lang="fa-IR" sz="2000" b="1" smtClean="0"/>
              <a:t>متن اصلی ( حاوی بخش مقدمه ورود به مطلب و سایر بخشها )</a:t>
            </a:r>
          </a:p>
          <a:p>
            <a:pPr marL="609600" indent="-609600" algn="r" rtl="1" eaLnBrk="1" hangingPunct="1">
              <a:lnSpc>
                <a:spcPct val="80000"/>
              </a:lnSpc>
            </a:pPr>
            <a:r>
              <a:rPr lang="fa-IR" sz="2000" b="1" smtClean="0"/>
              <a:t>خلاصه هر سرفصل  </a:t>
            </a:r>
          </a:p>
          <a:p>
            <a:pPr marL="609600" indent="-609600" algn="r" rtl="1" eaLnBrk="1" hangingPunct="1">
              <a:lnSpc>
                <a:spcPct val="80000"/>
              </a:lnSpc>
            </a:pPr>
            <a:r>
              <a:rPr lang="fa-IR" sz="2000" b="1" smtClean="0"/>
              <a:t>نتیجه گیری</a:t>
            </a:r>
          </a:p>
          <a:p>
            <a:pPr marL="609600" indent="-609600" algn="r" rtl="1" eaLnBrk="1" hangingPunct="1">
              <a:lnSpc>
                <a:spcPct val="80000"/>
              </a:lnSpc>
            </a:pPr>
            <a:r>
              <a:rPr lang="fa-IR" sz="2000" b="1" smtClean="0"/>
              <a:t>خلاصه کل مطلب </a:t>
            </a:r>
          </a:p>
          <a:p>
            <a:pPr marL="609600" indent="-609600" algn="r" rtl="1" eaLnBrk="1" hangingPunct="1">
              <a:lnSpc>
                <a:spcPct val="80000"/>
              </a:lnSpc>
            </a:pPr>
            <a:r>
              <a:rPr lang="fa-IR" sz="2000" b="1" smtClean="0"/>
              <a:t>پیوستها </a:t>
            </a:r>
          </a:p>
          <a:p>
            <a:pPr marL="609600" indent="-609600" algn="r" rtl="1" eaLnBrk="1" hangingPunct="1">
              <a:lnSpc>
                <a:spcPct val="80000"/>
              </a:lnSpc>
            </a:pPr>
            <a:r>
              <a:rPr lang="fa-IR" sz="2000" b="1" smtClean="0"/>
              <a:t>فهرست منابع </a:t>
            </a:r>
          </a:p>
          <a:p>
            <a:pPr marL="609600" indent="-609600" algn="r" rtl="1" eaLnBrk="1" hangingPunct="1">
              <a:lnSpc>
                <a:spcPct val="80000"/>
              </a:lnSpc>
            </a:pPr>
            <a:r>
              <a:rPr lang="fa-IR" sz="2000" b="1" smtClean="0"/>
              <a:t>صفحه سفید </a:t>
            </a:r>
            <a:endParaRPr lang="en-US" sz="2000" b="1" smtClean="0"/>
          </a:p>
          <a:p>
            <a:pPr marL="609600" indent="-609600" algn="r" rtl="1" eaLnBrk="1" hangingPunct="1">
              <a:lnSpc>
                <a:spcPct val="80000"/>
              </a:lnSpc>
            </a:pPr>
            <a:r>
              <a:rPr lang="fa-IR" sz="2000" b="1" smtClean="0"/>
              <a:t>جلد</a:t>
            </a:r>
            <a:r>
              <a:rPr lang="en-US" sz="2000" smtClean="0"/>
              <a:t> </a:t>
            </a:r>
          </a:p>
        </p:txBody>
      </p:sp>
      <p:sp>
        <p:nvSpPr>
          <p:cNvPr id="181250" name="Rectangle 2"/>
          <p:cNvSpPr>
            <a:spLocks noGrp="1" noChangeArrowheads="1"/>
          </p:cNvSpPr>
          <p:nvPr>
            <p:ph type="title"/>
          </p:nvPr>
        </p:nvSpPr>
        <p:spPr>
          <a:xfrm>
            <a:off x="457200" y="277813"/>
            <a:ext cx="8229600" cy="703262"/>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اجزاء  و ساختار گزارش &lt;&lt; مطالعه بیشتر &gt;&gt;  : </a:t>
            </a:r>
            <a:endParaRPr lang="en-US"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a:xfrm>
            <a:off x="6264275" y="260350"/>
            <a:ext cx="2879725" cy="1800225"/>
          </a:xfrm>
        </p:spPr>
        <p:txBody>
          <a:bodyPr/>
          <a:lstStyle/>
          <a:p>
            <a:pPr eaLnBrk="1" fontAlgn="auto" hangingPunct="1">
              <a:spcAft>
                <a:spcPts val="0"/>
              </a:spcAft>
              <a:defRPr/>
            </a:pPr>
            <a:r>
              <a:rPr lang="fa-IR" sz="2400" smtClean="0"/>
              <a:t>طرح صفحه عنوان گزارش &lt;&lt; مطالعه بیشتر &gt;&gt; :</a:t>
            </a:r>
            <a:r>
              <a:rPr lang="fa-IR" sz="1200" smtClean="0"/>
              <a:t> </a:t>
            </a:r>
            <a:endParaRPr lang="en-US" sz="1200" smtClean="0"/>
          </a:p>
        </p:txBody>
      </p:sp>
      <p:sp>
        <p:nvSpPr>
          <p:cNvPr id="179203" name="Rectangle 4"/>
          <p:cNvSpPr>
            <a:spLocks noChangeArrowheads="1"/>
          </p:cNvSpPr>
          <p:nvPr/>
        </p:nvSpPr>
        <p:spPr bwMode="auto">
          <a:xfrm>
            <a:off x="107950" y="0"/>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179204" name="Line 5"/>
          <p:cNvSpPr>
            <a:spLocks noChangeShapeType="1"/>
          </p:cNvSpPr>
          <p:nvPr/>
        </p:nvSpPr>
        <p:spPr bwMode="auto">
          <a:xfrm flipV="1">
            <a:off x="3995738" y="0"/>
            <a:ext cx="0" cy="360363"/>
          </a:xfrm>
          <a:prstGeom prst="line">
            <a:avLst/>
          </a:prstGeom>
          <a:noFill/>
          <a:ln w="9525">
            <a:solidFill>
              <a:schemeClr val="tx1"/>
            </a:solidFill>
            <a:round/>
            <a:headEnd/>
            <a:tailEnd type="triangle" w="med" len="med"/>
          </a:ln>
        </p:spPr>
        <p:txBody>
          <a:bodyPr anchor="ctr">
            <a:spAutoFit/>
          </a:bodyPr>
          <a:lstStyle/>
          <a:p>
            <a:endParaRPr lang="en-US"/>
          </a:p>
        </p:txBody>
      </p:sp>
      <p:sp>
        <p:nvSpPr>
          <p:cNvPr id="179205" name="Rectangle 6"/>
          <p:cNvSpPr>
            <a:spLocks noChangeArrowheads="1"/>
          </p:cNvSpPr>
          <p:nvPr/>
        </p:nvSpPr>
        <p:spPr bwMode="auto">
          <a:xfrm>
            <a:off x="3205163" y="265113"/>
            <a:ext cx="1212850" cy="366712"/>
          </a:xfrm>
          <a:prstGeom prst="rect">
            <a:avLst/>
          </a:prstGeom>
          <a:solidFill>
            <a:schemeClr val="accent1"/>
          </a:solidFill>
          <a:ln w="9525" algn="ctr">
            <a:noFill/>
            <a:miter lim="800000"/>
            <a:headEnd/>
            <a:tailEnd/>
          </a:ln>
        </p:spPr>
        <p:txBody>
          <a:bodyPr anchor="ctr">
            <a:spAutoFit/>
          </a:bodyPr>
          <a:lstStyle/>
          <a:p>
            <a:r>
              <a:rPr lang="fa-IR"/>
              <a:t>5/2 سانتيمتر</a:t>
            </a:r>
            <a:endParaRPr lang="en-US"/>
          </a:p>
        </p:txBody>
      </p:sp>
      <p:sp>
        <p:nvSpPr>
          <p:cNvPr id="179206" name="Line 7"/>
          <p:cNvSpPr>
            <a:spLocks noChangeShapeType="1"/>
          </p:cNvSpPr>
          <p:nvPr/>
        </p:nvSpPr>
        <p:spPr bwMode="auto">
          <a:xfrm>
            <a:off x="3995738" y="620713"/>
            <a:ext cx="0" cy="360362"/>
          </a:xfrm>
          <a:prstGeom prst="line">
            <a:avLst/>
          </a:prstGeom>
          <a:noFill/>
          <a:ln w="9525">
            <a:solidFill>
              <a:schemeClr val="tx1"/>
            </a:solidFill>
            <a:round/>
            <a:headEnd/>
            <a:tailEnd type="triangle" w="med" len="med"/>
          </a:ln>
        </p:spPr>
        <p:txBody>
          <a:bodyPr anchor="ctr">
            <a:spAutoFit/>
          </a:bodyPr>
          <a:lstStyle/>
          <a:p>
            <a:endParaRPr lang="en-US"/>
          </a:p>
        </p:txBody>
      </p:sp>
      <p:sp>
        <p:nvSpPr>
          <p:cNvPr id="179207" name="Rectangle 8"/>
          <p:cNvSpPr>
            <a:spLocks noChangeArrowheads="1"/>
          </p:cNvSpPr>
          <p:nvPr/>
        </p:nvSpPr>
        <p:spPr bwMode="auto">
          <a:xfrm>
            <a:off x="2124075" y="755650"/>
            <a:ext cx="1439863" cy="396875"/>
          </a:xfrm>
          <a:prstGeom prst="rect">
            <a:avLst/>
          </a:prstGeom>
          <a:solidFill>
            <a:schemeClr val="accent1"/>
          </a:solidFill>
          <a:ln w="9525" algn="ctr">
            <a:noFill/>
            <a:miter lim="800000"/>
            <a:headEnd/>
            <a:tailEnd/>
          </a:ln>
        </p:spPr>
        <p:txBody>
          <a:bodyPr anchor="ctr">
            <a:spAutoFit/>
          </a:bodyPr>
          <a:lstStyle/>
          <a:p>
            <a:r>
              <a:rPr lang="fa-IR" sz="2000"/>
              <a:t>عنوان گزارش</a:t>
            </a:r>
            <a:endParaRPr lang="en-US" sz="2000"/>
          </a:p>
        </p:txBody>
      </p:sp>
      <p:sp>
        <p:nvSpPr>
          <p:cNvPr id="179208" name="Rectangle 9"/>
          <p:cNvSpPr>
            <a:spLocks noChangeArrowheads="1"/>
          </p:cNvSpPr>
          <p:nvPr/>
        </p:nvSpPr>
        <p:spPr bwMode="auto">
          <a:xfrm>
            <a:off x="2124075" y="1228725"/>
            <a:ext cx="1439863" cy="396875"/>
          </a:xfrm>
          <a:prstGeom prst="rect">
            <a:avLst/>
          </a:prstGeom>
          <a:solidFill>
            <a:schemeClr val="accent1"/>
          </a:solidFill>
          <a:ln w="9525" algn="ctr">
            <a:noFill/>
            <a:miter lim="800000"/>
            <a:headEnd/>
            <a:tailEnd/>
          </a:ln>
        </p:spPr>
        <p:txBody>
          <a:bodyPr anchor="ctr">
            <a:spAutoFit/>
          </a:bodyPr>
          <a:lstStyle/>
          <a:p>
            <a:r>
              <a:rPr lang="fa-IR" sz="2000"/>
              <a:t>شماره گزارش</a:t>
            </a:r>
            <a:endParaRPr lang="en-US" sz="2000"/>
          </a:p>
        </p:txBody>
      </p:sp>
      <p:sp>
        <p:nvSpPr>
          <p:cNvPr id="179209" name="Rectangle 10"/>
          <p:cNvSpPr>
            <a:spLocks noChangeArrowheads="1"/>
          </p:cNvSpPr>
          <p:nvPr/>
        </p:nvSpPr>
        <p:spPr bwMode="auto">
          <a:xfrm>
            <a:off x="3132138" y="2020888"/>
            <a:ext cx="1439862" cy="396875"/>
          </a:xfrm>
          <a:prstGeom prst="rect">
            <a:avLst/>
          </a:prstGeom>
          <a:solidFill>
            <a:schemeClr val="accent1"/>
          </a:solidFill>
          <a:ln w="9525" algn="ctr">
            <a:noFill/>
            <a:miter lim="800000"/>
            <a:headEnd/>
            <a:tailEnd/>
          </a:ln>
        </p:spPr>
        <p:txBody>
          <a:bodyPr anchor="ctr">
            <a:spAutoFit/>
          </a:bodyPr>
          <a:lstStyle/>
          <a:p>
            <a:r>
              <a:rPr lang="fa-IR" sz="2000"/>
              <a:t>ارائه شده به :</a:t>
            </a:r>
            <a:endParaRPr lang="en-US" sz="2000"/>
          </a:p>
        </p:txBody>
      </p:sp>
      <p:sp>
        <p:nvSpPr>
          <p:cNvPr id="179210" name="Rectangle 11"/>
          <p:cNvSpPr>
            <a:spLocks noChangeArrowheads="1"/>
          </p:cNvSpPr>
          <p:nvPr/>
        </p:nvSpPr>
        <p:spPr bwMode="auto">
          <a:xfrm>
            <a:off x="2197100" y="2452688"/>
            <a:ext cx="1439863" cy="396875"/>
          </a:xfrm>
          <a:prstGeom prst="rect">
            <a:avLst/>
          </a:prstGeom>
          <a:solidFill>
            <a:schemeClr val="accent1"/>
          </a:solidFill>
          <a:ln w="9525" algn="ctr">
            <a:noFill/>
            <a:miter lim="800000"/>
            <a:headEnd/>
            <a:tailEnd/>
          </a:ln>
        </p:spPr>
        <p:txBody>
          <a:bodyPr anchor="ctr">
            <a:spAutoFit/>
          </a:bodyPr>
          <a:lstStyle/>
          <a:p>
            <a:r>
              <a:rPr lang="fa-IR" sz="2000"/>
              <a:t>نام استاد درس</a:t>
            </a:r>
            <a:endParaRPr lang="en-US" sz="2000"/>
          </a:p>
        </p:txBody>
      </p:sp>
      <p:sp>
        <p:nvSpPr>
          <p:cNvPr id="179211" name="Rectangle 12"/>
          <p:cNvSpPr>
            <a:spLocks noChangeArrowheads="1"/>
          </p:cNvSpPr>
          <p:nvPr/>
        </p:nvSpPr>
        <p:spPr bwMode="auto">
          <a:xfrm>
            <a:off x="2268538" y="5722938"/>
            <a:ext cx="1439862" cy="336550"/>
          </a:xfrm>
          <a:prstGeom prst="rect">
            <a:avLst/>
          </a:prstGeom>
          <a:solidFill>
            <a:schemeClr val="accent1"/>
          </a:solidFill>
          <a:ln w="9525" algn="ctr">
            <a:noFill/>
            <a:miter lim="800000"/>
            <a:headEnd/>
            <a:tailEnd/>
          </a:ln>
        </p:spPr>
        <p:txBody>
          <a:bodyPr anchor="ctr">
            <a:spAutoFit/>
          </a:bodyPr>
          <a:lstStyle/>
          <a:p>
            <a:r>
              <a:rPr lang="fa-IR" sz="1600"/>
              <a:t>ترم وسال تحصيلي</a:t>
            </a:r>
            <a:endParaRPr lang="en-US" sz="1600"/>
          </a:p>
        </p:txBody>
      </p:sp>
      <p:sp>
        <p:nvSpPr>
          <p:cNvPr id="179212" name="Rectangle 13"/>
          <p:cNvSpPr>
            <a:spLocks noChangeArrowheads="1"/>
          </p:cNvSpPr>
          <p:nvPr/>
        </p:nvSpPr>
        <p:spPr bwMode="auto">
          <a:xfrm>
            <a:off x="2268538" y="6053138"/>
            <a:ext cx="1439862" cy="396875"/>
          </a:xfrm>
          <a:prstGeom prst="rect">
            <a:avLst/>
          </a:prstGeom>
          <a:solidFill>
            <a:schemeClr val="accent1"/>
          </a:solidFill>
          <a:ln w="9525" algn="ctr">
            <a:noFill/>
            <a:miter lim="800000"/>
            <a:headEnd/>
            <a:tailEnd/>
          </a:ln>
        </p:spPr>
        <p:txBody>
          <a:bodyPr anchor="ctr">
            <a:spAutoFit/>
          </a:bodyPr>
          <a:lstStyle/>
          <a:p>
            <a:r>
              <a:rPr lang="fa-IR" sz="2000"/>
              <a:t>گروه آموزشي</a:t>
            </a:r>
            <a:endParaRPr lang="en-US" sz="2000"/>
          </a:p>
        </p:txBody>
      </p:sp>
      <p:sp>
        <p:nvSpPr>
          <p:cNvPr id="179213" name="Rectangle 14"/>
          <p:cNvSpPr>
            <a:spLocks noChangeArrowheads="1"/>
          </p:cNvSpPr>
          <p:nvPr/>
        </p:nvSpPr>
        <p:spPr bwMode="auto">
          <a:xfrm>
            <a:off x="2268538" y="5334000"/>
            <a:ext cx="1439862" cy="396875"/>
          </a:xfrm>
          <a:prstGeom prst="rect">
            <a:avLst/>
          </a:prstGeom>
          <a:solidFill>
            <a:schemeClr val="accent1"/>
          </a:solidFill>
          <a:ln w="9525" algn="ctr">
            <a:noFill/>
            <a:miter lim="800000"/>
            <a:headEnd/>
            <a:tailEnd/>
          </a:ln>
        </p:spPr>
        <p:txBody>
          <a:bodyPr anchor="ctr">
            <a:spAutoFit/>
          </a:bodyPr>
          <a:lstStyle/>
          <a:p>
            <a:r>
              <a:rPr lang="fa-IR" sz="2000"/>
              <a:t>عنوان درس </a:t>
            </a:r>
            <a:endParaRPr lang="en-US" sz="2000"/>
          </a:p>
        </p:txBody>
      </p:sp>
      <p:sp>
        <p:nvSpPr>
          <p:cNvPr id="179214" name="Rectangle 15"/>
          <p:cNvSpPr>
            <a:spLocks noChangeArrowheads="1"/>
          </p:cNvSpPr>
          <p:nvPr/>
        </p:nvSpPr>
        <p:spPr bwMode="auto">
          <a:xfrm>
            <a:off x="2268538" y="3749675"/>
            <a:ext cx="1439862" cy="396875"/>
          </a:xfrm>
          <a:prstGeom prst="rect">
            <a:avLst/>
          </a:prstGeom>
          <a:solidFill>
            <a:schemeClr val="accent1"/>
          </a:solidFill>
          <a:ln w="9525" algn="ctr">
            <a:noFill/>
            <a:miter lim="800000"/>
            <a:headEnd/>
            <a:tailEnd/>
          </a:ln>
        </p:spPr>
        <p:txBody>
          <a:bodyPr anchor="ctr">
            <a:spAutoFit/>
          </a:bodyPr>
          <a:lstStyle/>
          <a:p>
            <a:r>
              <a:rPr lang="fa-IR" sz="2000"/>
              <a:t>توسط:</a:t>
            </a:r>
            <a:endParaRPr lang="en-US" sz="2000"/>
          </a:p>
        </p:txBody>
      </p:sp>
      <p:sp>
        <p:nvSpPr>
          <p:cNvPr id="179215" name="Rectangle 16"/>
          <p:cNvSpPr>
            <a:spLocks noChangeArrowheads="1"/>
          </p:cNvSpPr>
          <p:nvPr/>
        </p:nvSpPr>
        <p:spPr bwMode="auto">
          <a:xfrm>
            <a:off x="2268538" y="4110038"/>
            <a:ext cx="1439862" cy="396875"/>
          </a:xfrm>
          <a:prstGeom prst="rect">
            <a:avLst/>
          </a:prstGeom>
          <a:solidFill>
            <a:schemeClr val="accent1"/>
          </a:solidFill>
          <a:ln w="9525" algn="ctr">
            <a:noFill/>
            <a:miter lim="800000"/>
            <a:headEnd/>
            <a:tailEnd/>
          </a:ln>
        </p:spPr>
        <p:txBody>
          <a:bodyPr anchor="ctr">
            <a:spAutoFit/>
          </a:bodyPr>
          <a:lstStyle/>
          <a:p>
            <a:r>
              <a:rPr lang="fa-IR" sz="2000"/>
              <a:t>نام ارائه كننده:</a:t>
            </a:r>
            <a:endParaRPr lang="en-US" sz="2000"/>
          </a:p>
        </p:txBody>
      </p:sp>
      <p:sp>
        <p:nvSpPr>
          <p:cNvPr id="16" name="Rectangle 15"/>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3"/>
          <p:cNvSpPr>
            <a:spLocks noGrp="1" noChangeArrowheads="1"/>
          </p:cNvSpPr>
          <p:nvPr>
            <p:ph idx="1"/>
          </p:nvPr>
        </p:nvSpPr>
        <p:spPr>
          <a:xfrm>
            <a:off x="457200" y="1600200"/>
            <a:ext cx="8229600" cy="5257800"/>
          </a:xfrm>
        </p:spPr>
        <p:txBody>
          <a:bodyPr/>
          <a:lstStyle/>
          <a:p>
            <a:pPr algn="justLow" rtl="1" eaLnBrk="1" hangingPunct="1">
              <a:buFont typeface="Wingdings" pitchFamily="2" charset="2"/>
              <a:buNone/>
            </a:pPr>
            <a:r>
              <a:rPr lang="fa-IR" b="1" smtClean="0"/>
              <a:t>در برنامه آموزشی بعضی از رشته های  دانشگاهی  به ویژه رشته های فنی درسهایی وجود دارد که  &lt;&lt; پروژه دار &gt;&gt; هستند . هدف از انجام  چنین پروژهایی اساسا این است که دانشجو با کاربرد بعضی از مفاهیم مهم تر درس در عمل آشنا شده و آنها را در یک پروژه علمی بکار ببرد.</a:t>
            </a:r>
          </a:p>
          <a:p>
            <a:pPr algn="justLow" rtl="1" eaLnBrk="1" hangingPunct="1">
              <a:buFont typeface="Wingdings" pitchFamily="2" charset="2"/>
              <a:buNone/>
            </a:pPr>
            <a:r>
              <a:rPr lang="fa-IR" b="1" smtClean="0"/>
              <a:t>اجزاء و ساختار این گزارش همان است که در گزارش &lt;&lt; مطالعه بیشتر &gt;&gt; دیدیم . صفحه عنوان هم به همان  صورت صفحه گزارش قبلی است . فقط به جای &lt; عنوان درس &gt;  باید نوشت : &lt; پروژه درس : عنوان درس &gt;</a:t>
            </a:r>
            <a:r>
              <a:rPr lang="fa-IR" smtClean="0"/>
              <a:t> </a:t>
            </a:r>
            <a:endParaRPr lang="en-US" smtClean="0"/>
          </a:p>
        </p:txBody>
      </p:sp>
      <p:sp>
        <p:nvSpPr>
          <p:cNvPr id="183298" name="Rectangle 2"/>
          <p:cNvSpPr>
            <a:spLocks noGrp="1" noChangeArrowheads="1"/>
          </p:cNvSpPr>
          <p:nvPr>
            <p:ph type="title"/>
          </p:nvPr>
        </p:nvSpPr>
        <p:spPr>
          <a:xfrm>
            <a:off x="457200" y="277813"/>
            <a:ext cx="8229600" cy="990600"/>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گزارش انجام &lt;&lt; پروژه &gt;&gt; درسی  :</a:t>
            </a:r>
            <a:endParaRPr lang="en-US"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3"/>
          <p:cNvSpPr>
            <a:spLocks noGrp="1" noChangeArrowheads="1"/>
          </p:cNvSpPr>
          <p:nvPr>
            <p:ph idx="1"/>
          </p:nvPr>
        </p:nvSpPr>
        <p:spPr/>
        <p:txBody>
          <a:bodyPr/>
          <a:lstStyle/>
          <a:p>
            <a:pPr algn="justLow" rtl="1" eaLnBrk="1" hangingPunct="1"/>
            <a:r>
              <a:rPr lang="fa-IR" b="1" smtClean="0"/>
              <a:t>کارآموز به محیط کاری بیرون از محل تحصیل اعزام می شود تا کار بیاموزد نه اینکه عهده دار انجام کاری بشود که قرار است در محیط کاری انجام پذیرد. و اگر هم باید در انجام کاری مشارکت کند این مشارکت حتما به صورت هدایت شده و تحت نظر خواهد بود و کننده اصلی کار نیست .</a:t>
            </a:r>
            <a:endParaRPr lang="en-US" b="1" smtClean="0"/>
          </a:p>
        </p:txBody>
      </p:sp>
      <p:sp>
        <p:nvSpPr>
          <p:cNvPr id="185346" name="Rectangle 2"/>
          <p:cNvSpPr>
            <a:spLocks noGrp="1" noChangeArrowheads="1"/>
          </p:cNvSpPr>
          <p:nvPr>
            <p:ph type="title"/>
          </p:nvPr>
        </p:nvSpPr>
        <p:spPr>
          <a:xfrm>
            <a:off x="457200" y="277813"/>
            <a:ext cx="8229600" cy="703262"/>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dirty="0" smtClean="0">
                <a:solidFill>
                  <a:srgbClr val="FF0000"/>
                </a:solidFill>
                <a:effectLst/>
                <a:cs typeface="B Titr" pitchFamily="2" charset="-78"/>
              </a:rPr>
              <a:t>گزارش </a:t>
            </a:r>
            <a:r>
              <a:rPr lang="fa-IR" dirty="0" err="1" smtClean="0">
                <a:solidFill>
                  <a:srgbClr val="FF0000"/>
                </a:solidFill>
                <a:effectLst/>
                <a:cs typeface="B Titr" pitchFamily="2" charset="-78"/>
              </a:rPr>
              <a:t>کارآموزی</a:t>
            </a:r>
            <a:r>
              <a:rPr lang="fa-IR" dirty="0" smtClean="0">
                <a:solidFill>
                  <a:srgbClr val="FF0000"/>
                </a:solidFill>
                <a:effectLst/>
                <a:cs typeface="B Titr" pitchFamily="2" charset="-78"/>
              </a:rPr>
              <a:t>  و هدف از  </a:t>
            </a:r>
            <a:r>
              <a:rPr lang="fa-IR" dirty="0" err="1" smtClean="0">
                <a:solidFill>
                  <a:srgbClr val="FF0000"/>
                </a:solidFill>
                <a:effectLst/>
                <a:cs typeface="B Titr" pitchFamily="2" charset="-78"/>
              </a:rPr>
              <a:t>کارآموزی</a:t>
            </a:r>
            <a:r>
              <a:rPr lang="fa-IR" dirty="0" smtClean="0">
                <a:solidFill>
                  <a:srgbClr val="FF0000"/>
                </a:solidFill>
                <a:effectLst/>
                <a:cs typeface="B Titr" pitchFamily="2" charset="-78"/>
              </a:rPr>
              <a:t>  : </a:t>
            </a:r>
            <a:endParaRPr lang="en-US" dirty="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3"/>
          <p:cNvSpPr>
            <a:spLocks noGrp="1" noChangeArrowheads="1"/>
          </p:cNvSpPr>
          <p:nvPr>
            <p:ph idx="1"/>
          </p:nvPr>
        </p:nvSpPr>
        <p:spPr>
          <a:xfrm>
            <a:off x="539750" y="1412875"/>
            <a:ext cx="8229600" cy="5184775"/>
          </a:xfrm>
        </p:spPr>
        <p:txBody>
          <a:bodyPr/>
          <a:lstStyle/>
          <a:p>
            <a:pPr algn="r" rtl="1" eaLnBrk="1" hangingPunct="1">
              <a:lnSpc>
                <a:spcPct val="80000"/>
              </a:lnSpc>
            </a:pPr>
            <a:r>
              <a:rPr lang="fa-IR" sz="2000" b="1" smtClean="0"/>
              <a:t>جلد </a:t>
            </a:r>
            <a:endParaRPr lang="en-US" sz="2000" smtClean="0"/>
          </a:p>
          <a:p>
            <a:pPr algn="r" rtl="1" eaLnBrk="1" hangingPunct="1">
              <a:lnSpc>
                <a:spcPct val="80000"/>
              </a:lnSpc>
            </a:pPr>
            <a:r>
              <a:rPr lang="fa-IR" sz="2000" b="1" smtClean="0"/>
              <a:t>صفحه سفید </a:t>
            </a:r>
            <a:endParaRPr lang="en-US" sz="2000" smtClean="0"/>
          </a:p>
          <a:p>
            <a:pPr algn="r" rtl="1" eaLnBrk="1" hangingPunct="1">
              <a:lnSpc>
                <a:spcPct val="80000"/>
              </a:lnSpc>
            </a:pPr>
            <a:r>
              <a:rPr lang="fa-IR" sz="2000" b="1" smtClean="0"/>
              <a:t>صفحه عنوان </a:t>
            </a:r>
            <a:endParaRPr lang="en-US" sz="2000" smtClean="0"/>
          </a:p>
          <a:p>
            <a:pPr algn="r" rtl="1" eaLnBrk="1" hangingPunct="1">
              <a:lnSpc>
                <a:spcPct val="80000"/>
              </a:lnSpc>
            </a:pPr>
            <a:r>
              <a:rPr lang="fa-IR" sz="2000" b="1" smtClean="0"/>
              <a:t>صفحه رعایت شئون فرهنگی </a:t>
            </a:r>
            <a:endParaRPr lang="en-US" sz="2000" smtClean="0"/>
          </a:p>
          <a:p>
            <a:pPr algn="r" rtl="1" eaLnBrk="1" hangingPunct="1">
              <a:lnSpc>
                <a:spcPct val="80000"/>
              </a:lnSpc>
            </a:pPr>
            <a:r>
              <a:rPr lang="fa-IR" sz="2000" b="1" smtClean="0"/>
              <a:t>پیشگفتار </a:t>
            </a:r>
            <a:endParaRPr lang="en-US" sz="2000" smtClean="0"/>
          </a:p>
          <a:p>
            <a:pPr algn="r" rtl="1" eaLnBrk="1" hangingPunct="1">
              <a:lnSpc>
                <a:spcPct val="80000"/>
              </a:lnSpc>
            </a:pPr>
            <a:r>
              <a:rPr lang="fa-IR" sz="2000" b="1" smtClean="0"/>
              <a:t>صفحه های فهرست مطالب </a:t>
            </a:r>
            <a:endParaRPr lang="en-US" sz="2000" smtClean="0"/>
          </a:p>
          <a:p>
            <a:pPr algn="r" rtl="1" eaLnBrk="1" hangingPunct="1">
              <a:lnSpc>
                <a:spcPct val="80000"/>
              </a:lnSpc>
            </a:pPr>
            <a:r>
              <a:rPr lang="fa-IR" sz="2000" b="1" smtClean="0"/>
              <a:t>صفحه های فهرست شکلها و جدولها </a:t>
            </a:r>
            <a:endParaRPr lang="en-US" sz="2000" smtClean="0"/>
          </a:p>
          <a:p>
            <a:pPr algn="r" rtl="1" eaLnBrk="1" hangingPunct="1">
              <a:lnSpc>
                <a:spcPct val="80000"/>
              </a:lnSpc>
            </a:pPr>
            <a:r>
              <a:rPr lang="fa-IR" sz="2000" b="1" smtClean="0"/>
              <a:t>چکیده </a:t>
            </a:r>
            <a:endParaRPr lang="en-US" sz="2000" smtClean="0"/>
          </a:p>
          <a:p>
            <a:pPr algn="r" rtl="1" eaLnBrk="1" hangingPunct="1">
              <a:lnSpc>
                <a:spcPct val="80000"/>
              </a:lnSpc>
            </a:pPr>
            <a:r>
              <a:rPr lang="fa-IR" sz="2000" b="1" smtClean="0"/>
              <a:t>معرفی محل کار آموزی </a:t>
            </a:r>
            <a:endParaRPr lang="en-US" sz="2000" smtClean="0"/>
          </a:p>
          <a:p>
            <a:pPr algn="r" rtl="1" eaLnBrk="1" hangingPunct="1">
              <a:lnSpc>
                <a:spcPct val="80000"/>
              </a:lnSpc>
            </a:pPr>
            <a:r>
              <a:rPr lang="fa-IR" sz="2000" b="1" smtClean="0"/>
              <a:t>معرفی بستره کارآموزی + معرفی موضوع کارآموزی </a:t>
            </a:r>
            <a:endParaRPr lang="en-US" sz="2000" smtClean="0"/>
          </a:p>
          <a:p>
            <a:pPr algn="r" rtl="1" eaLnBrk="1" hangingPunct="1">
              <a:lnSpc>
                <a:spcPct val="80000"/>
              </a:lnSpc>
            </a:pPr>
            <a:r>
              <a:rPr lang="fa-IR" sz="2000" b="1" smtClean="0"/>
              <a:t>متن اصلی</a:t>
            </a:r>
            <a:endParaRPr lang="en-US" sz="2000" smtClean="0"/>
          </a:p>
          <a:p>
            <a:pPr algn="r" rtl="1" eaLnBrk="1" hangingPunct="1">
              <a:lnSpc>
                <a:spcPct val="80000"/>
              </a:lnSpc>
            </a:pPr>
            <a:r>
              <a:rPr lang="fa-IR" sz="2000" b="1" smtClean="0"/>
              <a:t>نتیجه گیری </a:t>
            </a:r>
            <a:endParaRPr lang="en-US" sz="2000" smtClean="0"/>
          </a:p>
          <a:p>
            <a:pPr algn="r" rtl="1" eaLnBrk="1" hangingPunct="1">
              <a:lnSpc>
                <a:spcPct val="80000"/>
              </a:lnSpc>
            </a:pPr>
            <a:r>
              <a:rPr lang="fa-IR" sz="2000" b="1" smtClean="0"/>
              <a:t>خلاصه </a:t>
            </a:r>
            <a:endParaRPr lang="en-US" sz="2000" smtClean="0"/>
          </a:p>
          <a:p>
            <a:pPr algn="r" rtl="1" eaLnBrk="1" hangingPunct="1">
              <a:lnSpc>
                <a:spcPct val="80000"/>
              </a:lnSpc>
            </a:pPr>
            <a:r>
              <a:rPr lang="fa-IR" sz="2000" b="1" smtClean="0"/>
              <a:t>پیشنهادات و انتقادات </a:t>
            </a:r>
            <a:endParaRPr lang="en-US" sz="2000" smtClean="0"/>
          </a:p>
          <a:p>
            <a:pPr algn="r" rtl="1" eaLnBrk="1" hangingPunct="1">
              <a:lnSpc>
                <a:spcPct val="80000"/>
              </a:lnSpc>
            </a:pPr>
            <a:r>
              <a:rPr lang="fa-IR" sz="2000" b="1" smtClean="0"/>
              <a:t>پیوستها </a:t>
            </a:r>
            <a:endParaRPr lang="en-US" sz="2000" smtClean="0"/>
          </a:p>
          <a:p>
            <a:pPr algn="r" rtl="1" eaLnBrk="1" hangingPunct="1">
              <a:lnSpc>
                <a:spcPct val="80000"/>
              </a:lnSpc>
            </a:pPr>
            <a:r>
              <a:rPr lang="fa-IR" sz="2000" b="1" smtClean="0"/>
              <a:t>فهرست منابع </a:t>
            </a:r>
            <a:endParaRPr lang="en-US" sz="2000" smtClean="0"/>
          </a:p>
          <a:p>
            <a:pPr algn="r" rtl="1" eaLnBrk="1" hangingPunct="1">
              <a:lnSpc>
                <a:spcPct val="80000"/>
              </a:lnSpc>
            </a:pPr>
            <a:r>
              <a:rPr lang="fa-IR" sz="2000" b="1" smtClean="0"/>
              <a:t>صفحه سفید </a:t>
            </a:r>
            <a:endParaRPr lang="en-US" sz="2000" smtClean="0"/>
          </a:p>
          <a:p>
            <a:pPr algn="r" rtl="1" eaLnBrk="1" hangingPunct="1">
              <a:lnSpc>
                <a:spcPct val="80000"/>
              </a:lnSpc>
            </a:pPr>
            <a:r>
              <a:rPr lang="fa-IR" sz="2000" b="1" smtClean="0"/>
              <a:t>جلد</a:t>
            </a:r>
            <a:r>
              <a:rPr lang="fa-IR" sz="2000" smtClean="0"/>
              <a:t> </a:t>
            </a:r>
            <a:endParaRPr lang="en-US" sz="2000" smtClean="0"/>
          </a:p>
        </p:txBody>
      </p:sp>
      <p:sp>
        <p:nvSpPr>
          <p:cNvPr id="186370" name="Rectangle 2"/>
          <p:cNvSpPr>
            <a:spLocks noGrp="1" noChangeArrowheads="1"/>
          </p:cNvSpPr>
          <p:nvPr>
            <p:ph type="title"/>
          </p:nvPr>
        </p:nvSpPr>
        <p:spPr>
          <a:xfrm>
            <a:off x="785786" y="277813"/>
            <a:ext cx="6881839" cy="558800"/>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dirty="0" smtClean="0">
                <a:solidFill>
                  <a:srgbClr val="FF0000"/>
                </a:solidFill>
                <a:effectLst/>
                <a:cs typeface="B Titr" pitchFamily="2" charset="-78"/>
              </a:rPr>
              <a:t>اجزاء  و ساختار گزارش کارآموزی  : </a:t>
            </a:r>
            <a:endParaRPr lang="en-US" dirty="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a:xfrm>
            <a:off x="6264275" y="260350"/>
            <a:ext cx="2879725" cy="1800225"/>
          </a:xfrm>
        </p:spPr>
        <p:txBody>
          <a:bodyPr/>
          <a:lstStyle/>
          <a:p>
            <a:pPr eaLnBrk="1" fontAlgn="auto" hangingPunct="1">
              <a:spcAft>
                <a:spcPts val="0"/>
              </a:spcAft>
              <a:defRPr/>
            </a:pPr>
            <a:r>
              <a:rPr lang="fa-IR" sz="2400" smtClean="0"/>
              <a:t>طرح صفحه عنوان گزارش کارآموزی و نیز محتوای روی جلد </a:t>
            </a:r>
            <a:endParaRPr lang="en-US" sz="2400" smtClean="0"/>
          </a:p>
        </p:txBody>
      </p:sp>
      <p:sp>
        <p:nvSpPr>
          <p:cNvPr id="183299" name="Rectangle 3"/>
          <p:cNvSpPr>
            <a:spLocks noChangeArrowheads="1"/>
          </p:cNvSpPr>
          <p:nvPr/>
        </p:nvSpPr>
        <p:spPr bwMode="auto">
          <a:xfrm>
            <a:off x="107950" y="0"/>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183300" name="Line 4"/>
          <p:cNvSpPr>
            <a:spLocks noChangeShapeType="1"/>
          </p:cNvSpPr>
          <p:nvPr/>
        </p:nvSpPr>
        <p:spPr bwMode="auto">
          <a:xfrm flipV="1">
            <a:off x="3563938" y="0"/>
            <a:ext cx="0" cy="360363"/>
          </a:xfrm>
          <a:prstGeom prst="line">
            <a:avLst/>
          </a:prstGeom>
          <a:noFill/>
          <a:ln w="9525">
            <a:solidFill>
              <a:schemeClr val="tx1"/>
            </a:solidFill>
            <a:round/>
            <a:headEnd/>
            <a:tailEnd type="triangle" w="med" len="med"/>
          </a:ln>
        </p:spPr>
        <p:txBody>
          <a:bodyPr anchor="ctr">
            <a:spAutoFit/>
          </a:bodyPr>
          <a:lstStyle/>
          <a:p>
            <a:endParaRPr lang="en-US"/>
          </a:p>
        </p:txBody>
      </p:sp>
      <p:sp>
        <p:nvSpPr>
          <p:cNvPr id="183301" name="Rectangle 5"/>
          <p:cNvSpPr>
            <a:spLocks noChangeArrowheads="1"/>
          </p:cNvSpPr>
          <p:nvPr/>
        </p:nvSpPr>
        <p:spPr bwMode="auto">
          <a:xfrm>
            <a:off x="2773363" y="187325"/>
            <a:ext cx="1212850" cy="366713"/>
          </a:xfrm>
          <a:prstGeom prst="rect">
            <a:avLst/>
          </a:prstGeom>
          <a:solidFill>
            <a:schemeClr val="accent1"/>
          </a:solidFill>
          <a:ln w="9525" algn="ctr">
            <a:noFill/>
            <a:miter lim="800000"/>
            <a:headEnd/>
            <a:tailEnd/>
          </a:ln>
        </p:spPr>
        <p:txBody>
          <a:bodyPr anchor="ctr">
            <a:spAutoFit/>
          </a:bodyPr>
          <a:lstStyle/>
          <a:p>
            <a:r>
              <a:rPr lang="fa-IR"/>
              <a:t>5/2 سانتيمتر</a:t>
            </a:r>
            <a:endParaRPr lang="en-US"/>
          </a:p>
        </p:txBody>
      </p:sp>
      <p:sp>
        <p:nvSpPr>
          <p:cNvPr id="183302" name="Line 6"/>
          <p:cNvSpPr>
            <a:spLocks noChangeShapeType="1"/>
          </p:cNvSpPr>
          <p:nvPr/>
        </p:nvSpPr>
        <p:spPr bwMode="auto">
          <a:xfrm>
            <a:off x="3563938" y="476250"/>
            <a:ext cx="0" cy="361950"/>
          </a:xfrm>
          <a:prstGeom prst="line">
            <a:avLst/>
          </a:prstGeom>
          <a:noFill/>
          <a:ln w="9525">
            <a:solidFill>
              <a:schemeClr val="tx1"/>
            </a:solidFill>
            <a:round/>
            <a:headEnd/>
            <a:tailEnd type="triangle" w="med" len="med"/>
          </a:ln>
        </p:spPr>
        <p:txBody>
          <a:bodyPr anchor="ctr">
            <a:spAutoFit/>
          </a:bodyPr>
          <a:lstStyle/>
          <a:p>
            <a:endParaRPr lang="en-US"/>
          </a:p>
        </p:txBody>
      </p:sp>
      <p:sp>
        <p:nvSpPr>
          <p:cNvPr id="183303" name="Rectangle 7"/>
          <p:cNvSpPr>
            <a:spLocks noChangeArrowheads="1"/>
          </p:cNvSpPr>
          <p:nvPr/>
        </p:nvSpPr>
        <p:spPr bwMode="auto">
          <a:xfrm>
            <a:off x="1619250" y="620713"/>
            <a:ext cx="1873250" cy="396875"/>
          </a:xfrm>
          <a:prstGeom prst="rect">
            <a:avLst/>
          </a:prstGeom>
          <a:solidFill>
            <a:schemeClr val="accent1"/>
          </a:solidFill>
          <a:ln w="9525" algn="ctr">
            <a:noFill/>
            <a:miter lim="800000"/>
            <a:headEnd/>
            <a:tailEnd/>
          </a:ln>
        </p:spPr>
        <p:txBody>
          <a:bodyPr anchor="ctr">
            <a:spAutoFit/>
          </a:bodyPr>
          <a:lstStyle/>
          <a:p>
            <a:r>
              <a:rPr lang="fa-IR" sz="2000"/>
              <a:t>عنوان كارآموزي</a:t>
            </a:r>
            <a:endParaRPr lang="en-US" sz="2000"/>
          </a:p>
        </p:txBody>
      </p:sp>
      <p:sp>
        <p:nvSpPr>
          <p:cNvPr id="183304" name="Rectangle 8"/>
          <p:cNvSpPr>
            <a:spLocks noChangeArrowheads="1"/>
          </p:cNvSpPr>
          <p:nvPr/>
        </p:nvSpPr>
        <p:spPr bwMode="auto">
          <a:xfrm>
            <a:off x="1331913" y="1125538"/>
            <a:ext cx="2447925" cy="336550"/>
          </a:xfrm>
          <a:prstGeom prst="rect">
            <a:avLst/>
          </a:prstGeom>
          <a:solidFill>
            <a:schemeClr val="accent1"/>
          </a:solidFill>
          <a:ln w="9525" algn="ctr">
            <a:noFill/>
            <a:miter lim="800000"/>
            <a:headEnd/>
            <a:tailEnd/>
          </a:ln>
        </p:spPr>
        <p:txBody>
          <a:bodyPr anchor="ctr">
            <a:spAutoFit/>
          </a:bodyPr>
          <a:lstStyle/>
          <a:p>
            <a:r>
              <a:rPr lang="fa-IR" sz="1600"/>
              <a:t>شماره گزارش كارآموزي </a:t>
            </a:r>
            <a:endParaRPr lang="en-US" sz="1600"/>
          </a:p>
        </p:txBody>
      </p:sp>
      <p:sp>
        <p:nvSpPr>
          <p:cNvPr id="183305" name="Rectangle 9"/>
          <p:cNvSpPr>
            <a:spLocks noChangeArrowheads="1"/>
          </p:cNvSpPr>
          <p:nvPr/>
        </p:nvSpPr>
        <p:spPr bwMode="auto">
          <a:xfrm>
            <a:off x="2843213" y="1885950"/>
            <a:ext cx="1439862" cy="396875"/>
          </a:xfrm>
          <a:prstGeom prst="rect">
            <a:avLst/>
          </a:prstGeom>
          <a:solidFill>
            <a:schemeClr val="accent1"/>
          </a:solidFill>
          <a:ln w="9525" algn="ctr">
            <a:noFill/>
            <a:miter lim="800000"/>
            <a:headEnd/>
            <a:tailEnd/>
          </a:ln>
        </p:spPr>
        <p:txBody>
          <a:bodyPr anchor="ctr">
            <a:spAutoFit/>
          </a:bodyPr>
          <a:lstStyle/>
          <a:p>
            <a:r>
              <a:rPr lang="fa-IR" sz="2000"/>
              <a:t>ارائه شده به :</a:t>
            </a:r>
            <a:endParaRPr lang="en-US" sz="2000"/>
          </a:p>
        </p:txBody>
      </p:sp>
      <p:sp>
        <p:nvSpPr>
          <p:cNvPr id="183306" name="Rectangle 10"/>
          <p:cNvSpPr>
            <a:spLocks noChangeArrowheads="1"/>
          </p:cNvSpPr>
          <p:nvPr/>
        </p:nvSpPr>
        <p:spPr bwMode="auto">
          <a:xfrm>
            <a:off x="1692275" y="2349500"/>
            <a:ext cx="1946275" cy="396875"/>
          </a:xfrm>
          <a:prstGeom prst="rect">
            <a:avLst/>
          </a:prstGeom>
          <a:solidFill>
            <a:schemeClr val="accent1"/>
          </a:solidFill>
          <a:ln w="9525" algn="ctr">
            <a:noFill/>
            <a:miter lim="800000"/>
            <a:headEnd/>
            <a:tailEnd/>
          </a:ln>
        </p:spPr>
        <p:txBody>
          <a:bodyPr anchor="ctr">
            <a:spAutoFit/>
          </a:bodyPr>
          <a:lstStyle/>
          <a:p>
            <a:r>
              <a:rPr lang="fa-IR" sz="2000"/>
              <a:t>نام استاد كارآموزي</a:t>
            </a:r>
            <a:endParaRPr lang="en-US" sz="2000"/>
          </a:p>
        </p:txBody>
      </p:sp>
      <p:sp>
        <p:nvSpPr>
          <p:cNvPr id="183307" name="Rectangle 11"/>
          <p:cNvSpPr>
            <a:spLocks noChangeArrowheads="1"/>
          </p:cNvSpPr>
          <p:nvPr/>
        </p:nvSpPr>
        <p:spPr bwMode="auto">
          <a:xfrm>
            <a:off x="1979613" y="5588000"/>
            <a:ext cx="1439862" cy="336550"/>
          </a:xfrm>
          <a:prstGeom prst="rect">
            <a:avLst/>
          </a:prstGeom>
          <a:solidFill>
            <a:schemeClr val="accent1"/>
          </a:solidFill>
          <a:ln w="9525" algn="ctr">
            <a:noFill/>
            <a:miter lim="800000"/>
            <a:headEnd/>
            <a:tailEnd/>
          </a:ln>
        </p:spPr>
        <p:txBody>
          <a:bodyPr anchor="ctr">
            <a:spAutoFit/>
          </a:bodyPr>
          <a:lstStyle/>
          <a:p>
            <a:r>
              <a:rPr lang="fa-IR" sz="1600"/>
              <a:t>تاريخ </a:t>
            </a:r>
            <a:endParaRPr lang="en-US" sz="1600"/>
          </a:p>
        </p:txBody>
      </p:sp>
      <p:sp>
        <p:nvSpPr>
          <p:cNvPr id="183308" name="Rectangle 12"/>
          <p:cNvSpPr>
            <a:spLocks noChangeArrowheads="1"/>
          </p:cNvSpPr>
          <p:nvPr/>
        </p:nvSpPr>
        <p:spPr bwMode="auto">
          <a:xfrm>
            <a:off x="1979613" y="5918200"/>
            <a:ext cx="1439862" cy="396875"/>
          </a:xfrm>
          <a:prstGeom prst="rect">
            <a:avLst/>
          </a:prstGeom>
          <a:solidFill>
            <a:schemeClr val="accent1"/>
          </a:solidFill>
          <a:ln w="9525" algn="ctr">
            <a:noFill/>
            <a:miter lim="800000"/>
            <a:headEnd/>
            <a:tailEnd/>
          </a:ln>
        </p:spPr>
        <p:txBody>
          <a:bodyPr anchor="ctr">
            <a:spAutoFit/>
          </a:bodyPr>
          <a:lstStyle/>
          <a:p>
            <a:r>
              <a:rPr lang="fa-IR" sz="2000"/>
              <a:t>گروه آموزشي</a:t>
            </a:r>
            <a:endParaRPr lang="en-US" sz="2000"/>
          </a:p>
        </p:txBody>
      </p:sp>
      <p:sp>
        <p:nvSpPr>
          <p:cNvPr id="183309" name="Rectangle 13"/>
          <p:cNvSpPr>
            <a:spLocks noChangeArrowheads="1"/>
          </p:cNvSpPr>
          <p:nvPr/>
        </p:nvSpPr>
        <p:spPr bwMode="auto">
          <a:xfrm>
            <a:off x="1547813" y="5229225"/>
            <a:ext cx="2017712" cy="396875"/>
          </a:xfrm>
          <a:prstGeom prst="rect">
            <a:avLst/>
          </a:prstGeom>
          <a:solidFill>
            <a:schemeClr val="accent1"/>
          </a:solidFill>
          <a:ln w="9525" algn="ctr">
            <a:noFill/>
            <a:miter lim="800000"/>
            <a:headEnd/>
            <a:tailEnd/>
          </a:ln>
        </p:spPr>
        <p:txBody>
          <a:bodyPr anchor="ctr">
            <a:spAutoFit/>
          </a:bodyPr>
          <a:lstStyle/>
          <a:p>
            <a:r>
              <a:rPr lang="fa-IR" sz="2000"/>
              <a:t>عنوان گروه آموزشي</a:t>
            </a:r>
            <a:endParaRPr lang="en-US" sz="2000"/>
          </a:p>
        </p:txBody>
      </p:sp>
      <p:sp>
        <p:nvSpPr>
          <p:cNvPr id="183310" name="Rectangle 14"/>
          <p:cNvSpPr>
            <a:spLocks noChangeArrowheads="1"/>
          </p:cNvSpPr>
          <p:nvPr/>
        </p:nvSpPr>
        <p:spPr bwMode="auto">
          <a:xfrm>
            <a:off x="1979613" y="3614738"/>
            <a:ext cx="1439862" cy="396875"/>
          </a:xfrm>
          <a:prstGeom prst="rect">
            <a:avLst/>
          </a:prstGeom>
          <a:solidFill>
            <a:schemeClr val="accent1"/>
          </a:solidFill>
          <a:ln w="9525" algn="ctr">
            <a:noFill/>
            <a:miter lim="800000"/>
            <a:headEnd/>
            <a:tailEnd/>
          </a:ln>
        </p:spPr>
        <p:txBody>
          <a:bodyPr anchor="ctr">
            <a:spAutoFit/>
          </a:bodyPr>
          <a:lstStyle/>
          <a:p>
            <a:r>
              <a:rPr lang="fa-IR" sz="2000"/>
              <a:t>توسط:</a:t>
            </a:r>
            <a:endParaRPr lang="en-US" sz="2000"/>
          </a:p>
        </p:txBody>
      </p:sp>
      <p:sp>
        <p:nvSpPr>
          <p:cNvPr id="183311" name="Rectangle 15"/>
          <p:cNvSpPr>
            <a:spLocks noChangeArrowheads="1"/>
          </p:cNvSpPr>
          <p:nvPr/>
        </p:nvSpPr>
        <p:spPr bwMode="auto">
          <a:xfrm>
            <a:off x="1979613" y="3975100"/>
            <a:ext cx="1439862" cy="396875"/>
          </a:xfrm>
          <a:prstGeom prst="rect">
            <a:avLst/>
          </a:prstGeom>
          <a:solidFill>
            <a:schemeClr val="accent1"/>
          </a:solidFill>
          <a:ln w="9525" algn="ctr">
            <a:noFill/>
            <a:miter lim="800000"/>
            <a:headEnd/>
            <a:tailEnd/>
          </a:ln>
        </p:spPr>
        <p:txBody>
          <a:bodyPr anchor="ctr">
            <a:spAutoFit/>
          </a:bodyPr>
          <a:lstStyle/>
          <a:p>
            <a:r>
              <a:rPr lang="fa-IR" sz="2000"/>
              <a:t>نام كارآموز</a:t>
            </a:r>
            <a:endParaRPr lang="en-US" sz="2000"/>
          </a:p>
        </p:txBody>
      </p:sp>
      <p:sp>
        <p:nvSpPr>
          <p:cNvPr id="183312" name="Line 20"/>
          <p:cNvSpPr>
            <a:spLocks noChangeShapeType="1"/>
          </p:cNvSpPr>
          <p:nvPr/>
        </p:nvSpPr>
        <p:spPr bwMode="auto">
          <a:xfrm flipV="1">
            <a:off x="3562350" y="6049963"/>
            <a:ext cx="0" cy="360362"/>
          </a:xfrm>
          <a:prstGeom prst="line">
            <a:avLst/>
          </a:prstGeom>
          <a:noFill/>
          <a:ln w="9525">
            <a:solidFill>
              <a:schemeClr val="tx1"/>
            </a:solidFill>
            <a:round/>
            <a:headEnd/>
            <a:tailEnd type="triangle" w="med" len="med"/>
          </a:ln>
        </p:spPr>
        <p:txBody>
          <a:bodyPr anchor="ctr">
            <a:spAutoFit/>
          </a:bodyPr>
          <a:lstStyle/>
          <a:p>
            <a:endParaRPr lang="en-US"/>
          </a:p>
        </p:txBody>
      </p:sp>
      <p:sp>
        <p:nvSpPr>
          <p:cNvPr id="183313" name="Rectangle 21"/>
          <p:cNvSpPr>
            <a:spLocks noChangeArrowheads="1"/>
          </p:cNvSpPr>
          <p:nvPr/>
        </p:nvSpPr>
        <p:spPr bwMode="auto">
          <a:xfrm>
            <a:off x="2771775" y="6237288"/>
            <a:ext cx="1212850" cy="366712"/>
          </a:xfrm>
          <a:prstGeom prst="rect">
            <a:avLst/>
          </a:prstGeom>
          <a:solidFill>
            <a:schemeClr val="accent1"/>
          </a:solidFill>
          <a:ln w="9525" algn="ctr">
            <a:noFill/>
            <a:miter lim="800000"/>
            <a:headEnd/>
            <a:tailEnd/>
          </a:ln>
        </p:spPr>
        <p:txBody>
          <a:bodyPr anchor="ctr">
            <a:spAutoFit/>
          </a:bodyPr>
          <a:lstStyle/>
          <a:p>
            <a:r>
              <a:rPr lang="fa-IR"/>
              <a:t>5/2 سانتيمتر</a:t>
            </a:r>
            <a:endParaRPr lang="en-US"/>
          </a:p>
        </p:txBody>
      </p:sp>
      <p:sp>
        <p:nvSpPr>
          <p:cNvPr id="183314" name="Line 22"/>
          <p:cNvSpPr>
            <a:spLocks noChangeShapeType="1"/>
          </p:cNvSpPr>
          <p:nvPr/>
        </p:nvSpPr>
        <p:spPr bwMode="auto">
          <a:xfrm>
            <a:off x="3562350" y="6526213"/>
            <a:ext cx="0" cy="361950"/>
          </a:xfrm>
          <a:prstGeom prst="line">
            <a:avLst/>
          </a:prstGeom>
          <a:noFill/>
          <a:ln w="9525">
            <a:solidFill>
              <a:schemeClr val="tx1"/>
            </a:solidFill>
            <a:round/>
            <a:headEnd/>
            <a:tailEnd type="triangle" w="med" len="med"/>
          </a:ln>
        </p:spPr>
        <p:txBody>
          <a:bodyPr anchor="ctr">
            <a:spAutoFit/>
          </a:bodyPr>
          <a:lstStyle/>
          <a:p>
            <a:endParaRPr lang="en-US"/>
          </a:p>
        </p:txBody>
      </p:sp>
      <p:sp>
        <p:nvSpPr>
          <p:cNvPr id="19" name="Rectangle 18"/>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3"/>
          <p:cNvSpPr>
            <a:spLocks noGrp="1" noChangeArrowheads="1"/>
          </p:cNvSpPr>
          <p:nvPr>
            <p:ph idx="1"/>
          </p:nvPr>
        </p:nvSpPr>
        <p:spPr>
          <a:xfrm>
            <a:off x="457200" y="2420938"/>
            <a:ext cx="8229600" cy="3709987"/>
          </a:xfrm>
        </p:spPr>
        <p:txBody>
          <a:bodyPr/>
          <a:lstStyle/>
          <a:p>
            <a:pPr algn="justLow" rtl="1" eaLnBrk="1" hangingPunct="1">
              <a:buFont typeface="Wingdings" pitchFamily="2" charset="2"/>
              <a:buNone/>
            </a:pPr>
            <a:r>
              <a:rPr lang="fa-IR" b="1" smtClean="0"/>
              <a:t>در برخی از رشته های علمی – فنی به ویژه رشته های مهندسی درسی بنام &lt;&lt; پروژه &gt;&gt; وجود دارد که بعنوان پروژه ( رساله ) پایان دوره در سطح کارشناسی ( ویا کارشناسی ارشد ) شناخته می شود . دانشجوی دوره دکترا هم طبعا باید دانشنامه یا تز بنویسد که گزارش چند سال مطالعه و پژوهیدن است .</a:t>
            </a:r>
            <a:endParaRPr lang="en-US" b="1" smtClean="0"/>
          </a:p>
        </p:txBody>
      </p:sp>
      <p:sp>
        <p:nvSpPr>
          <p:cNvPr id="202754" name="Rectangle 2"/>
          <p:cNvSpPr>
            <a:spLocks noGrp="1" noChangeArrowheads="1"/>
          </p:cNvSpPr>
          <p:nvPr>
            <p:ph type="title"/>
          </p:nvPr>
        </p:nvSpPr>
        <p:spPr>
          <a:xfrm>
            <a:off x="1619250" y="277813"/>
            <a:ext cx="5689600" cy="1638300"/>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گزارش پروژه پایان دوره کارشناسی ، رساله دوره کارشناسی ارشد و دانشنامه ( تز) دوره  دکترا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24" name="Rectangle 8"/>
          <p:cNvSpPr>
            <a:spLocks noGrp="1" noChangeArrowheads="1"/>
          </p:cNvSpPr>
          <p:nvPr>
            <p:ph type="title"/>
          </p:nvPr>
        </p:nvSpPr>
        <p:spPr>
          <a:xfrm>
            <a:off x="457200" y="638175"/>
            <a:ext cx="8229600" cy="4230688"/>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اجزاء و ساختار گزارش پروژه دوره کارشناسی و </a:t>
            </a:r>
            <a:br>
              <a:rPr lang="fa-IR" sz="3700" smtClean="0">
                <a:solidFill>
                  <a:srgbClr val="FF0000"/>
                </a:solidFill>
                <a:effectLst/>
                <a:cs typeface="B Titr" pitchFamily="2" charset="-78"/>
              </a:rPr>
            </a:br>
            <a:r>
              <a:rPr lang="fa-IR" sz="3700" smtClean="0">
                <a:solidFill>
                  <a:srgbClr val="FF0000"/>
                </a:solidFill>
                <a:effectLst/>
                <a:cs typeface="B Titr" pitchFamily="2" charset="-78"/>
              </a:rPr>
              <a:t>رساله کارشناسی ارشد و دانشنامه دوره دکترا</a:t>
            </a:r>
            <a:endParaRPr lang="en-US" sz="3700" smtClean="0">
              <a:solidFill>
                <a:srgbClr val="FF0000"/>
              </a:solidFill>
              <a:effectLst/>
              <a:cs typeface="B Titr" pitchFamily="2" charset="-78"/>
            </a:endParaRPr>
          </a:p>
        </p:txBody>
      </p:sp>
      <p:sp>
        <p:nvSpPr>
          <p:cNvPr id="3" name="Rectangle 2"/>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4"/>
          <p:cNvSpPr>
            <a:spLocks noGrp="1" noChangeArrowheads="1"/>
          </p:cNvSpPr>
          <p:nvPr>
            <p:ph idx="1"/>
          </p:nvPr>
        </p:nvSpPr>
        <p:spPr>
          <a:xfrm>
            <a:off x="457200" y="260350"/>
            <a:ext cx="8229600" cy="6597650"/>
          </a:xfrm>
        </p:spPr>
        <p:txBody>
          <a:bodyPr/>
          <a:lstStyle/>
          <a:p>
            <a:pPr algn="r" rtl="1" eaLnBrk="1" hangingPunct="1">
              <a:lnSpc>
                <a:spcPct val="80000"/>
              </a:lnSpc>
            </a:pPr>
            <a:r>
              <a:rPr lang="fa-IR" sz="1800" b="1" smtClean="0"/>
              <a:t>جلد ( مطالب صفحه عنوان روی جلد نیز نوشته می شود ) </a:t>
            </a:r>
            <a:endParaRPr lang="en-US" sz="1800" smtClean="0"/>
          </a:p>
          <a:p>
            <a:pPr algn="r" rtl="1" eaLnBrk="1" hangingPunct="1">
              <a:lnSpc>
                <a:spcPct val="80000"/>
              </a:lnSpc>
            </a:pPr>
            <a:r>
              <a:rPr lang="fa-IR" sz="1800" b="1" smtClean="0"/>
              <a:t>صفحه سفید </a:t>
            </a:r>
            <a:endParaRPr lang="en-US" sz="1800" smtClean="0"/>
          </a:p>
          <a:p>
            <a:pPr algn="r" rtl="1" eaLnBrk="1" hangingPunct="1">
              <a:lnSpc>
                <a:spcPct val="80000"/>
              </a:lnSpc>
            </a:pPr>
            <a:r>
              <a:rPr lang="fa-IR" sz="1800" b="1" smtClean="0"/>
              <a:t>صفحه عنوان </a:t>
            </a:r>
            <a:endParaRPr lang="en-US" sz="1800" smtClean="0"/>
          </a:p>
          <a:p>
            <a:pPr algn="r" rtl="1" eaLnBrk="1" hangingPunct="1">
              <a:lnSpc>
                <a:spcPct val="80000"/>
              </a:lnSpc>
            </a:pPr>
            <a:r>
              <a:rPr lang="fa-IR" sz="1800" b="1" smtClean="0"/>
              <a:t>صفحه رعایت شئون فرهنگی </a:t>
            </a:r>
            <a:endParaRPr lang="en-US" sz="1800" smtClean="0"/>
          </a:p>
          <a:p>
            <a:pPr algn="r" rtl="1" eaLnBrk="1" hangingPunct="1">
              <a:lnSpc>
                <a:spcPct val="80000"/>
              </a:lnSpc>
            </a:pPr>
            <a:r>
              <a:rPr lang="fa-IR" sz="1800" b="1" smtClean="0"/>
              <a:t>پیشگفتار </a:t>
            </a:r>
            <a:endParaRPr lang="en-US" sz="1800" smtClean="0"/>
          </a:p>
          <a:p>
            <a:pPr algn="r" rtl="1" eaLnBrk="1" hangingPunct="1">
              <a:lnSpc>
                <a:spcPct val="80000"/>
              </a:lnSpc>
            </a:pPr>
            <a:r>
              <a:rPr lang="fa-IR" sz="1800" b="1" smtClean="0"/>
              <a:t>تقدیم نامه ( می تواند در پیشگفتار درج شود ) </a:t>
            </a:r>
            <a:endParaRPr lang="en-US" sz="1800" smtClean="0"/>
          </a:p>
          <a:p>
            <a:pPr algn="r" rtl="1" eaLnBrk="1" hangingPunct="1">
              <a:lnSpc>
                <a:spcPct val="80000"/>
              </a:lnSpc>
            </a:pPr>
            <a:r>
              <a:rPr lang="fa-IR" sz="1800" b="1" smtClean="0"/>
              <a:t>سپاس نامه ( می تواند در پیشگفتار درج شود )</a:t>
            </a:r>
            <a:endParaRPr lang="en-US" sz="1800" smtClean="0"/>
          </a:p>
          <a:p>
            <a:pPr algn="r" rtl="1" eaLnBrk="1" hangingPunct="1">
              <a:lnSpc>
                <a:spcPct val="80000"/>
              </a:lnSpc>
            </a:pPr>
            <a:r>
              <a:rPr lang="fa-IR" sz="1800" b="1" smtClean="0"/>
              <a:t>صفحه های فهرست مطالب </a:t>
            </a:r>
            <a:endParaRPr lang="en-US" sz="1800" smtClean="0"/>
          </a:p>
          <a:p>
            <a:pPr algn="r" rtl="1" eaLnBrk="1" hangingPunct="1">
              <a:lnSpc>
                <a:spcPct val="80000"/>
              </a:lnSpc>
            </a:pPr>
            <a:r>
              <a:rPr lang="fa-IR" sz="1800" b="1" smtClean="0"/>
              <a:t>صفحه های فهرست شکلها و جدولها </a:t>
            </a:r>
            <a:endParaRPr lang="en-US" sz="1800" smtClean="0"/>
          </a:p>
          <a:p>
            <a:pPr algn="r" rtl="1" eaLnBrk="1" hangingPunct="1">
              <a:lnSpc>
                <a:spcPct val="80000"/>
              </a:lnSpc>
            </a:pPr>
            <a:r>
              <a:rPr lang="fa-IR" sz="1800" b="1" smtClean="0"/>
              <a:t>اپی گراف ( یک یا دو و نه بیشتر )</a:t>
            </a:r>
            <a:endParaRPr lang="en-US" sz="1800" smtClean="0"/>
          </a:p>
          <a:p>
            <a:pPr algn="r" rtl="1" eaLnBrk="1" hangingPunct="1">
              <a:lnSpc>
                <a:spcPct val="80000"/>
              </a:lnSpc>
            </a:pPr>
            <a:r>
              <a:rPr lang="fa-IR" sz="1800" b="1" smtClean="0"/>
              <a:t>چکیده </a:t>
            </a:r>
            <a:endParaRPr lang="en-US" sz="1800" smtClean="0"/>
          </a:p>
          <a:p>
            <a:pPr algn="r" rtl="1" eaLnBrk="1" hangingPunct="1">
              <a:lnSpc>
                <a:spcPct val="80000"/>
              </a:lnSpc>
            </a:pPr>
            <a:r>
              <a:rPr lang="fa-IR" sz="1800" b="1" smtClean="0"/>
              <a:t>بخشهای متن اصلی ( با شروع از بخش مقدمه )</a:t>
            </a:r>
            <a:endParaRPr lang="en-US" sz="1800" smtClean="0"/>
          </a:p>
          <a:p>
            <a:pPr algn="r" rtl="1" eaLnBrk="1" hangingPunct="1">
              <a:lnSpc>
                <a:spcPct val="80000"/>
              </a:lnSpc>
            </a:pPr>
            <a:r>
              <a:rPr lang="fa-IR" sz="1800" b="1" smtClean="0"/>
              <a:t>خلاصه هر فصل مستقل در انتهای همان فصل و ترجیحا به فارسی و انگلیسی </a:t>
            </a:r>
            <a:endParaRPr lang="en-US" sz="1800" smtClean="0"/>
          </a:p>
          <a:p>
            <a:pPr algn="r" rtl="1" eaLnBrk="1" hangingPunct="1">
              <a:lnSpc>
                <a:spcPct val="80000"/>
              </a:lnSpc>
            </a:pPr>
            <a:r>
              <a:rPr lang="fa-IR" sz="1800" b="1" smtClean="0"/>
              <a:t>نتیجه گیری ( ترجیحا به فارسی و انگلیسی ) </a:t>
            </a:r>
            <a:endParaRPr lang="en-US" sz="1800" smtClean="0"/>
          </a:p>
          <a:p>
            <a:pPr algn="r" rtl="1" eaLnBrk="1" hangingPunct="1">
              <a:lnSpc>
                <a:spcPct val="80000"/>
              </a:lnSpc>
            </a:pPr>
            <a:r>
              <a:rPr lang="fa-IR" sz="1800" b="1" smtClean="0"/>
              <a:t>خلاصه کل مطلب ( ترجیحا به فارسی و انگلیسی )  </a:t>
            </a:r>
            <a:endParaRPr lang="en-US" sz="1800" smtClean="0"/>
          </a:p>
          <a:p>
            <a:pPr algn="r" rtl="1" eaLnBrk="1" hangingPunct="1">
              <a:lnSpc>
                <a:spcPct val="80000"/>
              </a:lnSpc>
            </a:pPr>
            <a:r>
              <a:rPr lang="fa-IR" sz="1800" b="1" smtClean="0"/>
              <a:t>پیشنهادات  : محورهای مطالعه و گسترش بیشتر ( ترجیحا به فارسی و انگلیسی ) </a:t>
            </a:r>
            <a:endParaRPr lang="en-US" sz="1800" smtClean="0"/>
          </a:p>
          <a:p>
            <a:pPr algn="r" rtl="1" eaLnBrk="1" hangingPunct="1">
              <a:lnSpc>
                <a:spcPct val="80000"/>
              </a:lnSpc>
            </a:pPr>
            <a:r>
              <a:rPr lang="fa-IR" sz="1800" b="1" smtClean="0"/>
              <a:t>پیوستها </a:t>
            </a:r>
            <a:endParaRPr lang="en-US" sz="1800" smtClean="0"/>
          </a:p>
          <a:p>
            <a:pPr algn="r" rtl="1" eaLnBrk="1" hangingPunct="1">
              <a:lnSpc>
                <a:spcPct val="80000"/>
              </a:lnSpc>
            </a:pPr>
            <a:r>
              <a:rPr lang="fa-IR" sz="1800" b="1" smtClean="0"/>
              <a:t>فهرست منابع </a:t>
            </a:r>
            <a:endParaRPr lang="en-US" sz="1800" smtClean="0"/>
          </a:p>
          <a:p>
            <a:pPr algn="r" rtl="1" eaLnBrk="1" hangingPunct="1">
              <a:lnSpc>
                <a:spcPct val="80000"/>
              </a:lnSpc>
            </a:pPr>
            <a:r>
              <a:rPr lang="fa-IR" sz="1800" b="1" smtClean="0"/>
              <a:t>چکیده  ( به انگلیسی ) </a:t>
            </a:r>
            <a:endParaRPr lang="en-US" sz="1800" smtClean="0"/>
          </a:p>
          <a:p>
            <a:pPr algn="r" rtl="1" eaLnBrk="1" hangingPunct="1">
              <a:lnSpc>
                <a:spcPct val="80000"/>
              </a:lnSpc>
            </a:pPr>
            <a:r>
              <a:rPr lang="fa-IR" sz="1800" b="1" smtClean="0"/>
              <a:t>صفحه عنوان ( به انگلیسی ) </a:t>
            </a:r>
            <a:endParaRPr lang="en-US" sz="1800" smtClean="0"/>
          </a:p>
          <a:p>
            <a:pPr algn="r" rtl="1" eaLnBrk="1" hangingPunct="1">
              <a:lnSpc>
                <a:spcPct val="80000"/>
              </a:lnSpc>
            </a:pPr>
            <a:r>
              <a:rPr lang="fa-IR" sz="1800" b="1" smtClean="0"/>
              <a:t>صفحه سفید</a:t>
            </a:r>
            <a:endParaRPr lang="en-US" sz="1800" smtClean="0"/>
          </a:p>
          <a:p>
            <a:pPr algn="r" rtl="1" eaLnBrk="1" hangingPunct="1">
              <a:lnSpc>
                <a:spcPct val="80000"/>
              </a:lnSpc>
            </a:pPr>
            <a:r>
              <a:rPr lang="fa-IR" sz="1800" b="1" smtClean="0"/>
              <a:t>در رساله کارشناسی ارشد و دانشنامه دکترا برگ تایید هم باید وجد داشته باشد که معمولا قبل از پیشگفتار درج می شود .</a:t>
            </a:r>
            <a:r>
              <a:rPr lang="fa-IR" sz="1800" smtClean="0"/>
              <a:t> </a:t>
            </a:r>
            <a:endParaRPr lang="en-US" sz="1800" smtClean="0"/>
          </a:p>
        </p:txBody>
      </p:sp>
      <p:sp>
        <p:nvSpPr>
          <p:cNvPr id="3" name="Rectangle 2"/>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a:xfrm>
            <a:off x="5867400" y="260350"/>
            <a:ext cx="2879725" cy="1800225"/>
          </a:xfrm>
        </p:spPr>
        <p:txBody>
          <a:bodyPr/>
          <a:lstStyle/>
          <a:p>
            <a:pPr eaLnBrk="1" fontAlgn="auto" hangingPunct="1">
              <a:spcAft>
                <a:spcPts val="0"/>
              </a:spcAft>
              <a:defRPr/>
            </a:pPr>
            <a:r>
              <a:rPr lang="fa-IR" sz="3200" smtClean="0"/>
              <a:t>طرح صفحه پروژه </a:t>
            </a:r>
            <a:br>
              <a:rPr lang="fa-IR" sz="3200" smtClean="0"/>
            </a:br>
            <a:r>
              <a:rPr lang="fa-IR" sz="3200" smtClean="0"/>
              <a:t>دوره كارشناسي</a:t>
            </a:r>
            <a:r>
              <a:rPr lang="fa-IR" sz="2400" smtClean="0"/>
              <a:t>  </a:t>
            </a:r>
            <a:endParaRPr lang="en-US" sz="2400" smtClean="0"/>
          </a:p>
        </p:txBody>
      </p:sp>
      <p:sp>
        <p:nvSpPr>
          <p:cNvPr id="187395" name="Rectangle 3"/>
          <p:cNvSpPr>
            <a:spLocks noChangeArrowheads="1"/>
          </p:cNvSpPr>
          <p:nvPr/>
        </p:nvSpPr>
        <p:spPr bwMode="auto">
          <a:xfrm>
            <a:off x="107950" y="26988"/>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187396" name="Rectangle 7"/>
          <p:cNvSpPr>
            <a:spLocks noChangeArrowheads="1"/>
          </p:cNvSpPr>
          <p:nvPr/>
        </p:nvSpPr>
        <p:spPr bwMode="auto">
          <a:xfrm>
            <a:off x="2268538" y="892175"/>
            <a:ext cx="1873250" cy="396875"/>
          </a:xfrm>
          <a:prstGeom prst="rect">
            <a:avLst/>
          </a:prstGeom>
          <a:solidFill>
            <a:schemeClr val="accent1"/>
          </a:solidFill>
          <a:ln w="9525" algn="ctr">
            <a:noFill/>
            <a:miter lim="800000"/>
            <a:headEnd/>
            <a:tailEnd/>
          </a:ln>
        </p:spPr>
        <p:txBody>
          <a:bodyPr anchor="ctr">
            <a:spAutoFit/>
          </a:bodyPr>
          <a:lstStyle/>
          <a:p>
            <a:r>
              <a:rPr lang="fa-IR" sz="2000"/>
              <a:t>عنوان پروژه </a:t>
            </a:r>
            <a:endParaRPr lang="en-US" sz="2000"/>
          </a:p>
        </p:txBody>
      </p:sp>
      <p:sp>
        <p:nvSpPr>
          <p:cNvPr id="187397" name="Rectangle 9"/>
          <p:cNvSpPr>
            <a:spLocks noChangeArrowheads="1"/>
          </p:cNvSpPr>
          <p:nvPr/>
        </p:nvSpPr>
        <p:spPr bwMode="auto">
          <a:xfrm>
            <a:off x="1619250" y="1741488"/>
            <a:ext cx="2952750" cy="366712"/>
          </a:xfrm>
          <a:prstGeom prst="rect">
            <a:avLst/>
          </a:prstGeom>
          <a:solidFill>
            <a:schemeClr val="accent1"/>
          </a:solidFill>
          <a:ln w="9525" algn="ctr">
            <a:noFill/>
            <a:miter lim="800000"/>
            <a:headEnd/>
            <a:tailEnd/>
          </a:ln>
        </p:spPr>
        <p:txBody>
          <a:bodyPr anchor="ctr">
            <a:spAutoFit/>
          </a:bodyPr>
          <a:lstStyle/>
          <a:p>
            <a:r>
              <a:rPr lang="fa-IR"/>
              <a:t>پروژه دوره كارشناسي</a:t>
            </a:r>
            <a:endParaRPr lang="en-US"/>
          </a:p>
        </p:txBody>
      </p:sp>
      <p:sp>
        <p:nvSpPr>
          <p:cNvPr id="187398" name="Rectangle 10"/>
          <p:cNvSpPr>
            <a:spLocks noChangeArrowheads="1"/>
          </p:cNvSpPr>
          <p:nvPr/>
        </p:nvSpPr>
        <p:spPr bwMode="auto">
          <a:xfrm>
            <a:off x="1403350" y="3484563"/>
            <a:ext cx="3024188" cy="366712"/>
          </a:xfrm>
          <a:prstGeom prst="rect">
            <a:avLst/>
          </a:prstGeom>
          <a:solidFill>
            <a:schemeClr val="accent1"/>
          </a:solidFill>
          <a:ln w="9525" algn="ctr">
            <a:noFill/>
            <a:miter lim="800000"/>
            <a:headEnd/>
            <a:tailEnd/>
          </a:ln>
        </p:spPr>
        <p:txBody>
          <a:bodyPr anchor="ctr">
            <a:spAutoFit/>
          </a:bodyPr>
          <a:lstStyle/>
          <a:p>
            <a:r>
              <a:rPr lang="fa-IR"/>
              <a:t>عنوان دانشكده </a:t>
            </a:r>
            <a:endParaRPr lang="en-US"/>
          </a:p>
        </p:txBody>
      </p:sp>
      <p:sp>
        <p:nvSpPr>
          <p:cNvPr id="187399" name="Rectangle 11"/>
          <p:cNvSpPr>
            <a:spLocks noChangeArrowheads="1"/>
          </p:cNvSpPr>
          <p:nvPr/>
        </p:nvSpPr>
        <p:spPr bwMode="auto">
          <a:xfrm>
            <a:off x="2339975" y="5067300"/>
            <a:ext cx="1439863" cy="336550"/>
          </a:xfrm>
          <a:prstGeom prst="rect">
            <a:avLst/>
          </a:prstGeom>
          <a:solidFill>
            <a:schemeClr val="accent1"/>
          </a:solidFill>
          <a:ln w="9525" algn="ctr">
            <a:noFill/>
            <a:miter lim="800000"/>
            <a:headEnd/>
            <a:tailEnd/>
          </a:ln>
        </p:spPr>
        <p:txBody>
          <a:bodyPr anchor="ctr">
            <a:spAutoFit/>
          </a:bodyPr>
          <a:lstStyle/>
          <a:p>
            <a:r>
              <a:rPr lang="fa-IR" sz="1600"/>
              <a:t>نام استاد راهنما </a:t>
            </a:r>
            <a:endParaRPr lang="en-US" sz="1600"/>
          </a:p>
        </p:txBody>
      </p:sp>
      <p:sp>
        <p:nvSpPr>
          <p:cNvPr id="187400" name="Rectangle 13"/>
          <p:cNvSpPr>
            <a:spLocks noChangeArrowheads="1"/>
          </p:cNvSpPr>
          <p:nvPr/>
        </p:nvSpPr>
        <p:spPr bwMode="auto">
          <a:xfrm>
            <a:off x="3276600" y="4635500"/>
            <a:ext cx="2017713" cy="396875"/>
          </a:xfrm>
          <a:prstGeom prst="rect">
            <a:avLst/>
          </a:prstGeom>
          <a:solidFill>
            <a:schemeClr val="accent1"/>
          </a:solidFill>
          <a:ln w="9525" algn="ctr">
            <a:noFill/>
            <a:miter lim="800000"/>
            <a:headEnd/>
            <a:tailEnd/>
          </a:ln>
        </p:spPr>
        <p:txBody>
          <a:bodyPr anchor="ctr">
            <a:spAutoFit/>
          </a:bodyPr>
          <a:lstStyle/>
          <a:p>
            <a:r>
              <a:rPr lang="fa-IR" sz="1600"/>
              <a:t>استاد</a:t>
            </a:r>
            <a:r>
              <a:rPr lang="fa-IR" sz="2000"/>
              <a:t> راهنما </a:t>
            </a:r>
            <a:endParaRPr lang="en-US" sz="2000"/>
          </a:p>
        </p:txBody>
      </p:sp>
      <p:sp>
        <p:nvSpPr>
          <p:cNvPr id="187401" name="Rectangle 14"/>
          <p:cNvSpPr>
            <a:spLocks noChangeArrowheads="1"/>
          </p:cNvSpPr>
          <p:nvPr/>
        </p:nvSpPr>
        <p:spPr bwMode="auto">
          <a:xfrm>
            <a:off x="3708400" y="2835275"/>
            <a:ext cx="1439863" cy="336550"/>
          </a:xfrm>
          <a:prstGeom prst="rect">
            <a:avLst/>
          </a:prstGeom>
          <a:solidFill>
            <a:schemeClr val="accent1"/>
          </a:solidFill>
          <a:ln w="9525" algn="ctr">
            <a:noFill/>
            <a:miter lim="800000"/>
            <a:headEnd/>
            <a:tailEnd/>
          </a:ln>
        </p:spPr>
        <p:txBody>
          <a:bodyPr anchor="ctr">
            <a:spAutoFit/>
          </a:bodyPr>
          <a:lstStyle/>
          <a:p>
            <a:r>
              <a:rPr lang="fa-IR" sz="1600"/>
              <a:t>ارائه شده به :</a:t>
            </a:r>
            <a:endParaRPr lang="en-US" sz="1600"/>
          </a:p>
        </p:txBody>
      </p:sp>
      <p:sp>
        <p:nvSpPr>
          <p:cNvPr id="187402" name="Rectangle 15"/>
          <p:cNvSpPr>
            <a:spLocks noChangeArrowheads="1"/>
          </p:cNvSpPr>
          <p:nvPr/>
        </p:nvSpPr>
        <p:spPr bwMode="auto">
          <a:xfrm>
            <a:off x="1403350" y="3109913"/>
            <a:ext cx="3095625" cy="366712"/>
          </a:xfrm>
          <a:prstGeom prst="rect">
            <a:avLst/>
          </a:prstGeom>
          <a:solidFill>
            <a:schemeClr val="accent1"/>
          </a:solidFill>
          <a:ln w="9525" algn="ctr">
            <a:noFill/>
            <a:miter lim="800000"/>
            <a:headEnd/>
            <a:tailEnd/>
          </a:ln>
        </p:spPr>
        <p:txBody>
          <a:bodyPr anchor="ctr">
            <a:spAutoFit/>
          </a:bodyPr>
          <a:lstStyle/>
          <a:p>
            <a:r>
              <a:rPr lang="fa-IR"/>
              <a:t>عنوان گروه آموزشي</a:t>
            </a:r>
            <a:endParaRPr lang="en-US"/>
          </a:p>
        </p:txBody>
      </p:sp>
      <p:sp>
        <p:nvSpPr>
          <p:cNvPr id="187403" name="Rectangle 17"/>
          <p:cNvSpPr>
            <a:spLocks noChangeArrowheads="1"/>
          </p:cNvSpPr>
          <p:nvPr/>
        </p:nvSpPr>
        <p:spPr bwMode="auto">
          <a:xfrm>
            <a:off x="2484438" y="5643563"/>
            <a:ext cx="1212850" cy="366712"/>
          </a:xfrm>
          <a:prstGeom prst="rect">
            <a:avLst/>
          </a:prstGeom>
          <a:solidFill>
            <a:schemeClr val="accent1"/>
          </a:solidFill>
          <a:ln w="9525" algn="ctr">
            <a:noFill/>
            <a:miter lim="800000"/>
            <a:headEnd/>
            <a:tailEnd/>
          </a:ln>
        </p:spPr>
        <p:txBody>
          <a:bodyPr anchor="ctr">
            <a:spAutoFit/>
          </a:bodyPr>
          <a:lstStyle/>
          <a:p>
            <a:r>
              <a:rPr lang="fa-IR"/>
              <a:t>نام داشجو</a:t>
            </a:r>
            <a:endParaRPr lang="en-US"/>
          </a:p>
        </p:txBody>
      </p:sp>
      <p:sp>
        <p:nvSpPr>
          <p:cNvPr id="187404" name="Rectangle 20"/>
          <p:cNvSpPr>
            <a:spLocks noChangeArrowheads="1"/>
          </p:cNvSpPr>
          <p:nvPr/>
        </p:nvSpPr>
        <p:spPr bwMode="auto">
          <a:xfrm>
            <a:off x="1547813" y="2116138"/>
            <a:ext cx="3024187" cy="366712"/>
          </a:xfrm>
          <a:prstGeom prst="rect">
            <a:avLst/>
          </a:prstGeom>
          <a:solidFill>
            <a:schemeClr val="accent1"/>
          </a:solidFill>
          <a:ln w="9525" algn="ctr">
            <a:noFill/>
            <a:miter lim="800000"/>
            <a:headEnd/>
            <a:tailEnd/>
          </a:ln>
        </p:spPr>
        <p:txBody>
          <a:bodyPr anchor="ctr">
            <a:spAutoFit/>
          </a:bodyPr>
          <a:lstStyle/>
          <a:p>
            <a:r>
              <a:rPr lang="fa-IR"/>
              <a:t>در رشته ....  گرايش......</a:t>
            </a:r>
            <a:endParaRPr lang="en-US"/>
          </a:p>
        </p:txBody>
      </p:sp>
      <p:sp>
        <p:nvSpPr>
          <p:cNvPr id="187405" name="Rectangle 21"/>
          <p:cNvSpPr>
            <a:spLocks noChangeArrowheads="1"/>
          </p:cNvSpPr>
          <p:nvPr/>
        </p:nvSpPr>
        <p:spPr bwMode="auto">
          <a:xfrm>
            <a:off x="1403350" y="3843338"/>
            <a:ext cx="3024188" cy="366712"/>
          </a:xfrm>
          <a:prstGeom prst="rect">
            <a:avLst/>
          </a:prstGeom>
          <a:solidFill>
            <a:schemeClr val="accent1"/>
          </a:solidFill>
          <a:ln w="9525" algn="ctr">
            <a:noFill/>
            <a:miter lim="800000"/>
            <a:headEnd/>
            <a:tailEnd/>
          </a:ln>
        </p:spPr>
        <p:txBody>
          <a:bodyPr anchor="ctr">
            <a:spAutoFit/>
          </a:bodyPr>
          <a:lstStyle/>
          <a:p>
            <a:r>
              <a:rPr lang="fa-IR"/>
              <a:t>عنوان دانشگاه </a:t>
            </a:r>
            <a:endParaRPr lang="en-US"/>
          </a:p>
        </p:txBody>
      </p:sp>
      <p:sp>
        <p:nvSpPr>
          <p:cNvPr id="187406" name="Rectangle 22"/>
          <p:cNvSpPr>
            <a:spLocks noChangeArrowheads="1"/>
          </p:cNvSpPr>
          <p:nvPr/>
        </p:nvSpPr>
        <p:spPr bwMode="auto">
          <a:xfrm>
            <a:off x="2411413" y="6003925"/>
            <a:ext cx="1212850" cy="366713"/>
          </a:xfrm>
          <a:prstGeom prst="rect">
            <a:avLst/>
          </a:prstGeom>
          <a:solidFill>
            <a:schemeClr val="accent1"/>
          </a:solidFill>
          <a:ln w="9525" algn="ctr">
            <a:noFill/>
            <a:miter lim="800000"/>
            <a:headEnd/>
            <a:tailEnd/>
          </a:ln>
        </p:spPr>
        <p:txBody>
          <a:bodyPr anchor="ctr">
            <a:spAutoFit/>
          </a:bodyPr>
          <a:lstStyle/>
          <a:p>
            <a:r>
              <a:rPr lang="fa-IR"/>
              <a:t>تاريخ </a:t>
            </a:r>
            <a:endParaRPr lang="en-US"/>
          </a:p>
        </p:txBody>
      </p:sp>
      <p:sp>
        <p:nvSpPr>
          <p:cNvPr id="15" name="Rectangle 14"/>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a:xfrm>
            <a:off x="5867400" y="260350"/>
            <a:ext cx="2879725" cy="2663825"/>
          </a:xfrm>
        </p:spPr>
        <p:txBody>
          <a:bodyPr/>
          <a:lstStyle/>
          <a:p>
            <a:pPr rtl="1" eaLnBrk="1" fontAlgn="auto" hangingPunct="1">
              <a:spcAft>
                <a:spcPts val="0"/>
              </a:spcAft>
              <a:defRPr/>
            </a:pPr>
            <a:r>
              <a:rPr lang="fa-IR" sz="3200" smtClean="0"/>
              <a:t>طرح صفحه پروژه </a:t>
            </a:r>
            <a:br>
              <a:rPr lang="fa-IR" sz="3200" smtClean="0"/>
            </a:br>
            <a:r>
              <a:rPr lang="fa-IR" sz="3200" smtClean="0"/>
              <a:t>دوره كارشناسي</a:t>
            </a:r>
            <a:r>
              <a:rPr lang="en-US" sz="3200" smtClean="0"/>
              <a:t> </a:t>
            </a:r>
            <a:r>
              <a:rPr lang="fa-IR" sz="3200" smtClean="0"/>
              <a:t> يا</a:t>
            </a:r>
            <a:br>
              <a:rPr lang="fa-IR" sz="3200" smtClean="0"/>
            </a:br>
            <a:r>
              <a:rPr lang="fa-IR" sz="3200" smtClean="0"/>
              <a:t>رساله دوره كارشناسي ارشد</a:t>
            </a:r>
            <a:r>
              <a:rPr lang="fa-IR" sz="2400" smtClean="0"/>
              <a:t>  </a:t>
            </a:r>
            <a:endParaRPr lang="en-US" sz="2400" smtClean="0"/>
          </a:p>
        </p:txBody>
      </p:sp>
      <p:sp>
        <p:nvSpPr>
          <p:cNvPr id="188419" name="Rectangle 3"/>
          <p:cNvSpPr>
            <a:spLocks noChangeArrowheads="1"/>
          </p:cNvSpPr>
          <p:nvPr/>
        </p:nvSpPr>
        <p:spPr bwMode="auto">
          <a:xfrm>
            <a:off x="107950" y="26988"/>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188420" name="Rectangle 4"/>
          <p:cNvSpPr>
            <a:spLocks noChangeArrowheads="1"/>
          </p:cNvSpPr>
          <p:nvPr/>
        </p:nvSpPr>
        <p:spPr bwMode="auto">
          <a:xfrm>
            <a:off x="2268538" y="892175"/>
            <a:ext cx="1873250" cy="396875"/>
          </a:xfrm>
          <a:prstGeom prst="rect">
            <a:avLst/>
          </a:prstGeom>
          <a:solidFill>
            <a:schemeClr val="accent1"/>
          </a:solidFill>
          <a:ln w="9525" algn="ctr">
            <a:noFill/>
            <a:miter lim="800000"/>
            <a:headEnd/>
            <a:tailEnd/>
          </a:ln>
        </p:spPr>
        <p:txBody>
          <a:bodyPr anchor="ctr">
            <a:spAutoFit/>
          </a:bodyPr>
          <a:lstStyle/>
          <a:p>
            <a:r>
              <a:rPr lang="fa-IR" sz="2000"/>
              <a:t>عنوان پروژه </a:t>
            </a:r>
            <a:endParaRPr lang="en-US" sz="2000"/>
          </a:p>
        </p:txBody>
      </p:sp>
      <p:sp>
        <p:nvSpPr>
          <p:cNvPr id="188421" name="Rectangle 5"/>
          <p:cNvSpPr>
            <a:spLocks noChangeArrowheads="1"/>
          </p:cNvSpPr>
          <p:nvPr/>
        </p:nvSpPr>
        <p:spPr bwMode="auto">
          <a:xfrm>
            <a:off x="1619250" y="1741488"/>
            <a:ext cx="2952750" cy="366712"/>
          </a:xfrm>
          <a:prstGeom prst="rect">
            <a:avLst/>
          </a:prstGeom>
          <a:solidFill>
            <a:schemeClr val="accent1"/>
          </a:solidFill>
          <a:ln w="9525" algn="ctr">
            <a:noFill/>
            <a:miter lim="800000"/>
            <a:headEnd/>
            <a:tailEnd/>
          </a:ln>
        </p:spPr>
        <p:txBody>
          <a:bodyPr anchor="ctr">
            <a:spAutoFit/>
          </a:bodyPr>
          <a:lstStyle/>
          <a:p>
            <a:r>
              <a:rPr lang="fa-IR"/>
              <a:t>پروژه دوره كارشناسي</a:t>
            </a:r>
            <a:endParaRPr lang="en-US"/>
          </a:p>
        </p:txBody>
      </p:sp>
      <p:sp>
        <p:nvSpPr>
          <p:cNvPr id="188422" name="Rectangle 6"/>
          <p:cNvSpPr>
            <a:spLocks noChangeArrowheads="1"/>
          </p:cNvSpPr>
          <p:nvPr/>
        </p:nvSpPr>
        <p:spPr bwMode="auto">
          <a:xfrm>
            <a:off x="1403350" y="3484563"/>
            <a:ext cx="3024188" cy="366712"/>
          </a:xfrm>
          <a:prstGeom prst="rect">
            <a:avLst/>
          </a:prstGeom>
          <a:solidFill>
            <a:schemeClr val="accent1"/>
          </a:solidFill>
          <a:ln w="9525" algn="ctr">
            <a:noFill/>
            <a:miter lim="800000"/>
            <a:headEnd/>
            <a:tailEnd/>
          </a:ln>
        </p:spPr>
        <p:txBody>
          <a:bodyPr anchor="ctr">
            <a:spAutoFit/>
          </a:bodyPr>
          <a:lstStyle/>
          <a:p>
            <a:r>
              <a:rPr lang="fa-IR"/>
              <a:t>عنوان دانشكده </a:t>
            </a:r>
            <a:endParaRPr lang="en-US"/>
          </a:p>
        </p:txBody>
      </p:sp>
      <p:sp>
        <p:nvSpPr>
          <p:cNvPr id="188423" name="Rectangle 7"/>
          <p:cNvSpPr>
            <a:spLocks noChangeArrowheads="1"/>
          </p:cNvSpPr>
          <p:nvPr/>
        </p:nvSpPr>
        <p:spPr bwMode="auto">
          <a:xfrm>
            <a:off x="2339975" y="5067300"/>
            <a:ext cx="1439863" cy="336550"/>
          </a:xfrm>
          <a:prstGeom prst="rect">
            <a:avLst/>
          </a:prstGeom>
          <a:solidFill>
            <a:schemeClr val="accent1"/>
          </a:solidFill>
          <a:ln w="9525" algn="ctr">
            <a:noFill/>
            <a:miter lim="800000"/>
            <a:headEnd/>
            <a:tailEnd/>
          </a:ln>
        </p:spPr>
        <p:txBody>
          <a:bodyPr anchor="ctr">
            <a:spAutoFit/>
          </a:bodyPr>
          <a:lstStyle/>
          <a:p>
            <a:r>
              <a:rPr lang="fa-IR" sz="1600"/>
              <a:t>نام استاد راهنما </a:t>
            </a:r>
            <a:endParaRPr lang="en-US" sz="1600"/>
          </a:p>
        </p:txBody>
      </p:sp>
      <p:sp>
        <p:nvSpPr>
          <p:cNvPr id="188424" name="Rectangle 8"/>
          <p:cNvSpPr>
            <a:spLocks noChangeArrowheads="1"/>
          </p:cNvSpPr>
          <p:nvPr/>
        </p:nvSpPr>
        <p:spPr bwMode="auto">
          <a:xfrm>
            <a:off x="3276600" y="4635500"/>
            <a:ext cx="2017713" cy="396875"/>
          </a:xfrm>
          <a:prstGeom prst="rect">
            <a:avLst/>
          </a:prstGeom>
          <a:solidFill>
            <a:schemeClr val="accent1"/>
          </a:solidFill>
          <a:ln w="9525" algn="ctr">
            <a:noFill/>
            <a:miter lim="800000"/>
            <a:headEnd/>
            <a:tailEnd/>
          </a:ln>
        </p:spPr>
        <p:txBody>
          <a:bodyPr anchor="ctr">
            <a:spAutoFit/>
          </a:bodyPr>
          <a:lstStyle/>
          <a:p>
            <a:r>
              <a:rPr lang="fa-IR" sz="1600"/>
              <a:t>استاد</a:t>
            </a:r>
            <a:r>
              <a:rPr lang="fa-IR" sz="2000"/>
              <a:t> راهنما </a:t>
            </a:r>
            <a:endParaRPr lang="en-US" sz="2000"/>
          </a:p>
        </p:txBody>
      </p:sp>
      <p:sp>
        <p:nvSpPr>
          <p:cNvPr id="188425" name="Rectangle 9"/>
          <p:cNvSpPr>
            <a:spLocks noChangeArrowheads="1"/>
          </p:cNvSpPr>
          <p:nvPr/>
        </p:nvSpPr>
        <p:spPr bwMode="auto">
          <a:xfrm>
            <a:off x="3708400" y="2835275"/>
            <a:ext cx="1439863" cy="336550"/>
          </a:xfrm>
          <a:prstGeom prst="rect">
            <a:avLst/>
          </a:prstGeom>
          <a:solidFill>
            <a:schemeClr val="accent1"/>
          </a:solidFill>
          <a:ln w="9525" algn="ctr">
            <a:noFill/>
            <a:miter lim="800000"/>
            <a:headEnd/>
            <a:tailEnd/>
          </a:ln>
        </p:spPr>
        <p:txBody>
          <a:bodyPr anchor="ctr">
            <a:spAutoFit/>
          </a:bodyPr>
          <a:lstStyle/>
          <a:p>
            <a:r>
              <a:rPr lang="fa-IR" sz="1600"/>
              <a:t>ارائه شده به :</a:t>
            </a:r>
            <a:endParaRPr lang="en-US" sz="1600"/>
          </a:p>
        </p:txBody>
      </p:sp>
      <p:sp>
        <p:nvSpPr>
          <p:cNvPr id="188426" name="Rectangle 10"/>
          <p:cNvSpPr>
            <a:spLocks noChangeArrowheads="1"/>
          </p:cNvSpPr>
          <p:nvPr/>
        </p:nvSpPr>
        <p:spPr bwMode="auto">
          <a:xfrm>
            <a:off x="1403350" y="3109913"/>
            <a:ext cx="3095625" cy="366712"/>
          </a:xfrm>
          <a:prstGeom prst="rect">
            <a:avLst/>
          </a:prstGeom>
          <a:solidFill>
            <a:schemeClr val="accent1"/>
          </a:solidFill>
          <a:ln w="9525" algn="ctr">
            <a:noFill/>
            <a:miter lim="800000"/>
            <a:headEnd/>
            <a:tailEnd/>
          </a:ln>
        </p:spPr>
        <p:txBody>
          <a:bodyPr anchor="ctr">
            <a:spAutoFit/>
          </a:bodyPr>
          <a:lstStyle/>
          <a:p>
            <a:r>
              <a:rPr lang="fa-IR"/>
              <a:t>عنوان گروه آموزشي</a:t>
            </a:r>
            <a:endParaRPr lang="en-US"/>
          </a:p>
        </p:txBody>
      </p:sp>
      <p:sp>
        <p:nvSpPr>
          <p:cNvPr id="188427" name="Rectangle 11"/>
          <p:cNvSpPr>
            <a:spLocks noChangeArrowheads="1"/>
          </p:cNvSpPr>
          <p:nvPr/>
        </p:nvSpPr>
        <p:spPr bwMode="auto">
          <a:xfrm>
            <a:off x="2484438" y="5643563"/>
            <a:ext cx="1212850" cy="366712"/>
          </a:xfrm>
          <a:prstGeom prst="rect">
            <a:avLst/>
          </a:prstGeom>
          <a:solidFill>
            <a:schemeClr val="accent1"/>
          </a:solidFill>
          <a:ln w="9525" algn="ctr">
            <a:noFill/>
            <a:miter lim="800000"/>
            <a:headEnd/>
            <a:tailEnd/>
          </a:ln>
        </p:spPr>
        <p:txBody>
          <a:bodyPr anchor="ctr">
            <a:spAutoFit/>
          </a:bodyPr>
          <a:lstStyle/>
          <a:p>
            <a:r>
              <a:rPr lang="fa-IR"/>
              <a:t>نام داشجو</a:t>
            </a:r>
            <a:endParaRPr lang="en-US"/>
          </a:p>
        </p:txBody>
      </p:sp>
      <p:sp>
        <p:nvSpPr>
          <p:cNvPr id="188428" name="Rectangle 12"/>
          <p:cNvSpPr>
            <a:spLocks noChangeArrowheads="1"/>
          </p:cNvSpPr>
          <p:nvPr/>
        </p:nvSpPr>
        <p:spPr bwMode="auto">
          <a:xfrm>
            <a:off x="1547813" y="2116138"/>
            <a:ext cx="3024187" cy="366712"/>
          </a:xfrm>
          <a:prstGeom prst="rect">
            <a:avLst/>
          </a:prstGeom>
          <a:solidFill>
            <a:schemeClr val="accent1"/>
          </a:solidFill>
          <a:ln w="9525" algn="ctr">
            <a:noFill/>
            <a:miter lim="800000"/>
            <a:headEnd/>
            <a:tailEnd/>
          </a:ln>
        </p:spPr>
        <p:txBody>
          <a:bodyPr anchor="ctr">
            <a:spAutoFit/>
          </a:bodyPr>
          <a:lstStyle/>
          <a:p>
            <a:r>
              <a:rPr lang="fa-IR"/>
              <a:t>در رشته ....  گرايش......</a:t>
            </a:r>
            <a:endParaRPr lang="en-US"/>
          </a:p>
        </p:txBody>
      </p:sp>
      <p:sp>
        <p:nvSpPr>
          <p:cNvPr id="188429" name="Rectangle 13"/>
          <p:cNvSpPr>
            <a:spLocks noChangeArrowheads="1"/>
          </p:cNvSpPr>
          <p:nvPr/>
        </p:nvSpPr>
        <p:spPr bwMode="auto">
          <a:xfrm>
            <a:off x="1403350" y="3843338"/>
            <a:ext cx="3024188" cy="366712"/>
          </a:xfrm>
          <a:prstGeom prst="rect">
            <a:avLst/>
          </a:prstGeom>
          <a:solidFill>
            <a:schemeClr val="accent1"/>
          </a:solidFill>
          <a:ln w="9525" algn="ctr">
            <a:noFill/>
            <a:miter lim="800000"/>
            <a:headEnd/>
            <a:tailEnd/>
          </a:ln>
        </p:spPr>
        <p:txBody>
          <a:bodyPr anchor="ctr">
            <a:spAutoFit/>
          </a:bodyPr>
          <a:lstStyle/>
          <a:p>
            <a:r>
              <a:rPr lang="fa-IR"/>
              <a:t>عنوان دانشگاه </a:t>
            </a:r>
            <a:endParaRPr lang="en-US"/>
          </a:p>
        </p:txBody>
      </p:sp>
      <p:sp>
        <p:nvSpPr>
          <p:cNvPr id="188430" name="Rectangle 14"/>
          <p:cNvSpPr>
            <a:spLocks noChangeArrowheads="1"/>
          </p:cNvSpPr>
          <p:nvPr/>
        </p:nvSpPr>
        <p:spPr bwMode="auto">
          <a:xfrm>
            <a:off x="2411413" y="6003925"/>
            <a:ext cx="1212850" cy="366713"/>
          </a:xfrm>
          <a:prstGeom prst="rect">
            <a:avLst/>
          </a:prstGeom>
          <a:solidFill>
            <a:schemeClr val="accent1"/>
          </a:solidFill>
          <a:ln w="9525" algn="ctr">
            <a:noFill/>
            <a:miter lim="800000"/>
            <a:headEnd/>
            <a:tailEnd/>
          </a:ln>
        </p:spPr>
        <p:txBody>
          <a:bodyPr anchor="ctr">
            <a:spAutoFit/>
          </a:bodyPr>
          <a:lstStyle/>
          <a:p>
            <a:r>
              <a:rPr lang="fa-IR"/>
              <a:t>تاريخ </a:t>
            </a:r>
            <a:endParaRPr lang="en-US"/>
          </a:p>
        </p:txBody>
      </p:sp>
      <p:sp>
        <p:nvSpPr>
          <p:cNvPr id="15" name="Rectangle 14"/>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a:xfrm>
            <a:off x="5867400" y="260350"/>
            <a:ext cx="2879725" cy="2663825"/>
          </a:xfrm>
        </p:spPr>
        <p:txBody>
          <a:bodyPr/>
          <a:lstStyle/>
          <a:p>
            <a:pPr rtl="1" eaLnBrk="1" fontAlgn="auto" hangingPunct="1">
              <a:spcAft>
                <a:spcPts val="0"/>
              </a:spcAft>
              <a:defRPr/>
            </a:pPr>
            <a:r>
              <a:rPr lang="fa-IR" sz="3200" smtClean="0"/>
              <a:t>طرح صفحه عنوان  پروژه </a:t>
            </a:r>
            <a:br>
              <a:rPr lang="fa-IR" sz="3200" smtClean="0"/>
            </a:br>
            <a:r>
              <a:rPr lang="fa-IR" sz="3200" smtClean="0"/>
              <a:t>دوره كارشناسي</a:t>
            </a:r>
            <a:br>
              <a:rPr lang="fa-IR" sz="3200" smtClean="0"/>
            </a:br>
            <a:r>
              <a:rPr lang="fa-IR" sz="3200" smtClean="0"/>
              <a:t>(به انگليسي)</a:t>
            </a:r>
            <a:endParaRPr lang="en-US" sz="2400" smtClean="0"/>
          </a:p>
        </p:txBody>
      </p:sp>
      <p:sp>
        <p:nvSpPr>
          <p:cNvPr id="189443" name="Rectangle 3"/>
          <p:cNvSpPr>
            <a:spLocks noChangeArrowheads="1"/>
          </p:cNvSpPr>
          <p:nvPr/>
        </p:nvSpPr>
        <p:spPr bwMode="auto">
          <a:xfrm>
            <a:off x="107950" y="26988"/>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189444" name="Rectangle 4"/>
          <p:cNvSpPr>
            <a:spLocks noChangeArrowheads="1"/>
          </p:cNvSpPr>
          <p:nvPr/>
        </p:nvSpPr>
        <p:spPr bwMode="auto">
          <a:xfrm>
            <a:off x="1979613" y="342900"/>
            <a:ext cx="1873250" cy="396875"/>
          </a:xfrm>
          <a:prstGeom prst="rect">
            <a:avLst/>
          </a:prstGeom>
          <a:solidFill>
            <a:schemeClr val="accent1"/>
          </a:solidFill>
          <a:ln w="9525" algn="ctr">
            <a:noFill/>
            <a:miter lim="800000"/>
            <a:headEnd/>
            <a:tailEnd/>
          </a:ln>
        </p:spPr>
        <p:txBody>
          <a:bodyPr anchor="ctr">
            <a:spAutoFit/>
          </a:bodyPr>
          <a:lstStyle/>
          <a:p>
            <a:r>
              <a:rPr lang="en-US" sz="2000"/>
              <a:t>Project title</a:t>
            </a:r>
            <a:r>
              <a:rPr lang="fa-IR" sz="2000"/>
              <a:t> </a:t>
            </a:r>
            <a:endParaRPr lang="en-US" sz="2000"/>
          </a:p>
        </p:txBody>
      </p:sp>
      <p:sp>
        <p:nvSpPr>
          <p:cNvPr id="189445" name="Rectangle 5"/>
          <p:cNvSpPr>
            <a:spLocks noChangeArrowheads="1"/>
          </p:cNvSpPr>
          <p:nvPr/>
        </p:nvSpPr>
        <p:spPr bwMode="auto">
          <a:xfrm>
            <a:off x="1547813" y="963613"/>
            <a:ext cx="2952750" cy="366712"/>
          </a:xfrm>
          <a:prstGeom prst="rect">
            <a:avLst/>
          </a:prstGeom>
          <a:solidFill>
            <a:schemeClr val="accent1"/>
          </a:solidFill>
          <a:ln w="9525" algn="ctr">
            <a:noFill/>
            <a:miter lim="800000"/>
            <a:headEnd/>
            <a:tailEnd/>
          </a:ln>
        </p:spPr>
        <p:txBody>
          <a:bodyPr anchor="ctr">
            <a:spAutoFit/>
          </a:bodyPr>
          <a:lstStyle/>
          <a:p>
            <a:r>
              <a:rPr lang="en-US"/>
              <a:t>Aproject report</a:t>
            </a:r>
          </a:p>
        </p:txBody>
      </p:sp>
      <p:sp>
        <p:nvSpPr>
          <p:cNvPr id="189446" name="Rectangle 6"/>
          <p:cNvSpPr>
            <a:spLocks noChangeArrowheads="1"/>
          </p:cNvSpPr>
          <p:nvPr/>
        </p:nvSpPr>
        <p:spPr bwMode="auto">
          <a:xfrm>
            <a:off x="1476375" y="2633663"/>
            <a:ext cx="3024188" cy="336550"/>
          </a:xfrm>
          <a:prstGeom prst="rect">
            <a:avLst/>
          </a:prstGeom>
          <a:solidFill>
            <a:schemeClr val="accent1"/>
          </a:solidFill>
          <a:ln w="9525" algn="ctr">
            <a:noFill/>
            <a:miter lim="800000"/>
            <a:headEnd/>
            <a:tailEnd/>
          </a:ln>
        </p:spPr>
        <p:txBody>
          <a:bodyPr anchor="ctr">
            <a:spAutoFit/>
          </a:bodyPr>
          <a:lstStyle/>
          <a:p>
            <a:r>
              <a:rPr lang="en-US" sz="1600"/>
              <a:t>Name of university</a:t>
            </a:r>
          </a:p>
        </p:txBody>
      </p:sp>
      <p:sp>
        <p:nvSpPr>
          <p:cNvPr id="189447" name="Rectangle 7"/>
          <p:cNvSpPr>
            <a:spLocks noChangeArrowheads="1"/>
          </p:cNvSpPr>
          <p:nvPr/>
        </p:nvSpPr>
        <p:spPr bwMode="auto">
          <a:xfrm>
            <a:off x="2124075" y="4708525"/>
            <a:ext cx="1439863" cy="336550"/>
          </a:xfrm>
          <a:prstGeom prst="rect">
            <a:avLst/>
          </a:prstGeom>
          <a:solidFill>
            <a:schemeClr val="accent1"/>
          </a:solidFill>
          <a:ln w="9525" algn="ctr">
            <a:noFill/>
            <a:miter lim="800000"/>
            <a:headEnd/>
            <a:tailEnd/>
          </a:ln>
        </p:spPr>
        <p:txBody>
          <a:bodyPr anchor="ctr">
            <a:spAutoFit/>
          </a:bodyPr>
          <a:lstStyle/>
          <a:p>
            <a:r>
              <a:rPr lang="en-US" sz="1600"/>
              <a:t>Advisor:</a:t>
            </a:r>
          </a:p>
        </p:txBody>
      </p:sp>
      <p:sp>
        <p:nvSpPr>
          <p:cNvPr id="189448" name="Rectangle 8"/>
          <p:cNvSpPr>
            <a:spLocks noChangeArrowheads="1"/>
          </p:cNvSpPr>
          <p:nvPr/>
        </p:nvSpPr>
        <p:spPr bwMode="auto">
          <a:xfrm>
            <a:off x="1979613" y="3700463"/>
            <a:ext cx="2017712" cy="336550"/>
          </a:xfrm>
          <a:prstGeom prst="rect">
            <a:avLst/>
          </a:prstGeom>
          <a:solidFill>
            <a:schemeClr val="accent1"/>
          </a:solidFill>
          <a:ln w="9525" algn="ctr">
            <a:noFill/>
            <a:miter lim="800000"/>
            <a:headEnd/>
            <a:tailEnd/>
          </a:ln>
        </p:spPr>
        <p:txBody>
          <a:bodyPr anchor="ctr">
            <a:spAutoFit/>
          </a:bodyPr>
          <a:lstStyle/>
          <a:p>
            <a:r>
              <a:rPr lang="en-US" sz="1600"/>
              <a:t>Field name</a:t>
            </a:r>
            <a:endParaRPr lang="en-US" sz="2000"/>
          </a:p>
        </p:txBody>
      </p:sp>
      <p:sp>
        <p:nvSpPr>
          <p:cNvPr id="189449" name="Rectangle 9"/>
          <p:cNvSpPr>
            <a:spLocks noChangeArrowheads="1"/>
          </p:cNvSpPr>
          <p:nvPr/>
        </p:nvSpPr>
        <p:spPr bwMode="auto">
          <a:xfrm>
            <a:off x="1331913" y="2043113"/>
            <a:ext cx="3313112" cy="336550"/>
          </a:xfrm>
          <a:prstGeom prst="rect">
            <a:avLst/>
          </a:prstGeom>
          <a:solidFill>
            <a:schemeClr val="accent1"/>
          </a:solidFill>
          <a:ln w="9525" algn="ctr">
            <a:noFill/>
            <a:miter lim="800000"/>
            <a:headEnd/>
            <a:tailEnd/>
          </a:ln>
        </p:spPr>
        <p:txBody>
          <a:bodyPr anchor="ctr">
            <a:spAutoFit/>
          </a:bodyPr>
          <a:lstStyle/>
          <a:p>
            <a:r>
              <a:rPr lang="en-US" sz="1600"/>
              <a:t>Department of&lt;name of dep.</a:t>
            </a:r>
          </a:p>
        </p:txBody>
      </p:sp>
      <p:sp>
        <p:nvSpPr>
          <p:cNvPr id="189450" name="Rectangle 10"/>
          <p:cNvSpPr>
            <a:spLocks noChangeArrowheads="1"/>
          </p:cNvSpPr>
          <p:nvPr/>
        </p:nvSpPr>
        <p:spPr bwMode="auto">
          <a:xfrm>
            <a:off x="1476375" y="2346325"/>
            <a:ext cx="3095625" cy="336550"/>
          </a:xfrm>
          <a:prstGeom prst="rect">
            <a:avLst/>
          </a:prstGeom>
          <a:solidFill>
            <a:schemeClr val="accent1"/>
          </a:solidFill>
          <a:ln w="9525" algn="ctr">
            <a:noFill/>
            <a:miter lim="800000"/>
            <a:headEnd/>
            <a:tailEnd/>
          </a:ln>
        </p:spPr>
        <p:txBody>
          <a:bodyPr anchor="ctr">
            <a:spAutoFit/>
          </a:bodyPr>
          <a:lstStyle/>
          <a:p>
            <a:r>
              <a:rPr lang="en-US" sz="1600"/>
              <a:t>&lt;name of faculty&gt;</a:t>
            </a:r>
          </a:p>
        </p:txBody>
      </p:sp>
      <p:sp>
        <p:nvSpPr>
          <p:cNvPr id="189451" name="Rectangle 11"/>
          <p:cNvSpPr>
            <a:spLocks noChangeArrowheads="1"/>
          </p:cNvSpPr>
          <p:nvPr/>
        </p:nvSpPr>
        <p:spPr bwMode="auto">
          <a:xfrm>
            <a:off x="1835150" y="5154613"/>
            <a:ext cx="2016125" cy="336550"/>
          </a:xfrm>
          <a:prstGeom prst="rect">
            <a:avLst/>
          </a:prstGeom>
          <a:solidFill>
            <a:schemeClr val="accent1"/>
          </a:solidFill>
          <a:ln w="9525" algn="ctr">
            <a:noFill/>
            <a:miter lim="800000"/>
            <a:headEnd/>
            <a:tailEnd/>
          </a:ln>
        </p:spPr>
        <p:txBody>
          <a:bodyPr anchor="ctr">
            <a:spAutoFit/>
          </a:bodyPr>
          <a:lstStyle/>
          <a:p>
            <a:r>
              <a:rPr lang="en-US" sz="1600"/>
              <a:t>advisor’s name </a:t>
            </a:r>
          </a:p>
        </p:txBody>
      </p:sp>
      <p:sp>
        <p:nvSpPr>
          <p:cNvPr id="189452" name="Rectangle 12"/>
          <p:cNvSpPr>
            <a:spLocks noChangeArrowheads="1"/>
          </p:cNvSpPr>
          <p:nvPr/>
        </p:nvSpPr>
        <p:spPr bwMode="auto">
          <a:xfrm>
            <a:off x="1476375" y="1250950"/>
            <a:ext cx="3024188" cy="366713"/>
          </a:xfrm>
          <a:prstGeom prst="rect">
            <a:avLst/>
          </a:prstGeom>
          <a:solidFill>
            <a:schemeClr val="accent1"/>
          </a:solidFill>
          <a:ln w="9525" algn="ctr">
            <a:noFill/>
            <a:miter lim="800000"/>
            <a:headEnd/>
            <a:tailEnd/>
          </a:ln>
        </p:spPr>
        <p:txBody>
          <a:bodyPr anchor="ctr">
            <a:spAutoFit/>
          </a:bodyPr>
          <a:lstStyle/>
          <a:p>
            <a:r>
              <a:rPr lang="en-US"/>
              <a:t>Presented to :</a:t>
            </a:r>
          </a:p>
        </p:txBody>
      </p:sp>
      <p:sp>
        <p:nvSpPr>
          <p:cNvPr id="189453" name="Rectangle 13"/>
          <p:cNvSpPr>
            <a:spLocks noChangeArrowheads="1"/>
          </p:cNvSpPr>
          <p:nvPr/>
        </p:nvSpPr>
        <p:spPr bwMode="auto">
          <a:xfrm>
            <a:off x="395288" y="3124200"/>
            <a:ext cx="5040312" cy="517525"/>
          </a:xfrm>
          <a:prstGeom prst="rect">
            <a:avLst/>
          </a:prstGeom>
          <a:solidFill>
            <a:schemeClr val="accent1"/>
          </a:solidFill>
          <a:ln w="9525" algn="ctr">
            <a:noFill/>
            <a:miter lim="800000"/>
            <a:headEnd/>
            <a:tailEnd/>
          </a:ln>
        </p:spPr>
        <p:txBody>
          <a:bodyPr anchor="ctr">
            <a:spAutoFit/>
          </a:bodyPr>
          <a:lstStyle/>
          <a:p>
            <a:r>
              <a:rPr lang="en-US" sz="1400"/>
              <a:t>In partial fulfillment of the requirement for the degree of</a:t>
            </a:r>
          </a:p>
          <a:p>
            <a:r>
              <a:rPr lang="en-US" sz="1400"/>
              <a:t>Bachelor of science in</a:t>
            </a:r>
          </a:p>
        </p:txBody>
      </p:sp>
      <p:sp>
        <p:nvSpPr>
          <p:cNvPr id="189454" name="Rectangle 14"/>
          <p:cNvSpPr>
            <a:spLocks noChangeArrowheads="1"/>
          </p:cNvSpPr>
          <p:nvPr/>
        </p:nvSpPr>
        <p:spPr bwMode="auto">
          <a:xfrm>
            <a:off x="2351088" y="5514975"/>
            <a:ext cx="1212850" cy="336550"/>
          </a:xfrm>
          <a:prstGeom prst="rect">
            <a:avLst/>
          </a:prstGeom>
          <a:solidFill>
            <a:schemeClr val="accent1"/>
          </a:solidFill>
          <a:ln w="9525" algn="ctr">
            <a:noFill/>
            <a:miter lim="800000"/>
            <a:headEnd/>
            <a:tailEnd/>
          </a:ln>
        </p:spPr>
        <p:txBody>
          <a:bodyPr anchor="ctr">
            <a:spAutoFit/>
          </a:bodyPr>
          <a:lstStyle/>
          <a:p>
            <a:r>
              <a:rPr lang="en-US" sz="1600"/>
              <a:t>By:</a:t>
            </a:r>
            <a:r>
              <a:rPr lang="fa-IR" sz="1600"/>
              <a:t> </a:t>
            </a:r>
            <a:endParaRPr lang="en-US" sz="1600"/>
          </a:p>
        </p:txBody>
      </p:sp>
      <p:sp>
        <p:nvSpPr>
          <p:cNvPr id="189455" name="Rectangle 15"/>
          <p:cNvSpPr>
            <a:spLocks noChangeArrowheads="1"/>
          </p:cNvSpPr>
          <p:nvPr/>
        </p:nvSpPr>
        <p:spPr bwMode="auto">
          <a:xfrm>
            <a:off x="2268538" y="5853113"/>
            <a:ext cx="1212850" cy="366712"/>
          </a:xfrm>
          <a:prstGeom prst="rect">
            <a:avLst/>
          </a:prstGeom>
          <a:solidFill>
            <a:schemeClr val="accent1"/>
          </a:solidFill>
          <a:ln w="9525" algn="ctr">
            <a:noFill/>
            <a:miter lim="800000"/>
            <a:headEnd/>
            <a:tailEnd/>
          </a:ln>
        </p:spPr>
        <p:txBody>
          <a:bodyPr anchor="ctr">
            <a:spAutoFit/>
          </a:bodyPr>
          <a:lstStyle/>
          <a:p>
            <a:r>
              <a:rPr lang="en-US" sz="1600"/>
              <a:t>Name(s</a:t>
            </a:r>
            <a:r>
              <a:rPr lang="en-US"/>
              <a:t>)</a:t>
            </a:r>
          </a:p>
        </p:txBody>
      </p:sp>
      <p:sp>
        <p:nvSpPr>
          <p:cNvPr id="189456" name="Rectangle 16"/>
          <p:cNvSpPr>
            <a:spLocks noChangeArrowheads="1"/>
          </p:cNvSpPr>
          <p:nvPr/>
        </p:nvSpPr>
        <p:spPr bwMode="auto">
          <a:xfrm>
            <a:off x="2206625" y="6443663"/>
            <a:ext cx="1212850" cy="336550"/>
          </a:xfrm>
          <a:prstGeom prst="rect">
            <a:avLst/>
          </a:prstGeom>
          <a:solidFill>
            <a:schemeClr val="accent1"/>
          </a:solidFill>
          <a:ln w="9525" algn="ctr">
            <a:noFill/>
            <a:miter lim="800000"/>
            <a:headEnd/>
            <a:tailEnd/>
          </a:ln>
        </p:spPr>
        <p:txBody>
          <a:bodyPr anchor="ctr">
            <a:spAutoFit/>
          </a:bodyPr>
          <a:lstStyle/>
          <a:p>
            <a:r>
              <a:rPr lang="en-US" sz="1600"/>
              <a:t>date)</a:t>
            </a:r>
          </a:p>
        </p:txBody>
      </p:sp>
      <p:sp>
        <p:nvSpPr>
          <p:cNvPr id="17" name="Rectangle 16"/>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4"/>
          <p:cNvSpPr>
            <a:spLocks noGrp="1" noChangeArrowheads="1"/>
          </p:cNvSpPr>
          <p:nvPr>
            <p:ph idx="1"/>
          </p:nvPr>
        </p:nvSpPr>
        <p:spPr>
          <a:xfrm>
            <a:off x="468313" y="765175"/>
            <a:ext cx="8229600" cy="4530725"/>
          </a:xfrm>
        </p:spPr>
        <p:txBody>
          <a:bodyPr/>
          <a:lstStyle/>
          <a:p>
            <a:pPr algn="ctr" rtl="1" eaLnBrk="1" hangingPunct="1">
              <a:buFont typeface="Wingdings" pitchFamily="2" charset="2"/>
              <a:buNone/>
            </a:pPr>
            <a:r>
              <a:rPr lang="fa-IR" b="1" smtClean="0"/>
              <a:t>طرح روي جلد و نيز عنوان رساله يا پايان نامه دوره كارشناسي ارشد و دوره دكترا به چند طرز تنظيم مي‌شود، در اينجا سه طرح ارائه مي‌گردد:</a:t>
            </a:r>
            <a:endParaRPr lang="en-US" smtClean="0"/>
          </a:p>
        </p:txBody>
      </p:sp>
      <p:sp>
        <p:nvSpPr>
          <p:cNvPr id="3" name="Rectangle 2"/>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3"/>
          <p:cNvSpPr>
            <a:spLocks noChangeArrowheads="1"/>
          </p:cNvSpPr>
          <p:nvPr/>
        </p:nvSpPr>
        <p:spPr bwMode="auto">
          <a:xfrm>
            <a:off x="107950" y="26988"/>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191491" name="Rectangle 4"/>
          <p:cNvSpPr>
            <a:spLocks noChangeArrowheads="1"/>
          </p:cNvSpPr>
          <p:nvPr/>
        </p:nvSpPr>
        <p:spPr bwMode="auto">
          <a:xfrm>
            <a:off x="1979613" y="892175"/>
            <a:ext cx="1873250" cy="396875"/>
          </a:xfrm>
          <a:prstGeom prst="rect">
            <a:avLst/>
          </a:prstGeom>
          <a:solidFill>
            <a:schemeClr val="accent1"/>
          </a:solidFill>
          <a:ln w="9525" algn="ctr">
            <a:noFill/>
            <a:miter lim="800000"/>
            <a:headEnd/>
            <a:tailEnd/>
          </a:ln>
        </p:spPr>
        <p:txBody>
          <a:bodyPr anchor="ctr">
            <a:spAutoFit/>
          </a:bodyPr>
          <a:lstStyle/>
          <a:p>
            <a:r>
              <a:rPr lang="fa-IR" sz="2000"/>
              <a:t>عنوان پايان نامه </a:t>
            </a:r>
            <a:endParaRPr lang="en-US" sz="2000"/>
          </a:p>
        </p:txBody>
      </p:sp>
      <p:sp>
        <p:nvSpPr>
          <p:cNvPr id="191492" name="Rectangle 6"/>
          <p:cNvSpPr>
            <a:spLocks noChangeArrowheads="1"/>
          </p:cNvSpPr>
          <p:nvPr/>
        </p:nvSpPr>
        <p:spPr bwMode="auto">
          <a:xfrm>
            <a:off x="1403350" y="2979738"/>
            <a:ext cx="3024188" cy="366712"/>
          </a:xfrm>
          <a:prstGeom prst="rect">
            <a:avLst/>
          </a:prstGeom>
          <a:solidFill>
            <a:schemeClr val="accent1"/>
          </a:solidFill>
          <a:ln w="9525" algn="ctr">
            <a:noFill/>
            <a:miter lim="800000"/>
            <a:headEnd/>
            <a:tailEnd/>
          </a:ln>
        </p:spPr>
        <p:txBody>
          <a:bodyPr anchor="ctr">
            <a:spAutoFit/>
          </a:bodyPr>
          <a:lstStyle/>
          <a:p>
            <a:r>
              <a:rPr lang="fa-IR"/>
              <a:t>عنوان دانشكده </a:t>
            </a:r>
            <a:endParaRPr lang="en-US"/>
          </a:p>
        </p:txBody>
      </p:sp>
      <p:sp>
        <p:nvSpPr>
          <p:cNvPr id="191493" name="Rectangle 7"/>
          <p:cNvSpPr>
            <a:spLocks noChangeArrowheads="1"/>
          </p:cNvSpPr>
          <p:nvPr/>
        </p:nvSpPr>
        <p:spPr bwMode="auto">
          <a:xfrm>
            <a:off x="1908175" y="4419600"/>
            <a:ext cx="2303463" cy="336550"/>
          </a:xfrm>
          <a:prstGeom prst="rect">
            <a:avLst/>
          </a:prstGeom>
          <a:solidFill>
            <a:schemeClr val="accent1"/>
          </a:solidFill>
          <a:ln w="9525" algn="ctr">
            <a:noFill/>
            <a:miter lim="800000"/>
            <a:headEnd/>
            <a:tailEnd/>
          </a:ln>
        </p:spPr>
        <p:txBody>
          <a:bodyPr anchor="ctr">
            <a:spAutoFit/>
          </a:bodyPr>
          <a:lstStyle/>
          <a:p>
            <a:r>
              <a:rPr lang="fa-IR" sz="1600"/>
              <a:t>در رشته .....  گرايش......</a:t>
            </a:r>
            <a:endParaRPr lang="en-US" sz="1600"/>
          </a:p>
        </p:txBody>
      </p:sp>
      <p:sp>
        <p:nvSpPr>
          <p:cNvPr id="191494" name="Rectangle 8"/>
          <p:cNvSpPr>
            <a:spLocks noChangeArrowheads="1"/>
          </p:cNvSpPr>
          <p:nvPr/>
        </p:nvSpPr>
        <p:spPr bwMode="auto">
          <a:xfrm>
            <a:off x="1908175" y="4059238"/>
            <a:ext cx="2017713" cy="336550"/>
          </a:xfrm>
          <a:prstGeom prst="rect">
            <a:avLst/>
          </a:prstGeom>
          <a:solidFill>
            <a:schemeClr val="accent1"/>
          </a:solidFill>
          <a:ln w="9525" algn="ctr">
            <a:noFill/>
            <a:miter lim="800000"/>
            <a:headEnd/>
            <a:tailEnd/>
          </a:ln>
        </p:spPr>
        <p:txBody>
          <a:bodyPr anchor="ctr">
            <a:spAutoFit/>
          </a:bodyPr>
          <a:lstStyle/>
          <a:p>
            <a:r>
              <a:rPr lang="fa-IR" sz="1600"/>
              <a:t>براي دريافت درجه .....</a:t>
            </a:r>
            <a:endParaRPr lang="en-US" sz="2000"/>
          </a:p>
        </p:txBody>
      </p:sp>
      <p:sp>
        <p:nvSpPr>
          <p:cNvPr id="191495" name="Rectangle 9"/>
          <p:cNvSpPr>
            <a:spLocks noChangeArrowheads="1"/>
          </p:cNvSpPr>
          <p:nvPr/>
        </p:nvSpPr>
        <p:spPr bwMode="auto">
          <a:xfrm>
            <a:off x="1908175" y="2187575"/>
            <a:ext cx="2016125" cy="336550"/>
          </a:xfrm>
          <a:prstGeom prst="rect">
            <a:avLst/>
          </a:prstGeom>
          <a:solidFill>
            <a:schemeClr val="accent1"/>
          </a:solidFill>
          <a:ln w="9525" algn="ctr">
            <a:noFill/>
            <a:miter lim="800000"/>
            <a:headEnd/>
            <a:tailEnd/>
          </a:ln>
        </p:spPr>
        <p:txBody>
          <a:bodyPr anchor="ctr">
            <a:spAutoFit/>
          </a:bodyPr>
          <a:lstStyle/>
          <a:p>
            <a:r>
              <a:rPr lang="fa-IR" sz="1600"/>
              <a:t>پايان نامه ارائه شده  به :</a:t>
            </a:r>
            <a:endParaRPr lang="en-US" sz="1600"/>
          </a:p>
        </p:txBody>
      </p:sp>
      <p:sp>
        <p:nvSpPr>
          <p:cNvPr id="191496" name="Rectangle 10"/>
          <p:cNvSpPr>
            <a:spLocks noChangeArrowheads="1"/>
          </p:cNvSpPr>
          <p:nvPr/>
        </p:nvSpPr>
        <p:spPr bwMode="auto">
          <a:xfrm>
            <a:off x="1403350" y="2547938"/>
            <a:ext cx="3095625" cy="366712"/>
          </a:xfrm>
          <a:prstGeom prst="rect">
            <a:avLst/>
          </a:prstGeom>
          <a:solidFill>
            <a:schemeClr val="accent1"/>
          </a:solidFill>
          <a:ln w="9525" algn="ctr">
            <a:noFill/>
            <a:miter lim="800000"/>
            <a:headEnd/>
            <a:tailEnd/>
          </a:ln>
        </p:spPr>
        <p:txBody>
          <a:bodyPr anchor="ctr">
            <a:spAutoFit/>
          </a:bodyPr>
          <a:lstStyle/>
          <a:p>
            <a:r>
              <a:rPr lang="fa-IR"/>
              <a:t>عنوان گروه آموزشي</a:t>
            </a:r>
            <a:endParaRPr lang="en-US"/>
          </a:p>
        </p:txBody>
      </p:sp>
      <p:sp>
        <p:nvSpPr>
          <p:cNvPr id="191497" name="Rectangle 11"/>
          <p:cNvSpPr>
            <a:spLocks noChangeArrowheads="1"/>
          </p:cNvSpPr>
          <p:nvPr/>
        </p:nvSpPr>
        <p:spPr bwMode="auto">
          <a:xfrm>
            <a:off x="2268538" y="5140325"/>
            <a:ext cx="1212850" cy="366713"/>
          </a:xfrm>
          <a:prstGeom prst="rect">
            <a:avLst/>
          </a:prstGeom>
          <a:solidFill>
            <a:schemeClr val="accent1"/>
          </a:solidFill>
          <a:ln w="9525" algn="ctr">
            <a:noFill/>
            <a:miter lim="800000"/>
            <a:headEnd/>
            <a:tailEnd/>
          </a:ln>
        </p:spPr>
        <p:txBody>
          <a:bodyPr anchor="ctr">
            <a:spAutoFit/>
          </a:bodyPr>
          <a:lstStyle/>
          <a:p>
            <a:r>
              <a:rPr lang="fa-IR"/>
              <a:t>توسط :</a:t>
            </a:r>
            <a:endParaRPr lang="en-US"/>
          </a:p>
        </p:txBody>
      </p:sp>
      <p:sp>
        <p:nvSpPr>
          <p:cNvPr id="191498" name="Rectangle 13"/>
          <p:cNvSpPr>
            <a:spLocks noChangeArrowheads="1"/>
          </p:cNvSpPr>
          <p:nvPr/>
        </p:nvSpPr>
        <p:spPr bwMode="auto">
          <a:xfrm>
            <a:off x="1403350" y="3340100"/>
            <a:ext cx="3024188" cy="366713"/>
          </a:xfrm>
          <a:prstGeom prst="rect">
            <a:avLst/>
          </a:prstGeom>
          <a:solidFill>
            <a:schemeClr val="accent1"/>
          </a:solidFill>
          <a:ln w="9525" algn="ctr">
            <a:noFill/>
            <a:miter lim="800000"/>
            <a:headEnd/>
            <a:tailEnd/>
          </a:ln>
        </p:spPr>
        <p:txBody>
          <a:bodyPr anchor="ctr">
            <a:spAutoFit/>
          </a:bodyPr>
          <a:lstStyle/>
          <a:p>
            <a:r>
              <a:rPr lang="fa-IR"/>
              <a:t>عنوان دانشگاه </a:t>
            </a:r>
            <a:endParaRPr lang="en-US"/>
          </a:p>
        </p:txBody>
      </p:sp>
      <p:sp>
        <p:nvSpPr>
          <p:cNvPr id="191499" name="Rectangle 14"/>
          <p:cNvSpPr>
            <a:spLocks noChangeArrowheads="1"/>
          </p:cNvSpPr>
          <p:nvPr/>
        </p:nvSpPr>
        <p:spPr bwMode="auto">
          <a:xfrm>
            <a:off x="2279650" y="5932488"/>
            <a:ext cx="1212850" cy="366712"/>
          </a:xfrm>
          <a:prstGeom prst="rect">
            <a:avLst/>
          </a:prstGeom>
          <a:solidFill>
            <a:schemeClr val="accent1"/>
          </a:solidFill>
          <a:ln w="9525" algn="ctr">
            <a:noFill/>
            <a:miter lim="800000"/>
            <a:headEnd/>
            <a:tailEnd/>
          </a:ln>
        </p:spPr>
        <p:txBody>
          <a:bodyPr anchor="ctr">
            <a:spAutoFit/>
          </a:bodyPr>
          <a:lstStyle/>
          <a:p>
            <a:r>
              <a:rPr lang="fa-IR"/>
              <a:t>تاريخ </a:t>
            </a:r>
            <a:endParaRPr lang="en-US"/>
          </a:p>
        </p:txBody>
      </p:sp>
      <p:sp>
        <p:nvSpPr>
          <p:cNvPr id="191500" name="Rectangle 15"/>
          <p:cNvSpPr>
            <a:spLocks noChangeArrowheads="1"/>
          </p:cNvSpPr>
          <p:nvPr/>
        </p:nvSpPr>
        <p:spPr bwMode="auto">
          <a:xfrm>
            <a:off x="2268538" y="5500688"/>
            <a:ext cx="1212850" cy="366712"/>
          </a:xfrm>
          <a:prstGeom prst="rect">
            <a:avLst/>
          </a:prstGeom>
          <a:solidFill>
            <a:schemeClr val="accent1"/>
          </a:solidFill>
          <a:ln w="9525" algn="ctr">
            <a:noFill/>
            <a:miter lim="800000"/>
            <a:headEnd/>
            <a:tailEnd/>
          </a:ln>
        </p:spPr>
        <p:txBody>
          <a:bodyPr anchor="ctr">
            <a:spAutoFit/>
          </a:bodyPr>
          <a:lstStyle/>
          <a:p>
            <a:r>
              <a:rPr lang="fa-IR"/>
              <a:t>نام دانشجو</a:t>
            </a:r>
            <a:endParaRPr lang="en-US"/>
          </a:p>
        </p:txBody>
      </p:sp>
      <p:sp>
        <p:nvSpPr>
          <p:cNvPr id="191501" name="Rectangle 17"/>
          <p:cNvSpPr>
            <a:spLocks noChangeArrowheads="1"/>
          </p:cNvSpPr>
          <p:nvPr/>
        </p:nvSpPr>
        <p:spPr bwMode="auto">
          <a:xfrm>
            <a:off x="6478588" y="2008188"/>
            <a:ext cx="1452562" cy="466725"/>
          </a:xfrm>
          <a:prstGeom prst="rect">
            <a:avLst/>
          </a:prstGeom>
          <a:solidFill>
            <a:schemeClr val="accent1"/>
          </a:solidFill>
          <a:ln w="9525" algn="ctr">
            <a:solidFill>
              <a:schemeClr val="tx1"/>
            </a:solidFill>
            <a:miter lim="800000"/>
            <a:headEnd/>
            <a:tailEnd/>
          </a:ln>
        </p:spPr>
        <p:txBody>
          <a:bodyPr wrap="none" anchor="ctr">
            <a:spAutoFit/>
          </a:bodyPr>
          <a:lstStyle/>
          <a:p>
            <a:r>
              <a:rPr lang="fa-IR" sz="2400"/>
              <a:t>صورت الف:</a:t>
            </a:r>
            <a:endParaRPr lang="en-US" sz="2400"/>
          </a:p>
        </p:txBody>
      </p:sp>
      <p:sp>
        <p:nvSpPr>
          <p:cNvPr id="14" name="Rectangle 1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3"/>
          <p:cNvSpPr>
            <a:spLocks noChangeArrowheads="1"/>
          </p:cNvSpPr>
          <p:nvPr/>
        </p:nvSpPr>
        <p:spPr bwMode="auto">
          <a:xfrm>
            <a:off x="107950" y="26988"/>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192515" name="Rectangle 4"/>
          <p:cNvSpPr>
            <a:spLocks noChangeArrowheads="1"/>
          </p:cNvSpPr>
          <p:nvPr/>
        </p:nvSpPr>
        <p:spPr bwMode="auto">
          <a:xfrm>
            <a:off x="1979613" y="892175"/>
            <a:ext cx="1873250" cy="396875"/>
          </a:xfrm>
          <a:prstGeom prst="rect">
            <a:avLst/>
          </a:prstGeom>
          <a:solidFill>
            <a:schemeClr val="accent1"/>
          </a:solidFill>
          <a:ln w="9525" algn="ctr">
            <a:noFill/>
            <a:miter lim="800000"/>
            <a:headEnd/>
            <a:tailEnd/>
          </a:ln>
        </p:spPr>
        <p:txBody>
          <a:bodyPr anchor="ctr">
            <a:spAutoFit/>
          </a:bodyPr>
          <a:lstStyle/>
          <a:p>
            <a:r>
              <a:rPr lang="fa-IR" sz="2000"/>
              <a:t>عنوان پايان نامه </a:t>
            </a:r>
            <a:endParaRPr lang="en-US" sz="2000"/>
          </a:p>
        </p:txBody>
      </p:sp>
      <p:sp>
        <p:nvSpPr>
          <p:cNvPr id="192516" name="Rectangle 5"/>
          <p:cNvSpPr>
            <a:spLocks noChangeArrowheads="1"/>
          </p:cNvSpPr>
          <p:nvPr/>
        </p:nvSpPr>
        <p:spPr bwMode="auto">
          <a:xfrm>
            <a:off x="1403350" y="5140325"/>
            <a:ext cx="3024188" cy="366713"/>
          </a:xfrm>
          <a:prstGeom prst="rect">
            <a:avLst/>
          </a:prstGeom>
          <a:solidFill>
            <a:schemeClr val="accent1"/>
          </a:solidFill>
          <a:ln w="9525" algn="ctr">
            <a:noFill/>
            <a:miter lim="800000"/>
            <a:headEnd/>
            <a:tailEnd/>
          </a:ln>
        </p:spPr>
        <p:txBody>
          <a:bodyPr anchor="ctr">
            <a:spAutoFit/>
          </a:bodyPr>
          <a:lstStyle/>
          <a:p>
            <a:r>
              <a:rPr lang="fa-IR"/>
              <a:t>عنوان دانشكده </a:t>
            </a:r>
            <a:endParaRPr lang="en-US"/>
          </a:p>
        </p:txBody>
      </p:sp>
      <p:sp>
        <p:nvSpPr>
          <p:cNvPr id="192517" name="Rectangle 6"/>
          <p:cNvSpPr>
            <a:spLocks noChangeArrowheads="1"/>
          </p:cNvSpPr>
          <p:nvPr/>
        </p:nvSpPr>
        <p:spPr bwMode="auto">
          <a:xfrm>
            <a:off x="1692275" y="3987800"/>
            <a:ext cx="2303463" cy="336550"/>
          </a:xfrm>
          <a:prstGeom prst="rect">
            <a:avLst/>
          </a:prstGeom>
          <a:solidFill>
            <a:schemeClr val="accent1"/>
          </a:solidFill>
          <a:ln w="9525" algn="ctr">
            <a:noFill/>
            <a:miter lim="800000"/>
            <a:headEnd/>
            <a:tailEnd/>
          </a:ln>
        </p:spPr>
        <p:txBody>
          <a:bodyPr anchor="ctr">
            <a:spAutoFit/>
          </a:bodyPr>
          <a:lstStyle/>
          <a:p>
            <a:r>
              <a:rPr lang="fa-IR" sz="1600"/>
              <a:t>درجه ..............</a:t>
            </a:r>
            <a:endParaRPr lang="en-US" sz="1600"/>
          </a:p>
        </p:txBody>
      </p:sp>
      <p:sp>
        <p:nvSpPr>
          <p:cNvPr id="192518" name="Rectangle 7"/>
          <p:cNvSpPr>
            <a:spLocks noChangeArrowheads="1"/>
          </p:cNvSpPr>
          <p:nvPr/>
        </p:nvSpPr>
        <p:spPr bwMode="auto">
          <a:xfrm>
            <a:off x="1763713" y="3556000"/>
            <a:ext cx="2017712" cy="336550"/>
          </a:xfrm>
          <a:prstGeom prst="rect">
            <a:avLst/>
          </a:prstGeom>
          <a:solidFill>
            <a:schemeClr val="accent1"/>
          </a:solidFill>
          <a:ln w="9525" algn="ctr">
            <a:noFill/>
            <a:miter lim="800000"/>
            <a:headEnd/>
            <a:tailEnd/>
          </a:ln>
        </p:spPr>
        <p:txBody>
          <a:bodyPr anchor="ctr">
            <a:spAutoFit/>
          </a:bodyPr>
          <a:lstStyle/>
          <a:p>
            <a:r>
              <a:rPr lang="fa-IR" sz="1600"/>
              <a:t>پايان نامه براي دريافت </a:t>
            </a:r>
            <a:endParaRPr lang="en-US" sz="2000"/>
          </a:p>
        </p:txBody>
      </p:sp>
      <p:sp>
        <p:nvSpPr>
          <p:cNvPr id="192519" name="Rectangle 8"/>
          <p:cNvSpPr>
            <a:spLocks noChangeArrowheads="1"/>
          </p:cNvSpPr>
          <p:nvPr/>
        </p:nvSpPr>
        <p:spPr bwMode="auto">
          <a:xfrm>
            <a:off x="1835150" y="1900238"/>
            <a:ext cx="2016125" cy="336550"/>
          </a:xfrm>
          <a:prstGeom prst="rect">
            <a:avLst/>
          </a:prstGeom>
          <a:solidFill>
            <a:schemeClr val="accent1"/>
          </a:solidFill>
          <a:ln w="9525" algn="ctr">
            <a:noFill/>
            <a:miter lim="800000"/>
            <a:headEnd/>
            <a:tailEnd/>
          </a:ln>
        </p:spPr>
        <p:txBody>
          <a:bodyPr anchor="ctr">
            <a:spAutoFit/>
          </a:bodyPr>
          <a:lstStyle/>
          <a:p>
            <a:r>
              <a:rPr lang="fa-IR" sz="1600"/>
              <a:t>توسط:</a:t>
            </a:r>
            <a:endParaRPr lang="en-US" sz="1600"/>
          </a:p>
        </p:txBody>
      </p:sp>
      <p:sp>
        <p:nvSpPr>
          <p:cNvPr id="192520" name="Rectangle 11"/>
          <p:cNvSpPr>
            <a:spLocks noChangeArrowheads="1"/>
          </p:cNvSpPr>
          <p:nvPr/>
        </p:nvSpPr>
        <p:spPr bwMode="auto">
          <a:xfrm>
            <a:off x="1331913" y="4779963"/>
            <a:ext cx="3024187" cy="366712"/>
          </a:xfrm>
          <a:prstGeom prst="rect">
            <a:avLst/>
          </a:prstGeom>
          <a:solidFill>
            <a:schemeClr val="accent1"/>
          </a:solidFill>
          <a:ln w="9525" algn="ctr">
            <a:noFill/>
            <a:miter lim="800000"/>
            <a:headEnd/>
            <a:tailEnd/>
          </a:ln>
        </p:spPr>
        <p:txBody>
          <a:bodyPr anchor="ctr">
            <a:spAutoFit/>
          </a:bodyPr>
          <a:lstStyle/>
          <a:p>
            <a:r>
              <a:rPr lang="fa-IR"/>
              <a:t>عنوان دانشگاه </a:t>
            </a:r>
            <a:endParaRPr lang="en-US"/>
          </a:p>
        </p:txBody>
      </p:sp>
      <p:sp>
        <p:nvSpPr>
          <p:cNvPr id="192521" name="Rectangle 12"/>
          <p:cNvSpPr>
            <a:spLocks noChangeArrowheads="1"/>
          </p:cNvSpPr>
          <p:nvPr/>
        </p:nvSpPr>
        <p:spPr bwMode="auto">
          <a:xfrm>
            <a:off x="2268538" y="5932488"/>
            <a:ext cx="1212850" cy="366712"/>
          </a:xfrm>
          <a:prstGeom prst="rect">
            <a:avLst/>
          </a:prstGeom>
          <a:solidFill>
            <a:schemeClr val="accent1"/>
          </a:solidFill>
          <a:ln w="9525" algn="ctr">
            <a:noFill/>
            <a:miter lim="800000"/>
            <a:headEnd/>
            <a:tailEnd/>
          </a:ln>
        </p:spPr>
        <p:txBody>
          <a:bodyPr anchor="ctr">
            <a:spAutoFit/>
          </a:bodyPr>
          <a:lstStyle/>
          <a:p>
            <a:r>
              <a:rPr lang="fa-IR"/>
              <a:t>تاريخ </a:t>
            </a:r>
            <a:endParaRPr lang="en-US"/>
          </a:p>
        </p:txBody>
      </p:sp>
      <p:sp>
        <p:nvSpPr>
          <p:cNvPr id="192522" name="Rectangle 15"/>
          <p:cNvSpPr>
            <a:spLocks noChangeArrowheads="1"/>
          </p:cNvSpPr>
          <p:nvPr/>
        </p:nvSpPr>
        <p:spPr bwMode="auto">
          <a:xfrm>
            <a:off x="6564313" y="2008188"/>
            <a:ext cx="1281112" cy="466725"/>
          </a:xfrm>
          <a:prstGeom prst="rect">
            <a:avLst/>
          </a:prstGeom>
          <a:solidFill>
            <a:schemeClr val="accent1"/>
          </a:solidFill>
          <a:ln w="9525" algn="ctr">
            <a:solidFill>
              <a:schemeClr val="tx1"/>
            </a:solidFill>
            <a:miter lim="800000"/>
            <a:headEnd/>
            <a:tailEnd/>
          </a:ln>
        </p:spPr>
        <p:txBody>
          <a:bodyPr wrap="none" anchor="ctr">
            <a:spAutoFit/>
          </a:bodyPr>
          <a:lstStyle/>
          <a:p>
            <a:r>
              <a:rPr lang="fa-IR" sz="2400"/>
              <a:t>صورت ب:</a:t>
            </a:r>
            <a:endParaRPr lang="en-US" sz="2400"/>
          </a:p>
        </p:txBody>
      </p:sp>
      <p:sp>
        <p:nvSpPr>
          <p:cNvPr id="192523" name="Rectangle 16"/>
          <p:cNvSpPr>
            <a:spLocks noChangeArrowheads="1"/>
          </p:cNvSpPr>
          <p:nvPr/>
        </p:nvSpPr>
        <p:spPr bwMode="auto">
          <a:xfrm>
            <a:off x="2195513" y="2332038"/>
            <a:ext cx="1212850" cy="366712"/>
          </a:xfrm>
          <a:prstGeom prst="rect">
            <a:avLst/>
          </a:prstGeom>
          <a:solidFill>
            <a:schemeClr val="accent1"/>
          </a:solidFill>
          <a:ln w="9525" algn="ctr">
            <a:noFill/>
            <a:miter lim="800000"/>
            <a:headEnd/>
            <a:tailEnd/>
          </a:ln>
        </p:spPr>
        <p:txBody>
          <a:bodyPr anchor="ctr">
            <a:spAutoFit/>
          </a:bodyPr>
          <a:lstStyle/>
          <a:p>
            <a:r>
              <a:rPr lang="fa-IR"/>
              <a:t>نام دانشجو</a:t>
            </a:r>
            <a:endParaRPr lang="en-US"/>
          </a:p>
        </p:txBody>
      </p:sp>
      <p:sp>
        <p:nvSpPr>
          <p:cNvPr id="192524" name="Rectangle 17"/>
          <p:cNvSpPr>
            <a:spLocks noChangeArrowheads="1"/>
          </p:cNvSpPr>
          <p:nvPr/>
        </p:nvSpPr>
        <p:spPr bwMode="auto">
          <a:xfrm>
            <a:off x="1835150" y="4348163"/>
            <a:ext cx="2303463" cy="336550"/>
          </a:xfrm>
          <a:prstGeom prst="rect">
            <a:avLst/>
          </a:prstGeom>
          <a:solidFill>
            <a:schemeClr val="accent1"/>
          </a:solidFill>
          <a:ln w="9525" algn="ctr">
            <a:noFill/>
            <a:miter lim="800000"/>
            <a:headEnd/>
            <a:tailEnd/>
          </a:ln>
        </p:spPr>
        <p:txBody>
          <a:bodyPr anchor="ctr">
            <a:spAutoFit/>
          </a:bodyPr>
          <a:lstStyle/>
          <a:p>
            <a:r>
              <a:rPr lang="fa-IR" sz="1600"/>
              <a:t>در رشته  ..............</a:t>
            </a:r>
            <a:endParaRPr lang="en-US" sz="1600"/>
          </a:p>
        </p:txBody>
      </p:sp>
      <p:sp>
        <p:nvSpPr>
          <p:cNvPr id="192525" name="Rectangle 18"/>
          <p:cNvSpPr>
            <a:spLocks noChangeArrowheads="1"/>
          </p:cNvSpPr>
          <p:nvPr/>
        </p:nvSpPr>
        <p:spPr bwMode="auto">
          <a:xfrm>
            <a:off x="1403350" y="5500688"/>
            <a:ext cx="3024188" cy="366712"/>
          </a:xfrm>
          <a:prstGeom prst="rect">
            <a:avLst/>
          </a:prstGeom>
          <a:solidFill>
            <a:schemeClr val="accent1"/>
          </a:solidFill>
          <a:ln w="9525" algn="ctr">
            <a:noFill/>
            <a:miter lim="800000"/>
            <a:headEnd/>
            <a:tailEnd/>
          </a:ln>
        </p:spPr>
        <p:txBody>
          <a:bodyPr anchor="ctr">
            <a:spAutoFit/>
          </a:bodyPr>
          <a:lstStyle/>
          <a:p>
            <a:r>
              <a:rPr lang="fa-IR"/>
              <a:t>عنوان گروه آموزشي</a:t>
            </a:r>
            <a:endParaRPr lang="en-US"/>
          </a:p>
        </p:txBody>
      </p:sp>
      <p:sp>
        <p:nvSpPr>
          <p:cNvPr id="14" name="Rectangle 1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3"/>
          <p:cNvSpPr>
            <a:spLocks noChangeArrowheads="1"/>
          </p:cNvSpPr>
          <p:nvPr/>
        </p:nvSpPr>
        <p:spPr bwMode="auto">
          <a:xfrm>
            <a:off x="107950" y="26988"/>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193539" name="Rectangle 4"/>
          <p:cNvSpPr>
            <a:spLocks noChangeArrowheads="1"/>
          </p:cNvSpPr>
          <p:nvPr/>
        </p:nvSpPr>
        <p:spPr bwMode="auto">
          <a:xfrm>
            <a:off x="1979613" y="892175"/>
            <a:ext cx="1873250" cy="396875"/>
          </a:xfrm>
          <a:prstGeom prst="rect">
            <a:avLst/>
          </a:prstGeom>
          <a:solidFill>
            <a:schemeClr val="accent1"/>
          </a:solidFill>
          <a:ln w="9525" algn="ctr">
            <a:noFill/>
            <a:miter lim="800000"/>
            <a:headEnd/>
            <a:tailEnd/>
          </a:ln>
        </p:spPr>
        <p:txBody>
          <a:bodyPr anchor="ctr">
            <a:spAutoFit/>
          </a:bodyPr>
          <a:lstStyle/>
          <a:p>
            <a:r>
              <a:rPr lang="fa-IR" sz="2000"/>
              <a:t>عنوان پايان نامه </a:t>
            </a:r>
            <a:endParaRPr lang="en-US" sz="2000"/>
          </a:p>
        </p:txBody>
      </p:sp>
      <p:sp>
        <p:nvSpPr>
          <p:cNvPr id="193540" name="Rectangle 5"/>
          <p:cNvSpPr>
            <a:spLocks noChangeArrowheads="1"/>
          </p:cNvSpPr>
          <p:nvPr/>
        </p:nvSpPr>
        <p:spPr bwMode="auto">
          <a:xfrm>
            <a:off x="1476375" y="2763838"/>
            <a:ext cx="3024188" cy="366712"/>
          </a:xfrm>
          <a:prstGeom prst="rect">
            <a:avLst/>
          </a:prstGeom>
          <a:solidFill>
            <a:schemeClr val="accent1"/>
          </a:solidFill>
          <a:ln w="9525" algn="ctr">
            <a:noFill/>
            <a:miter lim="800000"/>
            <a:headEnd/>
            <a:tailEnd/>
          </a:ln>
        </p:spPr>
        <p:txBody>
          <a:bodyPr anchor="ctr">
            <a:spAutoFit/>
          </a:bodyPr>
          <a:lstStyle/>
          <a:p>
            <a:r>
              <a:rPr lang="fa-IR"/>
              <a:t>در رشته .......... </a:t>
            </a:r>
            <a:endParaRPr lang="en-US"/>
          </a:p>
        </p:txBody>
      </p:sp>
      <p:sp>
        <p:nvSpPr>
          <p:cNvPr id="193541" name="Rectangle 6"/>
          <p:cNvSpPr>
            <a:spLocks noChangeArrowheads="1"/>
          </p:cNvSpPr>
          <p:nvPr/>
        </p:nvSpPr>
        <p:spPr bwMode="auto">
          <a:xfrm>
            <a:off x="1835150" y="3843338"/>
            <a:ext cx="2303463" cy="336550"/>
          </a:xfrm>
          <a:prstGeom prst="rect">
            <a:avLst/>
          </a:prstGeom>
          <a:solidFill>
            <a:schemeClr val="accent1"/>
          </a:solidFill>
          <a:ln w="9525" algn="ctr">
            <a:noFill/>
            <a:miter lim="800000"/>
            <a:headEnd/>
            <a:tailEnd/>
          </a:ln>
        </p:spPr>
        <p:txBody>
          <a:bodyPr anchor="ctr">
            <a:spAutoFit/>
          </a:bodyPr>
          <a:lstStyle/>
          <a:p>
            <a:r>
              <a:rPr lang="fa-IR" sz="1600"/>
              <a:t>نام استاد راهنما</a:t>
            </a:r>
            <a:endParaRPr lang="en-US" sz="1600"/>
          </a:p>
        </p:txBody>
      </p:sp>
      <p:sp>
        <p:nvSpPr>
          <p:cNvPr id="193542" name="Rectangle 7"/>
          <p:cNvSpPr>
            <a:spLocks noChangeArrowheads="1"/>
          </p:cNvSpPr>
          <p:nvPr/>
        </p:nvSpPr>
        <p:spPr bwMode="auto">
          <a:xfrm>
            <a:off x="1979613" y="3556000"/>
            <a:ext cx="2017712" cy="336550"/>
          </a:xfrm>
          <a:prstGeom prst="rect">
            <a:avLst/>
          </a:prstGeom>
          <a:solidFill>
            <a:schemeClr val="accent1"/>
          </a:solidFill>
          <a:ln w="9525" algn="ctr">
            <a:noFill/>
            <a:miter lim="800000"/>
            <a:headEnd/>
            <a:tailEnd/>
          </a:ln>
        </p:spPr>
        <p:txBody>
          <a:bodyPr anchor="ctr">
            <a:spAutoFit/>
          </a:bodyPr>
          <a:lstStyle/>
          <a:p>
            <a:r>
              <a:rPr lang="fa-IR" sz="1600"/>
              <a:t>زير نظر :</a:t>
            </a:r>
            <a:endParaRPr lang="en-US" sz="2000"/>
          </a:p>
        </p:txBody>
      </p:sp>
      <p:sp>
        <p:nvSpPr>
          <p:cNvPr id="193543" name="Rectangle 8"/>
          <p:cNvSpPr>
            <a:spLocks noChangeArrowheads="1"/>
          </p:cNvSpPr>
          <p:nvPr/>
        </p:nvSpPr>
        <p:spPr bwMode="auto">
          <a:xfrm>
            <a:off x="1979613" y="2043113"/>
            <a:ext cx="2016125" cy="336550"/>
          </a:xfrm>
          <a:prstGeom prst="rect">
            <a:avLst/>
          </a:prstGeom>
          <a:solidFill>
            <a:schemeClr val="accent1"/>
          </a:solidFill>
          <a:ln w="9525" algn="ctr">
            <a:noFill/>
            <a:miter lim="800000"/>
            <a:headEnd/>
            <a:tailEnd/>
          </a:ln>
        </p:spPr>
        <p:txBody>
          <a:bodyPr anchor="ctr">
            <a:spAutoFit/>
          </a:bodyPr>
          <a:lstStyle/>
          <a:p>
            <a:r>
              <a:rPr lang="fa-IR" sz="1600"/>
              <a:t>پايان نامه براي دريافت </a:t>
            </a:r>
            <a:endParaRPr lang="en-US" sz="1600"/>
          </a:p>
        </p:txBody>
      </p:sp>
      <p:sp>
        <p:nvSpPr>
          <p:cNvPr id="193544" name="Rectangle 9"/>
          <p:cNvSpPr>
            <a:spLocks noChangeArrowheads="1"/>
          </p:cNvSpPr>
          <p:nvPr/>
        </p:nvSpPr>
        <p:spPr bwMode="auto">
          <a:xfrm>
            <a:off x="1476375" y="2403475"/>
            <a:ext cx="3095625" cy="366713"/>
          </a:xfrm>
          <a:prstGeom prst="rect">
            <a:avLst/>
          </a:prstGeom>
          <a:solidFill>
            <a:schemeClr val="accent1"/>
          </a:solidFill>
          <a:ln w="9525" algn="ctr">
            <a:noFill/>
            <a:miter lim="800000"/>
            <a:headEnd/>
            <a:tailEnd/>
          </a:ln>
        </p:spPr>
        <p:txBody>
          <a:bodyPr anchor="ctr">
            <a:spAutoFit/>
          </a:bodyPr>
          <a:lstStyle/>
          <a:p>
            <a:r>
              <a:rPr lang="fa-IR"/>
              <a:t>درجه ............</a:t>
            </a:r>
            <a:endParaRPr lang="en-US"/>
          </a:p>
        </p:txBody>
      </p:sp>
      <p:sp>
        <p:nvSpPr>
          <p:cNvPr id="193545" name="Rectangle 10"/>
          <p:cNvSpPr>
            <a:spLocks noChangeArrowheads="1"/>
          </p:cNvSpPr>
          <p:nvPr/>
        </p:nvSpPr>
        <p:spPr bwMode="auto">
          <a:xfrm>
            <a:off x="827088" y="4635500"/>
            <a:ext cx="4249737" cy="366713"/>
          </a:xfrm>
          <a:prstGeom prst="rect">
            <a:avLst/>
          </a:prstGeom>
          <a:solidFill>
            <a:schemeClr val="accent1"/>
          </a:solidFill>
          <a:ln w="9525" algn="ctr">
            <a:noFill/>
            <a:miter lim="800000"/>
            <a:headEnd/>
            <a:tailEnd/>
          </a:ln>
        </p:spPr>
        <p:txBody>
          <a:bodyPr anchor="ctr">
            <a:spAutoFit/>
          </a:bodyPr>
          <a:lstStyle/>
          <a:p>
            <a:r>
              <a:rPr lang="fa-IR"/>
              <a:t>تاييد شده توسط : نام اعضا هيئت داوران </a:t>
            </a:r>
            <a:endParaRPr lang="en-US"/>
          </a:p>
        </p:txBody>
      </p:sp>
      <p:sp>
        <p:nvSpPr>
          <p:cNvPr id="193546" name="Rectangle 12"/>
          <p:cNvSpPr>
            <a:spLocks noChangeArrowheads="1"/>
          </p:cNvSpPr>
          <p:nvPr/>
        </p:nvSpPr>
        <p:spPr bwMode="auto">
          <a:xfrm>
            <a:off x="1403350" y="5788025"/>
            <a:ext cx="2797175" cy="366713"/>
          </a:xfrm>
          <a:prstGeom prst="rect">
            <a:avLst/>
          </a:prstGeom>
          <a:solidFill>
            <a:schemeClr val="accent1"/>
          </a:solidFill>
          <a:ln w="9525" algn="ctr">
            <a:noFill/>
            <a:miter lim="800000"/>
            <a:headEnd/>
            <a:tailEnd/>
          </a:ln>
        </p:spPr>
        <p:txBody>
          <a:bodyPr anchor="ctr">
            <a:spAutoFit/>
          </a:bodyPr>
          <a:lstStyle/>
          <a:p>
            <a:r>
              <a:rPr lang="fa-IR"/>
              <a:t>عنوان دانشگاه </a:t>
            </a:r>
            <a:endParaRPr lang="en-US"/>
          </a:p>
        </p:txBody>
      </p:sp>
      <p:sp>
        <p:nvSpPr>
          <p:cNvPr id="193547" name="Rectangle 13"/>
          <p:cNvSpPr>
            <a:spLocks noChangeArrowheads="1"/>
          </p:cNvSpPr>
          <p:nvPr/>
        </p:nvSpPr>
        <p:spPr bwMode="auto">
          <a:xfrm>
            <a:off x="1692275" y="5427663"/>
            <a:ext cx="2087563" cy="366712"/>
          </a:xfrm>
          <a:prstGeom prst="rect">
            <a:avLst/>
          </a:prstGeom>
          <a:solidFill>
            <a:schemeClr val="accent1"/>
          </a:solidFill>
          <a:ln w="9525" algn="ctr">
            <a:noFill/>
            <a:miter lim="800000"/>
            <a:headEnd/>
            <a:tailEnd/>
          </a:ln>
        </p:spPr>
        <p:txBody>
          <a:bodyPr anchor="ctr">
            <a:spAutoFit/>
          </a:bodyPr>
          <a:lstStyle/>
          <a:p>
            <a:r>
              <a:rPr lang="fa-IR"/>
              <a:t>عنوان دانشكده </a:t>
            </a:r>
            <a:endParaRPr lang="en-US"/>
          </a:p>
        </p:txBody>
      </p:sp>
      <p:sp>
        <p:nvSpPr>
          <p:cNvPr id="193548" name="Rectangle 15"/>
          <p:cNvSpPr>
            <a:spLocks noChangeArrowheads="1"/>
          </p:cNvSpPr>
          <p:nvPr/>
        </p:nvSpPr>
        <p:spPr bwMode="auto">
          <a:xfrm>
            <a:off x="1331913" y="5067300"/>
            <a:ext cx="3024187" cy="366713"/>
          </a:xfrm>
          <a:prstGeom prst="rect">
            <a:avLst/>
          </a:prstGeom>
          <a:solidFill>
            <a:schemeClr val="accent1"/>
          </a:solidFill>
          <a:ln w="9525" algn="ctr">
            <a:noFill/>
            <a:miter lim="800000"/>
            <a:headEnd/>
            <a:tailEnd/>
          </a:ln>
        </p:spPr>
        <p:txBody>
          <a:bodyPr anchor="ctr">
            <a:spAutoFit/>
          </a:bodyPr>
          <a:lstStyle/>
          <a:p>
            <a:r>
              <a:rPr lang="fa-IR"/>
              <a:t>عنوان گروه آموزشي </a:t>
            </a:r>
            <a:endParaRPr lang="en-US"/>
          </a:p>
        </p:txBody>
      </p:sp>
      <p:sp>
        <p:nvSpPr>
          <p:cNvPr id="193549" name="Rectangle 16"/>
          <p:cNvSpPr>
            <a:spLocks noChangeArrowheads="1"/>
          </p:cNvSpPr>
          <p:nvPr/>
        </p:nvSpPr>
        <p:spPr bwMode="auto">
          <a:xfrm>
            <a:off x="6575425" y="2008188"/>
            <a:ext cx="1258888" cy="466725"/>
          </a:xfrm>
          <a:prstGeom prst="rect">
            <a:avLst/>
          </a:prstGeom>
          <a:solidFill>
            <a:schemeClr val="accent1"/>
          </a:solidFill>
          <a:ln w="9525" algn="ctr">
            <a:solidFill>
              <a:schemeClr val="tx1"/>
            </a:solidFill>
            <a:miter lim="800000"/>
            <a:headEnd/>
            <a:tailEnd/>
          </a:ln>
        </p:spPr>
        <p:txBody>
          <a:bodyPr wrap="none" anchor="ctr">
            <a:spAutoFit/>
          </a:bodyPr>
          <a:lstStyle/>
          <a:p>
            <a:r>
              <a:rPr lang="fa-IR" sz="2400"/>
              <a:t>صورت ج:</a:t>
            </a:r>
            <a:endParaRPr lang="en-US" sz="2400"/>
          </a:p>
        </p:txBody>
      </p:sp>
      <p:sp>
        <p:nvSpPr>
          <p:cNvPr id="193550" name="Rectangle 17"/>
          <p:cNvSpPr>
            <a:spLocks noChangeArrowheads="1"/>
          </p:cNvSpPr>
          <p:nvPr/>
        </p:nvSpPr>
        <p:spPr bwMode="auto">
          <a:xfrm>
            <a:off x="1476375" y="6292850"/>
            <a:ext cx="2797175" cy="366713"/>
          </a:xfrm>
          <a:prstGeom prst="rect">
            <a:avLst/>
          </a:prstGeom>
          <a:solidFill>
            <a:schemeClr val="accent1"/>
          </a:solidFill>
          <a:ln w="9525" algn="ctr">
            <a:noFill/>
            <a:miter lim="800000"/>
            <a:headEnd/>
            <a:tailEnd/>
          </a:ln>
        </p:spPr>
        <p:txBody>
          <a:bodyPr anchor="ctr">
            <a:spAutoFit/>
          </a:bodyPr>
          <a:lstStyle/>
          <a:p>
            <a:r>
              <a:rPr lang="fa-IR"/>
              <a:t>تاريخ </a:t>
            </a:r>
            <a:endParaRPr lang="en-US"/>
          </a:p>
        </p:txBody>
      </p:sp>
      <p:sp>
        <p:nvSpPr>
          <p:cNvPr id="15" name="Rectangle 14"/>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3"/>
          <p:cNvSpPr>
            <a:spLocks noGrp="1" noChangeArrowheads="1"/>
          </p:cNvSpPr>
          <p:nvPr>
            <p:ph idx="1"/>
          </p:nvPr>
        </p:nvSpPr>
        <p:spPr/>
        <p:txBody>
          <a:bodyPr/>
          <a:lstStyle/>
          <a:p>
            <a:pPr algn="justLow" rtl="1" eaLnBrk="1" hangingPunct="1">
              <a:buFont typeface="Wingdings" pitchFamily="2" charset="2"/>
              <a:buNone/>
            </a:pPr>
            <a:r>
              <a:rPr lang="fa-IR" b="1" smtClean="0"/>
              <a:t>در گزارش آزمایشگاه  داده ها ، روشها و یافته های آزمایشگاهی درج می شوند و البته با کتابچه راهنمای آزمایش فرق دارد . این گزارش در واقع سند انجام کار آزمایشگاهی است بنابراین  باید دقیق ، صریح ، روان و ساختمند باشد . برای تامین ساختمندی این گزارش باید اجزاء آن بر اساس یک روال منطقی در پی هم آورده شوند .</a:t>
            </a:r>
            <a:endParaRPr lang="en-US" b="1" smtClean="0"/>
          </a:p>
        </p:txBody>
      </p:sp>
      <p:sp>
        <p:nvSpPr>
          <p:cNvPr id="21197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dirty="0" smtClean="0">
                <a:solidFill>
                  <a:srgbClr val="FF0000"/>
                </a:solidFill>
                <a:effectLst/>
                <a:cs typeface="B Titr" pitchFamily="2" charset="-78"/>
              </a:rPr>
              <a:t>گزارش کار آزمایشگاه  : </a:t>
            </a:r>
            <a:endParaRPr lang="en-US" sz="3700" dirty="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3"/>
          <p:cNvSpPr>
            <a:spLocks noGrp="1" noChangeArrowheads="1"/>
          </p:cNvSpPr>
          <p:nvPr>
            <p:ph idx="1"/>
          </p:nvPr>
        </p:nvSpPr>
        <p:spPr>
          <a:xfrm>
            <a:off x="457200" y="836613"/>
            <a:ext cx="8229600" cy="6021387"/>
          </a:xfrm>
        </p:spPr>
        <p:txBody>
          <a:bodyPr/>
          <a:lstStyle/>
          <a:p>
            <a:pPr marL="609600" indent="-609600" algn="r" rtl="1" eaLnBrk="1" hangingPunct="1">
              <a:lnSpc>
                <a:spcPct val="80000"/>
              </a:lnSpc>
              <a:buFont typeface="Wingdings" pitchFamily="2" charset="2"/>
              <a:buAutoNum type="arabicPeriod"/>
            </a:pPr>
            <a:r>
              <a:rPr lang="fa-IR" sz="2000" b="1" smtClean="0"/>
              <a:t>عنوان گزارش </a:t>
            </a:r>
          </a:p>
          <a:p>
            <a:pPr marL="609600" indent="-609600" algn="r" rtl="1" eaLnBrk="1" hangingPunct="1">
              <a:lnSpc>
                <a:spcPct val="80000"/>
              </a:lnSpc>
              <a:buFont typeface="Wingdings" pitchFamily="2" charset="2"/>
              <a:buAutoNum type="arabicPeriod"/>
            </a:pPr>
            <a:r>
              <a:rPr lang="fa-IR" sz="2000" b="1" smtClean="0"/>
              <a:t> شماره آزمایش – شما ره قسمت </a:t>
            </a:r>
          </a:p>
          <a:p>
            <a:pPr marL="609600" indent="-609600" algn="r" rtl="1" eaLnBrk="1" hangingPunct="1">
              <a:lnSpc>
                <a:spcPct val="80000"/>
              </a:lnSpc>
              <a:buFont typeface="Wingdings" pitchFamily="2" charset="2"/>
              <a:buAutoNum type="arabicPeriod"/>
            </a:pPr>
            <a:r>
              <a:rPr lang="fa-IR" sz="2000" b="1" smtClean="0"/>
              <a:t>تاریخ و ساعت </a:t>
            </a:r>
          </a:p>
          <a:p>
            <a:pPr marL="609600" indent="-609600" algn="r" rtl="1" eaLnBrk="1" hangingPunct="1">
              <a:lnSpc>
                <a:spcPct val="80000"/>
              </a:lnSpc>
              <a:buFont typeface="Wingdings" pitchFamily="2" charset="2"/>
              <a:buAutoNum type="arabicPeriod"/>
            </a:pPr>
            <a:r>
              <a:rPr lang="fa-IR" sz="2000" b="1" smtClean="0"/>
              <a:t>محل ( نام آزمایشگا ه ) </a:t>
            </a:r>
          </a:p>
          <a:p>
            <a:pPr marL="609600" indent="-609600" algn="r" rtl="1" eaLnBrk="1" hangingPunct="1">
              <a:lnSpc>
                <a:spcPct val="80000"/>
              </a:lnSpc>
              <a:buFont typeface="Wingdings" pitchFamily="2" charset="2"/>
              <a:buAutoNum type="arabicPeriod"/>
            </a:pPr>
            <a:r>
              <a:rPr lang="fa-IR" sz="2000" b="1" smtClean="0"/>
              <a:t>موضوع آزمایش </a:t>
            </a:r>
          </a:p>
          <a:p>
            <a:pPr marL="609600" indent="-609600" algn="r" rtl="1" eaLnBrk="1" hangingPunct="1">
              <a:lnSpc>
                <a:spcPct val="80000"/>
              </a:lnSpc>
              <a:buFont typeface="Wingdings" pitchFamily="2" charset="2"/>
              <a:buAutoNum type="arabicPeriod"/>
            </a:pPr>
            <a:r>
              <a:rPr lang="fa-IR" sz="2000" b="1" smtClean="0"/>
              <a:t>نام درس </a:t>
            </a:r>
          </a:p>
          <a:p>
            <a:pPr marL="609600" indent="-609600" algn="r" rtl="1" eaLnBrk="1" hangingPunct="1">
              <a:lnSpc>
                <a:spcPct val="80000"/>
              </a:lnSpc>
              <a:buFont typeface="Wingdings" pitchFamily="2" charset="2"/>
              <a:buAutoNum type="arabicPeriod"/>
            </a:pPr>
            <a:r>
              <a:rPr lang="fa-IR" sz="2000" b="1" smtClean="0"/>
              <a:t>دستگاههای مورد استفاده </a:t>
            </a:r>
          </a:p>
          <a:p>
            <a:pPr marL="609600" indent="-609600" algn="r" rtl="1" eaLnBrk="1" hangingPunct="1">
              <a:lnSpc>
                <a:spcPct val="80000"/>
              </a:lnSpc>
              <a:buFont typeface="Wingdings" pitchFamily="2" charset="2"/>
              <a:buAutoNum type="arabicPeriod"/>
            </a:pPr>
            <a:r>
              <a:rPr lang="fa-IR" sz="2000" b="1" smtClean="0"/>
              <a:t>چارچوب نظری آزمایش به اجمال </a:t>
            </a:r>
          </a:p>
          <a:p>
            <a:pPr marL="609600" indent="-609600" algn="r" rtl="1" eaLnBrk="1" hangingPunct="1">
              <a:lnSpc>
                <a:spcPct val="80000"/>
              </a:lnSpc>
              <a:buFont typeface="Wingdings" pitchFamily="2" charset="2"/>
              <a:buAutoNum type="arabicPeriod"/>
            </a:pPr>
            <a:r>
              <a:rPr lang="fa-IR" sz="2000" b="1" smtClean="0"/>
              <a:t>داده ها : در شکل جدولی </a:t>
            </a:r>
          </a:p>
          <a:p>
            <a:pPr marL="609600" indent="-609600" algn="r" rtl="1" eaLnBrk="1" hangingPunct="1">
              <a:lnSpc>
                <a:spcPct val="80000"/>
              </a:lnSpc>
              <a:buFont typeface="Wingdings" pitchFamily="2" charset="2"/>
              <a:buAutoNum type="arabicPeriod"/>
            </a:pPr>
            <a:r>
              <a:rPr lang="fa-IR" sz="2000" b="1" smtClean="0"/>
              <a:t>روش های بکار رفته در انجام آزمایش </a:t>
            </a:r>
          </a:p>
          <a:p>
            <a:pPr marL="609600" indent="-609600" algn="r" rtl="1" eaLnBrk="1" hangingPunct="1">
              <a:lnSpc>
                <a:spcPct val="80000"/>
              </a:lnSpc>
              <a:buFont typeface="Wingdings" pitchFamily="2" charset="2"/>
              <a:buAutoNum type="arabicPeriod"/>
            </a:pPr>
            <a:r>
              <a:rPr lang="fa-IR" sz="2000" b="1" smtClean="0"/>
              <a:t>شرح دیده ها </a:t>
            </a:r>
          </a:p>
          <a:p>
            <a:pPr marL="609600" indent="-609600" algn="r" rtl="1" eaLnBrk="1" hangingPunct="1">
              <a:lnSpc>
                <a:spcPct val="80000"/>
              </a:lnSpc>
              <a:buFont typeface="Wingdings" pitchFamily="2" charset="2"/>
              <a:buAutoNum type="arabicPeriod"/>
            </a:pPr>
            <a:r>
              <a:rPr lang="fa-IR" sz="2000" b="1" smtClean="0"/>
              <a:t>جدولها و نمودارهای خواسته شده </a:t>
            </a:r>
          </a:p>
          <a:p>
            <a:pPr marL="609600" indent="-609600" algn="r" rtl="1" eaLnBrk="1" hangingPunct="1">
              <a:lnSpc>
                <a:spcPct val="80000"/>
              </a:lnSpc>
              <a:buFont typeface="Wingdings" pitchFamily="2" charset="2"/>
              <a:buAutoNum type="arabicPeriod"/>
            </a:pPr>
            <a:r>
              <a:rPr lang="fa-IR" sz="2000" b="1" smtClean="0"/>
              <a:t>نتیجه گیری به کمک عباراتی کوتاه و دقیق </a:t>
            </a:r>
          </a:p>
          <a:p>
            <a:pPr marL="609600" indent="-609600" algn="r" rtl="1" eaLnBrk="1" hangingPunct="1">
              <a:lnSpc>
                <a:spcPct val="80000"/>
              </a:lnSpc>
              <a:buFont typeface="Wingdings" pitchFamily="2" charset="2"/>
              <a:buAutoNum type="arabicPeriod"/>
            </a:pPr>
            <a:r>
              <a:rPr lang="fa-IR" sz="2000" b="1" smtClean="0"/>
              <a:t>پاسخ به پرسشها </a:t>
            </a:r>
          </a:p>
          <a:p>
            <a:pPr marL="609600" indent="-609600" algn="r" rtl="1" eaLnBrk="1" hangingPunct="1">
              <a:lnSpc>
                <a:spcPct val="80000"/>
              </a:lnSpc>
              <a:buFont typeface="Wingdings" pitchFamily="2" charset="2"/>
              <a:buAutoNum type="arabicPeriod"/>
            </a:pPr>
            <a:r>
              <a:rPr lang="fa-IR" sz="2000" b="1" smtClean="0"/>
              <a:t>پیوستها در صورت ( وجود ) </a:t>
            </a:r>
          </a:p>
          <a:p>
            <a:pPr marL="609600" indent="-609600" algn="r" rtl="1" eaLnBrk="1" hangingPunct="1">
              <a:lnSpc>
                <a:spcPct val="80000"/>
              </a:lnSpc>
              <a:buFont typeface="Wingdings" pitchFamily="2" charset="2"/>
              <a:buAutoNum type="arabicPeriod"/>
            </a:pPr>
            <a:r>
              <a:rPr lang="fa-IR" sz="2000" b="1" smtClean="0"/>
              <a:t>نام و نام خانوادگی آزمایش کننده </a:t>
            </a:r>
          </a:p>
          <a:p>
            <a:pPr marL="609600" indent="-609600" algn="r" rtl="1" eaLnBrk="1" hangingPunct="1">
              <a:lnSpc>
                <a:spcPct val="80000"/>
              </a:lnSpc>
              <a:buFont typeface="Wingdings" pitchFamily="2" charset="2"/>
              <a:buAutoNum type="arabicPeriod"/>
            </a:pPr>
            <a:r>
              <a:rPr lang="fa-IR" sz="2000" b="1" smtClean="0"/>
              <a:t>امضاء</a:t>
            </a:r>
            <a:r>
              <a:rPr lang="fa-IR" sz="2000" smtClean="0"/>
              <a:t> </a:t>
            </a:r>
            <a:endParaRPr lang="en-US" sz="2000" smtClean="0"/>
          </a:p>
        </p:txBody>
      </p:sp>
      <p:sp>
        <p:nvSpPr>
          <p:cNvPr id="193538" name="Rectangle 2"/>
          <p:cNvSpPr>
            <a:spLocks noGrp="1" noChangeArrowheads="1"/>
          </p:cNvSpPr>
          <p:nvPr>
            <p:ph type="title"/>
          </p:nvPr>
        </p:nvSpPr>
        <p:spPr>
          <a:xfrm>
            <a:off x="457200" y="277813"/>
            <a:ext cx="8229600" cy="487362"/>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اجزاء گزارش آزمایشگاه :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3"/>
          <p:cNvSpPr>
            <a:spLocks noGrp="1" noChangeArrowheads="1"/>
          </p:cNvSpPr>
          <p:nvPr>
            <p:ph idx="1"/>
          </p:nvPr>
        </p:nvSpPr>
        <p:spPr>
          <a:xfrm>
            <a:off x="539750" y="1989138"/>
            <a:ext cx="8229600" cy="4530725"/>
          </a:xfrm>
        </p:spPr>
        <p:txBody>
          <a:bodyPr/>
          <a:lstStyle/>
          <a:p>
            <a:pPr algn="ctr" rtl="1" eaLnBrk="1" hangingPunct="1">
              <a:buFont typeface="Wingdings" pitchFamily="2" charset="2"/>
              <a:buNone/>
            </a:pPr>
            <a:r>
              <a:rPr lang="fa-IR" smtClean="0"/>
              <a:t>                           شماره آزمايش :</a:t>
            </a:r>
          </a:p>
          <a:p>
            <a:pPr algn="ctr" rtl="1" eaLnBrk="1" hangingPunct="1">
              <a:buFont typeface="Wingdings" pitchFamily="2" charset="2"/>
              <a:buNone/>
            </a:pPr>
            <a:r>
              <a:rPr lang="fa-IR" smtClean="0"/>
              <a:t>                         شماره قسمت :</a:t>
            </a:r>
          </a:p>
          <a:p>
            <a:pPr algn="ctr" rtl="1" eaLnBrk="1" hangingPunct="1">
              <a:buFont typeface="Wingdings" pitchFamily="2" charset="2"/>
              <a:buNone/>
            </a:pPr>
            <a:r>
              <a:rPr lang="fa-IR" smtClean="0"/>
              <a:t>                          تاريخ انجام :</a:t>
            </a:r>
          </a:p>
          <a:p>
            <a:pPr algn="ctr" rtl="1" eaLnBrk="1" hangingPunct="1">
              <a:buFont typeface="Wingdings" pitchFamily="2" charset="2"/>
              <a:buNone/>
            </a:pPr>
            <a:r>
              <a:rPr lang="fa-IR" smtClean="0"/>
              <a:t>                              ساعت :</a:t>
            </a:r>
          </a:p>
          <a:p>
            <a:pPr algn="r" rtl="1" eaLnBrk="1" hangingPunct="1">
              <a:buFont typeface="Wingdings" pitchFamily="2" charset="2"/>
              <a:buNone/>
            </a:pPr>
            <a:r>
              <a:rPr lang="fa-IR" smtClean="0"/>
              <a:t>1- عنوان گزارش : </a:t>
            </a:r>
          </a:p>
          <a:p>
            <a:pPr algn="r" rtl="1" eaLnBrk="1" hangingPunct="1">
              <a:buFont typeface="Wingdings" pitchFamily="2" charset="2"/>
              <a:buNone/>
            </a:pPr>
            <a:r>
              <a:rPr lang="fa-IR" smtClean="0"/>
              <a:t>2- محل : آزمايشگاه .................................</a:t>
            </a:r>
          </a:p>
          <a:p>
            <a:pPr algn="r" rtl="1" eaLnBrk="1" hangingPunct="1">
              <a:buFont typeface="Wingdings" pitchFamily="2" charset="2"/>
              <a:buNone/>
            </a:pPr>
            <a:r>
              <a:rPr lang="fa-IR" smtClean="0"/>
              <a:t>-----------------------------------------------------------</a:t>
            </a:r>
            <a:endParaRPr lang="en-US" smtClean="0"/>
          </a:p>
        </p:txBody>
      </p:sp>
      <p:sp>
        <p:nvSpPr>
          <p:cNvPr id="194562" name="Rectangle 2"/>
          <p:cNvSpPr>
            <a:spLocks noGrp="1" noChangeArrowheads="1"/>
          </p:cNvSpPr>
          <p:nvPr>
            <p:ph type="title"/>
          </p:nvPr>
        </p:nvSpPr>
        <p:spPr>
          <a:xfrm>
            <a:off x="5724525" y="277813"/>
            <a:ext cx="2962275" cy="990600"/>
          </a:xfrm>
        </p:spPr>
        <p:txBody>
          <a:bodyPr/>
          <a:lstStyle/>
          <a:p>
            <a:pPr eaLnBrk="1" fontAlgn="auto" hangingPunct="1">
              <a:spcAft>
                <a:spcPts val="0"/>
              </a:spcAft>
              <a:defRPr/>
            </a:pPr>
            <a:r>
              <a:rPr lang="fa-IR" sz="2800" smtClean="0"/>
              <a:t>فرم گزارش آزمايشگاه </a:t>
            </a:r>
            <a:endParaRPr lang="en-US" sz="2800" smtClean="0"/>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3"/>
          <p:cNvSpPr>
            <a:spLocks noGrp="1" noRot="1" noChangeArrowheads="1"/>
          </p:cNvSpPr>
          <p:nvPr>
            <p:ph idx="1"/>
          </p:nvPr>
        </p:nvSpPr>
        <p:spPr>
          <a:xfrm>
            <a:off x="457200" y="404813"/>
            <a:ext cx="8229600" cy="5726112"/>
          </a:xfrm>
        </p:spPr>
        <p:txBody>
          <a:bodyPr/>
          <a:lstStyle/>
          <a:p>
            <a:pPr algn="r" rtl="1" eaLnBrk="1" hangingPunct="1">
              <a:buFont typeface="Wingdings" pitchFamily="2" charset="2"/>
              <a:buNone/>
            </a:pPr>
            <a:r>
              <a:rPr lang="fa-IR" smtClean="0"/>
              <a:t>3- موضوع :.................      4- آزمايش درس:............</a:t>
            </a:r>
            <a:endParaRPr lang="en-US" smtClean="0"/>
          </a:p>
        </p:txBody>
      </p:sp>
      <p:sp>
        <p:nvSpPr>
          <p:cNvPr id="197635" name="Rectangle 4"/>
          <p:cNvSpPr>
            <a:spLocks noChangeArrowheads="1"/>
          </p:cNvSpPr>
          <p:nvPr/>
        </p:nvSpPr>
        <p:spPr bwMode="auto">
          <a:xfrm>
            <a:off x="4572000" y="1052513"/>
            <a:ext cx="3744913" cy="2024062"/>
          </a:xfrm>
          <a:prstGeom prst="rect">
            <a:avLst/>
          </a:prstGeom>
          <a:solidFill>
            <a:schemeClr val="accent1"/>
          </a:solidFill>
          <a:ln w="9525" algn="ctr">
            <a:solidFill>
              <a:schemeClr val="tx1"/>
            </a:solidFill>
            <a:miter lim="800000"/>
            <a:headEnd/>
            <a:tailEnd/>
          </a:ln>
        </p:spPr>
        <p:txBody>
          <a:bodyPr anchor="ctr">
            <a:spAutoFit/>
          </a:bodyPr>
          <a:lstStyle/>
          <a:p>
            <a:r>
              <a:rPr lang="fa-IR"/>
              <a:t>5- دستگاههاي مورد استفاده :</a:t>
            </a:r>
          </a:p>
          <a:p>
            <a:endParaRPr lang="fa-IR"/>
          </a:p>
          <a:p>
            <a:endParaRPr lang="fa-IR"/>
          </a:p>
          <a:p>
            <a:endParaRPr lang="fa-IR"/>
          </a:p>
          <a:p>
            <a:endParaRPr lang="fa-IR"/>
          </a:p>
          <a:p>
            <a:endParaRPr lang="fa-IR"/>
          </a:p>
          <a:p>
            <a:endParaRPr lang="en-US"/>
          </a:p>
        </p:txBody>
      </p:sp>
      <p:sp>
        <p:nvSpPr>
          <p:cNvPr id="197636" name="Rectangle 5"/>
          <p:cNvSpPr>
            <a:spLocks noChangeArrowheads="1"/>
          </p:cNvSpPr>
          <p:nvPr/>
        </p:nvSpPr>
        <p:spPr bwMode="auto">
          <a:xfrm>
            <a:off x="827088" y="1054100"/>
            <a:ext cx="3744912" cy="2024063"/>
          </a:xfrm>
          <a:prstGeom prst="rect">
            <a:avLst/>
          </a:prstGeom>
          <a:solidFill>
            <a:schemeClr val="accent1"/>
          </a:solidFill>
          <a:ln w="9525" algn="ctr">
            <a:solidFill>
              <a:schemeClr val="tx1"/>
            </a:solidFill>
            <a:miter lim="800000"/>
            <a:headEnd/>
            <a:tailEnd/>
          </a:ln>
        </p:spPr>
        <p:txBody>
          <a:bodyPr anchor="ctr">
            <a:spAutoFit/>
          </a:bodyPr>
          <a:lstStyle/>
          <a:p>
            <a:r>
              <a:rPr lang="fa-IR"/>
              <a:t>6- قطعات لازم :</a:t>
            </a:r>
          </a:p>
          <a:p>
            <a:endParaRPr lang="fa-IR"/>
          </a:p>
          <a:p>
            <a:endParaRPr lang="fa-IR"/>
          </a:p>
          <a:p>
            <a:endParaRPr lang="fa-IR"/>
          </a:p>
          <a:p>
            <a:endParaRPr lang="fa-IR"/>
          </a:p>
          <a:p>
            <a:endParaRPr lang="fa-IR"/>
          </a:p>
          <a:p>
            <a:endParaRPr lang="en-US"/>
          </a:p>
        </p:txBody>
      </p:sp>
      <p:sp>
        <p:nvSpPr>
          <p:cNvPr id="197637" name="Rectangle 8"/>
          <p:cNvSpPr>
            <a:spLocks noChangeArrowheads="1"/>
          </p:cNvSpPr>
          <p:nvPr/>
        </p:nvSpPr>
        <p:spPr bwMode="auto">
          <a:xfrm>
            <a:off x="827088" y="2925763"/>
            <a:ext cx="7489825" cy="2024062"/>
          </a:xfrm>
          <a:prstGeom prst="rect">
            <a:avLst/>
          </a:prstGeom>
          <a:solidFill>
            <a:schemeClr val="accent1"/>
          </a:solidFill>
          <a:ln w="9525" algn="ctr">
            <a:solidFill>
              <a:schemeClr val="tx1"/>
            </a:solidFill>
            <a:miter lim="800000"/>
            <a:headEnd/>
            <a:tailEnd/>
          </a:ln>
        </p:spPr>
        <p:txBody>
          <a:bodyPr anchor="ctr">
            <a:spAutoFit/>
          </a:bodyPr>
          <a:lstStyle/>
          <a:p>
            <a:pPr algn="r"/>
            <a:r>
              <a:rPr lang="fa-IR"/>
              <a:t>7- چارچوب نظري :</a:t>
            </a:r>
          </a:p>
          <a:p>
            <a:endParaRPr lang="fa-IR"/>
          </a:p>
          <a:p>
            <a:endParaRPr lang="fa-IR"/>
          </a:p>
          <a:p>
            <a:endParaRPr lang="fa-IR"/>
          </a:p>
          <a:p>
            <a:endParaRPr lang="fa-IR"/>
          </a:p>
          <a:p>
            <a:endParaRPr lang="fa-IR"/>
          </a:p>
          <a:p>
            <a:endParaRPr lang="en-US"/>
          </a:p>
        </p:txBody>
      </p:sp>
      <p:sp>
        <p:nvSpPr>
          <p:cNvPr id="197638" name="Rectangle 9"/>
          <p:cNvSpPr>
            <a:spLocks noChangeArrowheads="1"/>
          </p:cNvSpPr>
          <p:nvPr/>
        </p:nvSpPr>
        <p:spPr bwMode="auto">
          <a:xfrm>
            <a:off x="827088" y="4856163"/>
            <a:ext cx="7489825" cy="2024062"/>
          </a:xfrm>
          <a:prstGeom prst="rect">
            <a:avLst/>
          </a:prstGeom>
          <a:solidFill>
            <a:schemeClr val="accent1"/>
          </a:solidFill>
          <a:ln w="9525" algn="ctr">
            <a:solidFill>
              <a:schemeClr val="tx1"/>
            </a:solidFill>
            <a:miter lim="800000"/>
            <a:headEnd/>
            <a:tailEnd/>
          </a:ln>
        </p:spPr>
        <p:txBody>
          <a:bodyPr anchor="ctr">
            <a:spAutoFit/>
          </a:bodyPr>
          <a:lstStyle/>
          <a:p>
            <a:r>
              <a:rPr lang="fa-IR"/>
              <a:t>8- داده ها ( ترجيحا به صورت جدول ):</a:t>
            </a:r>
          </a:p>
          <a:p>
            <a:endParaRPr lang="fa-IR"/>
          </a:p>
          <a:p>
            <a:endParaRPr lang="fa-IR"/>
          </a:p>
          <a:p>
            <a:endParaRPr lang="fa-IR"/>
          </a:p>
          <a:p>
            <a:endParaRPr lang="fa-IR"/>
          </a:p>
          <a:p>
            <a:endParaRPr lang="fa-IR"/>
          </a:p>
          <a:p>
            <a:endParaRPr lang="en-US"/>
          </a:p>
        </p:txBody>
      </p:sp>
      <p:sp>
        <p:nvSpPr>
          <p:cNvPr id="7" name="Rectangle 6"/>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rrowheads="1"/>
          </p:cNvSpPr>
          <p:nvPr>
            <p:ph type="title"/>
          </p:nvPr>
        </p:nvSpPr>
        <p:spPr>
          <a:xfrm>
            <a:off x="5435600" y="0"/>
            <a:ext cx="3251200" cy="630238"/>
          </a:xfrm>
        </p:spPr>
        <p:txBody>
          <a:bodyPr/>
          <a:lstStyle/>
          <a:p>
            <a:pPr eaLnBrk="1" fontAlgn="auto" hangingPunct="1">
              <a:spcAft>
                <a:spcPts val="0"/>
              </a:spcAft>
              <a:defRPr/>
            </a:pPr>
            <a:r>
              <a:rPr lang="fa-IR" sz="2000" b="0" smtClean="0"/>
              <a:t>فرم گزارش آزمايشگاه (ادامه)</a:t>
            </a:r>
            <a:endParaRPr lang="en-US" sz="2000" b="0" smtClean="0"/>
          </a:p>
        </p:txBody>
      </p:sp>
      <p:sp>
        <p:nvSpPr>
          <p:cNvPr id="198659" name="Rectangle 5"/>
          <p:cNvSpPr>
            <a:spLocks noChangeArrowheads="1"/>
          </p:cNvSpPr>
          <p:nvPr/>
        </p:nvSpPr>
        <p:spPr bwMode="auto">
          <a:xfrm>
            <a:off x="755650" y="836613"/>
            <a:ext cx="7561263" cy="2938462"/>
          </a:xfrm>
          <a:prstGeom prst="rect">
            <a:avLst/>
          </a:prstGeom>
          <a:solidFill>
            <a:schemeClr val="accent1"/>
          </a:solidFill>
          <a:ln w="9525" algn="ctr">
            <a:solidFill>
              <a:schemeClr val="tx1"/>
            </a:solidFill>
            <a:miter lim="800000"/>
            <a:headEnd/>
            <a:tailEnd/>
          </a:ln>
        </p:spPr>
        <p:txBody>
          <a:bodyPr anchor="ctr">
            <a:spAutoFit/>
          </a:bodyPr>
          <a:lstStyle/>
          <a:p>
            <a:pPr algn="r"/>
            <a:r>
              <a:rPr lang="fa-IR" sz="2400"/>
              <a:t>9- روش :</a:t>
            </a:r>
          </a:p>
          <a:p>
            <a:endParaRPr lang="fa-IR"/>
          </a:p>
          <a:p>
            <a:endParaRPr lang="fa-IR"/>
          </a:p>
          <a:p>
            <a:endParaRPr lang="fa-IR"/>
          </a:p>
          <a:p>
            <a:endParaRPr lang="fa-IR"/>
          </a:p>
          <a:p>
            <a:endParaRPr lang="fa-IR"/>
          </a:p>
          <a:p>
            <a:endParaRPr lang="fa-IR"/>
          </a:p>
          <a:p>
            <a:endParaRPr lang="fa-IR"/>
          </a:p>
          <a:p>
            <a:endParaRPr lang="fa-IR"/>
          </a:p>
          <a:p>
            <a:endParaRPr lang="en-US"/>
          </a:p>
        </p:txBody>
      </p:sp>
      <p:sp>
        <p:nvSpPr>
          <p:cNvPr id="198660" name="Rectangle 6"/>
          <p:cNvSpPr>
            <a:spLocks noChangeArrowheads="1"/>
          </p:cNvSpPr>
          <p:nvPr/>
        </p:nvSpPr>
        <p:spPr bwMode="auto">
          <a:xfrm>
            <a:off x="755650" y="3956050"/>
            <a:ext cx="7561263" cy="2938463"/>
          </a:xfrm>
          <a:prstGeom prst="rect">
            <a:avLst/>
          </a:prstGeom>
          <a:solidFill>
            <a:schemeClr val="accent1"/>
          </a:solidFill>
          <a:ln w="9525" algn="ctr">
            <a:solidFill>
              <a:schemeClr val="tx1"/>
            </a:solidFill>
            <a:miter lim="800000"/>
            <a:headEnd/>
            <a:tailEnd/>
          </a:ln>
        </p:spPr>
        <p:txBody>
          <a:bodyPr anchor="ctr">
            <a:spAutoFit/>
          </a:bodyPr>
          <a:lstStyle/>
          <a:p>
            <a:pPr algn="r"/>
            <a:r>
              <a:rPr lang="fa-IR" sz="2400"/>
              <a:t>10- شرح ديده ها:</a:t>
            </a:r>
            <a:r>
              <a:rPr lang="fa-IR"/>
              <a:t> </a:t>
            </a:r>
          </a:p>
          <a:p>
            <a:endParaRPr lang="fa-IR"/>
          </a:p>
          <a:p>
            <a:endParaRPr lang="fa-IR"/>
          </a:p>
          <a:p>
            <a:endParaRPr lang="fa-IR"/>
          </a:p>
          <a:p>
            <a:endParaRPr lang="fa-IR"/>
          </a:p>
          <a:p>
            <a:endParaRPr lang="fa-IR"/>
          </a:p>
          <a:p>
            <a:endParaRPr lang="fa-IR"/>
          </a:p>
          <a:p>
            <a:endParaRPr lang="fa-IR"/>
          </a:p>
          <a:p>
            <a:endParaRPr lang="fa-IR"/>
          </a:p>
          <a:p>
            <a:endParaRPr lang="en-US"/>
          </a:p>
        </p:txBody>
      </p:sp>
      <p:sp>
        <p:nvSpPr>
          <p:cNvPr id="5" name="Rectangle 4"/>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6" name="Rectangle 4"/>
          <p:cNvSpPr>
            <a:spLocks noGrp="1" noChangeArrowheads="1"/>
          </p:cNvSpPr>
          <p:nvPr>
            <p:ph type="title"/>
          </p:nvPr>
        </p:nvSpPr>
        <p:spPr>
          <a:xfrm>
            <a:off x="6119813" y="260350"/>
            <a:ext cx="3024187" cy="487363"/>
          </a:xfrm>
        </p:spPr>
        <p:txBody>
          <a:bodyPr anchorCtr="1"/>
          <a:lstStyle/>
          <a:p>
            <a:pPr eaLnBrk="1" fontAlgn="auto" hangingPunct="1">
              <a:spcAft>
                <a:spcPts val="0"/>
              </a:spcAft>
              <a:defRPr/>
            </a:pPr>
            <a:r>
              <a:rPr lang="fa-IR" sz="2000" b="0" smtClean="0"/>
              <a:t>فرم گزارش آزمايشگاه (ادامه)</a:t>
            </a:r>
            <a:endParaRPr lang="en-US" sz="2000" b="0" smtClean="0"/>
          </a:p>
        </p:txBody>
      </p:sp>
      <p:sp>
        <p:nvSpPr>
          <p:cNvPr id="199683" name="Rectangle 5"/>
          <p:cNvSpPr>
            <a:spLocks noChangeArrowheads="1"/>
          </p:cNvSpPr>
          <p:nvPr/>
        </p:nvSpPr>
        <p:spPr bwMode="auto">
          <a:xfrm>
            <a:off x="755650" y="654050"/>
            <a:ext cx="7561263" cy="3303588"/>
          </a:xfrm>
          <a:prstGeom prst="rect">
            <a:avLst/>
          </a:prstGeom>
          <a:solidFill>
            <a:schemeClr val="accent1"/>
          </a:solidFill>
          <a:ln w="9525" algn="ctr">
            <a:solidFill>
              <a:schemeClr val="tx1"/>
            </a:solidFill>
            <a:miter lim="800000"/>
            <a:headEnd/>
            <a:tailEnd/>
          </a:ln>
        </p:spPr>
        <p:txBody>
          <a:bodyPr anchor="ctr">
            <a:spAutoFit/>
          </a:bodyPr>
          <a:lstStyle/>
          <a:p>
            <a:pPr algn="r"/>
            <a:r>
              <a:rPr lang="fa-IR" sz="2400"/>
              <a:t>11- جدول و نمودارهاي خواسته شده در دفترچه راهنماي آزمايش (نمودارها در كاغذهاي ويژه رسم شود)</a:t>
            </a:r>
          </a:p>
          <a:p>
            <a:endParaRPr lang="fa-IR"/>
          </a:p>
          <a:p>
            <a:endParaRPr lang="fa-IR"/>
          </a:p>
          <a:p>
            <a:endParaRPr lang="fa-IR"/>
          </a:p>
          <a:p>
            <a:endParaRPr lang="fa-IR"/>
          </a:p>
          <a:p>
            <a:endParaRPr lang="fa-IR"/>
          </a:p>
          <a:p>
            <a:endParaRPr lang="fa-IR"/>
          </a:p>
          <a:p>
            <a:endParaRPr lang="fa-IR"/>
          </a:p>
          <a:p>
            <a:endParaRPr lang="fa-IR"/>
          </a:p>
          <a:p>
            <a:endParaRPr lang="en-US"/>
          </a:p>
        </p:txBody>
      </p:sp>
      <p:sp>
        <p:nvSpPr>
          <p:cNvPr id="199684" name="Rectangle 6"/>
          <p:cNvSpPr>
            <a:spLocks noChangeArrowheads="1"/>
          </p:cNvSpPr>
          <p:nvPr/>
        </p:nvSpPr>
        <p:spPr bwMode="auto">
          <a:xfrm>
            <a:off x="755650" y="3956050"/>
            <a:ext cx="7561263" cy="2938463"/>
          </a:xfrm>
          <a:prstGeom prst="rect">
            <a:avLst/>
          </a:prstGeom>
          <a:solidFill>
            <a:schemeClr val="accent1"/>
          </a:solidFill>
          <a:ln w="9525" algn="ctr">
            <a:solidFill>
              <a:schemeClr val="tx1"/>
            </a:solidFill>
            <a:miter lim="800000"/>
            <a:headEnd/>
            <a:tailEnd/>
          </a:ln>
        </p:spPr>
        <p:txBody>
          <a:bodyPr anchor="ctr">
            <a:spAutoFit/>
          </a:bodyPr>
          <a:lstStyle/>
          <a:p>
            <a:pPr algn="r"/>
            <a:r>
              <a:rPr lang="fa-IR" sz="2400"/>
              <a:t>12- نتايج اصلي :</a:t>
            </a:r>
            <a:r>
              <a:rPr lang="fa-IR"/>
              <a:t> </a:t>
            </a:r>
          </a:p>
          <a:p>
            <a:endParaRPr lang="fa-IR"/>
          </a:p>
          <a:p>
            <a:endParaRPr lang="fa-IR"/>
          </a:p>
          <a:p>
            <a:endParaRPr lang="fa-IR"/>
          </a:p>
          <a:p>
            <a:endParaRPr lang="fa-IR"/>
          </a:p>
          <a:p>
            <a:endParaRPr lang="fa-IR"/>
          </a:p>
          <a:p>
            <a:endParaRPr lang="fa-IR"/>
          </a:p>
          <a:p>
            <a:endParaRPr lang="fa-IR"/>
          </a:p>
          <a:p>
            <a:endParaRPr lang="fa-IR"/>
          </a:p>
          <a:p>
            <a:endParaRPr lang="en-US"/>
          </a:p>
        </p:txBody>
      </p:sp>
      <p:sp>
        <p:nvSpPr>
          <p:cNvPr id="5" name="Rectangle 4"/>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Rot="1" noChangeArrowheads="1"/>
          </p:cNvSpPr>
          <p:nvPr>
            <p:ph type="title"/>
          </p:nvPr>
        </p:nvSpPr>
        <p:spPr>
          <a:xfrm>
            <a:off x="5824538" y="244475"/>
            <a:ext cx="3017837" cy="612775"/>
          </a:xfrm>
        </p:spPr>
        <p:txBody>
          <a:bodyPr/>
          <a:lstStyle/>
          <a:p>
            <a:pPr eaLnBrk="1" fontAlgn="auto" hangingPunct="1">
              <a:spcAft>
                <a:spcPts val="0"/>
              </a:spcAft>
              <a:defRPr/>
            </a:pPr>
            <a:r>
              <a:rPr lang="fa-IR" sz="2000" b="0" smtClean="0"/>
              <a:t>فرم گزارش آزمايشگاه (ادامه )</a:t>
            </a:r>
            <a:endParaRPr lang="en-US" sz="2000" b="0" smtClean="0"/>
          </a:p>
        </p:txBody>
      </p:sp>
      <p:sp>
        <p:nvSpPr>
          <p:cNvPr id="200707" name="Rectangle 6"/>
          <p:cNvSpPr>
            <a:spLocks noChangeArrowheads="1"/>
          </p:cNvSpPr>
          <p:nvPr/>
        </p:nvSpPr>
        <p:spPr bwMode="auto">
          <a:xfrm>
            <a:off x="971550" y="908050"/>
            <a:ext cx="7561263" cy="4800600"/>
          </a:xfrm>
          <a:prstGeom prst="rect">
            <a:avLst/>
          </a:prstGeom>
          <a:solidFill>
            <a:schemeClr val="accent1"/>
          </a:solidFill>
          <a:ln w="9525" algn="ctr">
            <a:solidFill>
              <a:schemeClr val="tx1"/>
            </a:solidFill>
            <a:miter lim="800000"/>
            <a:headEnd/>
            <a:tailEnd/>
          </a:ln>
        </p:spPr>
        <p:txBody>
          <a:bodyPr anchor="ctr">
            <a:spAutoFit/>
          </a:bodyPr>
          <a:lstStyle/>
          <a:p>
            <a:pPr algn="r"/>
            <a:r>
              <a:rPr lang="fa-IR" sz="2000"/>
              <a:t>13- پاسخ به پرسشهاي كتابچه راهنما:</a:t>
            </a:r>
            <a:r>
              <a:rPr lang="fa-IR"/>
              <a:t> </a:t>
            </a:r>
          </a:p>
          <a:p>
            <a:pPr algn="r"/>
            <a:endParaRPr lang="fa-IR"/>
          </a:p>
          <a:p>
            <a:pPr algn="r"/>
            <a:endParaRPr lang="fa-IR"/>
          </a:p>
          <a:p>
            <a:pPr algn="r"/>
            <a:endParaRPr lang="fa-IR"/>
          </a:p>
          <a:p>
            <a:pPr algn="r"/>
            <a:endParaRPr lang="fa-IR"/>
          </a:p>
          <a:p>
            <a:pPr algn="r"/>
            <a:endParaRPr lang="fa-IR"/>
          </a:p>
          <a:p>
            <a:pPr algn="r"/>
            <a:endParaRPr lang="fa-IR"/>
          </a:p>
          <a:p>
            <a:pPr algn="r"/>
            <a:endParaRPr lang="fa-IR"/>
          </a:p>
          <a:p>
            <a:endParaRPr lang="fa-IR"/>
          </a:p>
          <a:p>
            <a:endParaRPr lang="fa-IR"/>
          </a:p>
          <a:p>
            <a:endParaRPr lang="fa-IR"/>
          </a:p>
          <a:p>
            <a:endParaRPr lang="fa-IR"/>
          </a:p>
          <a:p>
            <a:endParaRPr lang="fa-IR"/>
          </a:p>
          <a:p>
            <a:endParaRPr lang="fa-IR"/>
          </a:p>
          <a:p>
            <a:endParaRPr lang="fa-IR"/>
          </a:p>
          <a:p>
            <a:endParaRPr lang="fa-IR"/>
          </a:p>
          <a:p>
            <a:endParaRPr lang="en-US"/>
          </a:p>
        </p:txBody>
      </p:sp>
      <p:sp>
        <p:nvSpPr>
          <p:cNvPr id="200708" name="Rectangle 7"/>
          <p:cNvSpPr>
            <a:spLocks noChangeArrowheads="1"/>
          </p:cNvSpPr>
          <p:nvPr/>
        </p:nvSpPr>
        <p:spPr bwMode="auto">
          <a:xfrm>
            <a:off x="971550" y="5657850"/>
            <a:ext cx="3673475" cy="1200150"/>
          </a:xfrm>
          <a:prstGeom prst="rect">
            <a:avLst/>
          </a:prstGeom>
          <a:solidFill>
            <a:schemeClr val="accent1"/>
          </a:solidFill>
          <a:ln w="9525" algn="ctr">
            <a:solidFill>
              <a:schemeClr val="tx1"/>
            </a:solidFill>
            <a:miter lim="800000"/>
            <a:headEnd/>
            <a:tailEnd/>
          </a:ln>
        </p:spPr>
        <p:txBody>
          <a:bodyPr anchor="ctr">
            <a:spAutoFit/>
          </a:bodyPr>
          <a:lstStyle/>
          <a:p>
            <a:pPr algn="r"/>
            <a:r>
              <a:rPr lang="fa-IR"/>
              <a:t>نام نام خانوادگي آزمايشگر :</a:t>
            </a:r>
          </a:p>
          <a:p>
            <a:pPr algn="r"/>
            <a:r>
              <a:rPr lang="fa-IR"/>
              <a:t>امضا: </a:t>
            </a:r>
          </a:p>
          <a:p>
            <a:endParaRPr lang="fa-IR"/>
          </a:p>
          <a:p>
            <a:endParaRPr lang="en-US"/>
          </a:p>
        </p:txBody>
      </p:sp>
      <p:sp>
        <p:nvSpPr>
          <p:cNvPr id="5" name="Rectangle 4"/>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Text Box 4">
            <a:hlinkClick r:id="rId2" action="ppaction://hlinksldjump"/>
          </p:cNvPr>
          <p:cNvSpPr txBox="1">
            <a:spLocks noChangeArrowheads="1"/>
          </p:cNvSpPr>
          <p:nvPr/>
        </p:nvSpPr>
        <p:spPr bwMode="auto">
          <a:xfrm>
            <a:off x="755650" y="2503488"/>
            <a:ext cx="7634288" cy="1446550"/>
          </a:xfrm>
          <a:prstGeom prst="rect">
            <a:avLst/>
          </a:prstGeom>
          <a:noFill/>
          <a:ln w="9525">
            <a:noFill/>
            <a:miter lim="800000"/>
            <a:headEnd/>
            <a:tailEnd/>
          </a:ln>
        </p:spPr>
        <p:txBody>
          <a:bodyPr>
            <a:spAutoFit/>
          </a:bodyPr>
          <a:lstStyle/>
          <a:p>
            <a:pPr rtl="1"/>
            <a:r>
              <a:rPr lang="fa-IR" sz="4400" dirty="0">
                <a:solidFill>
                  <a:schemeClr val="tx1"/>
                </a:solidFill>
                <a:cs typeface="B Titr" panose="00000700000000000000" pitchFamily="2" charset="-78"/>
              </a:rPr>
              <a:t>مقاله، گزارش و </a:t>
            </a:r>
            <a:r>
              <a:rPr lang="fa-IR" sz="4400" dirty="0" err="1">
                <a:solidFill>
                  <a:schemeClr val="tx1"/>
                </a:solidFill>
                <a:cs typeface="B Titr" panose="00000700000000000000" pitchFamily="2" charset="-78"/>
              </a:rPr>
              <a:t>ارائه‌هاي</a:t>
            </a:r>
            <a:r>
              <a:rPr lang="fa-IR" sz="4400" dirty="0">
                <a:solidFill>
                  <a:schemeClr val="tx1"/>
                </a:solidFill>
                <a:cs typeface="B Titr" panose="00000700000000000000" pitchFamily="2" charset="-78"/>
              </a:rPr>
              <a:t> </a:t>
            </a:r>
            <a:r>
              <a:rPr lang="fa-IR" sz="4400" dirty="0" err="1">
                <a:solidFill>
                  <a:schemeClr val="tx1"/>
                </a:solidFill>
                <a:cs typeface="B Titr" panose="00000700000000000000" pitchFamily="2" charset="-78"/>
              </a:rPr>
              <a:t>غير</a:t>
            </a:r>
            <a:r>
              <a:rPr lang="fa-IR" sz="4400" dirty="0">
                <a:solidFill>
                  <a:schemeClr val="tx1"/>
                </a:solidFill>
                <a:cs typeface="B Titr" panose="00000700000000000000" pitchFamily="2" charset="-78"/>
              </a:rPr>
              <a:t> </a:t>
            </a:r>
            <a:r>
              <a:rPr lang="fa-IR" sz="4400" dirty="0" err="1">
                <a:solidFill>
                  <a:schemeClr val="tx1"/>
                </a:solidFill>
                <a:cs typeface="B Titr" panose="00000700000000000000" pitchFamily="2" charset="-78"/>
              </a:rPr>
              <a:t>دانشگاهي</a:t>
            </a:r>
            <a:endParaRPr lang="en-US" sz="4400" dirty="0">
              <a:solidFill>
                <a:schemeClr val="tx1"/>
              </a:solidFill>
              <a:cs typeface="B Titr" panose="00000700000000000000" pitchFamily="2" charset="-78"/>
            </a:endParaRPr>
          </a:p>
        </p:txBody>
      </p:sp>
    </p:spTree>
  </p:cSld>
  <p:clrMapOvr>
    <a:masterClrMapping/>
  </p:clrMapOvr>
  <p:transition spd="med">
    <p:wipe dir="d"/>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3"/>
          <p:cNvSpPr>
            <a:spLocks noGrp="1" noChangeArrowheads="1"/>
          </p:cNvSpPr>
          <p:nvPr>
            <p:ph idx="1"/>
          </p:nvPr>
        </p:nvSpPr>
        <p:spPr/>
        <p:txBody>
          <a:bodyPr/>
          <a:lstStyle/>
          <a:p>
            <a:pPr algn="justLow" rtl="1" eaLnBrk="1" hangingPunct="1">
              <a:buFont typeface="Wingdings" pitchFamily="2" charset="2"/>
              <a:buNone/>
            </a:pPr>
            <a:r>
              <a:rPr lang="fa-IR" b="1" smtClean="0"/>
              <a:t>مقاله گونه ای نوشتار علمی – فنی است که در محافل دانشگاهی و نیز مراکز پژوهشی بسیار رایج است در این نوشتار یک موضوع مشخص ، واحد و بخوبی محدود شده  مطرح می شود و یا به مسئله ای به روشنی تعریف شده ، پر داخته می شود . پژوهشگران معمولا یافتارهای تازه خود را به صورت مقاله در کنفرانسهای علمی و یا در نشریات پژوهشی ارائه می کنند .</a:t>
            </a:r>
            <a:endParaRPr lang="en-US" b="1" smtClean="0"/>
          </a:p>
        </p:txBody>
      </p:sp>
      <p:sp>
        <p:nvSpPr>
          <p:cNvPr id="23347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dirty="0" smtClean="0">
                <a:solidFill>
                  <a:srgbClr val="FF0000"/>
                </a:solidFill>
                <a:effectLst/>
                <a:cs typeface="B Titr" pitchFamily="2" charset="-78"/>
              </a:rPr>
              <a:t>مقاله :</a:t>
            </a:r>
            <a:endParaRPr lang="en-US" sz="37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3"/>
          <p:cNvSpPr>
            <a:spLocks noGrp="1" noChangeArrowheads="1"/>
          </p:cNvSpPr>
          <p:nvPr>
            <p:ph idx="1"/>
          </p:nvPr>
        </p:nvSpPr>
        <p:spPr>
          <a:xfrm>
            <a:off x="457200" y="1600200"/>
            <a:ext cx="8229600" cy="2836863"/>
          </a:xfrm>
        </p:spPr>
        <p:txBody>
          <a:bodyPr/>
          <a:lstStyle/>
          <a:p>
            <a:pPr marL="609600" indent="-609600" algn="r" rtl="1" eaLnBrk="1" hangingPunct="1">
              <a:buFont typeface="Wingdings" pitchFamily="2" charset="2"/>
              <a:buAutoNum type="arabicPeriod"/>
            </a:pPr>
            <a:r>
              <a:rPr lang="fa-IR" b="1" smtClean="0"/>
              <a:t>مقاله پژوهشی اصیل </a:t>
            </a:r>
          </a:p>
          <a:p>
            <a:pPr marL="609600" indent="-609600" algn="r" rtl="1" eaLnBrk="1" hangingPunct="1">
              <a:buFont typeface="Wingdings" pitchFamily="2" charset="2"/>
              <a:buAutoNum type="arabicPeriod"/>
            </a:pPr>
            <a:r>
              <a:rPr lang="fa-IR" b="1" smtClean="0"/>
              <a:t>مقاله تحلیلی </a:t>
            </a:r>
          </a:p>
          <a:p>
            <a:pPr marL="609600" indent="-609600" algn="r" rtl="1" eaLnBrk="1" hangingPunct="1">
              <a:buFont typeface="Wingdings" pitchFamily="2" charset="2"/>
              <a:buAutoNum type="arabicPeriod"/>
            </a:pPr>
            <a:r>
              <a:rPr lang="fa-IR" b="1" smtClean="0"/>
              <a:t>مقاله تالیفی </a:t>
            </a:r>
            <a:endParaRPr lang="en-US" b="1" smtClean="0"/>
          </a:p>
          <a:p>
            <a:pPr marL="609600" indent="-609600" algn="r" rtl="1" eaLnBrk="1" hangingPunct="1">
              <a:buFont typeface="Wingdings" pitchFamily="2" charset="2"/>
              <a:buAutoNum type="arabicPeriod"/>
            </a:pPr>
            <a:r>
              <a:rPr lang="fa-IR" b="1" smtClean="0"/>
              <a:t>مقاله گزارشی</a:t>
            </a:r>
            <a:r>
              <a:rPr lang="en-US" smtClean="0"/>
              <a:t> </a:t>
            </a:r>
          </a:p>
        </p:txBody>
      </p:sp>
      <p:sp>
        <p:nvSpPr>
          <p:cNvPr id="23449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انواع مقاله از نظر کیفیت و میزان اعتبار علمی  : </a:t>
            </a:r>
            <a:endParaRPr lang="en-US" sz="3700" smtClean="0">
              <a:solidFill>
                <a:srgbClr val="FF0000"/>
              </a:solidFill>
              <a:effectLst/>
              <a:cs typeface="B Titr" pitchFamily="2" charset="-78"/>
            </a:endParaRPr>
          </a:p>
        </p:txBody>
      </p:sp>
      <p:sp>
        <p:nvSpPr>
          <p:cNvPr id="205828" name="Rectangle 4"/>
          <p:cNvSpPr>
            <a:spLocks noChangeArrowheads="1"/>
          </p:cNvSpPr>
          <p:nvPr/>
        </p:nvSpPr>
        <p:spPr bwMode="auto">
          <a:xfrm>
            <a:off x="2555875" y="4591050"/>
            <a:ext cx="3959225" cy="1562100"/>
          </a:xfrm>
          <a:prstGeom prst="rect">
            <a:avLst/>
          </a:prstGeom>
          <a:solidFill>
            <a:schemeClr val="accent1"/>
          </a:solidFill>
          <a:ln w="9525" algn="ctr">
            <a:solidFill>
              <a:schemeClr val="tx1"/>
            </a:solidFill>
            <a:miter lim="800000"/>
            <a:headEnd/>
            <a:tailEnd/>
          </a:ln>
        </p:spPr>
        <p:txBody>
          <a:bodyPr anchor="ctr">
            <a:spAutoFit/>
          </a:bodyPr>
          <a:lstStyle/>
          <a:p>
            <a:pPr algn="justLow"/>
            <a:r>
              <a:rPr lang="fa-IR" sz="2400">
                <a:solidFill>
                  <a:schemeClr val="tx1"/>
                </a:solidFill>
              </a:rPr>
              <a:t>هر یک از انواع این مقاله ها ممکن است طی فعالیتهای پژوهشی بنیادی ،</a:t>
            </a:r>
          </a:p>
          <a:p>
            <a:r>
              <a:rPr lang="fa-IR" sz="2400">
                <a:solidFill>
                  <a:schemeClr val="tx1"/>
                </a:solidFill>
              </a:rPr>
              <a:t> پژوهشی کاربردی و یا پژوهشی توسعه ای  نوشته و ارائه شوند</a:t>
            </a:r>
            <a:r>
              <a:rPr lang="fa-IR">
                <a:solidFill>
                  <a:schemeClr val="tx1"/>
                </a:solidFill>
              </a:rPr>
              <a:t> .</a:t>
            </a:r>
            <a:endParaRPr lang="en-US">
              <a:solidFill>
                <a:schemeClr val="tx1"/>
              </a:solidFill>
            </a:endParaRPr>
          </a:p>
        </p:txBody>
      </p:sp>
    </p:spTree>
  </p:cSld>
  <p:clrMapOvr>
    <a:masterClrMapping/>
  </p:clrMapOvr>
  <p:transition spd="med">
    <p:wipe dir="d"/>
  </p:transition>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3"/>
          <p:cNvSpPr>
            <a:spLocks noGrp="1" noChangeArrowheads="1"/>
          </p:cNvSpPr>
          <p:nvPr>
            <p:ph idx="1"/>
          </p:nvPr>
        </p:nvSpPr>
        <p:spPr/>
        <p:txBody>
          <a:bodyPr/>
          <a:lstStyle/>
          <a:p>
            <a:pPr marL="609600" indent="-609600" algn="r" rtl="1" eaLnBrk="1" hangingPunct="1">
              <a:lnSpc>
                <a:spcPct val="80000"/>
              </a:lnSpc>
            </a:pPr>
            <a:r>
              <a:rPr lang="fa-IR" sz="2400" b="1" smtClean="0"/>
              <a:t>عنوان مقاله</a:t>
            </a:r>
          </a:p>
          <a:p>
            <a:pPr marL="609600" indent="-609600" algn="r" rtl="1" eaLnBrk="1" hangingPunct="1">
              <a:lnSpc>
                <a:spcPct val="80000"/>
              </a:lnSpc>
            </a:pPr>
            <a:r>
              <a:rPr lang="fa-IR" sz="2400" b="1" smtClean="0"/>
              <a:t>نام و نام خانوادگی نویسنده</a:t>
            </a:r>
          </a:p>
          <a:p>
            <a:pPr marL="609600" indent="-609600" algn="r" rtl="1" eaLnBrk="1" hangingPunct="1">
              <a:lnSpc>
                <a:spcPct val="80000"/>
              </a:lnSpc>
            </a:pPr>
            <a:r>
              <a:rPr lang="fa-IR" sz="2400" b="1" smtClean="0"/>
              <a:t>وضعیت نویسنده از نظر شغلی ( عنوان سازمانی )  </a:t>
            </a:r>
          </a:p>
          <a:p>
            <a:pPr marL="609600" indent="-609600" algn="r" rtl="1" eaLnBrk="1" hangingPunct="1">
              <a:lnSpc>
                <a:spcPct val="80000"/>
              </a:lnSpc>
            </a:pPr>
            <a:r>
              <a:rPr lang="fa-IR" sz="2400" b="1" smtClean="0"/>
              <a:t>عنوان محل کا ر نویسنده </a:t>
            </a:r>
          </a:p>
          <a:p>
            <a:pPr marL="609600" indent="-609600" algn="r" rtl="1" eaLnBrk="1" hangingPunct="1">
              <a:lnSpc>
                <a:spcPct val="80000"/>
              </a:lnSpc>
            </a:pPr>
            <a:r>
              <a:rPr lang="fa-IR" sz="2400" b="1" smtClean="0"/>
              <a:t>چکیده ( در حد یک پااراگراف )</a:t>
            </a:r>
          </a:p>
          <a:p>
            <a:pPr marL="609600" indent="-609600" algn="r" rtl="1" eaLnBrk="1" hangingPunct="1">
              <a:lnSpc>
                <a:spcPct val="80000"/>
              </a:lnSpc>
            </a:pPr>
            <a:r>
              <a:rPr lang="fa-IR" sz="2400" b="1" smtClean="0"/>
              <a:t>مقدمه ( که جزء متن اصلی است )</a:t>
            </a:r>
          </a:p>
          <a:p>
            <a:pPr marL="609600" indent="-609600" algn="r" rtl="1" eaLnBrk="1" hangingPunct="1">
              <a:lnSpc>
                <a:spcPct val="80000"/>
              </a:lnSpc>
            </a:pPr>
            <a:r>
              <a:rPr lang="fa-IR" sz="2400" b="1" smtClean="0"/>
              <a:t>بخشهای متن اصلی</a:t>
            </a:r>
          </a:p>
          <a:p>
            <a:pPr marL="609600" indent="-609600" algn="r" rtl="1" eaLnBrk="1" hangingPunct="1">
              <a:lnSpc>
                <a:spcPct val="80000"/>
              </a:lnSpc>
            </a:pPr>
            <a:r>
              <a:rPr lang="fa-IR" sz="2400" b="1" smtClean="0"/>
              <a:t>نتیجه گیری </a:t>
            </a:r>
          </a:p>
          <a:p>
            <a:pPr marL="609600" indent="-609600" algn="r" rtl="1" eaLnBrk="1" hangingPunct="1">
              <a:lnSpc>
                <a:spcPct val="80000"/>
              </a:lnSpc>
            </a:pPr>
            <a:r>
              <a:rPr lang="fa-IR" sz="2400" b="1" smtClean="0"/>
              <a:t>خلاصه </a:t>
            </a:r>
          </a:p>
          <a:p>
            <a:pPr marL="609600" indent="-609600" algn="r" rtl="1" eaLnBrk="1" hangingPunct="1">
              <a:lnSpc>
                <a:spcPct val="80000"/>
              </a:lnSpc>
            </a:pPr>
            <a:r>
              <a:rPr lang="fa-IR" sz="2400" b="1" smtClean="0"/>
              <a:t>سپاسگزاری </a:t>
            </a:r>
          </a:p>
          <a:p>
            <a:pPr marL="609600" indent="-609600" algn="r" rtl="1" eaLnBrk="1" hangingPunct="1">
              <a:lnSpc>
                <a:spcPct val="80000"/>
              </a:lnSpc>
            </a:pPr>
            <a:r>
              <a:rPr lang="fa-IR" sz="2400" b="1" smtClean="0"/>
              <a:t>فهرست منابع </a:t>
            </a:r>
          </a:p>
          <a:p>
            <a:pPr marL="609600" indent="-609600" algn="r" rtl="1" eaLnBrk="1" hangingPunct="1">
              <a:lnSpc>
                <a:spcPct val="80000"/>
              </a:lnSpc>
            </a:pPr>
            <a:r>
              <a:rPr lang="fa-IR" sz="2400" b="1" smtClean="0"/>
              <a:t>معرفی مختصر نویسنده و نشانی تماس</a:t>
            </a:r>
            <a:r>
              <a:rPr lang="fa-IR" sz="2400" smtClean="0"/>
              <a:t> </a:t>
            </a:r>
            <a:endParaRPr lang="en-US" sz="2400" smtClean="0"/>
          </a:p>
        </p:txBody>
      </p:sp>
      <p:sp>
        <p:nvSpPr>
          <p:cNvPr id="23552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اجزاء مقاله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3"/>
          <p:cNvSpPr>
            <a:spLocks noGrp="1" noChangeArrowheads="1"/>
          </p:cNvSpPr>
          <p:nvPr>
            <p:ph idx="1"/>
          </p:nvPr>
        </p:nvSpPr>
        <p:spPr/>
        <p:txBody>
          <a:bodyPr/>
          <a:lstStyle/>
          <a:p>
            <a:pPr algn="r" rtl="1" eaLnBrk="1" hangingPunct="1">
              <a:lnSpc>
                <a:spcPct val="90000"/>
              </a:lnSpc>
            </a:pPr>
            <a:r>
              <a:rPr lang="fa-IR" sz="2400" b="1" smtClean="0"/>
              <a:t>مقاله معمولا فهرست مطالب ندارد  اما در بعضی از مجلات علمی فهرست کوتاه مطالب در حاشیه صفحه اول یا دوم مقاله درج می شود .</a:t>
            </a:r>
            <a:endParaRPr lang="en-US" sz="2400" smtClean="0"/>
          </a:p>
          <a:p>
            <a:pPr algn="r" rtl="1" eaLnBrk="1" hangingPunct="1">
              <a:lnSpc>
                <a:spcPct val="90000"/>
              </a:lnSpc>
            </a:pPr>
            <a:r>
              <a:rPr lang="fa-IR" sz="2400" b="1" smtClean="0"/>
              <a:t>اندازه مقاله علمی یا علمی –فنی  معمولا بین 6 تا 12 صفحه است </a:t>
            </a:r>
            <a:endParaRPr lang="en-US" sz="2400" smtClean="0"/>
          </a:p>
          <a:p>
            <a:pPr algn="r" rtl="1" eaLnBrk="1" hangingPunct="1">
              <a:lnSpc>
                <a:spcPct val="90000"/>
              </a:lnSpc>
            </a:pPr>
            <a:r>
              <a:rPr lang="fa-IR" sz="2400" b="1" smtClean="0"/>
              <a:t>در انتهای چکیده مفاهیم اصلی یا اصطلاحات کلیدی مقاله باید قید شوند </a:t>
            </a:r>
            <a:endParaRPr lang="en-US" sz="2400" smtClean="0"/>
          </a:p>
          <a:p>
            <a:pPr algn="r" rtl="1" eaLnBrk="1" hangingPunct="1">
              <a:lnSpc>
                <a:spcPct val="90000"/>
              </a:lnSpc>
            </a:pPr>
            <a:r>
              <a:rPr lang="fa-IR" sz="2400" b="1" smtClean="0"/>
              <a:t>مقاله معمولا بین 6 تا 10 عنوان داخلی سطح اول دارد و تعداد سطوح در عناوین داخلی معمولا بیش از 3 نیست .</a:t>
            </a:r>
            <a:endParaRPr lang="en-US" sz="2400" smtClean="0"/>
          </a:p>
          <a:p>
            <a:pPr algn="r" rtl="1" eaLnBrk="1" hangingPunct="1">
              <a:lnSpc>
                <a:spcPct val="90000"/>
              </a:lnSpc>
            </a:pPr>
            <a:r>
              <a:rPr lang="fa-IR" sz="2400" b="1" smtClean="0"/>
              <a:t>تعداد منابع مقاله محدودیتی ندارد اما مقاله تهیه شده در دوره کارشناسی (مثلا برای درج در مجلات دانشجویی ) معمولا تا 7 منبع دارد</a:t>
            </a:r>
            <a:endParaRPr lang="en-US" sz="2400" smtClean="0"/>
          </a:p>
          <a:p>
            <a:pPr algn="r" rtl="1" eaLnBrk="1" hangingPunct="1">
              <a:lnSpc>
                <a:spcPct val="90000"/>
              </a:lnSpc>
            </a:pPr>
            <a:r>
              <a:rPr lang="fa-IR" sz="2400" b="1" smtClean="0"/>
              <a:t>معمولا عنوان مقاله با حروف درشتر نوشته می شود</a:t>
            </a:r>
            <a:endParaRPr lang="en-US" sz="2400" smtClean="0"/>
          </a:p>
          <a:p>
            <a:pPr algn="r" rtl="1" eaLnBrk="1" hangingPunct="1">
              <a:lnSpc>
                <a:spcPct val="90000"/>
              </a:lnSpc>
            </a:pPr>
            <a:r>
              <a:rPr lang="fa-IR" sz="2400" b="1" smtClean="0"/>
              <a:t>بعد از صفحه اول مقاله بقیه صفحات با رعایت فاصله لازم از دو کران راست و چپ، بالا و پایین کاغذ مثل قسمت مقدمه درج می شود</a:t>
            </a:r>
            <a:r>
              <a:rPr lang="en-US" sz="2400" smtClean="0"/>
              <a:t> </a:t>
            </a:r>
          </a:p>
        </p:txBody>
      </p:sp>
      <p:sp>
        <p:nvSpPr>
          <p:cNvPr id="23654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نکاتی در مورد مقاله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5"/>
          <p:cNvSpPr>
            <a:spLocks noChangeArrowheads="1"/>
          </p:cNvSpPr>
          <p:nvPr/>
        </p:nvSpPr>
        <p:spPr bwMode="auto">
          <a:xfrm>
            <a:off x="1187450" y="0"/>
            <a:ext cx="676910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208899" name="Rectangle 6"/>
          <p:cNvSpPr>
            <a:spLocks noChangeArrowheads="1"/>
          </p:cNvSpPr>
          <p:nvPr/>
        </p:nvSpPr>
        <p:spPr bwMode="auto">
          <a:xfrm>
            <a:off x="3927475" y="725488"/>
            <a:ext cx="1146175" cy="366712"/>
          </a:xfrm>
          <a:prstGeom prst="rect">
            <a:avLst/>
          </a:prstGeom>
          <a:solidFill>
            <a:schemeClr val="accent1"/>
          </a:solidFill>
          <a:ln w="9525" algn="ctr">
            <a:noFill/>
            <a:miter lim="800000"/>
            <a:headEnd/>
            <a:tailEnd/>
          </a:ln>
        </p:spPr>
        <p:txBody>
          <a:bodyPr wrap="none" anchor="ctr">
            <a:spAutoFit/>
          </a:bodyPr>
          <a:lstStyle/>
          <a:p>
            <a:r>
              <a:rPr lang="fa-IR"/>
              <a:t>عنوان مقاله </a:t>
            </a:r>
            <a:endParaRPr lang="en-US"/>
          </a:p>
        </p:txBody>
      </p:sp>
      <p:sp>
        <p:nvSpPr>
          <p:cNvPr id="208900" name="Rectangle 7"/>
          <p:cNvSpPr>
            <a:spLocks noChangeArrowheads="1"/>
          </p:cNvSpPr>
          <p:nvPr/>
        </p:nvSpPr>
        <p:spPr bwMode="auto">
          <a:xfrm>
            <a:off x="3860800" y="1085850"/>
            <a:ext cx="1276350" cy="366713"/>
          </a:xfrm>
          <a:prstGeom prst="rect">
            <a:avLst/>
          </a:prstGeom>
          <a:solidFill>
            <a:schemeClr val="accent1"/>
          </a:solidFill>
          <a:ln w="9525" algn="ctr">
            <a:noFill/>
            <a:miter lim="800000"/>
            <a:headEnd/>
            <a:tailEnd/>
          </a:ln>
        </p:spPr>
        <p:txBody>
          <a:bodyPr wrap="none" anchor="ctr">
            <a:spAutoFit/>
          </a:bodyPr>
          <a:lstStyle/>
          <a:p>
            <a:r>
              <a:rPr lang="fa-IR"/>
              <a:t>نام نويسندگان </a:t>
            </a:r>
            <a:endParaRPr lang="en-US"/>
          </a:p>
        </p:txBody>
      </p:sp>
      <p:sp>
        <p:nvSpPr>
          <p:cNvPr id="208901" name="Rectangle 8"/>
          <p:cNvSpPr>
            <a:spLocks noChangeArrowheads="1"/>
          </p:cNvSpPr>
          <p:nvPr/>
        </p:nvSpPr>
        <p:spPr bwMode="auto">
          <a:xfrm>
            <a:off x="3795713" y="1444625"/>
            <a:ext cx="1408112" cy="366713"/>
          </a:xfrm>
          <a:prstGeom prst="rect">
            <a:avLst/>
          </a:prstGeom>
          <a:solidFill>
            <a:schemeClr val="accent1"/>
          </a:solidFill>
          <a:ln w="9525" algn="ctr">
            <a:noFill/>
            <a:miter lim="800000"/>
            <a:headEnd/>
            <a:tailEnd/>
          </a:ln>
        </p:spPr>
        <p:txBody>
          <a:bodyPr wrap="none" anchor="ctr">
            <a:spAutoFit/>
          </a:bodyPr>
          <a:lstStyle/>
          <a:p>
            <a:r>
              <a:rPr lang="fa-IR"/>
              <a:t>عنوان سازماني </a:t>
            </a:r>
            <a:endParaRPr lang="en-US"/>
          </a:p>
        </p:txBody>
      </p:sp>
      <p:sp>
        <p:nvSpPr>
          <p:cNvPr id="208902" name="Rectangle 9"/>
          <p:cNvSpPr>
            <a:spLocks noChangeArrowheads="1"/>
          </p:cNvSpPr>
          <p:nvPr/>
        </p:nvSpPr>
        <p:spPr bwMode="auto">
          <a:xfrm>
            <a:off x="3836988" y="1804988"/>
            <a:ext cx="1325562" cy="366712"/>
          </a:xfrm>
          <a:prstGeom prst="rect">
            <a:avLst/>
          </a:prstGeom>
          <a:solidFill>
            <a:schemeClr val="accent1"/>
          </a:solidFill>
          <a:ln w="9525" algn="ctr">
            <a:noFill/>
            <a:miter lim="800000"/>
            <a:headEnd/>
            <a:tailEnd/>
          </a:ln>
        </p:spPr>
        <p:txBody>
          <a:bodyPr wrap="none" anchor="ctr">
            <a:spAutoFit/>
          </a:bodyPr>
          <a:lstStyle/>
          <a:p>
            <a:r>
              <a:rPr lang="fa-IR"/>
              <a:t>عنوان محل كار</a:t>
            </a:r>
            <a:endParaRPr lang="en-US"/>
          </a:p>
        </p:txBody>
      </p:sp>
      <p:sp>
        <p:nvSpPr>
          <p:cNvPr id="208903" name="Line 12"/>
          <p:cNvSpPr>
            <a:spLocks noChangeShapeType="1"/>
          </p:cNvSpPr>
          <p:nvPr/>
        </p:nvSpPr>
        <p:spPr bwMode="auto">
          <a:xfrm flipH="1">
            <a:off x="3348038" y="2852738"/>
            <a:ext cx="1871662" cy="0"/>
          </a:xfrm>
          <a:prstGeom prst="line">
            <a:avLst/>
          </a:prstGeom>
          <a:noFill/>
          <a:ln w="9525">
            <a:solidFill>
              <a:schemeClr val="tx1"/>
            </a:solidFill>
            <a:round/>
            <a:headEnd/>
            <a:tailEnd/>
          </a:ln>
        </p:spPr>
        <p:txBody>
          <a:bodyPr anchor="ctr">
            <a:spAutoFit/>
          </a:bodyPr>
          <a:lstStyle/>
          <a:p>
            <a:endParaRPr lang="en-US"/>
          </a:p>
        </p:txBody>
      </p:sp>
      <p:sp>
        <p:nvSpPr>
          <p:cNvPr id="208904" name="Line 13"/>
          <p:cNvSpPr>
            <a:spLocks noChangeShapeType="1"/>
          </p:cNvSpPr>
          <p:nvPr/>
        </p:nvSpPr>
        <p:spPr bwMode="auto">
          <a:xfrm>
            <a:off x="3348038" y="2924175"/>
            <a:ext cx="0" cy="720725"/>
          </a:xfrm>
          <a:prstGeom prst="line">
            <a:avLst/>
          </a:prstGeom>
          <a:noFill/>
          <a:ln w="9525">
            <a:solidFill>
              <a:schemeClr val="tx1"/>
            </a:solidFill>
            <a:round/>
            <a:headEnd/>
            <a:tailEnd/>
          </a:ln>
        </p:spPr>
        <p:txBody>
          <a:bodyPr anchor="ctr">
            <a:spAutoFit/>
          </a:bodyPr>
          <a:lstStyle/>
          <a:p>
            <a:endParaRPr lang="en-US"/>
          </a:p>
        </p:txBody>
      </p:sp>
      <p:sp>
        <p:nvSpPr>
          <p:cNvPr id="208905" name="Line 14"/>
          <p:cNvSpPr>
            <a:spLocks noChangeShapeType="1"/>
          </p:cNvSpPr>
          <p:nvPr/>
        </p:nvSpPr>
        <p:spPr bwMode="auto">
          <a:xfrm>
            <a:off x="3348038" y="3644900"/>
            <a:ext cx="2376487" cy="0"/>
          </a:xfrm>
          <a:prstGeom prst="line">
            <a:avLst/>
          </a:prstGeom>
          <a:noFill/>
          <a:ln w="9525">
            <a:solidFill>
              <a:schemeClr val="tx1"/>
            </a:solidFill>
            <a:round/>
            <a:headEnd/>
            <a:tailEnd/>
          </a:ln>
        </p:spPr>
        <p:txBody>
          <a:bodyPr anchor="ctr">
            <a:spAutoFit/>
          </a:bodyPr>
          <a:lstStyle/>
          <a:p>
            <a:endParaRPr lang="en-US"/>
          </a:p>
        </p:txBody>
      </p:sp>
      <p:sp>
        <p:nvSpPr>
          <p:cNvPr id="208906" name="Line 15"/>
          <p:cNvSpPr>
            <a:spLocks noChangeShapeType="1"/>
          </p:cNvSpPr>
          <p:nvPr/>
        </p:nvSpPr>
        <p:spPr bwMode="auto">
          <a:xfrm flipV="1">
            <a:off x="5724525" y="3141663"/>
            <a:ext cx="0" cy="503237"/>
          </a:xfrm>
          <a:prstGeom prst="line">
            <a:avLst/>
          </a:prstGeom>
          <a:noFill/>
          <a:ln w="9525">
            <a:solidFill>
              <a:schemeClr val="tx1"/>
            </a:solidFill>
            <a:round/>
            <a:headEnd/>
            <a:tailEnd/>
          </a:ln>
        </p:spPr>
        <p:txBody>
          <a:bodyPr anchor="ctr">
            <a:spAutoFit/>
          </a:bodyPr>
          <a:lstStyle/>
          <a:p>
            <a:endParaRPr lang="en-US"/>
          </a:p>
        </p:txBody>
      </p:sp>
      <p:sp>
        <p:nvSpPr>
          <p:cNvPr id="208907" name="Line 16"/>
          <p:cNvSpPr>
            <a:spLocks noChangeShapeType="1"/>
          </p:cNvSpPr>
          <p:nvPr/>
        </p:nvSpPr>
        <p:spPr bwMode="auto">
          <a:xfrm flipH="1">
            <a:off x="5219700" y="3141663"/>
            <a:ext cx="431800" cy="0"/>
          </a:xfrm>
          <a:prstGeom prst="line">
            <a:avLst/>
          </a:prstGeom>
          <a:noFill/>
          <a:ln w="9525">
            <a:solidFill>
              <a:schemeClr val="tx1"/>
            </a:solidFill>
            <a:round/>
            <a:headEnd/>
            <a:tailEnd/>
          </a:ln>
        </p:spPr>
        <p:txBody>
          <a:bodyPr anchor="ctr">
            <a:spAutoFit/>
          </a:bodyPr>
          <a:lstStyle/>
          <a:p>
            <a:endParaRPr lang="en-US"/>
          </a:p>
        </p:txBody>
      </p:sp>
      <p:sp>
        <p:nvSpPr>
          <p:cNvPr id="208908" name="Line 17"/>
          <p:cNvSpPr>
            <a:spLocks noChangeShapeType="1"/>
          </p:cNvSpPr>
          <p:nvPr/>
        </p:nvSpPr>
        <p:spPr bwMode="auto">
          <a:xfrm>
            <a:off x="5219700" y="2852738"/>
            <a:ext cx="0" cy="288925"/>
          </a:xfrm>
          <a:prstGeom prst="line">
            <a:avLst/>
          </a:prstGeom>
          <a:noFill/>
          <a:ln w="9525">
            <a:solidFill>
              <a:schemeClr val="tx1"/>
            </a:solidFill>
            <a:round/>
            <a:headEnd/>
            <a:tailEnd/>
          </a:ln>
        </p:spPr>
        <p:txBody>
          <a:bodyPr anchor="ctr">
            <a:spAutoFit/>
          </a:bodyPr>
          <a:lstStyle/>
          <a:p>
            <a:endParaRPr lang="en-US"/>
          </a:p>
        </p:txBody>
      </p:sp>
      <p:sp>
        <p:nvSpPr>
          <p:cNvPr id="208909" name="Rectangle 18"/>
          <p:cNvSpPr>
            <a:spLocks noChangeArrowheads="1"/>
          </p:cNvSpPr>
          <p:nvPr/>
        </p:nvSpPr>
        <p:spPr bwMode="auto">
          <a:xfrm>
            <a:off x="4140200" y="2349500"/>
            <a:ext cx="666750" cy="366713"/>
          </a:xfrm>
          <a:prstGeom prst="rect">
            <a:avLst/>
          </a:prstGeom>
          <a:solidFill>
            <a:schemeClr val="accent1"/>
          </a:solidFill>
          <a:ln w="9525" algn="ctr">
            <a:noFill/>
            <a:miter lim="800000"/>
            <a:headEnd/>
            <a:tailEnd/>
          </a:ln>
        </p:spPr>
        <p:txBody>
          <a:bodyPr wrap="none" anchor="ctr">
            <a:spAutoFit/>
          </a:bodyPr>
          <a:lstStyle/>
          <a:p>
            <a:r>
              <a:rPr lang="fa-IR"/>
              <a:t>چكيده </a:t>
            </a:r>
            <a:endParaRPr lang="en-US"/>
          </a:p>
        </p:txBody>
      </p:sp>
      <p:sp>
        <p:nvSpPr>
          <p:cNvPr id="208910" name="Rectangle 19"/>
          <p:cNvSpPr>
            <a:spLocks noChangeArrowheads="1"/>
          </p:cNvSpPr>
          <p:nvPr/>
        </p:nvSpPr>
        <p:spPr bwMode="auto">
          <a:xfrm>
            <a:off x="6002338" y="2708275"/>
            <a:ext cx="1266825" cy="366713"/>
          </a:xfrm>
          <a:prstGeom prst="rect">
            <a:avLst/>
          </a:prstGeom>
          <a:solidFill>
            <a:schemeClr val="accent1"/>
          </a:solidFill>
          <a:ln w="9525" algn="ctr">
            <a:noFill/>
            <a:miter lim="800000"/>
            <a:headEnd/>
            <a:tailEnd/>
          </a:ln>
        </p:spPr>
        <p:txBody>
          <a:bodyPr wrap="none" anchor="ctr">
            <a:spAutoFit/>
          </a:bodyPr>
          <a:lstStyle/>
          <a:p>
            <a:r>
              <a:rPr lang="fa-IR"/>
              <a:t>5/3 سانتيمتر </a:t>
            </a:r>
            <a:endParaRPr lang="en-US"/>
          </a:p>
        </p:txBody>
      </p:sp>
      <p:sp>
        <p:nvSpPr>
          <p:cNvPr id="208911" name="Line 20"/>
          <p:cNvSpPr>
            <a:spLocks noChangeShapeType="1"/>
          </p:cNvSpPr>
          <p:nvPr/>
        </p:nvSpPr>
        <p:spPr bwMode="auto">
          <a:xfrm>
            <a:off x="7308850" y="2852738"/>
            <a:ext cx="576263" cy="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12" name="Line 21"/>
          <p:cNvSpPr>
            <a:spLocks noChangeShapeType="1"/>
          </p:cNvSpPr>
          <p:nvPr/>
        </p:nvSpPr>
        <p:spPr bwMode="auto">
          <a:xfrm flipH="1">
            <a:off x="5292725" y="2852738"/>
            <a:ext cx="863600" cy="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13" name="Line 22"/>
          <p:cNvSpPr>
            <a:spLocks noChangeShapeType="1"/>
          </p:cNvSpPr>
          <p:nvPr/>
        </p:nvSpPr>
        <p:spPr bwMode="auto">
          <a:xfrm>
            <a:off x="2555875" y="4725988"/>
            <a:ext cx="3240088" cy="0"/>
          </a:xfrm>
          <a:prstGeom prst="line">
            <a:avLst/>
          </a:prstGeom>
          <a:noFill/>
          <a:ln w="9525">
            <a:solidFill>
              <a:schemeClr val="tx1"/>
            </a:solidFill>
            <a:round/>
            <a:headEnd/>
            <a:tailEnd/>
          </a:ln>
        </p:spPr>
        <p:txBody>
          <a:bodyPr anchor="ctr">
            <a:spAutoFit/>
          </a:bodyPr>
          <a:lstStyle/>
          <a:p>
            <a:endParaRPr lang="en-US"/>
          </a:p>
        </p:txBody>
      </p:sp>
      <p:sp>
        <p:nvSpPr>
          <p:cNvPr id="208914" name="Line 23"/>
          <p:cNvSpPr>
            <a:spLocks noChangeShapeType="1"/>
          </p:cNvSpPr>
          <p:nvPr/>
        </p:nvSpPr>
        <p:spPr bwMode="auto">
          <a:xfrm>
            <a:off x="2555875" y="4725988"/>
            <a:ext cx="0" cy="1223962"/>
          </a:xfrm>
          <a:prstGeom prst="line">
            <a:avLst/>
          </a:prstGeom>
          <a:noFill/>
          <a:ln w="9525">
            <a:solidFill>
              <a:schemeClr val="tx1"/>
            </a:solidFill>
            <a:round/>
            <a:headEnd/>
            <a:tailEnd/>
          </a:ln>
        </p:spPr>
        <p:txBody>
          <a:bodyPr anchor="ctr">
            <a:spAutoFit/>
          </a:bodyPr>
          <a:lstStyle/>
          <a:p>
            <a:endParaRPr lang="en-US"/>
          </a:p>
        </p:txBody>
      </p:sp>
      <p:sp>
        <p:nvSpPr>
          <p:cNvPr id="208915" name="Line 24"/>
          <p:cNvSpPr>
            <a:spLocks noChangeShapeType="1"/>
          </p:cNvSpPr>
          <p:nvPr/>
        </p:nvSpPr>
        <p:spPr bwMode="auto">
          <a:xfrm>
            <a:off x="2555875" y="5949950"/>
            <a:ext cx="4321175" cy="0"/>
          </a:xfrm>
          <a:prstGeom prst="line">
            <a:avLst/>
          </a:prstGeom>
          <a:noFill/>
          <a:ln w="9525">
            <a:solidFill>
              <a:schemeClr val="tx1"/>
            </a:solidFill>
            <a:round/>
            <a:headEnd/>
            <a:tailEnd/>
          </a:ln>
        </p:spPr>
        <p:txBody>
          <a:bodyPr anchor="ctr">
            <a:spAutoFit/>
          </a:bodyPr>
          <a:lstStyle/>
          <a:p>
            <a:endParaRPr lang="en-US"/>
          </a:p>
        </p:txBody>
      </p:sp>
      <p:sp>
        <p:nvSpPr>
          <p:cNvPr id="208916" name="Line 26"/>
          <p:cNvSpPr>
            <a:spLocks noChangeShapeType="1"/>
          </p:cNvSpPr>
          <p:nvPr/>
        </p:nvSpPr>
        <p:spPr bwMode="auto">
          <a:xfrm flipV="1">
            <a:off x="6877050" y="5229225"/>
            <a:ext cx="0" cy="720725"/>
          </a:xfrm>
          <a:prstGeom prst="line">
            <a:avLst/>
          </a:prstGeom>
          <a:noFill/>
          <a:ln w="9525">
            <a:solidFill>
              <a:schemeClr val="tx1"/>
            </a:solidFill>
            <a:round/>
            <a:headEnd/>
            <a:tailEnd/>
          </a:ln>
        </p:spPr>
        <p:txBody>
          <a:bodyPr anchor="ctr">
            <a:spAutoFit/>
          </a:bodyPr>
          <a:lstStyle/>
          <a:p>
            <a:endParaRPr lang="en-US"/>
          </a:p>
        </p:txBody>
      </p:sp>
      <p:sp>
        <p:nvSpPr>
          <p:cNvPr id="208917" name="Line 27"/>
          <p:cNvSpPr>
            <a:spLocks noChangeShapeType="1"/>
          </p:cNvSpPr>
          <p:nvPr/>
        </p:nvSpPr>
        <p:spPr bwMode="auto">
          <a:xfrm flipH="1">
            <a:off x="5795963" y="5229225"/>
            <a:ext cx="1081087" cy="0"/>
          </a:xfrm>
          <a:prstGeom prst="line">
            <a:avLst/>
          </a:prstGeom>
          <a:noFill/>
          <a:ln w="9525">
            <a:solidFill>
              <a:schemeClr val="tx1"/>
            </a:solidFill>
            <a:round/>
            <a:headEnd/>
            <a:tailEnd/>
          </a:ln>
        </p:spPr>
        <p:txBody>
          <a:bodyPr anchor="ctr">
            <a:spAutoFit/>
          </a:bodyPr>
          <a:lstStyle/>
          <a:p>
            <a:endParaRPr lang="en-US"/>
          </a:p>
        </p:txBody>
      </p:sp>
      <p:sp>
        <p:nvSpPr>
          <p:cNvPr id="208918" name="Line 28"/>
          <p:cNvSpPr>
            <a:spLocks noChangeShapeType="1"/>
          </p:cNvSpPr>
          <p:nvPr/>
        </p:nvSpPr>
        <p:spPr bwMode="auto">
          <a:xfrm flipV="1">
            <a:off x="5795963" y="4725988"/>
            <a:ext cx="0" cy="503237"/>
          </a:xfrm>
          <a:prstGeom prst="line">
            <a:avLst/>
          </a:prstGeom>
          <a:noFill/>
          <a:ln w="9525">
            <a:solidFill>
              <a:schemeClr val="tx1"/>
            </a:solidFill>
            <a:round/>
            <a:headEnd/>
            <a:tailEnd/>
          </a:ln>
        </p:spPr>
        <p:txBody>
          <a:bodyPr anchor="ctr">
            <a:spAutoFit/>
          </a:bodyPr>
          <a:lstStyle/>
          <a:p>
            <a:endParaRPr lang="en-US"/>
          </a:p>
        </p:txBody>
      </p:sp>
      <p:sp>
        <p:nvSpPr>
          <p:cNvPr id="208919" name="Rectangle 29"/>
          <p:cNvSpPr>
            <a:spLocks noChangeArrowheads="1"/>
          </p:cNvSpPr>
          <p:nvPr/>
        </p:nvSpPr>
        <p:spPr bwMode="auto">
          <a:xfrm>
            <a:off x="6156325" y="4724400"/>
            <a:ext cx="1266825" cy="366713"/>
          </a:xfrm>
          <a:prstGeom prst="rect">
            <a:avLst/>
          </a:prstGeom>
          <a:solidFill>
            <a:schemeClr val="accent1"/>
          </a:solidFill>
          <a:ln w="9525" algn="ctr">
            <a:noFill/>
            <a:miter lim="800000"/>
            <a:headEnd/>
            <a:tailEnd/>
          </a:ln>
        </p:spPr>
        <p:txBody>
          <a:bodyPr wrap="none" anchor="ctr">
            <a:spAutoFit/>
          </a:bodyPr>
          <a:lstStyle/>
          <a:p>
            <a:r>
              <a:rPr lang="fa-IR"/>
              <a:t>5/2 سانتيمتر </a:t>
            </a:r>
            <a:endParaRPr lang="en-US"/>
          </a:p>
        </p:txBody>
      </p:sp>
      <p:sp>
        <p:nvSpPr>
          <p:cNvPr id="208920" name="Line 30"/>
          <p:cNvSpPr>
            <a:spLocks noChangeShapeType="1"/>
          </p:cNvSpPr>
          <p:nvPr/>
        </p:nvSpPr>
        <p:spPr bwMode="auto">
          <a:xfrm>
            <a:off x="7462838" y="4868863"/>
            <a:ext cx="349250" cy="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21" name="Line 31"/>
          <p:cNvSpPr>
            <a:spLocks noChangeShapeType="1"/>
          </p:cNvSpPr>
          <p:nvPr/>
        </p:nvSpPr>
        <p:spPr bwMode="auto">
          <a:xfrm flipH="1">
            <a:off x="5940425" y="4868863"/>
            <a:ext cx="369888" cy="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22" name="Rectangle 33"/>
          <p:cNvSpPr>
            <a:spLocks noChangeArrowheads="1"/>
          </p:cNvSpPr>
          <p:nvPr/>
        </p:nvSpPr>
        <p:spPr bwMode="auto">
          <a:xfrm>
            <a:off x="4067175" y="4292600"/>
            <a:ext cx="954088" cy="366713"/>
          </a:xfrm>
          <a:prstGeom prst="rect">
            <a:avLst/>
          </a:prstGeom>
          <a:solidFill>
            <a:schemeClr val="accent1"/>
          </a:solidFill>
          <a:ln w="9525" algn="ctr">
            <a:noFill/>
            <a:miter lim="800000"/>
            <a:headEnd/>
            <a:tailEnd/>
          </a:ln>
        </p:spPr>
        <p:txBody>
          <a:bodyPr wrap="none" anchor="ctr">
            <a:spAutoFit/>
          </a:bodyPr>
          <a:lstStyle/>
          <a:p>
            <a:r>
              <a:rPr lang="fa-IR"/>
              <a:t>1- مقدمه </a:t>
            </a:r>
            <a:endParaRPr lang="en-US"/>
          </a:p>
        </p:txBody>
      </p:sp>
      <p:sp>
        <p:nvSpPr>
          <p:cNvPr id="208923" name="Rectangle 37"/>
          <p:cNvSpPr>
            <a:spLocks noChangeArrowheads="1"/>
          </p:cNvSpPr>
          <p:nvPr/>
        </p:nvSpPr>
        <p:spPr bwMode="auto">
          <a:xfrm>
            <a:off x="7019925" y="5373688"/>
            <a:ext cx="792163" cy="581025"/>
          </a:xfrm>
          <a:prstGeom prst="rect">
            <a:avLst/>
          </a:prstGeom>
          <a:solidFill>
            <a:schemeClr val="accent1"/>
          </a:solidFill>
          <a:ln w="9525" algn="ctr">
            <a:noFill/>
            <a:miter lim="800000"/>
            <a:headEnd/>
            <a:tailEnd/>
          </a:ln>
        </p:spPr>
        <p:txBody>
          <a:bodyPr anchor="ctr">
            <a:spAutoFit/>
          </a:bodyPr>
          <a:lstStyle/>
          <a:p>
            <a:r>
              <a:rPr lang="fa-IR" sz="1600"/>
              <a:t>5/1 سانتيمتر </a:t>
            </a:r>
            <a:endParaRPr lang="en-US" sz="1600"/>
          </a:p>
        </p:txBody>
      </p:sp>
      <p:sp>
        <p:nvSpPr>
          <p:cNvPr id="208924" name="Line 38"/>
          <p:cNvSpPr>
            <a:spLocks noChangeShapeType="1"/>
          </p:cNvSpPr>
          <p:nvPr/>
        </p:nvSpPr>
        <p:spPr bwMode="auto">
          <a:xfrm>
            <a:off x="7740650" y="5589588"/>
            <a:ext cx="215900" cy="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25" name="Line 39"/>
          <p:cNvSpPr>
            <a:spLocks noChangeShapeType="1"/>
          </p:cNvSpPr>
          <p:nvPr/>
        </p:nvSpPr>
        <p:spPr bwMode="auto">
          <a:xfrm flipH="1">
            <a:off x="6877050" y="5589588"/>
            <a:ext cx="215900" cy="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26" name="Rectangle 40"/>
          <p:cNvSpPr>
            <a:spLocks noChangeArrowheads="1"/>
          </p:cNvSpPr>
          <p:nvPr/>
        </p:nvSpPr>
        <p:spPr bwMode="auto">
          <a:xfrm>
            <a:off x="1476375" y="5300663"/>
            <a:ext cx="690563" cy="517525"/>
          </a:xfrm>
          <a:prstGeom prst="rect">
            <a:avLst/>
          </a:prstGeom>
          <a:solidFill>
            <a:schemeClr val="accent1"/>
          </a:solidFill>
          <a:ln w="9525" algn="ctr">
            <a:noFill/>
            <a:miter lim="800000"/>
            <a:headEnd/>
            <a:tailEnd/>
          </a:ln>
        </p:spPr>
        <p:txBody>
          <a:bodyPr anchor="ctr">
            <a:spAutoFit/>
          </a:bodyPr>
          <a:lstStyle/>
          <a:p>
            <a:r>
              <a:rPr lang="fa-IR" sz="1400"/>
              <a:t>5/1 سانتيمتر </a:t>
            </a:r>
            <a:endParaRPr lang="en-US" sz="1400"/>
          </a:p>
        </p:txBody>
      </p:sp>
      <p:sp>
        <p:nvSpPr>
          <p:cNvPr id="208927" name="Line 41"/>
          <p:cNvSpPr>
            <a:spLocks noChangeShapeType="1"/>
          </p:cNvSpPr>
          <p:nvPr/>
        </p:nvSpPr>
        <p:spPr bwMode="auto">
          <a:xfrm>
            <a:off x="2124075" y="5516563"/>
            <a:ext cx="430213" cy="1587"/>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28" name="Line 42"/>
          <p:cNvSpPr>
            <a:spLocks noChangeShapeType="1"/>
          </p:cNvSpPr>
          <p:nvPr/>
        </p:nvSpPr>
        <p:spPr bwMode="auto">
          <a:xfrm flipH="1">
            <a:off x="1258888" y="5516563"/>
            <a:ext cx="369887" cy="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29" name="Rectangle 43"/>
          <p:cNvSpPr>
            <a:spLocks noChangeArrowheads="1"/>
          </p:cNvSpPr>
          <p:nvPr/>
        </p:nvSpPr>
        <p:spPr bwMode="auto">
          <a:xfrm>
            <a:off x="4067175" y="6237288"/>
            <a:ext cx="977900" cy="336550"/>
          </a:xfrm>
          <a:prstGeom prst="rect">
            <a:avLst/>
          </a:prstGeom>
          <a:solidFill>
            <a:schemeClr val="accent1"/>
          </a:solidFill>
          <a:ln w="9525" algn="ctr">
            <a:noFill/>
            <a:miter lim="800000"/>
            <a:headEnd/>
            <a:tailEnd/>
          </a:ln>
        </p:spPr>
        <p:txBody>
          <a:bodyPr anchor="ctr">
            <a:spAutoFit/>
          </a:bodyPr>
          <a:lstStyle/>
          <a:p>
            <a:r>
              <a:rPr lang="fa-IR" sz="1600"/>
              <a:t>2 سانتيمتر </a:t>
            </a:r>
            <a:endParaRPr lang="en-US" sz="1600"/>
          </a:p>
        </p:txBody>
      </p:sp>
      <p:sp>
        <p:nvSpPr>
          <p:cNvPr id="208930" name="Line 44"/>
          <p:cNvSpPr>
            <a:spLocks noChangeShapeType="1"/>
          </p:cNvSpPr>
          <p:nvPr/>
        </p:nvSpPr>
        <p:spPr bwMode="auto">
          <a:xfrm flipV="1">
            <a:off x="4500563" y="5949950"/>
            <a:ext cx="0" cy="21590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31" name="Line 45"/>
          <p:cNvSpPr>
            <a:spLocks noChangeShapeType="1"/>
          </p:cNvSpPr>
          <p:nvPr/>
        </p:nvSpPr>
        <p:spPr bwMode="auto">
          <a:xfrm>
            <a:off x="4500563" y="6597650"/>
            <a:ext cx="0" cy="26035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32" name="Rectangle 46"/>
          <p:cNvSpPr>
            <a:spLocks noChangeArrowheads="1"/>
          </p:cNvSpPr>
          <p:nvPr/>
        </p:nvSpPr>
        <p:spPr bwMode="auto">
          <a:xfrm>
            <a:off x="4859338" y="211138"/>
            <a:ext cx="977900" cy="581025"/>
          </a:xfrm>
          <a:prstGeom prst="rect">
            <a:avLst/>
          </a:prstGeom>
          <a:solidFill>
            <a:schemeClr val="accent1"/>
          </a:solidFill>
          <a:ln w="9525" algn="ctr">
            <a:noFill/>
            <a:miter lim="800000"/>
            <a:headEnd/>
            <a:tailEnd/>
          </a:ln>
        </p:spPr>
        <p:txBody>
          <a:bodyPr anchor="ctr">
            <a:spAutoFit/>
          </a:bodyPr>
          <a:lstStyle/>
          <a:p>
            <a:r>
              <a:rPr lang="fa-IR" sz="1600"/>
              <a:t>5/2 سانتيمتر</a:t>
            </a:r>
            <a:endParaRPr lang="en-US" sz="1600"/>
          </a:p>
        </p:txBody>
      </p:sp>
      <p:sp>
        <p:nvSpPr>
          <p:cNvPr id="208933" name="Line 47"/>
          <p:cNvSpPr>
            <a:spLocks noChangeShapeType="1"/>
          </p:cNvSpPr>
          <p:nvPr/>
        </p:nvSpPr>
        <p:spPr bwMode="auto">
          <a:xfrm flipV="1">
            <a:off x="5292725" y="46038"/>
            <a:ext cx="0" cy="21590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34" name="Line 48"/>
          <p:cNvSpPr>
            <a:spLocks noChangeShapeType="1"/>
          </p:cNvSpPr>
          <p:nvPr/>
        </p:nvSpPr>
        <p:spPr bwMode="auto">
          <a:xfrm>
            <a:off x="5292725" y="693738"/>
            <a:ext cx="0" cy="260350"/>
          </a:xfrm>
          <a:prstGeom prst="line">
            <a:avLst/>
          </a:prstGeom>
          <a:noFill/>
          <a:ln w="9525">
            <a:solidFill>
              <a:schemeClr val="tx1"/>
            </a:solidFill>
            <a:round/>
            <a:headEnd/>
            <a:tailEnd type="triangle" w="med" len="med"/>
          </a:ln>
        </p:spPr>
        <p:txBody>
          <a:bodyPr anchor="ctr">
            <a:spAutoFit/>
          </a:bodyPr>
          <a:lstStyle/>
          <a:p>
            <a:endParaRPr lang="en-US"/>
          </a:p>
        </p:txBody>
      </p:sp>
      <p:sp>
        <p:nvSpPr>
          <p:cNvPr id="39" name="Rectangle 38"/>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3"/>
          <p:cNvSpPr>
            <a:spLocks noGrp="1" noChangeArrowheads="1"/>
          </p:cNvSpPr>
          <p:nvPr>
            <p:ph idx="1"/>
          </p:nvPr>
        </p:nvSpPr>
        <p:spPr/>
        <p:txBody>
          <a:bodyPr/>
          <a:lstStyle/>
          <a:p>
            <a:pPr marL="609600" indent="-609600" algn="r" rtl="1" eaLnBrk="1" hangingPunct="1">
              <a:lnSpc>
                <a:spcPct val="90000"/>
              </a:lnSpc>
            </a:pPr>
            <a:r>
              <a:rPr lang="fa-IR" b="1" smtClean="0"/>
              <a:t>انواع گزارش </a:t>
            </a:r>
          </a:p>
          <a:p>
            <a:pPr marL="609600" indent="-609600" algn="r" rtl="1" eaLnBrk="1" hangingPunct="1">
              <a:lnSpc>
                <a:spcPct val="90000"/>
              </a:lnSpc>
            </a:pPr>
            <a:r>
              <a:rPr lang="fa-IR" b="1" smtClean="0"/>
              <a:t>پیشنهاد شرکت در مناقصه </a:t>
            </a:r>
          </a:p>
          <a:p>
            <a:pPr marL="609600" indent="-609600" algn="r" rtl="1" eaLnBrk="1" hangingPunct="1">
              <a:lnSpc>
                <a:spcPct val="90000"/>
              </a:lnSpc>
            </a:pPr>
            <a:r>
              <a:rPr lang="fa-IR" b="1" smtClean="0"/>
              <a:t>مکاتبه فنی – تجاری </a:t>
            </a:r>
          </a:p>
          <a:p>
            <a:pPr marL="609600" indent="-609600" algn="r" rtl="1" eaLnBrk="1" hangingPunct="1">
              <a:lnSpc>
                <a:spcPct val="90000"/>
              </a:lnSpc>
            </a:pPr>
            <a:r>
              <a:rPr lang="fa-IR" b="1" smtClean="0"/>
              <a:t>گزارش امکان سنجی اجرای پروژه </a:t>
            </a:r>
          </a:p>
          <a:p>
            <a:pPr marL="609600" indent="-609600" algn="r" rtl="1" eaLnBrk="1" hangingPunct="1">
              <a:lnSpc>
                <a:spcPct val="90000"/>
              </a:lnSpc>
            </a:pPr>
            <a:r>
              <a:rPr lang="fa-IR" b="1" smtClean="0"/>
              <a:t>گزارش بررسی مشکل فنی </a:t>
            </a:r>
          </a:p>
          <a:p>
            <a:pPr marL="609600" indent="-609600" algn="r" rtl="1" eaLnBrk="1" hangingPunct="1">
              <a:lnSpc>
                <a:spcPct val="90000"/>
              </a:lnSpc>
            </a:pPr>
            <a:r>
              <a:rPr lang="fa-IR" b="1" smtClean="0"/>
              <a:t>گزارش بررسی خرابی تجهیزات </a:t>
            </a:r>
          </a:p>
          <a:p>
            <a:pPr marL="609600" indent="-609600" algn="r" rtl="1" eaLnBrk="1" hangingPunct="1">
              <a:lnSpc>
                <a:spcPct val="90000"/>
              </a:lnSpc>
            </a:pPr>
            <a:r>
              <a:rPr lang="fa-IR" b="1" smtClean="0"/>
              <a:t>متن تشریح ماشین </a:t>
            </a:r>
          </a:p>
          <a:p>
            <a:pPr marL="609600" indent="-609600" algn="r" rtl="1" eaLnBrk="1" hangingPunct="1">
              <a:lnSpc>
                <a:spcPct val="90000"/>
              </a:lnSpc>
            </a:pPr>
            <a:r>
              <a:rPr lang="fa-IR" b="1" smtClean="0"/>
              <a:t>کاتالوگ</a:t>
            </a:r>
            <a:r>
              <a:rPr lang="fa-IR" smtClean="0"/>
              <a:t> </a:t>
            </a:r>
            <a:endParaRPr lang="en-US" smtClean="0"/>
          </a:p>
        </p:txBody>
      </p:sp>
      <p:sp>
        <p:nvSpPr>
          <p:cNvPr id="238594" name="Rectangle 2"/>
          <p:cNvSpPr>
            <a:spLocks noGrp="1" noChangeArrowheads="1"/>
          </p:cNvSpPr>
          <p:nvPr>
            <p:ph type="title"/>
          </p:nvPr>
        </p:nvSpPr>
        <p:spPr>
          <a:xfrm>
            <a:off x="900113" y="277813"/>
            <a:ext cx="822960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برخی از انواع نوشتارهای غیر دانشگاهی (کاری):</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3"/>
          <p:cNvSpPr>
            <a:spLocks noGrp="1" noChangeArrowheads="1"/>
          </p:cNvSpPr>
          <p:nvPr>
            <p:ph idx="1"/>
          </p:nvPr>
        </p:nvSpPr>
        <p:spPr/>
        <p:txBody>
          <a:bodyPr/>
          <a:lstStyle/>
          <a:p>
            <a:pPr algn="justLow" rtl="1" eaLnBrk="1" hangingPunct="1">
              <a:buFont typeface="Wingdings" pitchFamily="2" charset="2"/>
              <a:buNone/>
            </a:pPr>
            <a:r>
              <a:rPr lang="fa-IR" b="1" smtClean="0"/>
              <a:t>گزارش صرفنظر از صورت ( فرم ) و محتوای آن در اساس مجموعه ای است از اطلاعات درباره چگونگی انجام یک کار ، وقوع یک رویداد، بروز یک وضعیت یا پدیده و بررسی یک مشکل به نحوی که کسب آن اطلاعات و تحلیل آنها برای داوری و تصمیم گیری لازم است .</a:t>
            </a:r>
            <a:endParaRPr lang="en-US" b="1" smtClean="0"/>
          </a:p>
        </p:txBody>
      </p:sp>
      <p:sp>
        <p:nvSpPr>
          <p:cNvPr id="23961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گزارش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3"/>
          <p:cNvSpPr>
            <a:spLocks noGrp="1" noChangeArrowheads="1"/>
          </p:cNvSpPr>
          <p:nvPr>
            <p:ph idx="1"/>
          </p:nvPr>
        </p:nvSpPr>
        <p:spPr/>
        <p:txBody>
          <a:bodyPr/>
          <a:lstStyle/>
          <a:p>
            <a:pPr marL="609600" indent="-609600" algn="r" rtl="1" eaLnBrk="1" hangingPunct="1"/>
            <a:r>
              <a:rPr lang="fa-IR" b="1" smtClean="0"/>
              <a:t>گزارش فرمی : در فرم خاصی نوشته و یا تنظیم می‌شود  </a:t>
            </a:r>
          </a:p>
          <a:p>
            <a:pPr marL="609600" indent="-609600" algn="r" rtl="1" eaLnBrk="1" hangingPunct="1"/>
            <a:r>
              <a:rPr lang="fa-IR" b="1" smtClean="0"/>
              <a:t>گزارش غیر فرمی : فرم خاصی ندارد . البته ساختار مشخصی دارد که خواهیم دید .</a:t>
            </a:r>
            <a:r>
              <a:rPr lang="fa-IR" smtClean="0"/>
              <a:t> </a:t>
            </a:r>
            <a:endParaRPr lang="en-US" smtClean="0"/>
          </a:p>
        </p:txBody>
      </p:sp>
      <p:sp>
        <p:nvSpPr>
          <p:cNvPr id="240642" name="Rectangle 2"/>
          <p:cNvSpPr>
            <a:spLocks noGrp="1" noChangeArrowheads="1"/>
          </p:cNvSpPr>
          <p:nvPr>
            <p:ph type="title"/>
          </p:nvPr>
        </p:nvSpPr>
        <p:spPr>
          <a:xfrm>
            <a:off x="663575" y="273050"/>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آ- انواع گزارش از نظر صورت (فرم):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3"/>
          <p:cNvSpPr>
            <a:spLocks noGrp="1" noChangeArrowheads="1"/>
          </p:cNvSpPr>
          <p:nvPr>
            <p:ph idx="1"/>
          </p:nvPr>
        </p:nvSpPr>
        <p:spPr/>
        <p:txBody>
          <a:bodyPr/>
          <a:lstStyle/>
          <a:p>
            <a:pPr algn="r" rtl="1" eaLnBrk="1" hangingPunct="1"/>
            <a:r>
              <a:rPr lang="fa-IR" b="1" smtClean="0"/>
              <a:t>گزارش – نامه </a:t>
            </a:r>
            <a:endParaRPr lang="en-US" smtClean="0"/>
          </a:p>
          <a:p>
            <a:pPr algn="r" rtl="1" eaLnBrk="1" hangingPunct="1"/>
            <a:r>
              <a:rPr lang="fa-IR" b="1" smtClean="0"/>
              <a:t>گزارش – یادداشت </a:t>
            </a:r>
            <a:endParaRPr lang="en-US" smtClean="0"/>
          </a:p>
          <a:p>
            <a:pPr algn="r" rtl="1" eaLnBrk="1" hangingPunct="1"/>
            <a:r>
              <a:rPr lang="fa-IR" b="1" smtClean="0"/>
              <a:t>گزارش کوتاه </a:t>
            </a:r>
            <a:endParaRPr lang="en-US" smtClean="0"/>
          </a:p>
          <a:p>
            <a:pPr algn="r" rtl="1" eaLnBrk="1" hangingPunct="1"/>
            <a:r>
              <a:rPr lang="fa-IR" b="1" smtClean="0"/>
              <a:t>گزارش بلند ( تفصیلی ) </a:t>
            </a:r>
            <a:endParaRPr lang="en-US" smtClean="0"/>
          </a:p>
          <a:p>
            <a:pPr algn="r" rtl="1" eaLnBrk="1" hangingPunct="1"/>
            <a:endParaRPr lang="en-US" smtClean="0"/>
          </a:p>
        </p:txBody>
      </p:sp>
      <p:sp>
        <p:nvSpPr>
          <p:cNvPr id="241666" name="Rectangle 2"/>
          <p:cNvSpPr>
            <a:spLocks noGrp="1" noChangeArrowheads="1"/>
          </p:cNvSpPr>
          <p:nvPr>
            <p:ph type="title"/>
          </p:nvPr>
        </p:nvSpPr>
        <p:spPr>
          <a:xfrm>
            <a:off x="590550"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ب- انواع گزارش غیرفرمی از نظر کمیت: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3"/>
          <p:cNvSpPr>
            <a:spLocks noGrp="1" noChangeArrowheads="1"/>
          </p:cNvSpPr>
          <p:nvPr>
            <p:ph idx="1"/>
          </p:nvPr>
        </p:nvSpPr>
        <p:spPr/>
        <p:txBody>
          <a:bodyPr/>
          <a:lstStyle/>
          <a:p>
            <a:pPr marL="609600" indent="-609600" algn="r" rtl="1" eaLnBrk="1" hangingPunct="1"/>
            <a:r>
              <a:rPr lang="fa-IR" b="1" smtClean="0"/>
              <a:t>گزارش وضعیت نما : در این گونه از گزارش یک وضعیت( اعم از مشکل ، رویداد ، پدیده و غیره) شرح داده می شود  .</a:t>
            </a:r>
          </a:p>
          <a:p>
            <a:pPr marL="609600" indent="-609600" algn="r" rtl="1" eaLnBrk="1" hangingPunct="1"/>
            <a:r>
              <a:rPr lang="fa-IR" b="1" smtClean="0"/>
              <a:t>گزارش کار نما  : در این گونه از گزارش چگونگی انجام یک کار بیان می شود و منطقا زمانی نوشته می‌شود که کاری به تمامی یا تا مرحله ای انجام شده باشد.</a:t>
            </a:r>
            <a:endParaRPr lang="en-US" b="1" smtClean="0"/>
          </a:p>
        </p:txBody>
      </p:sp>
      <p:sp>
        <p:nvSpPr>
          <p:cNvPr id="24269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en-US" sz="3700" smtClean="0">
                <a:solidFill>
                  <a:srgbClr val="FF0000"/>
                </a:solidFill>
                <a:effectLst/>
                <a:cs typeface="B Titr" pitchFamily="2" charset="-78"/>
              </a:rPr>
              <a:t> </a:t>
            </a:r>
            <a:r>
              <a:rPr lang="fa-IR" sz="3700" smtClean="0">
                <a:solidFill>
                  <a:srgbClr val="FF0000"/>
                </a:solidFill>
                <a:effectLst/>
                <a:cs typeface="B Titr" pitchFamily="2" charset="-78"/>
              </a:rPr>
              <a:t>ج</a:t>
            </a:r>
            <a:r>
              <a:rPr lang="en-US" sz="3700" smtClean="0">
                <a:solidFill>
                  <a:srgbClr val="FF0000"/>
                </a:solidFill>
                <a:effectLst/>
                <a:cs typeface="B Titr" pitchFamily="2" charset="-78"/>
              </a:rPr>
              <a:t> -  </a:t>
            </a:r>
            <a:r>
              <a:rPr lang="fa-IR" sz="3700" smtClean="0">
                <a:solidFill>
                  <a:srgbClr val="FF0000"/>
                </a:solidFill>
                <a:effectLst/>
                <a:cs typeface="B Titr" pitchFamily="2" charset="-78"/>
              </a:rPr>
              <a:t>انواع گزارش از نظر محتوا</a:t>
            </a:r>
            <a:r>
              <a:rPr lang="en-US" sz="3700" smtClean="0">
                <a:solidFill>
                  <a:srgbClr val="FF0000"/>
                </a:solidFill>
                <a:effectLst/>
                <a:cs typeface="B Titr" pitchFamily="2" charset="-78"/>
              </a:rPr>
              <a:t> : </a:t>
            </a:r>
          </a:p>
        </p:txBody>
      </p:sp>
    </p:spTree>
  </p:cSld>
  <p:clrMapOvr>
    <a:masterClrMapping/>
  </p:clrMapOvr>
  <p:transition spd="med">
    <p:wipe dir="d"/>
  </p:transition>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3"/>
          <p:cNvSpPr>
            <a:spLocks noGrp="1" noChangeArrowheads="1"/>
          </p:cNvSpPr>
          <p:nvPr>
            <p:ph idx="1"/>
          </p:nvPr>
        </p:nvSpPr>
        <p:spPr/>
        <p:txBody>
          <a:bodyPr/>
          <a:lstStyle/>
          <a:p>
            <a:pPr algn="justLow" rtl="1" eaLnBrk="1" hangingPunct="1"/>
            <a:r>
              <a:rPr lang="fa-IR" b="1" smtClean="0"/>
              <a:t>گزارش دوره ای  :  در دوره های از پیش تعیین شده نوشته و ارائه می شود .  مثل گزارش هفتگی                                            پیشر فت کار پروژه </a:t>
            </a:r>
          </a:p>
          <a:p>
            <a:pPr algn="justLow" rtl="1" eaLnBrk="1" hangingPunct="1"/>
            <a:r>
              <a:rPr lang="fa-IR" b="1" smtClean="0"/>
              <a:t> 2- گزارش نادوره ای :  گاه و بیگاه درخواست و نوشته می‌شود . مثل گزارش بررسی بروز یک مشکل فنی در مثلا یک کارخانه</a:t>
            </a:r>
            <a:r>
              <a:rPr lang="fa-IR" smtClean="0"/>
              <a:t> </a:t>
            </a:r>
            <a:endParaRPr lang="en-US" smtClean="0"/>
          </a:p>
        </p:txBody>
      </p:sp>
      <p:sp>
        <p:nvSpPr>
          <p:cNvPr id="243714" name="Rectangle 2"/>
          <p:cNvSpPr>
            <a:spLocks noGrp="1" noChangeArrowheads="1"/>
          </p:cNvSpPr>
          <p:nvPr>
            <p:ph type="title"/>
          </p:nvPr>
        </p:nvSpPr>
        <p:spPr>
          <a:xfrm>
            <a:off x="900113"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 د- انواع  گزارش از نظر زمان تولید و ارائه:</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3"/>
          <p:cNvSpPr>
            <a:spLocks noGrp="1" noChangeArrowheads="1"/>
          </p:cNvSpPr>
          <p:nvPr>
            <p:ph idx="1"/>
          </p:nvPr>
        </p:nvSpPr>
        <p:spPr/>
        <p:txBody>
          <a:bodyPr/>
          <a:lstStyle/>
          <a:p>
            <a:pPr algn="r" rtl="1" eaLnBrk="1" hangingPunct="1"/>
            <a:r>
              <a:rPr lang="fa-IR" b="1" smtClean="0"/>
              <a:t>گزارش بررسی یک مشکل یا نقص فنی </a:t>
            </a:r>
            <a:endParaRPr lang="en-US" smtClean="0"/>
          </a:p>
          <a:p>
            <a:pPr algn="r" rtl="1" eaLnBrk="1" hangingPunct="1"/>
            <a:r>
              <a:rPr lang="fa-IR" b="1" smtClean="0"/>
              <a:t>گزارش مطالعاتی – امکان سنجی </a:t>
            </a:r>
            <a:endParaRPr lang="en-US" smtClean="0"/>
          </a:p>
          <a:p>
            <a:pPr algn="r" rtl="1" eaLnBrk="1" hangingPunct="1"/>
            <a:r>
              <a:rPr lang="fa-IR" b="1" smtClean="0"/>
              <a:t>گزارش برگزاری همایش علمی – فنی </a:t>
            </a:r>
            <a:endParaRPr lang="en-US" smtClean="0"/>
          </a:p>
          <a:p>
            <a:pPr algn="r" rtl="1" eaLnBrk="1" hangingPunct="1"/>
            <a:r>
              <a:rPr lang="fa-IR" b="1" smtClean="0"/>
              <a:t>گزارش بررسی یک وضعیت ( رویداد/ پدیده و ... )  </a:t>
            </a:r>
            <a:endParaRPr lang="en-US" smtClean="0"/>
          </a:p>
          <a:p>
            <a:pPr algn="r" rtl="1" eaLnBrk="1" hangingPunct="1"/>
            <a:r>
              <a:rPr lang="fa-IR" b="1" smtClean="0"/>
              <a:t>گزارش حاوی توصیه – پیشنهاد </a:t>
            </a:r>
            <a:endParaRPr lang="en-US" smtClean="0"/>
          </a:p>
          <a:p>
            <a:pPr algn="r" rtl="1" eaLnBrk="1" hangingPunct="1"/>
            <a:r>
              <a:rPr lang="fa-IR" b="1" smtClean="0"/>
              <a:t>گزارش کار  از جمله  :</a:t>
            </a:r>
            <a:endParaRPr lang="en-US" smtClean="0"/>
          </a:p>
          <a:p>
            <a:pPr algn="r" rtl="1" eaLnBrk="1" hangingPunct="1"/>
            <a:endParaRPr lang="en-US" smtClean="0"/>
          </a:p>
        </p:txBody>
      </p:sp>
      <p:sp>
        <p:nvSpPr>
          <p:cNvPr id="244738" name="Rectangle 2"/>
          <p:cNvSpPr>
            <a:spLocks noGrp="1" noChangeArrowheads="1"/>
          </p:cNvSpPr>
          <p:nvPr>
            <p:ph type="title"/>
          </p:nvPr>
        </p:nvSpPr>
        <p:spPr>
          <a:xfrm>
            <a:off x="590550"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د- انواع رایج گزارش از نظر موضوع: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3"/>
          <p:cNvSpPr>
            <a:spLocks noGrp="1" noChangeArrowheads="1"/>
          </p:cNvSpPr>
          <p:nvPr>
            <p:ph idx="1"/>
          </p:nvPr>
        </p:nvSpPr>
        <p:spPr>
          <a:xfrm>
            <a:off x="468313" y="908050"/>
            <a:ext cx="8229600" cy="4530725"/>
          </a:xfrm>
        </p:spPr>
        <p:txBody>
          <a:bodyPr/>
          <a:lstStyle/>
          <a:p>
            <a:pPr marL="609600" indent="-609600" algn="r" rtl="1" eaLnBrk="1" hangingPunct="1">
              <a:lnSpc>
                <a:spcPct val="80000"/>
              </a:lnSpc>
            </a:pPr>
            <a:r>
              <a:rPr lang="fa-IR" sz="2800" b="1" smtClean="0"/>
              <a:t>گزارش پیشرفت پروژه </a:t>
            </a:r>
          </a:p>
          <a:p>
            <a:pPr marL="609600" indent="-609600" algn="r" rtl="1" eaLnBrk="1" hangingPunct="1">
              <a:lnSpc>
                <a:spcPct val="80000"/>
              </a:lnSpc>
            </a:pPr>
            <a:r>
              <a:rPr lang="fa-IR" sz="2800" b="1" smtClean="0"/>
              <a:t>گزارش طراحی </a:t>
            </a:r>
          </a:p>
          <a:p>
            <a:pPr marL="609600" indent="-609600" algn="r" rtl="1" eaLnBrk="1" hangingPunct="1">
              <a:lnSpc>
                <a:spcPct val="80000"/>
              </a:lnSpc>
            </a:pPr>
            <a:r>
              <a:rPr lang="fa-IR" sz="2800" b="1" smtClean="0"/>
              <a:t>گزارش ساخت و تولید </a:t>
            </a:r>
          </a:p>
          <a:p>
            <a:pPr marL="609600" indent="-609600" algn="r" rtl="1" eaLnBrk="1" hangingPunct="1">
              <a:lnSpc>
                <a:spcPct val="80000"/>
              </a:lnSpc>
            </a:pPr>
            <a:r>
              <a:rPr lang="fa-IR" sz="2800" b="1" smtClean="0"/>
              <a:t>گزارش بازرسی و تحقیق </a:t>
            </a:r>
          </a:p>
          <a:p>
            <a:pPr marL="609600" indent="-609600" algn="r" rtl="1" eaLnBrk="1" hangingPunct="1">
              <a:lnSpc>
                <a:spcPct val="80000"/>
              </a:lnSpc>
            </a:pPr>
            <a:r>
              <a:rPr lang="fa-IR" sz="2800" b="1" smtClean="0"/>
              <a:t>گزارش عملیات و اجرا </a:t>
            </a:r>
          </a:p>
          <a:p>
            <a:pPr marL="609600" indent="-609600" algn="r" rtl="1" eaLnBrk="1" hangingPunct="1">
              <a:lnSpc>
                <a:spcPct val="80000"/>
              </a:lnSpc>
            </a:pPr>
            <a:r>
              <a:rPr lang="fa-IR" sz="2800" b="1" smtClean="0"/>
              <a:t>گزارش ارزیابی </a:t>
            </a:r>
          </a:p>
          <a:p>
            <a:pPr marL="609600" indent="-609600" algn="r" rtl="1" eaLnBrk="1" hangingPunct="1">
              <a:lnSpc>
                <a:spcPct val="80000"/>
              </a:lnSpc>
            </a:pPr>
            <a:r>
              <a:rPr lang="fa-IR" sz="2800" b="1" smtClean="0"/>
              <a:t>گزارش خرید یا فروش </a:t>
            </a:r>
          </a:p>
          <a:p>
            <a:pPr marL="609600" indent="-609600" algn="r" rtl="1" eaLnBrk="1" hangingPunct="1">
              <a:lnSpc>
                <a:spcPct val="80000"/>
              </a:lnSpc>
            </a:pPr>
            <a:r>
              <a:rPr lang="fa-IR" sz="2800" b="1" smtClean="0"/>
              <a:t>گزارش بازدید </a:t>
            </a:r>
          </a:p>
          <a:p>
            <a:pPr marL="609600" indent="-609600" algn="r" rtl="1" eaLnBrk="1" hangingPunct="1">
              <a:lnSpc>
                <a:spcPct val="80000"/>
              </a:lnSpc>
            </a:pPr>
            <a:r>
              <a:rPr lang="fa-IR" sz="2800" b="1" smtClean="0"/>
              <a:t>گزارش سفر </a:t>
            </a:r>
          </a:p>
          <a:p>
            <a:pPr marL="609600" indent="-609600" algn="r" rtl="1" eaLnBrk="1" hangingPunct="1">
              <a:lnSpc>
                <a:spcPct val="80000"/>
              </a:lnSpc>
            </a:pPr>
            <a:r>
              <a:rPr lang="fa-IR" sz="2800" b="1" smtClean="0"/>
              <a:t>گزارش شرکت در همایش علمی – فنی</a:t>
            </a:r>
            <a:r>
              <a:rPr lang="fa-IR" sz="2800" smtClean="0"/>
              <a:t> </a:t>
            </a:r>
            <a:endParaRPr lang="en-US" sz="2800" smtClean="0"/>
          </a:p>
        </p:txBody>
      </p:sp>
    </p:spTree>
  </p:cSld>
  <p:clrMapOvr>
    <a:masterClrMapping/>
  </p:clrMapOvr>
  <p:transition spd="med">
    <p:wipe dir="d"/>
  </p:transition>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4"/>
          <p:cNvSpPr>
            <a:spLocks noChangeArrowheads="1"/>
          </p:cNvSpPr>
          <p:nvPr/>
        </p:nvSpPr>
        <p:spPr bwMode="auto">
          <a:xfrm>
            <a:off x="0" y="1412875"/>
            <a:ext cx="7848600" cy="4321175"/>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218115" name="Rectangle 5" descr="Wide upward diagonal"/>
          <p:cNvSpPr>
            <a:spLocks noChangeArrowheads="1"/>
          </p:cNvSpPr>
          <p:nvPr/>
        </p:nvSpPr>
        <p:spPr bwMode="auto">
          <a:xfrm>
            <a:off x="2268538" y="1989138"/>
            <a:ext cx="4537075" cy="360362"/>
          </a:xfrm>
          <a:prstGeom prst="rect">
            <a:avLst/>
          </a:prstGeom>
          <a:pattFill prst="wdUpDiag">
            <a:fgClr>
              <a:schemeClr val="accent1"/>
            </a:fgClr>
            <a:bgClr>
              <a:schemeClr val="bg1"/>
            </a:bgClr>
          </a:pattFill>
          <a:ln w="9525" algn="ctr">
            <a:solidFill>
              <a:srgbClr val="3366FF"/>
            </a:solidFill>
            <a:miter lim="800000"/>
            <a:headEnd/>
            <a:tailEnd/>
          </a:ln>
        </p:spPr>
        <p:txBody>
          <a:bodyPr wrap="none" anchor="ctr">
            <a:spAutoFit/>
          </a:bodyPr>
          <a:lstStyle/>
          <a:p>
            <a:endParaRPr lang="en-US"/>
          </a:p>
        </p:txBody>
      </p:sp>
      <p:sp>
        <p:nvSpPr>
          <p:cNvPr id="218116" name="Rectangle 6" descr="Wide upward diagonal"/>
          <p:cNvSpPr>
            <a:spLocks noChangeArrowheads="1"/>
          </p:cNvSpPr>
          <p:nvPr/>
        </p:nvSpPr>
        <p:spPr bwMode="auto">
          <a:xfrm>
            <a:off x="1979613" y="2492375"/>
            <a:ext cx="4537075" cy="360363"/>
          </a:xfrm>
          <a:prstGeom prst="rect">
            <a:avLst/>
          </a:prstGeom>
          <a:pattFill prst="wdUpDiag">
            <a:fgClr>
              <a:schemeClr val="accent1"/>
            </a:fgClr>
            <a:bgClr>
              <a:schemeClr val="bg1"/>
            </a:bgClr>
          </a:pattFill>
          <a:ln w="9525" algn="ctr">
            <a:solidFill>
              <a:srgbClr val="3366FF"/>
            </a:solidFill>
            <a:miter lim="800000"/>
            <a:headEnd/>
            <a:tailEnd/>
          </a:ln>
        </p:spPr>
        <p:txBody>
          <a:bodyPr wrap="none" anchor="ctr">
            <a:spAutoFit/>
          </a:bodyPr>
          <a:lstStyle/>
          <a:p>
            <a:endParaRPr lang="en-US"/>
          </a:p>
        </p:txBody>
      </p:sp>
      <p:sp>
        <p:nvSpPr>
          <p:cNvPr id="218117" name="Rectangle 7" descr="Wide upward diagonal"/>
          <p:cNvSpPr>
            <a:spLocks noChangeArrowheads="1"/>
          </p:cNvSpPr>
          <p:nvPr/>
        </p:nvSpPr>
        <p:spPr bwMode="auto">
          <a:xfrm>
            <a:off x="1692275" y="3068638"/>
            <a:ext cx="4537075" cy="360362"/>
          </a:xfrm>
          <a:prstGeom prst="rect">
            <a:avLst/>
          </a:prstGeom>
          <a:pattFill prst="wdUpDiag">
            <a:fgClr>
              <a:schemeClr val="accent1"/>
            </a:fgClr>
            <a:bgClr>
              <a:schemeClr val="bg1"/>
            </a:bgClr>
          </a:pattFill>
          <a:ln w="9525" algn="ctr">
            <a:solidFill>
              <a:srgbClr val="3366FF"/>
            </a:solidFill>
            <a:miter lim="800000"/>
            <a:headEnd/>
            <a:tailEnd/>
          </a:ln>
        </p:spPr>
        <p:txBody>
          <a:bodyPr wrap="none" anchor="ctr">
            <a:spAutoFit/>
          </a:bodyPr>
          <a:lstStyle/>
          <a:p>
            <a:endParaRPr lang="en-US"/>
          </a:p>
        </p:txBody>
      </p:sp>
      <p:sp>
        <p:nvSpPr>
          <p:cNvPr id="218118" name="Rectangle 8" descr="Wide upward diagonal"/>
          <p:cNvSpPr>
            <a:spLocks noChangeArrowheads="1"/>
          </p:cNvSpPr>
          <p:nvPr/>
        </p:nvSpPr>
        <p:spPr bwMode="auto">
          <a:xfrm>
            <a:off x="1331913" y="3573463"/>
            <a:ext cx="4537075" cy="360362"/>
          </a:xfrm>
          <a:prstGeom prst="rect">
            <a:avLst/>
          </a:prstGeom>
          <a:pattFill prst="wdUpDiag">
            <a:fgClr>
              <a:schemeClr val="accent1"/>
            </a:fgClr>
            <a:bgClr>
              <a:schemeClr val="bg1"/>
            </a:bgClr>
          </a:pattFill>
          <a:ln w="9525" algn="ctr">
            <a:solidFill>
              <a:srgbClr val="3366FF"/>
            </a:solidFill>
            <a:miter lim="800000"/>
            <a:headEnd/>
            <a:tailEnd/>
          </a:ln>
        </p:spPr>
        <p:txBody>
          <a:bodyPr wrap="none" anchor="ctr">
            <a:spAutoFit/>
          </a:bodyPr>
          <a:lstStyle/>
          <a:p>
            <a:endParaRPr lang="en-US"/>
          </a:p>
        </p:txBody>
      </p:sp>
      <p:sp>
        <p:nvSpPr>
          <p:cNvPr id="218119" name="Rectangle 9" descr="Wide upward diagonal"/>
          <p:cNvSpPr>
            <a:spLocks noChangeArrowheads="1"/>
          </p:cNvSpPr>
          <p:nvPr/>
        </p:nvSpPr>
        <p:spPr bwMode="auto">
          <a:xfrm>
            <a:off x="900113" y="4149725"/>
            <a:ext cx="4537075" cy="360363"/>
          </a:xfrm>
          <a:prstGeom prst="rect">
            <a:avLst/>
          </a:prstGeom>
          <a:pattFill prst="wdUpDiag">
            <a:fgClr>
              <a:schemeClr val="accent1"/>
            </a:fgClr>
            <a:bgClr>
              <a:schemeClr val="bg1"/>
            </a:bgClr>
          </a:pattFill>
          <a:ln w="9525" algn="ctr">
            <a:solidFill>
              <a:srgbClr val="3366FF"/>
            </a:solidFill>
            <a:miter lim="800000"/>
            <a:headEnd/>
            <a:tailEnd/>
          </a:ln>
        </p:spPr>
        <p:txBody>
          <a:bodyPr wrap="none" anchor="ctr">
            <a:spAutoFit/>
          </a:bodyPr>
          <a:lstStyle/>
          <a:p>
            <a:endParaRPr lang="en-US"/>
          </a:p>
        </p:txBody>
      </p:sp>
      <p:sp>
        <p:nvSpPr>
          <p:cNvPr id="218120" name="Rectangle 10" descr="Wide upward diagonal"/>
          <p:cNvSpPr>
            <a:spLocks noChangeArrowheads="1"/>
          </p:cNvSpPr>
          <p:nvPr/>
        </p:nvSpPr>
        <p:spPr bwMode="auto">
          <a:xfrm>
            <a:off x="539750" y="4724400"/>
            <a:ext cx="4537075" cy="360363"/>
          </a:xfrm>
          <a:prstGeom prst="rect">
            <a:avLst/>
          </a:prstGeom>
          <a:pattFill prst="wdUpDiag">
            <a:fgClr>
              <a:schemeClr val="accent1"/>
            </a:fgClr>
            <a:bgClr>
              <a:schemeClr val="bg1"/>
            </a:bgClr>
          </a:pattFill>
          <a:ln w="9525" algn="ctr">
            <a:solidFill>
              <a:srgbClr val="3366FF"/>
            </a:solidFill>
            <a:miter lim="800000"/>
            <a:headEnd/>
            <a:tailEnd/>
          </a:ln>
        </p:spPr>
        <p:txBody>
          <a:bodyPr wrap="none" anchor="ctr">
            <a:spAutoFit/>
          </a:bodyPr>
          <a:lstStyle/>
          <a:p>
            <a:endParaRPr lang="en-US"/>
          </a:p>
        </p:txBody>
      </p:sp>
      <p:sp>
        <p:nvSpPr>
          <p:cNvPr id="218121" name="Line 11"/>
          <p:cNvSpPr>
            <a:spLocks noChangeShapeType="1"/>
          </p:cNvSpPr>
          <p:nvPr/>
        </p:nvSpPr>
        <p:spPr bwMode="auto">
          <a:xfrm flipH="1">
            <a:off x="4211638" y="1484313"/>
            <a:ext cx="73025" cy="4321175"/>
          </a:xfrm>
          <a:prstGeom prst="line">
            <a:avLst/>
          </a:prstGeom>
          <a:noFill/>
          <a:ln w="9525">
            <a:solidFill>
              <a:srgbClr val="FF0000"/>
            </a:solidFill>
            <a:prstDash val="dash"/>
            <a:round/>
            <a:headEnd/>
            <a:tailEnd/>
          </a:ln>
        </p:spPr>
        <p:txBody>
          <a:bodyPr anchor="ctr">
            <a:spAutoFit/>
          </a:bodyPr>
          <a:lstStyle/>
          <a:p>
            <a:endParaRPr lang="en-US"/>
          </a:p>
        </p:txBody>
      </p:sp>
      <p:sp>
        <p:nvSpPr>
          <p:cNvPr id="218122" name="Rectangle 13"/>
          <p:cNvSpPr>
            <a:spLocks noChangeArrowheads="1"/>
          </p:cNvSpPr>
          <p:nvPr/>
        </p:nvSpPr>
        <p:spPr bwMode="auto">
          <a:xfrm>
            <a:off x="8015288" y="2016125"/>
            <a:ext cx="1112837" cy="376238"/>
          </a:xfrm>
          <a:prstGeom prst="rect">
            <a:avLst/>
          </a:prstGeom>
          <a:solidFill>
            <a:schemeClr val="accent1"/>
          </a:solidFill>
          <a:ln w="9525" algn="ctr">
            <a:solidFill>
              <a:srgbClr val="FFFF00"/>
            </a:solidFill>
            <a:miter lim="800000"/>
            <a:headEnd/>
            <a:tailEnd/>
          </a:ln>
        </p:spPr>
        <p:txBody>
          <a:bodyPr wrap="none" anchor="ctr">
            <a:spAutoFit/>
          </a:bodyPr>
          <a:lstStyle/>
          <a:p>
            <a:r>
              <a:rPr lang="fa-IR"/>
              <a:t>هيئت مديره </a:t>
            </a:r>
            <a:endParaRPr lang="en-US"/>
          </a:p>
        </p:txBody>
      </p:sp>
      <p:sp>
        <p:nvSpPr>
          <p:cNvPr id="218123" name="Rectangle 14"/>
          <p:cNvSpPr>
            <a:spLocks noChangeArrowheads="1"/>
          </p:cNvSpPr>
          <p:nvPr/>
        </p:nvSpPr>
        <p:spPr bwMode="auto">
          <a:xfrm>
            <a:off x="7912100" y="2520950"/>
            <a:ext cx="1314450" cy="376238"/>
          </a:xfrm>
          <a:prstGeom prst="rect">
            <a:avLst/>
          </a:prstGeom>
          <a:solidFill>
            <a:schemeClr val="accent1"/>
          </a:solidFill>
          <a:ln w="9525" algn="ctr">
            <a:solidFill>
              <a:srgbClr val="FFFF00"/>
            </a:solidFill>
            <a:miter lim="800000"/>
            <a:headEnd/>
            <a:tailEnd/>
          </a:ln>
        </p:spPr>
        <p:txBody>
          <a:bodyPr wrap="none" anchor="ctr">
            <a:spAutoFit/>
          </a:bodyPr>
          <a:lstStyle/>
          <a:p>
            <a:r>
              <a:rPr lang="fa-IR"/>
              <a:t>رئيس سازمان </a:t>
            </a:r>
            <a:endParaRPr lang="en-US"/>
          </a:p>
        </p:txBody>
      </p:sp>
      <p:sp>
        <p:nvSpPr>
          <p:cNvPr id="218124" name="Rectangle 15"/>
          <p:cNvSpPr>
            <a:spLocks noChangeArrowheads="1"/>
          </p:cNvSpPr>
          <p:nvPr/>
        </p:nvSpPr>
        <p:spPr bwMode="auto">
          <a:xfrm>
            <a:off x="7896225" y="3024188"/>
            <a:ext cx="1344613" cy="376237"/>
          </a:xfrm>
          <a:prstGeom prst="rect">
            <a:avLst/>
          </a:prstGeom>
          <a:solidFill>
            <a:schemeClr val="accent1"/>
          </a:solidFill>
          <a:ln w="9525" algn="ctr">
            <a:solidFill>
              <a:srgbClr val="FFFF00"/>
            </a:solidFill>
            <a:miter lim="800000"/>
            <a:headEnd/>
            <a:tailEnd/>
          </a:ln>
        </p:spPr>
        <p:txBody>
          <a:bodyPr wrap="none" anchor="ctr">
            <a:spAutoFit/>
          </a:bodyPr>
          <a:lstStyle/>
          <a:p>
            <a:r>
              <a:rPr lang="fa-IR"/>
              <a:t>معاون سازمان </a:t>
            </a:r>
            <a:endParaRPr lang="en-US"/>
          </a:p>
        </p:txBody>
      </p:sp>
      <p:sp>
        <p:nvSpPr>
          <p:cNvPr id="218125" name="Rectangle 16"/>
          <p:cNvSpPr>
            <a:spLocks noChangeArrowheads="1"/>
          </p:cNvSpPr>
          <p:nvPr/>
        </p:nvSpPr>
        <p:spPr bwMode="auto">
          <a:xfrm>
            <a:off x="7907338" y="3529013"/>
            <a:ext cx="1325562" cy="376237"/>
          </a:xfrm>
          <a:prstGeom prst="rect">
            <a:avLst/>
          </a:prstGeom>
          <a:solidFill>
            <a:schemeClr val="accent1"/>
          </a:solidFill>
          <a:ln w="9525" algn="ctr">
            <a:solidFill>
              <a:srgbClr val="FFFF00"/>
            </a:solidFill>
            <a:miter lim="800000"/>
            <a:headEnd/>
            <a:tailEnd/>
          </a:ln>
        </p:spPr>
        <p:txBody>
          <a:bodyPr wrap="none" anchor="ctr">
            <a:spAutoFit/>
          </a:bodyPr>
          <a:lstStyle/>
          <a:p>
            <a:r>
              <a:rPr lang="fa-IR"/>
              <a:t>مهندس مجري </a:t>
            </a:r>
            <a:endParaRPr lang="en-US"/>
          </a:p>
        </p:txBody>
      </p:sp>
      <p:sp>
        <p:nvSpPr>
          <p:cNvPr id="218126" name="Rectangle 17"/>
          <p:cNvSpPr>
            <a:spLocks noChangeArrowheads="1"/>
          </p:cNvSpPr>
          <p:nvPr/>
        </p:nvSpPr>
        <p:spPr bwMode="auto">
          <a:xfrm>
            <a:off x="8069263" y="4032250"/>
            <a:ext cx="1003300" cy="376238"/>
          </a:xfrm>
          <a:prstGeom prst="rect">
            <a:avLst/>
          </a:prstGeom>
          <a:solidFill>
            <a:schemeClr val="accent1"/>
          </a:solidFill>
          <a:ln w="9525" algn="ctr">
            <a:solidFill>
              <a:srgbClr val="FFFF00"/>
            </a:solidFill>
            <a:miter lim="800000"/>
            <a:headEnd/>
            <a:tailEnd/>
          </a:ln>
        </p:spPr>
        <p:txBody>
          <a:bodyPr wrap="none" anchor="ctr">
            <a:spAutoFit/>
          </a:bodyPr>
          <a:lstStyle/>
          <a:p>
            <a:r>
              <a:rPr lang="fa-IR"/>
              <a:t>مدير طرح </a:t>
            </a:r>
            <a:endParaRPr lang="en-US"/>
          </a:p>
        </p:txBody>
      </p:sp>
      <p:sp>
        <p:nvSpPr>
          <p:cNvPr id="218127" name="Rectangle 18"/>
          <p:cNvSpPr>
            <a:spLocks noChangeArrowheads="1"/>
          </p:cNvSpPr>
          <p:nvPr/>
        </p:nvSpPr>
        <p:spPr bwMode="auto">
          <a:xfrm>
            <a:off x="7986713" y="4608513"/>
            <a:ext cx="1166812" cy="376237"/>
          </a:xfrm>
          <a:prstGeom prst="rect">
            <a:avLst/>
          </a:prstGeom>
          <a:solidFill>
            <a:schemeClr val="accent1"/>
          </a:solidFill>
          <a:ln w="9525" algn="ctr">
            <a:solidFill>
              <a:srgbClr val="FFFF00"/>
            </a:solidFill>
            <a:miter lim="800000"/>
            <a:headEnd/>
            <a:tailEnd/>
          </a:ln>
        </p:spPr>
        <p:txBody>
          <a:bodyPr wrap="none" anchor="ctr">
            <a:spAutoFit/>
          </a:bodyPr>
          <a:lstStyle/>
          <a:p>
            <a:r>
              <a:rPr lang="fa-IR"/>
              <a:t>مهندس ارشد</a:t>
            </a:r>
            <a:endParaRPr lang="en-US"/>
          </a:p>
        </p:txBody>
      </p:sp>
      <p:sp>
        <p:nvSpPr>
          <p:cNvPr id="218128" name="Rectangle 19"/>
          <p:cNvSpPr>
            <a:spLocks noChangeArrowheads="1"/>
          </p:cNvSpPr>
          <p:nvPr/>
        </p:nvSpPr>
        <p:spPr bwMode="auto">
          <a:xfrm>
            <a:off x="4932363" y="908050"/>
            <a:ext cx="2403475" cy="376238"/>
          </a:xfrm>
          <a:prstGeom prst="rect">
            <a:avLst/>
          </a:prstGeom>
          <a:solidFill>
            <a:schemeClr val="accent1"/>
          </a:solidFill>
          <a:ln w="9525" algn="ctr">
            <a:solidFill>
              <a:schemeClr val="tx1"/>
            </a:solidFill>
            <a:miter lim="800000"/>
            <a:headEnd/>
            <a:tailEnd/>
          </a:ln>
        </p:spPr>
        <p:txBody>
          <a:bodyPr wrap="none" anchor="ctr">
            <a:spAutoFit/>
          </a:bodyPr>
          <a:lstStyle/>
          <a:p>
            <a:r>
              <a:rPr lang="fa-IR"/>
              <a:t>جنبه هاي اقتصادي – تجاري </a:t>
            </a:r>
            <a:endParaRPr lang="en-US"/>
          </a:p>
        </p:txBody>
      </p:sp>
      <p:sp>
        <p:nvSpPr>
          <p:cNvPr id="218129" name="Rectangle 20"/>
          <p:cNvSpPr>
            <a:spLocks noChangeArrowheads="1"/>
          </p:cNvSpPr>
          <p:nvPr/>
        </p:nvSpPr>
        <p:spPr bwMode="auto">
          <a:xfrm>
            <a:off x="1476375" y="908050"/>
            <a:ext cx="2055813" cy="376238"/>
          </a:xfrm>
          <a:prstGeom prst="rect">
            <a:avLst/>
          </a:prstGeom>
          <a:solidFill>
            <a:schemeClr val="accent1"/>
          </a:solidFill>
          <a:ln w="9525" algn="ctr">
            <a:solidFill>
              <a:schemeClr val="tx1"/>
            </a:solidFill>
            <a:miter lim="800000"/>
            <a:headEnd/>
            <a:tailEnd/>
          </a:ln>
        </p:spPr>
        <p:txBody>
          <a:bodyPr wrap="none" anchor="ctr">
            <a:spAutoFit/>
          </a:bodyPr>
          <a:lstStyle/>
          <a:p>
            <a:r>
              <a:rPr lang="fa-IR"/>
              <a:t>جنبه هاي فني – توليدي </a:t>
            </a:r>
            <a:endParaRPr lang="en-US"/>
          </a:p>
        </p:txBody>
      </p:sp>
      <p:sp>
        <p:nvSpPr>
          <p:cNvPr id="218130" name="Rectangle 21"/>
          <p:cNvSpPr>
            <a:spLocks noChangeArrowheads="1"/>
          </p:cNvSpPr>
          <p:nvPr/>
        </p:nvSpPr>
        <p:spPr bwMode="auto">
          <a:xfrm>
            <a:off x="7951788" y="5157788"/>
            <a:ext cx="1217612" cy="376237"/>
          </a:xfrm>
          <a:prstGeom prst="rect">
            <a:avLst/>
          </a:prstGeom>
          <a:solidFill>
            <a:schemeClr val="accent1"/>
          </a:solidFill>
          <a:ln w="9525" algn="ctr">
            <a:solidFill>
              <a:srgbClr val="FFFF00"/>
            </a:solidFill>
            <a:miter lim="800000"/>
            <a:headEnd/>
            <a:tailEnd/>
          </a:ln>
        </p:spPr>
        <p:txBody>
          <a:bodyPr wrap="none" anchor="ctr">
            <a:spAutoFit/>
          </a:bodyPr>
          <a:lstStyle/>
          <a:p>
            <a:r>
              <a:rPr lang="fa-IR"/>
              <a:t>مدير دپارتمان</a:t>
            </a:r>
            <a:endParaRPr lang="en-US"/>
          </a:p>
        </p:txBody>
      </p:sp>
    </p:spTree>
  </p:cSld>
  <p:clrMapOvr>
    <a:masterClrMapping/>
  </p:clrMapOvr>
  <p:transition spd="med">
    <p:wipe dir="d"/>
  </p:transition>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AutoShape 4"/>
          <p:cNvSpPr>
            <a:spLocks noChangeArrowheads="1"/>
          </p:cNvSpPr>
          <p:nvPr/>
        </p:nvSpPr>
        <p:spPr bwMode="auto">
          <a:xfrm>
            <a:off x="3924300" y="836613"/>
            <a:ext cx="5219700" cy="5329237"/>
          </a:xfrm>
          <a:prstGeom prst="flowChartExtra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219139" name="AutoShape 10"/>
          <p:cNvSpPr>
            <a:spLocks noChangeArrowheads="1"/>
          </p:cNvSpPr>
          <p:nvPr/>
        </p:nvSpPr>
        <p:spPr bwMode="auto">
          <a:xfrm rot="10800000">
            <a:off x="1042988" y="765175"/>
            <a:ext cx="5219700" cy="5329238"/>
          </a:xfrm>
          <a:prstGeom prst="flowChartExtra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219140" name="Line 11"/>
          <p:cNvSpPr>
            <a:spLocks noChangeShapeType="1"/>
          </p:cNvSpPr>
          <p:nvPr/>
        </p:nvSpPr>
        <p:spPr bwMode="auto">
          <a:xfrm flipH="1" flipV="1">
            <a:off x="5724525" y="2565400"/>
            <a:ext cx="1655763" cy="0"/>
          </a:xfrm>
          <a:prstGeom prst="line">
            <a:avLst/>
          </a:prstGeom>
          <a:noFill/>
          <a:ln w="9525">
            <a:solidFill>
              <a:srgbClr val="FF6600"/>
            </a:solidFill>
            <a:prstDash val="dash"/>
            <a:round/>
            <a:headEnd/>
            <a:tailEnd/>
          </a:ln>
        </p:spPr>
        <p:txBody>
          <a:bodyPr anchor="ctr">
            <a:spAutoFit/>
          </a:bodyPr>
          <a:lstStyle/>
          <a:p>
            <a:endParaRPr lang="en-US"/>
          </a:p>
        </p:txBody>
      </p:sp>
      <p:sp>
        <p:nvSpPr>
          <p:cNvPr id="219141" name="Line 12"/>
          <p:cNvSpPr>
            <a:spLocks noChangeShapeType="1"/>
          </p:cNvSpPr>
          <p:nvPr/>
        </p:nvSpPr>
        <p:spPr bwMode="auto">
          <a:xfrm flipH="1">
            <a:off x="1908175" y="2565400"/>
            <a:ext cx="3455988" cy="0"/>
          </a:xfrm>
          <a:prstGeom prst="line">
            <a:avLst/>
          </a:prstGeom>
          <a:noFill/>
          <a:ln w="9525">
            <a:solidFill>
              <a:srgbClr val="FF6600"/>
            </a:solidFill>
            <a:prstDash val="dash"/>
            <a:round/>
            <a:headEnd/>
            <a:tailEnd/>
          </a:ln>
        </p:spPr>
        <p:txBody>
          <a:bodyPr anchor="ctr">
            <a:spAutoFit/>
          </a:bodyPr>
          <a:lstStyle/>
          <a:p>
            <a:endParaRPr lang="en-US"/>
          </a:p>
        </p:txBody>
      </p:sp>
      <p:sp>
        <p:nvSpPr>
          <p:cNvPr id="219142" name="Line 13"/>
          <p:cNvSpPr>
            <a:spLocks noChangeShapeType="1"/>
          </p:cNvSpPr>
          <p:nvPr/>
        </p:nvSpPr>
        <p:spPr bwMode="auto">
          <a:xfrm flipH="1">
            <a:off x="5003800" y="4005263"/>
            <a:ext cx="3024188" cy="0"/>
          </a:xfrm>
          <a:prstGeom prst="line">
            <a:avLst/>
          </a:prstGeom>
          <a:noFill/>
          <a:ln w="9525">
            <a:solidFill>
              <a:srgbClr val="FF6600"/>
            </a:solidFill>
            <a:prstDash val="dash"/>
            <a:round/>
            <a:headEnd/>
            <a:tailEnd/>
          </a:ln>
        </p:spPr>
        <p:txBody>
          <a:bodyPr anchor="ctr">
            <a:spAutoFit/>
          </a:bodyPr>
          <a:lstStyle/>
          <a:p>
            <a:endParaRPr lang="en-US"/>
          </a:p>
        </p:txBody>
      </p:sp>
      <p:sp>
        <p:nvSpPr>
          <p:cNvPr id="219143" name="Line 14"/>
          <p:cNvSpPr>
            <a:spLocks noChangeShapeType="1"/>
          </p:cNvSpPr>
          <p:nvPr/>
        </p:nvSpPr>
        <p:spPr bwMode="auto">
          <a:xfrm flipH="1">
            <a:off x="2700338" y="4005263"/>
            <a:ext cx="1943100" cy="0"/>
          </a:xfrm>
          <a:prstGeom prst="line">
            <a:avLst/>
          </a:prstGeom>
          <a:noFill/>
          <a:ln w="9525">
            <a:solidFill>
              <a:srgbClr val="FF6600"/>
            </a:solidFill>
            <a:prstDash val="dash"/>
            <a:round/>
            <a:headEnd/>
            <a:tailEnd/>
          </a:ln>
        </p:spPr>
        <p:txBody>
          <a:bodyPr anchor="ctr">
            <a:spAutoFit/>
          </a:bodyPr>
          <a:lstStyle/>
          <a:p>
            <a:endParaRPr lang="en-US"/>
          </a:p>
        </p:txBody>
      </p:sp>
      <p:sp>
        <p:nvSpPr>
          <p:cNvPr id="219144" name="Rectangle 15"/>
          <p:cNvSpPr>
            <a:spLocks noChangeArrowheads="1"/>
          </p:cNvSpPr>
          <p:nvPr/>
        </p:nvSpPr>
        <p:spPr bwMode="auto">
          <a:xfrm>
            <a:off x="2305050" y="1338263"/>
            <a:ext cx="2817813" cy="581025"/>
          </a:xfrm>
          <a:prstGeom prst="rect">
            <a:avLst/>
          </a:prstGeom>
          <a:solidFill>
            <a:schemeClr val="accent1"/>
          </a:solidFill>
          <a:ln w="9525" algn="ctr">
            <a:noFill/>
            <a:miter lim="800000"/>
            <a:headEnd/>
            <a:tailEnd/>
          </a:ln>
        </p:spPr>
        <p:txBody>
          <a:bodyPr wrap="none" anchor="ctr">
            <a:spAutoFit/>
          </a:bodyPr>
          <a:lstStyle/>
          <a:p>
            <a:r>
              <a:rPr lang="fa-IR" sz="1600"/>
              <a:t>مديريت سازمان – هيئت فني – مديران </a:t>
            </a:r>
          </a:p>
          <a:p>
            <a:r>
              <a:rPr lang="fa-IR" sz="1600"/>
              <a:t>پروژه ها- مهندسين اجرايي </a:t>
            </a:r>
            <a:endParaRPr lang="en-US" sz="1600"/>
          </a:p>
        </p:txBody>
      </p:sp>
      <p:sp>
        <p:nvSpPr>
          <p:cNvPr id="219145" name="Rectangle 16"/>
          <p:cNvSpPr>
            <a:spLocks noChangeArrowheads="1"/>
          </p:cNvSpPr>
          <p:nvPr/>
        </p:nvSpPr>
        <p:spPr bwMode="auto">
          <a:xfrm>
            <a:off x="2608263" y="2887663"/>
            <a:ext cx="2141537" cy="581025"/>
          </a:xfrm>
          <a:prstGeom prst="rect">
            <a:avLst/>
          </a:prstGeom>
          <a:solidFill>
            <a:schemeClr val="accent1"/>
          </a:solidFill>
          <a:ln w="9525" algn="ctr">
            <a:noFill/>
            <a:miter lim="800000"/>
            <a:headEnd/>
            <a:tailEnd/>
          </a:ln>
        </p:spPr>
        <p:txBody>
          <a:bodyPr wrap="none" anchor="ctr">
            <a:spAutoFit/>
          </a:bodyPr>
          <a:lstStyle/>
          <a:p>
            <a:r>
              <a:rPr lang="fa-IR" sz="1600"/>
              <a:t>هيئت فني – مديران پروژه ها</a:t>
            </a:r>
          </a:p>
          <a:p>
            <a:r>
              <a:rPr lang="fa-IR" sz="1600"/>
              <a:t>مهندسين اجرايي </a:t>
            </a:r>
            <a:endParaRPr lang="en-US" sz="1600"/>
          </a:p>
        </p:txBody>
      </p:sp>
      <p:sp>
        <p:nvSpPr>
          <p:cNvPr id="219146" name="Rectangle 17"/>
          <p:cNvSpPr>
            <a:spLocks noChangeArrowheads="1"/>
          </p:cNvSpPr>
          <p:nvPr/>
        </p:nvSpPr>
        <p:spPr bwMode="auto">
          <a:xfrm>
            <a:off x="3203575" y="4271963"/>
            <a:ext cx="944563" cy="581025"/>
          </a:xfrm>
          <a:prstGeom prst="rect">
            <a:avLst/>
          </a:prstGeom>
          <a:solidFill>
            <a:schemeClr val="accent1"/>
          </a:solidFill>
          <a:ln w="9525" algn="ctr">
            <a:noFill/>
            <a:miter lim="800000"/>
            <a:headEnd/>
            <a:tailEnd/>
          </a:ln>
        </p:spPr>
        <p:txBody>
          <a:bodyPr anchor="ctr">
            <a:spAutoFit/>
          </a:bodyPr>
          <a:lstStyle/>
          <a:p>
            <a:r>
              <a:rPr lang="fa-IR" sz="1600"/>
              <a:t>مهندسين اجرايي </a:t>
            </a:r>
            <a:endParaRPr lang="en-US" sz="1600"/>
          </a:p>
        </p:txBody>
      </p:sp>
      <p:sp>
        <p:nvSpPr>
          <p:cNvPr id="219147" name="Rectangle 18"/>
          <p:cNvSpPr>
            <a:spLocks noChangeArrowheads="1"/>
          </p:cNvSpPr>
          <p:nvPr/>
        </p:nvSpPr>
        <p:spPr bwMode="auto">
          <a:xfrm>
            <a:off x="6156325" y="1773238"/>
            <a:ext cx="860425" cy="825500"/>
          </a:xfrm>
          <a:prstGeom prst="rect">
            <a:avLst/>
          </a:prstGeom>
          <a:solidFill>
            <a:schemeClr val="accent1"/>
          </a:solidFill>
          <a:ln w="9525" algn="ctr">
            <a:noFill/>
            <a:miter lim="800000"/>
            <a:headEnd/>
            <a:tailEnd/>
          </a:ln>
        </p:spPr>
        <p:txBody>
          <a:bodyPr anchor="ctr">
            <a:spAutoFit/>
          </a:bodyPr>
          <a:lstStyle/>
          <a:p>
            <a:r>
              <a:rPr lang="fa-IR" sz="1600"/>
              <a:t>پيشگفتار </a:t>
            </a:r>
          </a:p>
          <a:p>
            <a:r>
              <a:rPr lang="fa-IR" sz="1600"/>
              <a:t> چكيده - خلاصه</a:t>
            </a:r>
            <a:endParaRPr lang="en-US" sz="1600"/>
          </a:p>
        </p:txBody>
      </p:sp>
      <p:sp>
        <p:nvSpPr>
          <p:cNvPr id="219148" name="Rectangle 19"/>
          <p:cNvSpPr>
            <a:spLocks noChangeArrowheads="1"/>
          </p:cNvSpPr>
          <p:nvPr/>
        </p:nvSpPr>
        <p:spPr bwMode="auto">
          <a:xfrm>
            <a:off x="6088063" y="3286125"/>
            <a:ext cx="914400" cy="336550"/>
          </a:xfrm>
          <a:prstGeom prst="rect">
            <a:avLst/>
          </a:prstGeom>
          <a:solidFill>
            <a:schemeClr val="accent1"/>
          </a:solidFill>
          <a:ln w="9525" algn="ctr">
            <a:noFill/>
            <a:miter lim="800000"/>
            <a:headEnd/>
            <a:tailEnd/>
          </a:ln>
        </p:spPr>
        <p:txBody>
          <a:bodyPr wrap="none" anchor="ctr">
            <a:spAutoFit/>
          </a:bodyPr>
          <a:lstStyle/>
          <a:p>
            <a:r>
              <a:rPr lang="fa-IR" sz="1600"/>
              <a:t>متن اصلي </a:t>
            </a:r>
            <a:endParaRPr lang="en-US" sz="1600"/>
          </a:p>
        </p:txBody>
      </p:sp>
      <p:sp>
        <p:nvSpPr>
          <p:cNvPr id="219149" name="Rectangle 20"/>
          <p:cNvSpPr>
            <a:spLocks noChangeArrowheads="1"/>
          </p:cNvSpPr>
          <p:nvPr/>
        </p:nvSpPr>
        <p:spPr bwMode="auto">
          <a:xfrm>
            <a:off x="6021388" y="4989513"/>
            <a:ext cx="706437" cy="336550"/>
          </a:xfrm>
          <a:prstGeom prst="rect">
            <a:avLst/>
          </a:prstGeom>
          <a:solidFill>
            <a:schemeClr val="accent1"/>
          </a:solidFill>
          <a:ln w="9525" algn="ctr">
            <a:noFill/>
            <a:miter lim="800000"/>
            <a:headEnd/>
            <a:tailEnd/>
          </a:ln>
        </p:spPr>
        <p:txBody>
          <a:bodyPr wrap="none" anchor="ctr">
            <a:spAutoFit/>
          </a:bodyPr>
          <a:lstStyle/>
          <a:p>
            <a:r>
              <a:rPr lang="fa-IR" sz="1600"/>
              <a:t>پيوستها</a:t>
            </a:r>
            <a:endParaRPr lang="en-US" sz="1600"/>
          </a:p>
        </p:txBody>
      </p:sp>
      <p:sp>
        <p:nvSpPr>
          <p:cNvPr id="219150" name="Rectangle 21"/>
          <p:cNvSpPr>
            <a:spLocks noChangeArrowheads="1"/>
          </p:cNvSpPr>
          <p:nvPr/>
        </p:nvSpPr>
        <p:spPr bwMode="auto">
          <a:xfrm>
            <a:off x="5397500" y="6394450"/>
            <a:ext cx="1527175" cy="376238"/>
          </a:xfrm>
          <a:prstGeom prst="rect">
            <a:avLst/>
          </a:prstGeom>
          <a:solidFill>
            <a:schemeClr val="accent1"/>
          </a:solidFill>
          <a:ln w="9525" algn="ctr">
            <a:solidFill>
              <a:schemeClr val="tx1"/>
            </a:solidFill>
            <a:miter lim="800000"/>
            <a:headEnd/>
            <a:tailEnd/>
          </a:ln>
        </p:spPr>
        <p:txBody>
          <a:bodyPr wrap="none" anchor="ctr">
            <a:spAutoFit/>
          </a:bodyPr>
          <a:lstStyle/>
          <a:p>
            <a:r>
              <a:rPr lang="fa-IR"/>
              <a:t>قسمتهاي گزارش </a:t>
            </a:r>
            <a:endParaRPr lang="en-US"/>
          </a:p>
        </p:txBody>
      </p:sp>
      <p:sp>
        <p:nvSpPr>
          <p:cNvPr id="219151" name="Rectangle 22"/>
          <p:cNvSpPr>
            <a:spLocks noChangeArrowheads="1"/>
          </p:cNvSpPr>
          <p:nvPr/>
        </p:nvSpPr>
        <p:spPr bwMode="auto">
          <a:xfrm>
            <a:off x="2890838" y="252413"/>
            <a:ext cx="990600" cy="376237"/>
          </a:xfrm>
          <a:prstGeom prst="rect">
            <a:avLst/>
          </a:prstGeom>
          <a:solidFill>
            <a:schemeClr val="accent1"/>
          </a:solidFill>
          <a:ln w="9525" algn="ctr">
            <a:solidFill>
              <a:schemeClr val="tx1"/>
            </a:solidFill>
            <a:miter lim="800000"/>
            <a:headEnd/>
            <a:tailEnd/>
          </a:ln>
        </p:spPr>
        <p:txBody>
          <a:bodyPr wrap="none" anchor="ctr">
            <a:spAutoFit/>
          </a:bodyPr>
          <a:lstStyle/>
          <a:p>
            <a:r>
              <a:rPr lang="fa-IR"/>
              <a:t>خوانندگان </a:t>
            </a:r>
            <a:endParaRPr lang="en-US"/>
          </a:p>
        </p:txBody>
      </p:sp>
    </p:spTree>
  </p:cSld>
  <p:clrMapOvr>
    <a:masterClrMapping/>
  </p:clrMapOvr>
  <p:transition spd="med">
    <p:wipe dir="d"/>
  </p:transition>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3"/>
          <p:cNvSpPr>
            <a:spLocks noGrp="1" noChangeArrowheads="1"/>
          </p:cNvSpPr>
          <p:nvPr>
            <p:ph idx="1"/>
          </p:nvPr>
        </p:nvSpPr>
        <p:spPr>
          <a:xfrm>
            <a:off x="457200" y="1600200"/>
            <a:ext cx="8229600" cy="5257800"/>
          </a:xfrm>
        </p:spPr>
        <p:txBody>
          <a:bodyPr/>
          <a:lstStyle/>
          <a:p>
            <a:pPr algn="r" rtl="1" eaLnBrk="1" hangingPunct="1">
              <a:lnSpc>
                <a:spcPct val="90000"/>
              </a:lnSpc>
            </a:pPr>
            <a:r>
              <a:rPr lang="fa-IR" sz="2400" b="1" smtClean="0"/>
              <a:t>تشخیص صورت، نوع ، کمیت و محتوای گزارش </a:t>
            </a:r>
            <a:endParaRPr lang="en-US" sz="2400" smtClean="0"/>
          </a:p>
          <a:p>
            <a:pPr algn="r" rtl="1" eaLnBrk="1" hangingPunct="1">
              <a:lnSpc>
                <a:spcPct val="90000"/>
              </a:lnSpc>
            </a:pPr>
            <a:r>
              <a:rPr lang="fa-IR" sz="2400" b="1" smtClean="0"/>
              <a:t>جمع آوری ، انتخاب، رده بندی ، تحلیل و تفسیر داده ها </a:t>
            </a:r>
            <a:endParaRPr lang="en-US" sz="2400" smtClean="0"/>
          </a:p>
          <a:p>
            <a:pPr algn="r" rtl="1" eaLnBrk="1" hangingPunct="1">
              <a:lnSpc>
                <a:spcPct val="90000"/>
              </a:lnSpc>
            </a:pPr>
            <a:r>
              <a:rPr lang="fa-IR" sz="2400" b="1" smtClean="0"/>
              <a:t>داشتن دقت در مشاهده ، مطالعه، آزمایش، بررسی و شنیدن و ...</a:t>
            </a:r>
            <a:endParaRPr lang="en-US" sz="2400" smtClean="0"/>
          </a:p>
          <a:p>
            <a:pPr algn="r" rtl="1" eaLnBrk="1" hangingPunct="1">
              <a:lnSpc>
                <a:spcPct val="90000"/>
              </a:lnSpc>
            </a:pPr>
            <a:r>
              <a:rPr lang="fa-IR" sz="2400" b="1" smtClean="0"/>
              <a:t>داشتن دقت، صراحت ، منطق بندی و انسجام در اندیشیدن و نوشتن به هنگام تولید نوشتار</a:t>
            </a:r>
            <a:endParaRPr lang="en-US" sz="2400" smtClean="0"/>
          </a:p>
          <a:p>
            <a:pPr algn="r" rtl="1" eaLnBrk="1" hangingPunct="1">
              <a:lnSpc>
                <a:spcPct val="90000"/>
              </a:lnSpc>
            </a:pPr>
            <a:r>
              <a:rPr lang="fa-IR" sz="2400" b="1" smtClean="0"/>
              <a:t>انتقال ایده بطور کامل ، دقیق ، مناسب ، روشن وصریح </a:t>
            </a:r>
            <a:endParaRPr lang="en-US" sz="2400" smtClean="0"/>
          </a:p>
          <a:p>
            <a:pPr algn="r" rtl="1" eaLnBrk="1" hangingPunct="1">
              <a:lnSpc>
                <a:spcPct val="90000"/>
              </a:lnSpc>
            </a:pPr>
            <a:r>
              <a:rPr lang="fa-IR" sz="2400" b="1" smtClean="0"/>
              <a:t>برقراری ارتباط  درست نوشتاری واستفاده درست از امکانات آن </a:t>
            </a:r>
            <a:endParaRPr lang="en-US" sz="2400" smtClean="0"/>
          </a:p>
          <a:p>
            <a:pPr algn="r" rtl="1" eaLnBrk="1" hangingPunct="1">
              <a:lnSpc>
                <a:spcPct val="90000"/>
              </a:lnSpc>
            </a:pPr>
            <a:r>
              <a:rPr lang="fa-IR" sz="2400" b="1" smtClean="0"/>
              <a:t>تولید گزارش بر اساس تجربه فردی ، مشاهدات ، داوریهای منطقی و استدلال و مطالعات و بررسیها</a:t>
            </a:r>
            <a:endParaRPr lang="en-US" sz="2400" smtClean="0"/>
          </a:p>
          <a:p>
            <a:pPr algn="r" rtl="1" eaLnBrk="1" hangingPunct="1">
              <a:lnSpc>
                <a:spcPct val="90000"/>
              </a:lnSpc>
            </a:pPr>
            <a:r>
              <a:rPr lang="fa-IR" sz="2400" b="1" smtClean="0"/>
              <a:t>دستیابی به جواب یا جوابهای ممکن یک مشکل علمی یا فنی از طریق نتیجه‌گیری درست</a:t>
            </a:r>
            <a:endParaRPr lang="en-US" sz="2400" smtClean="0"/>
          </a:p>
          <a:p>
            <a:pPr algn="r" rtl="1" eaLnBrk="1" hangingPunct="1">
              <a:lnSpc>
                <a:spcPct val="90000"/>
              </a:lnSpc>
            </a:pPr>
            <a:r>
              <a:rPr lang="fa-IR" sz="2400" b="1" smtClean="0"/>
              <a:t>ارزیابی نتایج بدست آمده </a:t>
            </a:r>
            <a:endParaRPr lang="en-US" sz="2400" smtClean="0"/>
          </a:p>
          <a:p>
            <a:pPr algn="r" rtl="1" eaLnBrk="1" hangingPunct="1">
              <a:lnSpc>
                <a:spcPct val="90000"/>
              </a:lnSpc>
            </a:pPr>
            <a:r>
              <a:rPr lang="fa-IR" sz="2400" b="1" smtClean="0"/>
              <a:t>آماده سازی گزارش جهت ارائه </a:t>
            </a:r>
            <a:endParaRPr lang="en-US" sz="2400" smtClean="0"/>
          </a:p>
          <a:p>
            <a:pPr algn="r" rtl="1" eaLnBrk="1" hangingPunct="1">
              <a:lnSpc>
                <a:spcPct val="90000"/>
              </a:lnSpc>
            </a:pPr>
            <a:endParaRPr lang="en-US" sz="2400" smtClean="0"/>
          </a:p>
        </p:txBody>
      </p:sp>
      <p:sp>
        <p:nvSpPr>
          <p:cNvPr id="248834" name="Rectangle 2"/>
          <p:cNvSpPr>
            <a:spLocks noGrp="1" noChangeArrowheads="1"/>
          </p:cNvSpPr>
          <p:nvPr>
            <p:ph type="title"/>
          </p:nvPr>
        </p:nvSpPr>
        <p:spPr>
          <a:xfrm>
            <a:off x="663575"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مهارت های لازم برای گزارش نویسی: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Text Box 4">
            <a:hlinkClick r:id="rId2" action="ppaction://hlinksldjump"/>
          </p:cNvPr>
          <p:cNvSpPr txBox="1">
            <a:spLocks noChangeArrowheads="1"/>
          </p:cNvSpPr>
          <p:nvPr/>
        </p:nvSpPr>
        <p:spPr bwMode="auto">
          <a:xfrm>
            <a:off x="1763713" y="2276475"/>
            <a:ext cx="5688012" cy="762000"/>
          </a:xfrm>
          <a:prstGeom prst="rect">
            <a:avLst/>
          </a:prstGeom>
          <a:noFill/>
          <a:ln w="9525">
            <a:noFill/>
            <a:miter lim="800000"/>
            <a:headEnd/>
            <a:tailEnd/>
          </a:ln>
        </p:spPr>
        <p:txBody>
          <a:bodyPr>
            <a:spAutoFit/>
          </a:bodyPr>
          <a:lstStyle/>
          <a:p>
            <a:pPr rtl="1"/>
            <a:r>
              <a:rPr lang="fa-IR" sz="4400" dirty="0" err="1">
                <a:solidFill>
                  <a:schemeClr val="tx1"/>
                </a:solidFill>
                <a:cs typeface="B Titr" panose="00000700000000000000" pitchFamily="2" charset="-78"/>
              </a:rPr>
              <a:t>آشنايي</a:t>
            </a:r>
            <a:r>
              <a:rPr lang="fa-IR" sz="4400" dirty="0">
                <a:solidFill>
                  <a:schemeClr val="tx1"/>
                </a:solidFill>
                <a:cs typeface="B Titr" panose="00000700000000000000" pitchFamily="2" charset="-78"/>
              </a:rPr>
              <a:t> با چند نوع گزارش</a:t>
            </a:r>
            <a:endParaRPr lang="en-US" sz="4400" dirty="0">
              <a:solidFill>
                <a:schemeClr val="tx1"/>
              </a:solidFill>
              <a:cs typeface="B Titr" panose="00000700000000000000" pitchFamily="2" charset="-78"/>
            </a:endParaRPr>
          </a:p>
        </p:txBody>
      </p:sp>
    </p:spTree>
  </p:cSld>
  <p:clrMapOvr>
    <a:masterClrMapping/>
  </p:clrMapOvr>
  <p:transition spd="med">
    <p:wipe dir="d"/>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3"/>
          <p:cNvSpPr>
            <a:spLocks noGrp="1" noChangeArrowheads="1"/>
          </p:cNvSpPr>
          <p:nvPr>
            <p:ph idx="1"/>
          </p:nvPr>
        </p:nvSpPr>
        <p:spPr/>
        <p:txBody>
          <a:bodyPr/>
          <a:lstStyle/>
          <a:p>
            <a:pPr algn="justLow" rtl="1" eaLnBrk="1" hangingPunct="1">
              <a:buFont typeface="Wingdings" pitchFamily="2" charset="2"/>
              <a:buNone/>
            </a:pPr>
            <a:r>
              <a:rPr lang="fa-IR" b="1" smtClean="0"/>
              <a:t>این گونه گزارش در اساس نوعی نامه کاری است که در محیطهای فنی و صنعتی و ... نوشته می شود و در آن به مشکلاتی که در تجارت، علوم ، صنعت ، مهندسی و سایر زمینه های فعالیت بشری بروز می کند پرداخته می شود و گزارشی کوتاه و رسمی است .</a:t>
            </a:r>
            <a:endParaRPr lang="en-US" b="1" smtClean="0"/>
          </a:p>
        </p:txBody>
      </p:sp>
      <p:sp>
        <p:nvSpPr>
          <p:cNvPr id="25088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گزارش- نامه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3"/>
          <p:cNvSpPr>
            <a:spLocks noGrp="1" noChangeArrowheads="1"/>
          </p:cNvSpPr>
          <p:nvPr>
            <p:ph idx="1"/>
          </p:nvPr>
        </p:nvSpPr>
        <p:spPr/>
        <p:txBody>
          <a:bodyPr/>
          <a:lstStyle/>
          <a:p>
            <a:pPr algn="ctr" eaLnBrk="1" hangingPunct="1">
              <a:lnSpc>
                <a:spcPct val="80000"/>
              </a:lnSpc>
              <a:buFont typeface="Wingdings" pitchFamily="2" charset="2"/>
              <a:buNone/>
            </a:pPr>
            <a:r>
              <a:rPr lang="fa-IR" sz="2800" b="1" dirty="0" smtClean="0"/>
              <a:t>عنوان سازمان یا شر کت فرستنده</a:t>
            </a:r>
          </a:p>
          <a:p>
            <a:pPr algn="ctr" eaLnBrk="1" hangingPunct="1">
              <a:lnSpc>
                <a:spcPct val="80000"/>
              </a:lnSpc>
              <a:buFont typeface="Wingdings" pitchFamily="2" charset="2"/>
              <a:buNone/>
            </a:pPr>
            <a:r>
              <a:rPr lang="fa-IR" sz="2800" b="1" dirty="0" smtClean="0"/>
              <a:t>سمت یا وضعیت سازمانی نویسنده گزارش</a:t>
            </a:r>
          </a:p>
          <a:p>
            <a:pPr algn="ctr" rtl="1" eaLnBrk="1" hangingPunct="1">
              <a:lnSpc>
                <a:spcPct val="80000"/>
              </a:lnSpc>
              <a:buFont typeface="Wingdings" pitchFamily="2" charset="2"/>
              <a:buNone/>
            </a:pPr>
            <a:r>
              <a:rPr lang="fa-IR" sz="2800" b="1" dirty="0" smtClean="0"/>
              <a:t>نشانی </a:t>
            </a:r>
          </a:p>
          <a:p>
            <a:pPr rtl="1" eaLnBrk="1" hangingPunct="1">
              <a:lnSpc>
                <a:spcPct val="80000"/>
              </a:lnSpc>
              <a:buFont typeface="Wingdings" pitchFamily="2" charset="2"/>
              <a:buNone/>
            </a:pPr>
            <a:r>
              <a:rPr lang="fa-IR" sz="2800" b="1" dirty="0" smtClean="0"/>
              <a:t>                                                                                                                    </a:t>
            </a:r>
            <a:r>
              <a:rPr lang="fa-IR" sz="2800" dirty="0" smtClean="0"/>
              <a:t>                                              </a:t>
            </a:r>
            <a:r>
              <a:rPr lang="fa-IR" sz="2800" b="1" dirty="0" smtClean="0"/>
              <a:t>تاریخ   : ......      </a:t>
            </a:r>
          </a:p>
          <a:p>
            <a:pPr algn="r" rtl="1" eaLnBrk="1" hangingPunct="1">
              <a:lnSpc>
                <a:spcPct val="80000"/>
              </a:lnSpc>
              <a:buFont typeface="Wingdings" pitchFamily="2" charset="2"/>
              <a:buNone/>
            </a:pPr>
            <a:r>
              <a:rPr lang="fa-IR" sz="2800" b="1" dirty="0" smtClean="0"/>
              <a:t>نام مخاطب                                                  </a:t>
            </a:r>
            <a:r>
              <a:rPr lang="fa-IR" sz="2800" b="1" dirty="0" err="1" smtClean="0"/>
              <a:t>پیوستها</a:t>
            </a:r>
            <a:r>
              <a:rPr lang="fa-IR" sz="2800" b="1" dirty="0" smtClean="0"/>
              <a:t> : ......</a:t>
            </a:r>
          </a:p>
          <a:p>
            <a:pPr algn="r" rtl="1" eaLnBrk="1" hangingPunct="1">
              <a:lnSpc>
                <a:spcPct val="80000"/>
              </a:lnSpc>
              <a:buFont typeface="Wingdings" pitchFamily="2" charset="2"/>
              <a:buNone/>
            </a:pPr>
            <a:r>
              <a:rPr lang="fa-IR" sz="2800" b="1" dirty="0" smtClean="0"/>
              <a:t>وضعیت یا سمت مخاطب </a:t>
            </a:r>
          </a:p>
          <a:p>
            <a:pPr algn="r" rtl="1" eaLnBrk="1" hangingPunct="1">
              <a:lnSpc>
                <a:spcPct val="80000"/>
              </a:lnSpc>
              <a:buFont typeface="Wingdings" pitchFamily="2" charset="2"/>
              <a:buNone/>
            </a:pPr>
            <a:r>
              <a:rPr lang="fa-IR" sz="2800" b="1" dirty="0" smtClean="0"/>
              <a:t>نشانی مخاطب </a:t>
            </a:r>
          </a:p>
          <a:p>
            <a:pPr algn="r" rtl="1" eaLnBrk="1" hangingPunct="1">
              <a:lnSpc>
                <a:spcPct val="80000"/>
              </a:lnSpc>
              <a:buFont typeface="Wingdings" pitchFamily="2" charset="2"/>
              <a:buNone/>
            </a:pPr>
            <a:r>
              <a:rPr lang="fa-IR" sz="2800" b="1" dirty="0" smtClean="0"/>
              <a:t>موضوع : </a:t>
            </a:r>
          </a:p>
          <a:p>
            <a:pPr algn="r" rtl="1" eaLnBrk="1" hangingPunct="1">
              <a:lnSpc>
                <a:spcPct val="80000"/>
              </a:lnSpc>
              <a:buFont typeface="Wingdings" pitchFamily="2" charset="2"/>
              <a:buNone/>
            </a:pPr>
            <a:r>
              <a:rPr lang="fa-IR" sz="2800" b="1" dirty="0" smtClean="0"/>
              <a:t>اظهار ادب</a:t>
            </a:r>
            <a:r>
              <a:rPr lang="fa-IR" sz="2800" dirty="0" smtClean="0"/>
              <a:t> </a:t>
            </a:r>
            <a:endParaRPr lang="en-US" sz="2800" dirty="0" smtClean="0"/>
          </a:p>
        </p:txBody>
      </p:sp>
      <p:sp>
        <p:nvSpPr>
          <p:cNvPr id="25190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dirty="0" smtClean="0">
                <a:solidFill>
                  <a:srgbClr val="FF0000"/>
                </a:solidFill>
                <a:effectLst/>
                <a:cs typeface="B Titr" pitchFamily="2" charset="-78"/>
              </a:rPr>
              <a:t>اجزاء و ساختار گزارش – نامه  : </a:t>
            </a:r>
            <a:endParaRPr lang="en-US" sz="37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3"/>
          <p:cNvSpPr>
            <a:spLocks noGrp="1" noChangeArrowheads="1"/>
          </p:cNvSpPr>
          <p:nvPr>
            <p:ph idx="1"/>
          </p:nvPr>
        </p:nvSpPr>
        <p:spPr>
          <a:xfrm>
            <a:off x="806450" y="1130300"/>
            <a:ext cx="8229600" cy="4530725"/>
          </a:xfrm>
        </p:spPr>
        <p:txBody>
          <a:bodyPr/>
          <a:lstStyle/>
          <a:p>
            <a:pPr marL="609600" indent="-609600" algn="r" rtl="1" eaLnBrk="1" hangingPunct="1">
              <a:lnSpc>
                <a:spcPct val="90000"/>
              </a:lnSpc>
              <a:buFont typeface="Wingdings" pitchFamily="2" charset="2"/>
              <a:buAutoNum type="arabicPeriod"/>
            </a:pPr>
            <a:r>
              <a:rPr lang="fa-IR" sz="2800" b="1" smtClean="0"/>
              <a:t>عبارات یا جملات مبنی بر سابقه مکاتبه و سبب نوشتن و ارسال گزارش – نامه  : یک نوشتپار</a:t>
            </a:r>
          </a:p>
          <a:p>
            <a:pPr marL="609600" indent="-609600" algn="r" rtl="1" eaLnBrk="1" hangingPunct="1">
              <a:lnSpc>
                <a:spcPct val="90000"/>
              </a:lnSpc>
              <a:buFont typeface="Wingdings" pitchFamily="2" charset="2"/>
              <a:buAutoNum type="arabicPeriod"/>
            </a:pPr>
            <a:r>
              <a:rPr lang="fa-IR" sz="2800" b="1" smtClean="0"/>
              <a:t>بیان مشکل : یک نوشتپار </a:t>
            </a:r>
          </a:p>
          <a:p>
            <a:pPr marL="609600" indent="-609600" algn="r" rtl="1" eaLnBrk="1" hangingPunct="1">
              <a:lnSpc>
                <a:spcPct val="90000"/>
              </a:lnSpc>
              <a:buFont typeface="Wingdings" pitchFamily="2" charset="2"/>
              <a:buAutoNum type="arabicPeriod"/>
            </a:pPr>
            <a:r>
              <a:rPr lang="fa-IR" sz="2800" b="1" smtClean="0"/>
              <a:t>خلاصه راه حلهای یافت شده : یک یا دو نوشتپار </a:t>
            </a:r>
          </a:p>
          <a:p>
            <a:pPr marL="609600" indent="-609600" algn="r" rtl="1" eaLnBrk="1" hangingPunct="1">
              <a:lnSpc>
                <a:spcPct val="90000"/>
              </a:lnSpc>
              <a:buFont typeface="Wingdings" pitchFamily="2" charset="2"/>
              <a:buAutoNum type="arabicPeriod"/>
            </a:pPr>
            <a:r>
              <a:rPr lang="fa-IR" sz="2800" b="1" smtClean="0"/>
              <a:t>شرح و بسط راه حل ها ، ضمن بیان نظریه ها ، دلایل ، و ... : هر تعداد نوشتپار که لازم باشد </a:t>
            </a:r>
          </a:p>
          <a:p>
            <a:pPr marL="609600" indent="-609600" algn="r" rtl="1" eaLnBrk="1" hangingPunct="1">
              <a:lnSpc>
                <a:spcPct val="90000"/>
              </a:lnSpc>
              <a:buFont typeface="Wingdings" pitchFamily="2" charset="2"/>
              <a:buAutoNum type="arabicPeriod"/>
            </a:pPr>
            <a:r>
              <a:rPr lang="fa-IR" sz="2800" b="1" smtClean="0"/>
              <a:t>بیان نتایج : حاوی توصیه ها ، در خواستها ، نظرات و پیشنهادات : یک یا دو نوشتپار </a:t>
            </a:r>
          </a:p>
          <a:p>
            <a:pPr marL="609600" indent="-609600" algn="r" rtl="1" eaLnBrk="1" hangingPunct="1">
              <a:lnSpc>
                <a:spcPct val="90000"/>
              </a:lnSpc>
              <a:buFont typeface="Wingdings" pitchFamily="2" charset="2"/>
              <a:buAutoNum type="arabicPeriod"/>
            </a:pPr>
            <a:r>
              <a:rPr lang="fa-IR" sz="2800" b="1" smtClean="0"/>
              <a:t>نام و نام خانوادگی ، سمت و امضاء نویسنده </a:t>
            </a:r>
          </a:p>
          <a:p>
            <a:pPr marL="609600" indent="-609600" algn="r" rtl="1" eaLnBrk="1" hangingPunct="1">
              <a:lnSpc>
                <a:spcPct val="90000"/>
              </a:lnSpc>
              <a:buFont typeface="Wingdings" pitchFamily="2" charset="2"/>
              <a:buAutoNum type="arabicPeriod"/>
            </a:pPr>
            <a:r>
              <a:rPr lang="fa-IR" sz="2800" b="1" smtClean="0"/>
              <a:t>پیوستها</a:t>
            </a:r>
            <a:endParaRPr lang="en-US" sz="2800" b="1" smtClean="0"/>
          </a:p>
        </p:txBody>
      </p:sp>
    </p:spTree>
  </p:cSld>
  <p:clrMapOvr>
    <a:masterClrMapping/>
  </p:clrMapOvr>
  <p:transition spd="med">
    <p:wipe dir="d"/>
  </p:transition>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3"/>
          <p:cNvSpPr>
            <a:spLocks noGrp="1" noChangeArrowheads="1"/>
          </p:cNvSpPr>
          <p:nvPr>
            <p:ph idx="1"/>
          </p:nvPr>
        </p:nvSpPr>
        <p:spPr/>
        <p:txBody>
          <a:bodyPr/>
          <a:lstStyle/>
          <a:p>
            <a:pPr algn="justLow" rtl="1" eaLnBrk="1" hangingPunct="1">
              <a:buFont typeface="Wingdings" pitchFamily="2" charset="2"/>
              <a:buNone/>
            </a:pPr>
            <a:r>
              <a:rPr lang="fa-IR" b="1" smtClean="0"/>
              <a:t>گونه ای گزارش کوتاه و غیر رسمی است که در درون شرکت یا سازمان بین افرادی که با یکدیگر ارتباط کاری نزدیک دارند نوشته و ارائه می شود و از رایجترین نوع گزارش کوتاه در محیطهای علمی – فنی است .  </a:t>
            </a:r>
          </a:p>
          <a:p>
            <a:pPr algn="justLow" rtl="1" eaLnBrk="1" hangingPunct="1">
              <a:buFont typeface="Wingdings" pitchFamily="2" charset="2"/>
              <a:buNone/>
            </a:pPr>
            <a:r>
              <a:rPr lang="fa-IR" smtClean="0"/>
              <a:t> </a:t>
            </a:r>
            <a:endParaRPr lang="en-US" smtClean="0"/>
          </a:p>
        </p:txBody>
      </p:sp>
      <p:sp>
        <p:nvSpPr>
          <p:cNvPr id="25395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گزارش- یادداشت :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3"/>
          <p:cNvSpPr>
            <a:spLocks noGrp="1" noChangeArrowheads="1"/>
          </p:cNvSpPr>
          <p:nvPr>
            <p:ph idx="1"/>
          </p:nvPr>
        </p:nvSpPr>
        <p:spPr>
          <a:xfrm>
            <a:off x="468313" y="1341438"/>
            <a:ext cx="8229600" cy="5211762"/>
          </a:xfrm>
        </p:spPr>
        <p:txBody>
          <a:bodyPr/>
          <a:lstStyle/>
          <a:p>
            <a:pPr marL="609600" indent="-609600" algn="r" eaLnBrk="1" hangingPunct="1">
              <a:lnSpc>
                <a:spcPct val="80000"/>
              </a:lnSpc>
              <a:buFont typeface="Wingdings" pitchFamily="2" charset="2"/>
              <a:buNone/>
            </a:pPr>
            <a:r>
              <a:rPr lang="fa-IR" sz="2400" b="1" smtClean="0"/>
              <a:t>یادداشت : </a:t>
            </a:r>
          </a:p>
          <a:p>
            <a:pPr marL="609600" indent="-609600" algn="r" eaLnBrk="1" hangingPunct="1">
              <a:lnSpc>
                <a:spcPct val="80000"/>
              </a:lnSpc>
              <a:buFont typeface="Wingdings" pitchFamily="2" charset="2"/>
              <a:buNone/>
            </a:pPr>
            <a:r>
              <a:rPr lang="fa-IR" sz="2400" b="1" smtClean="0"/>
              <a:t>                                                                                                تاریخ : </a:t>
            </a:r>
          </a:p>
          <a:p>
            <a:pPr marL="609600" indent="-609600" algn="r" eaLnBrk="1" hangingPunct="1">
              <a:lnSpc>
                <a:spcPct val="80000"/>
              </a:lnSpc>
              <a:buFont typeface="Wingdings" pitchFamily="2" charset="2"/>
              <a:buNone/>
            </a:pPr>
            <a:r>
              <a:rPr lang="fa-IR" sz="2400" b="1" smtClean="0"/>
              <a:t>به :    ..................                    </a:t>
            </a:r>
          </a:p>
          <a:p>
            <a:pPr marL="609600" indent="-609600" algn="r" eaLnBrk="1" hangingPunct="1">
              <a:lnSpc>
                <a:spcPct val="80000"/>
              </a:lnSpc>
              <a:buFont typeface="Wingdings" pitchFamily="2" charset="2"/>
              <a:buNone/>
            </a:pPr>
            <a:r>
              <a:rPr lang="fa-IR" sz="2400" b="1" smtClean="0"/>
              <a:t>از :    ..................</a:t>
            </a:r>
          </a:p>
          <a:p>
            <a:pPr marL="609600" indent="-609600" algn="r" eaLnBrk="1" hangingPunct="1">
              <a:lnSpc>
                <a:spcPct val="80000"/>
              </a:lnSpc>
              <a:buFont typeface="Wingdings" pitchFamily="2" charset="2"/>
              <a:buNone/>
            </a:pPr>
            <a:r>
              <a:rPr lang="fa-IR" sz="2400" b="1" smtClean="0"/>
              <a:t>موضوع : .............</a:t>
            </a:r>
          </a:p>
          <a:p>
            <a:pPr marL="609600" indent="-609600" algn="r" rtl="1" eaLnBrk="1" hangingPunct="1">
              <a:lnSpc>
                <a:spcPct val="80000"/>
              </a:lnSpc>
              <a:buFont typeface="Wingdings" pitchFamily="2" charset="2"/>
              <a:buNone/>
            </a:pPr>
            <a:r>
              <a:rPr lang="fa-IR" sz="2400" b="1" smtClean="0"/>
              <a:t>مقدمه : حاوی جملاتی در مورد موضوع درخواست یا پرسش و ... و سبب نوشتن یادداشت </a:t>
            </a:r>
          </a:p>
          <a:p>
            <a:pPr marL="609600" indent="-609600" algn="r" rtl="1" eaLnBrk="1" hangingPunct="1">
              <a:lnSpc>
                <a:spcPct val="80000"/>
              </a:lnSpc>
              <a:buFont typeface="Wingdings" pitchFamily="2" charset="2"/>
              <a:buNone/>
            </a:pPr>
            <a:r>
              <a:rPr lang="fa-IR" sz="2400" b="1" smtClean="0"/>
              <a:t>شرح حیطه مطالعاتی ، تحقیق یا آزمایش و شرایط کار </a:t>
            </a:r>
          </a:p>
          <a:p>
            <a:pPr marL="609600" indent="-609600" algn="r" rtl="1" eaLnBrk="1" hangingPunct="1">
              <a:lnSpc>
                <a:spcPct val="80000"/>
              </a:lnSpc>
              <a:buFont typeface="Wingdings" pitchFamily="2" charset="2"/>
              <a:buNone/>
            </a:pPr>
            <a:r>
              <a:rPr lang="fa-IR" sz="2400" b="1" smtClean="0"/>
              <a:t>شرح کار انجام شده ( مطالعه – آزمایش ... ) </a:t>
            </a:r>
          </a:p>
          <a:p>
            <a:pPr marL="609600" indent="-609600" algn="r" rtl="1" eaLnBrk="1" hangingPunct="1">
              <a:lnSpc>
                <a:spcPct val="80000"/>
              </a:lnSpc>
              <a:buFont typeface="Wingdings" pitchFamily="2" charset="2"/>
              <a:buNone/>
            </a:pPr>
            <a:r>
              <a:rPr lang="fa-IR" sz="2400" b="1" smtClean="0"/>
              <a:t>نتایج بدست آمده </a:t>
            </a:r>
          </a:p>
          <a:p>
            <a:pPr marL="609600" indent="-609600" algn="r" rtl="1" eaLnBrk="1" hangingPunct="1">
              <a:lnSpc>
                <a:spcPct val="80000"/>
              </a:lnSpc>
              <a:buFont typeface="Wingdings" pitchFamily="2" charset="2"/>
              <a:buNone/>
            </a:pPr>
            <a:r>
              <a:rPr lang="fa-IR" sz="2400" b="1" smtClean="0"/>
              <a:t>منابع مورد استفاده </a:t>
            </a:r>
          </a:p>
          <a:p>
            <a:pPr marL="609600" indent="-609600" algn="r" rtl="1" eaLnBrk="1" hangingPunct="1">
              <a:lnSpc>
                <a:spcPct val="80000"/>
              </a:lnSpc>
              <a:buFont typeface="Wingdings" pitchFamily="2" charset="2"/>
              <a:buNone/>
            </a:pPr>
            <a:r>
              <a:rPr lang="fa-IR" sz="2400" b="1" smtClean="0"/>
              <a:t>افراد انجام دهنده کار </a:t>
            </a:r>
          </a:p>
          <a:p>
            <a:pPr marL="609600" indent="-609600" algn="r" rtl="1" eaLnBrk="1" hangingPunct="1">
              <a:lnSpc>
                <a:spcPct val="80000"/>
              </a:lnSpc>
              <a:buFont typeface="Wingdings" pitchFamily="2" charset="2"/>
              <a:buNone/>
            </a:pPr>
            <a:r>
              <a:rPr lang="fa-IR" sz="2400" b="1" smtClean="0"/>
              <a:t>نام و امضاء</a:t>
            </a:r>
            <a:r>
              <a:rPr lang="fa-IR" sz="2400" smtClean="0"/>
              <a:t> </a:t>
            </a:r>
            <a:endParaRPr lang="en-US" sz="2400" smtClean="0"/>
          </a:p>
        </p:txBody>
      </p:sp>
      <p:sp>
        <p:nvSpPr>
          <p:cNvPr id="254978" name="Rectangle 2"/>
          <p:cNvSpPr>
            <a:spLocks noGrp="1" noChangeArrowheads="1"/>
          </p:cNvSpPr>
          <p:nvPr>
            <p:ph type="title"/>
          </p:nvPr>
        </p:nvSpPr>
        <p:spPr>
          <a:xfrm>
            <a:off x="457200" y="277813"/>
            <a:ext cx="8229600" cy="558800"/>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اجزاء و ساختار گزارش – یادداشت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3"/>
          <p:cNvSpPr>
            <a:spLocks noGrp="1" noChangeArrowheads="1"/>
          </p:cNvSpPr>
          <p:nvPr>
            <p:ph idx="1"/>
          </p:nvPr>
        </p:nvSpPr>
        <p:spPr/>
        <p:txBody>
          <a:bodyPr/>
          <a:lstStyle/>
          <a:p>
            <a:pPr algn="justLow" rtl="1" eaLnBrk="1" hangingPunct="1">
              <a:buFont typeface="Wingdings" pitchFamily="2" charset="2"/>
              <a:buNone/>
            </a:pPr>
            <a:r>
              <a:rPr lang="fa-IR" b="1" smtClean="0"/>
              <a:t>گونه ای از گزارش است که رسمی بوده وزمانی نوشته می‌شود که برای ارائه مطلب مورد نظر به 4 صفحه و هرگز نه بیش از حدود 8 صفحه نیاز باشد . این گزارش می‌تواند هم درون سازمانی باشد و هم برون سازمان .</a:t>
            </a:r>
            <a:endParaRPr lang="en-US" b="1" smtClean="0"/>
          </a:p>
        </p:txBody>
      </p:sp>
      <p:sp>
        <p:nvSpPr>
          <p:cNvPr id="25600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گزارش کوتاه :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جلد </a:t>
            </a:r>
          </a:p>
          <a:p>
            <a:pPr marL="609600" indent="-609600" algn="r" rtl="1" eaLnBrk="1" hangingPunct="1">
              <a:buFont typeface="Wingdings" pitchFamily="2" charset="2"/>
              <a:buAutoNum type="arabicPeriod"/>
            </a:pPr>
            <a:r>
              <a:rPr lang="fa-IR" b="1" smtClean="0"/>
              <a:t>صفحه عنوان و نامه ارسال </a:t>
            </a:r>
          </a:p>
          <a:p>
            <a:pPr marL="609600" indent="-609600" algn="r" rtl="1" eaLnBrk="1" hangingPunct="1">
              <a:buFont typeface="Wingdings" pitchFamily="2" charset="2"/>
              <a:buAutoNum type="arabicPeriod"/>
            </a:pPr>
            <a:r>
              <a:rPr lang="fa-IR" b="1" smtClean="0"/>
              <a:t>صفحه حاوی مشخصات گزارش یا شناسنامه گزارش </a:t>
            </a:r>
          </a:p>
          <a:p>
            <a:pPr marL="609600" indent="-609600" algn="r" rtl="1" eaLnBrk="1" hangingPunct="1">
              <a:buFont typeface="Wingdings" pitchFamily="2" charset="2"/>
              <a:buAutoNum type="arabicPeriod"/>
            </a:pPr>
            <a:r>
              <a:rPr lang="fa-IR" b="1" smtClean="0"/>
              <a:t>فهرست مطالب </a:t>
            </a:r>
          </a:p>
          <a:p>
            <a:pPr marL="609600" indent="-609600" algn="r" rtl="1" eaLnBrk="1" hangingPunct="1">
              <a:buFont typeface="Wingdings" pitchFamily="2" charset="2"/>
              <a:buAutoNum type="arabicPeriod"/>
            </a:pPr>
            <a:r>
              <a:rPr lang="fa-IR" b="1" smtClean="0"/>
              <a:t>متن اصلی </a:t>
            </a:r>
          </a:p>
          <a:p>
            <a:pPr marL="609600" indent="-609600" algn="r" rtl="1" eaLnBrk="1" hangingPunct="1">
              <a:buFont typeface="Wingdings" pitchFamily="2" charset="2"/>
              <a:buAutoNum type="arabicPeriod"/>
            </a:pPr>
            <a:r>
              <a:rPr lang="fa-IR" b="1" smtClean="0"/>
              <a:t>پیوستها</a:t>
            </a:r>
            <a:r>
              <a:rPr lang="fa-IR" smtClean="0"/>
              <a:t> </a:t>
            </a:r>
            <a:endParaRPr lang="en-US" smtClean="0"/>
          </a:p>
        </p:txBody>
      </p:sp>
      <p:sp>
        <p:nvSpPr>
          <p:cNvPr id="25702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اجزاء و ساختار گزارش کوتاه :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ChangeArrowheads="1"/>
          </p:cNvSpPr>
          <p:nvPr>
            <p:ph type="title"/>
          </p:nvPr>
        </p:nvSpPr>
        <p:spPr>
          <a:xfrm>
            <a:off x="539750" y="1844675"/>
            <a:ext cx="8229600" cy="1139825"/>
          </a:xfrm>
        </p:spPr>
        <p:txBody>
          <a:bodyPr/>
          <a:lstStyle/>
          <a:p>
            <a:pPr rtl="1" eaLnBrk="1" fontAlgn="auto" hangingPunct="1">
              <a:spcAft>
                <a:spcPts val="0"/>
              </a:spcAft>
              <a:defRPr/>
            </a:pPr>
            <a:r>
              <a:rPr lang="fa-IR" smtClean="0"/>
              <a:t>فرم ( صورت ) شناسنامه گزارش </a:t>
            </a:r>
            <a:endParaRPr lang="en-US" smtClean="0"/>
          </a:p>
        </p:txBody>
      </p:sp>
      <p:sp>
        <p:nvSpPr>
          <p:cNvPr id="3" name="Rectangle 2"/>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4"/>
          <p:cNvSpPr>
            <a:spLocks noChangeArrowheads="1"/>
          </p:cNvSpPr>
          <p:nvPr/>
        </p:nvSpPr>
        <p:spPr bwMode="auto">
          <a:xfrm>
            <a:off x="4860925" y="212725"/>
            <a:ext cx="3095625" cy="831850"/>
          </a:xfrm>
          <a:prstGeom prst="rect">
            <a:avLst/>
          </a:prstGeom>
          <a:solidFill>
            <a:schemeClr val="accent1"/>
          </a:solidFill>
          <a:ln w="9525" algn="ctr">
            <a:solidFill>
              <a:schemeClr val="tx1"/>
            </a:solidFill>
            <a:miter lim="800000"/>
            <a:headEnd/>
            <a:tailEnd/>
          </a:ln>
        </p:spPr>
        <p:txBody>
          <a:bodyPr anchor="ctr">
            <a:spAutoFit/>
          </a:bodyPr>
          <a:lstStyle/>
          <a:p>
            <a:r>
              <a:rPr lang="fa-IR" sz="2400"/>
              <a:t>شماره پرونده موضوع: .....</a:t>
            </a:r>
          </a:p>
          <a:p>
            <a:endParaRPr lang="en-US" sz="2400"/>
          </a:p>
        </p:txBody>
      </p:sp>
      <p:sp>
        <p:nvSpPr>
          <p:cNvPr id="232451" name="Rectangle 5"/>
          <p:cNvSpPr>
            <a:spLocks noChangeArrowheads="1"/>
          </p:cNvSpPr>
          <p:nvPr/>
        </p:nvSpPr>
        <p:spPr bwMode="auto">
          <a:xfrm>
            <a:off x="1484313" y="188913"/>
            <a:ext cx="3376612" cy="831850"/>
          </a:xfrm>
          <a:prstGeom prst="rect">
            <a:avLst/>
          </a:prstGeom>
          <a:solidFill>
            <a:schemeClr val="accent1"/>
          </a:solidFill>
          <a:ln w="9525" algn="ctr">
            <a:solidFill>
              <a:schemeClr val="tx1"/>
            </a:solidFill>
            <a:miter lim="800000"/>
            <a:headEnd/>
            <a:tailEnd/>
          </a:ln>
        </p:spPr>
        <p:txBody>
          <a:bodyPr anchor="ctr">
            <a:spAutoFit/>
          </a:bodyPr>
          <a:lstStyle/>
          <a:p>
            <a:pPr algn="r"/>
            <a:r>
              <a:rPr lang="fa-IR" sz="2400"/>
              <a:t>شماره گزارش : .....</a:t>
            </a:r>
          </a:p>
          <a:p>
            <a:endParaRPr lang="en-US" sz="2400"/>
          </a:p>
        </p:txBody>
      </p:sp>
      <p:sp>
        <p:nvSpPr>
          <p:cNvPr id="232452" name="Rectangle 6"/>
          <p:cNvSpPr>
            <a:spLocks noChangeArrowheads="1"/>
          </p:cNvSpPr>
          <p:nvPr/>
        </p:nvSpPr>
        <p:spPr bwMode="auto">
          <a:xfrm>
            <a:off x="4860925" y="977900"/>
            <a:ext cx="3095625" cy="1563688"/>
          </a:xfrm>
          <a:prstGeom prst="rect">
            <a:avLst/>
          </a:prstGeom>
          <a:solidFill>
            <a:schemeClr val="accent1"/>
          </a:solidFill>
          <a:ln w="9525" algn="ctr">
            <a:solidFill>
              <a:schemeClr val="tx1"/>
            </a:solidFill>
            <a:miter lim="800000"/>
            <a:headEnd/>
            <a:tailEnd/>
          </a:ln>
        </p:spPr>
        <p:txBody>
          <a:bodyPr anchor="ctr">
            <a:spAutoFit/>
          </a:bodyPr>
          <a:lstStyle/>
          <a:p>
            <a:pPr algn="r"/>
            <a:r>
              <a:rPr lang="fa-IR" sz="2400"/>
              <a:t>تهيه كننده : ....</a:t>
            </a:r>
          </a:p>
          <a:p>
            <a:pPr algn="r"/>
            <a:endParaRPr lang="fa-IR" sz="4400"/>
          </a:p>
          <a:p>
            <a:pPr algn="r"/>
            <a:endParaRPr lang="en-US" sz="2800"/>
          </a:p>
        </p:txBody>
      </p:sp>
      <p:sp>
        <p:nvSpPr>
          <p:cNvPr id="232453" name="Rectangle 7"/>
          <p:cNvSpPr>
            <a:spLocks noChangeArrowheads="1"/>
          </p:cNvSpPr>
          <p:nvPr/>
        </p:nvSpPr>
        <p:spPr bwMode="auto">
          <a:xfrm>
            <a:off x="1498600" y="1012825"/>
            <a:ext cx="3362325" cy="831850"/>
          </a:xfrm>
          <a:prstGeom prst="rect">
            <a:avLst/>
          </a:prstGeom>
          <a:solidFill>
            <a:schemeClr val="accent1"/>
          </a:solidFill>
          <a:ln w="9525" algn="ctr">
            <a:solidFill>
              <a:schemeClr val="tx1"/>
            </a:solidFill>
            <a:miter lim="800000"/>
            <a:headEnd/>
            <a:tailEnd/>
          </a:ln>
        </p:spPr>
        <p:txBody>
          <a:bodyPr anchor="ctr">
            <a:spAutoFit/>
          </a:bodyPr>
          <a:lstStyle/>
          <a:p>
            <a:pPr algn="r"/>
            <a:r>
              <a:rPr lang="fa-IR" sz="2400"/>
              <a:t>تاريخ : .....</a:t>
            </a:r>
          </a:p>
          <a:p>
            <a:pPr algn="r"/>
            <a:endParaRPr lang="en-US" sz="2400"/>
          </a:p>
        </p:txBody>
      </p:sp>
      <p:sp>
        <p:nvSpPr>
          <p:cNvPr id="232454" name="Rectangle 8"/>
          <p:cNvSpPr>
            <a:spLocks noChangeArrowheads="1"/>
          </p:cNvSpPr>
          <p:nvPr/>
        </p:nvSpPr>
        <p:spPr bwMode="auto">
          <a:xfrm>
            <a:off x="1476375" y="2201863"/>
            <a:ext cx="6480175" cy="3122612"/>
          </a:xfrm>
          <a:prstGeom prst="rect">
            <a:avLst/>
          </a:prstGeom>
          <a:solidFill>
            <a:schemeClr val="accent1"/>
          </a:solidFill>
          <a:ln w="9525" algn="ctr">
            <a:solidFill>
              <a:schemeClr val="tx1"/>
            </a:solidFill>
            <a:miter lim="800000"/>
            <a:headEnd/>
            <a:tailEnd/>
          </a:ln>
        </p:spPr>
        <p:txBody>
          <a:bodyPr anchor="ctr">
            <a:spAutoFit/>
          </a:bodyPr>
          <a:lstStyle/>
          <a:p>
            <a:pPr algn="r"/>
            <a:r>
              <a:rPr lang="fa-IR"/>
              <a:t>چكيده : ......</a:t>
            </a:r>
          </a:p>
          <a:p>
            <a:pPr algn="r"/>
            <a:endParaRPr lang="fa-IR"/>
          </a:p>
          <a:p>
            <a:pPr algn="r"/>
            <a:endParaRPr lang="fa-IR"/>
          </a:p>
          <a:p>
            <a:pPr algn="r"/>
            <a:endParaRPr lang="fa-IR"/>
          </a:p>
          <a:p>
            <a:pPr algn="r"/>
            <a:endParaRPr lang="fa-IR"/>
          </a:p>
          <a:p>
            <a:pPr algn="r"/>
            <a:endParaRPr lang="fa-IR"/>
          </a:p>
          <a:p>
            <a:pPr algn="r"/>
            <a:endParaRPr lang="fa-IR"/>
          </a:p>
          <a:p>
            <a:pPr algn="r"/>
            <a:endParaRPr lang="fa-IR"/>
          </a:p>
          <a:p>
            <a:pPr algn="r"/>
            <a:endParaRPr lang="fa-IR"/>
          </a:p>
          <a:p>
            <a:pPr algn="r"/>
            <a:endParaRPr lang="fa-IR"/>
          </a:p>
          <a:p>
            <a:pPr algn="r"/>
            <a:endParaRPr lang="en-US"/>
          </a:p>
        </p:txBody>
      </p:sp>
      <p:sp>
        <p:nvSpPr>
          <p:cNvPr id="232455" name="Rectangle 9"/>
          <p:cNvSpPr>
            <a:spLocks noChangeArrowheads="1"/>
          </p:cNvSpPr>
          <p:nvPr/>
        </p:nvSpPr>
        <p:spPr bwMode="auto">
          <a:xfrm>
            <a:off x="1476375" y="5300663"/>
            <a:ext cx="6480175" cy="650875"/>
          </a:xfrm>
          <a:prstGeom prst="rect">
            <a:avLst/>
          </a:prstGeom>
          <a:solidFill>
            <a:schemeClr val="accent1"/>
          </a:solidFill>
          <a:ln w="9525" algn="ctr">
            <a:solidFill>
              <a:schemeClr val="tx1"/>
            </a:solidFill>
            <a:miter lim="800000"/>
            <a:headEnd/>
            <a:tailEnd/>
          </a:ln>
        </p:spPr>
        <p:txBody>
          <a:bodyPr anchor="ctr">
            <a:spAutoFit/>
          </a:bodyPr>
          <a:lstStyle/>
          <a:p>
            <a:pPr algn="r"/>
            <a:r>
              <a:rPr lang="fa-IR"/>
              <a:t>گيرنده : .....</a:t>
            </a:r>
          </a:p>
          <a:p>
            <a:pPr algn="r"/>
            <a:endParaRPr lang="en-US"/>
          </a:p>
        </p:txBody>
      </p:sp>
      <p:sp>
        <p:nvSpPr>
          <p:cNvPr id="232456" name="Rectangle 10"/>
          <p:cNvSpPr>
            <a:spLocks noChangeArrowheads="1"/>
          </p:cNvSpPr>
          <p:nvPr/>
        </p:nvSpPr>
        <p:spPr bwMode="auto">
          <a:xfrm>
            <a:off x="1476375" y="5949950"/>
            <a:ext cx="6478588" cy="650875"/>
          </a:xfrm>
          <a:prstGeom prst="rect">
            <a:avLst/>
          </a:prstGeom>
          <a:solidFill>
            <a:schemeClr val="accent1"/>
          </a:solidFill>
          <a:ln w="9525" algn="ctr">
            <a:solidFill>
              <a:schemeClr val="tx1"/>
            </a:solidFill>
            <a:miter lim="800000"/>
            <a:headEnd/>
            <a:tailEnd/>
          </a:ln>
        </p:spPr>
        <p:txBody>
          <a:bodyPr anchor="ctr">
            <a:spAutoFit/>
          </a:bodyPr>
          <a:lstStyle/>
          <a:p>
            <a:pPr algn="r"/>
            <a:r>
              <a:rPr lang="fa-IR"/>
              <a:t>نتايج مهمتر : ......</a:t>
            </a:r>
          </a:p>
          <a:p>
            <a:pPr algn="r"/>
            <a:endParaRPr lang="en-US"/>
          </a:p>
        </p:txBody>
      </p:sp>
      <p:sp>
        <p:nvSpPr>
          <p:cNvPr id="232457" name="Rectangle 11"/>
          <p:cNvSpPr>
            <a:spLocks noChangeArrowheads="1"/>
          </p:cNvSpPr>
          <p:nvPr/>
        </p:nvSpPr>
        <p:spPr bwMode="auto">
          <a:xfrm>
            <a:off x="1476375" y="1841500"/>
            <a:ext cx="6480175" cy="376238"/>
          </a:xfrm>
          <a:prstGeom prst="rect">
            <a:avLst/>
          </a:prstGeom>
          <a:solidFill>
            <a:schemeClr val="accent1"/>
          </a:solidFill>
          <a:ln w="9525" algn="ctr">
            <a:solidFill>
              <a:schemeClr val="tx1"/>
            </a:solidFill>
            <a:miter lim="800000"/>
            <a:headEnd/>
            <a:tailEnd/>
          </a:ln>
        </p:spPr>
        <p:txBody>
          <a:bodyPr anchor="ctr">
            <a:spAutoFit/>
          </a:bodyPr>
          <a:lstStyle/>
          <a:p>
            <a:pPr algn="justLow" rtl="1"/>
            <a:r>
              <a:rPr lang="fa-IR"/>
              <a:t>عنوان : ....                                      تعداد صفحات :     .....   </a:t>
            </a:r>
            <a:endParaRPr lang="en-US"/>
          </a:p>
        </p:txBody>
      </p:sp>
      <p:sp>
        <p:nvSpPr>
          <p:cNvPr id="10" name="Rectangle 9"/>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عنوان گزارش </a:t>
            </a:r>
          </a:p>
          <a:p>
            <a:pPr marL="609600" indent="-609600" algn="r" rtl="1" eaLnBrk="1" hangingPunct="1">
              <a:buFont typeface="Wingdings" pitchFamily="2" charset="2"/>
              <a:buAutoNum type="arabicPeriod"/>
            </a:pPr>
            <a:r>
              <a:rPr lang="fa-IR" b="1" smtClean="0"/>
              <a:t>تهیه کننده و سمت او </a:t>
            </a:r>
          </a:p>
          <a:p>
            <a:pPr marL="609600" indent="-609600" algn="r" rtl="1" eaLnBrk="1" hangingPunct="1">
              <a:buFont typeface="Wingdings" pitchFamily="2" charset="2"/>
              <a:buAutoNum type="arabicPeriod"/>
            </a:pPr>
            <a:r>
              <a:rPr lang="fa-IR" b="1" smtClean="0"/>
              <a:t>واحد تهیه کننده </a:t>
            </a:r>
          </a:p>
          <a:p>
            <a:pPr marL="609600" indent="-609600" algn="r" rtl="1" eaLnBrk="1" hangingPunct="1">
              <a:buFont typeface="Wingdings" pitchFamily="2" charset="2"/>
              <a:buAutoNum type="arabicPeriod"/>
            </a:pPr>
            <a:r>
              <a:rPr lang="fa-IR" b="1" smtClean="0"/>
              <a:t>گیرنده </a:t>
            </a:r>
          </a:p>
          <a:p>
            <a:pPr marL="609600" indent="-609600" algn="r" rtl="1" eaLnBrk="1" hangingPunct="1">
              <a:buFont typeface="Wingdings" pitchFamily="2" charset="2"/>
              <a:buAutoNum type="arabicPeriod"/>
            </a:pPr>
            <a:r>
              <a:rPr lang="fa-IR" b="1" smtClean="0"/>
              <a:t>نشانی </a:t>
            </a:r>
          </a:p>
          <a:p>
            <a:pPr marL="609600" indent="-609600" algn="r" rtl="1" eaLnBrk="1" hangingPunct="1">
              <a:buFont typeface="Wingdings" pitchFamily="2" charset="2"/>
              <a:buAutoNum type="arabicPeriod"/>
            </a:pPr>
            <a:r>
              <a:rPr lang="fa-IR" b="1" smtClean="0"/>
              <a:t>تاریخ</a:t>
            </a:r>
            <a:r>
              <a:rPr lang="fa-IR" smtClean="0"/>
              <a:t> </a:t>
            </a:r>
            <a:endParaRPr lang="en-US" smtClean="0"/>
          </a:p>
        </p:txBody>
      </p:sp>
      <p:sp>
        <p:nvSpPr>
          <p:cNvPr id="261122" name="Rectangle 2"/>
          <p:cNvSpPr>
            <a:spLocks noGrp="1" noChangeArrowheads="1"/>
          </p:cNvSpPr>
          <p:nvPr>
            <p:ph type="title"/>
          </p:nvPr>
        </p:nvSpPr>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اطلاعاتی که در صفحه عنوان گزارش کوتاه باید درج گردد :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3"/>
          <p:cNvSpPr>
            <a:spLocks noGrp="1" noChangeArrowheads="1"/>
          </p:cNvSpPr>
          <p:nvPr>
            <p:ph idx="1"/>
          </p:nvPr>
        </p:nvSpPr>
        <p:spPr/>
        <p:txBody>
          <a:bodyPr/>
          <a:lstStyle/>
          <a:p>
            <a:pPr algn="justLow" rtl="1" eaLnBrk="1" hangingPunct="1">
              <a:buFont typeface="Wingdings" pitchFamily="2" charset="2"/>
              <a:buNone/>
            </a:pPr>
            <a:r>
              <a:rPr lang="fa-IR" b="1" smtClean="0"/>
              <a:t>این گونه گزارش که گاه به آن گزارش رسمی هم می گویند در واقع صورت گسترش یافته گزارش کوتاه است . این گزارش معمولا از حدود 10 صفحه شروع می شود و گاه ممکن است چند جلد هم داشته باشد .</a:t>
            </a:r>
            <a:endParaRPr lang="en-US" b="1" smtClean="0"/>
          </a:p>
        </p:txBody>
      </p:sp>
      <p:sp>
        <p:nvSpPr>
          <p:cNvPr id="26214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گزارش بلند :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3"/>
          <p:cNvSpPr>
            <a:spLocks noGrp="1" noChangeArrowheads="1"/>
          </p:cNvSpPr>
          <p:nvPr>
            <p:ph idx="1"/>
          </p:nvPr>
        </p:nvSpPr>
        <p:spPr>
          <a:xfrm>
            <a:off x="457200" y="1600200"/>
            <a:ext cx="8229600" cy="5257800"/>
          </a:xfrm>
        </p:spPr>
        <p:txBody>
          <a:bodyPr/>
          <a:lstStyle/>
          <a:p>
            <a:pPr algn="justLow" rtl="1" eaLnBrk="1" hangingPunct="1">
              <a:lnSpc>
                <a:spcPct val="90000"/>
              </a:lnSpc>
            </a:pPr>
            <a:r>
              <a:rPr lang="fa-IR" sz="2800" b="1" smtClean="0"/>
              <a:t>رده الف-  گزارش کاملا رسمی- اداری و معمولا برون سازمانی و با خوانندگان معدود که صورتش باید از کیفیت بسیار بالا برخوردار باشد .</a:t>
            </a:r>
          </a:p>
          <a:p>
            <a:pPr algn="justLow" rtl="1" eaLnBrk="1" hangingPunct="1">
              <a:lnSpc>
                <a:spcPct val="90000"/>
              </a:lnSpc>
            </a:pPr>
            <a:r>
              <a:rPr lang="fa-IR" sz="2800" b="1" smtClean="0"/>
              <a:t>رده ب-   گزارش نه چندان اداری و بیش از حدود 25 صفحه و معمولا درون سازمانی است .</a:t>
            </a:r>
          </a:p>
          <a:p>
            <a:pPr algn="justLow" rtl="1" eaLnBrk="1" hangingPunct="1">
              <a:lnSpc>
                <a:spcPct val="90000"/>
              </a:lnSpc>
            </a:pPr>
            <a:r>
              <a:rPr lang="fa-IR" sz="2800" b="1" smtClean="0"/>
              <a:t>رده ج-    گزارش کمیته های اجرایی و مورد استفاده متخصصین در شرکت یا سازمان و بیشتر نوعی                                                                  گزارش کاری است و حدود 20 صفحه دارد .</a:t>
            </a:r>
          </a:p>
          <a:p>
            <a:pPr algn="justLow" rtl="1" eaLnBrk="1" hangingPunct="1">
              <a:lnSpc>
                <a:spcPct val="90000"/>
              </a:lnSpc>
            </a:pPr>
            <a:r>
              <a:rPr lang="fa-IR" sz="2800" b="1" smtClean="0"/>
              <a:t>رده د-     گزارش درون بخشی اما مفصل تر از گزارش – یادداشت و دارای حدود 10 تا 15 صفحه و احیانا حاوی مطالبی که در یک برهه زمانی خاص اعتبار دارد و موقتا مورد استفاده قرار می گیرد .</a:t>
            </a:r>
            <a:endParaRPr lang="en-US" sz="2800" b="1" smtClean="0"/>
          </a:p>
        </p:txBody>
      </p:sp>
      <p:sp>
        <p:nvSpPr>
          <p:cNvPr id="26317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رده های گزارش بلند :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dirty="0" smtClean="0">
                <a:solidFill>
                  <a:srgbClr val="FF0000"/>
                </a:solidFill>
                <a:effectLst/>
                <a:cs typeface="B Titr" pitchFamily="2" charset="-78"/>
              </a:rPr>
              <a:t>اجزاء و ساختار گزارش بلند : </a:t>
            </a:r>
            <a:endParaRPr lang="en-US" sz="3700" dirty="0" smtClean="0">
              <a:solidFill>
                <a:srgbClr val="FF0000"/>
              </a:solidFill>
              <a:effectLst/>
              <a:cs typeface="B Titr" pitchFamily="2" charset="-78"/>
            </a:endParaRPr>
          </a:p>
        </p:txBody>
      </p:sp>
      <p:sp>
        <p:nvSpPr>
          <p:cNvPr id="3" name="Rectangle 2"/>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3"/>
          <p:cNvSpPr>
            <a:spLocks noGrp="1" noChangeArrowheads="1"/>
          </p:cNvSpPr>
          <p:nvPr>
            <p:ph idx="1"/>
          </p:nvPr>
        </p:nvSpPr>
        <p:spPr>
          <a:xfrm>
            <a:off x="457200" y="260350"/>
            <a:ext cx="8229600" cy="6597650"/>
          </a:xfrm>
        </p:spPr>
        <p:txBody>
          <a:bodyPr/>
          <a:lstStyle/>
          <a:p>
            <a:pPr marL="609600" indent="-609600" algn="r" rtl="1" eaLnBrk="1" hangingPunct="1">
              <a:lnSpc>
                <a:spcPct val="90000"/>
              </a:lnSpc>
              <a:buFont typeface="Wingdings" pitchFamily="2" charset="2"/>
              <a:buAutoNum type="arabicPeriod"/>
            </a:pPr>
            <a:r>
              <a:rPr lang="fa-IR" sz="2400" b="1" smtClean="0"/>
              <a:t>جلد </a:t>
            </a:r>
          </a:p>
          <a:p>
            <a:pPr marL="609600" indent="-609600" algn="r" rtl="1" eaLnBrk="1" hangingPunct="1">
              <a:lnSpc>
                <a:spcPct val="90000"/>
              </a:lnSpc>
              <a:buFont typeface="Wingdings" pitchFamily="2" charset="2"/>
              <a:buAutoNum type="arabicPeriod"/>
            </a:pPr>
            <a:r>
              <a:rPr lang="fa-IR" sz="2400" b="1" smtClean="0"/>
              <a:t>صفحه سفید</a:t>
            </a:r>
          </a:p>
          <a:p>
            <a:pPr marL="609600" indent="-609600" algn="r" rtl="1" eaLnBrk="1" hangingPunct="1">
              <a:lnSpc>
                <a:spcPct val="90000"/>
              </a:lnSpc>
              <a:buFont typeface="Wingdings" pitchFamily="2" charset="2"/>
              <a:buAutoNum type="arabicPeriod"/>
            </a:pPr>
            <a:r>
              <a:rPr lang="fa-IR" sz="2400" b="1" smtClean="0"/>
              <a:t>صفحه عنوان  </a:t>
            </a:r>
          </a:p>
          <a:p>
            <a:pPr marL="609600" indent="-609600" algn="r" rtl="1" eaLnBrk="1" hangingPunct="1">
              <a:lnSpc>
                <a:spcPct val="90000"/>
              </a:lnSpc>
              <a:buFont typeface="Wingdings" pitchFamily="2" charset="2"/>
              <a:buAutoNum type="arabicPeriod"/>
            </a:pPr>
            <a:r>
              <a:rPr lang="fa-IR" sz="2400" b="1" smtClean="0"/>
              <a:t>[صفحه حق تالیف] </a:t>
            </a:r>
          </a:p>
          <a:p>
            <a:pPr marL="609600" indent="-609600" algn="r" rtl="1" eaLnBrk="1" hangingPunct="1">
              <a:lnSpc>
                <a:spcPct val="90000"/>
              </a:lnSpc>
              <a:buFont typeface="Wingdings" pitchFamily="2" charset="2"/>
              <a:buAutoNum type="arabicPeriod"/>
            </a:pPr>
            <a:r>
              <a:rPr lang="fa-IR" sz="2400" b="1" smtClean="0"/>
              <a:t>نامه ارسال </a:t>
            </a:r>
          </a:p>
          <a:p>
            <a:pPr marL="609600" indent="-609600" algn="r" rtl="1" eaLnBrk="1" hangingPunct="1">
              <a:lnSpc>
                <a:spcPct val="90000"/>
              </a:lnSpc>
              <a:buFont typeface="Wingdings" pitchFamily="2" charset="2"/>
              <a:buAutoNum type="arabicPeriod"/>
            </a:pPr>
            <a:r>
              <a:rPr lang="fa-IR" sz="2400" b="1" smtClean="0"/>
              <a:t>[ تقدیم نامه ]</a:t>
            </a:r>
          </a:p>
          <a:p>
            <a:pPr marL="609600" indent="-609600" algn="r" rtl="1" eaLnBrk="1" hangingPunct="1">
              <a:lnSpc>
                <a:spcPct val="90000"/>
              </a:lnSpc>
              <a:buFont typeface="Wingdings" pitchFamily="2" charset="2"/>
              <a:buAutoNum type="arabicPeriod"/>
            </a:pPr>
            <a:r>
              <a:rPr lang="fa-IR" sz="2400" b="1" smtClean="0"/>
              <a:t>پیشگفتار </a:t>
            </a:r>
          </a:p>
          <a:p>
            <a:pPr marL="609600" indent="-609600" algn="r" rtl="1" eaLnBrk="1" hangingPunct="1">
              <a:lnSpc>
                <a:spcPct val="90000"/>
              </a:lnSpc>
              <a:buFont typeface="Wingdings" pitchFamily="2" charset="2"/>
              <a:buAutoNum type="arabicPeriod"/>
            </a:pPr>
            <a:r>
              <a:rPr lang="fa-IR" sz="2400" b="1" smtClean="0"/>
              <a:t>سپاسگزاری </a:t>
            </a:r>
          </a:p>
          <a:p>
            <a:pPr marL="609600" indent="-609600" algn="r" rtl="1" eaLnBrk="1" hangingPunct="1">
              <a:lnSpc>
                <a:spcPct val="90000"/>
              </a:lnSpc>
              <a:buFont typeface="Wingdings" pitchFamily="2" charset="2"/>
              <a:buAutoNum type="arabicPeriod"/>
            </a:pPr>
            <a:r>
              <a:rPr lang="fa-IR" sz="2400" b="1" smtClean="0"/>
              <a:t>فهرست مطالب </a:t>
            </a:r>
          </a:p>
          <a:p>
            <a:pPr marL="609600" indent="-609600" algn="r" rtl="1" eaLnBrk="1" hangingPunct="1">
              <a:lnSpc>
                <a:spcPct val="90000"/>
              </a:lnSpc>
              <a:buFont typeface="Wingdings" pitchFamily="2" charset="2"/>
              <a:buAutoNum type="arabicPeriod"/>
            </a:pPr>
            <a:r>
              <a:rPr lang="fa-IR" sz="2400" b="1" smtClean="0"/>
              <a:t>فهرست شکلها و جدولها </a:t>
            </a:r>
          </a:p>
          <a:p>
            <a:pPr marL="609600" indent="-609600" algn="r" rtl="1" eaLnBrk="1" hangingPunct="1">
              <a:lnSpc>
                <a:spcPct val="90000"/>
              </a:lnSpc>
              <a:buFont typeface="Wingdings" pitchFamily="2" charset="2"/>
              <a:buAutoNum type="arabicPeriod"/>
            </a:pPr>
            <a:r>
              <a:rPr lang="fa-IR" sz="2400" b="1" smtClean="0"/>
              <a:t>فهرست نمادها و نشانه ها ( می تواند در بخش فهرستها هم درج شود )</a:t>
            </a:r>
          </a:p>
          <a:p>
            <a:pPr marL="609600" indent="-609600" algn="r" rtl="1" eaLnBrk="1" hangingPunct="1">
              <a:lnSpc>
                <a:spcPct val="90000"/>
              </a:lnSpc>
              <a:buFont typeface="Wingdings" pitchFamily="2" charset="2"/>
              <a:buAutoNum type="arabicPeriod"/>
            </a:pPr>
            <a:r>
              <a:rPr lang="fa-IR" sz="2400" b="1" smtClean="0"/>
              <a:t>چکیده </a:t>
            </a:r>
          </a:p>
          <a:p>
            <a:pPr marL="609600" indent="-609600" algn="r" rtl="1" eaLnBrk="1" hangingPunct="1">
              <a:lnSpc>
                <a:spcPct val="90000"/>
              </a:lnSpc>
              <a:buFont typeface="Wingdings" pitchFamily="2" charset="2"/>
              <a:buAutoNum type="arabicPeriod"/>
            </a:pPr>
            <a:r>
              <a:rPr lang="fa-IR" sz="2400" b="1" smtClean="0"/>
              <a:t>اجزاء  بخش میانی </a:t>
            </a:r>
          </a:p>
          <a:p>
            <a:pPr marL="609600" indent="-609600" algn="r" rtl="1" eaLnBrk="1" hangingPunct="1">
              <a:lnSpc>
                <a:spcPct val="90000"/>
              </a:lnSpc>
              <a:buFont typeface="Wingdings" pitchFamily="2" charset="2"/>
              <a:buAutoNum type="arabicPeriod"/>
            </a:pPr>
            <a:r>
              <a:rPr lang="fa-IR" sz="2400" b="1" smtClean="0"/>
              <a:t>پیوستها </a:t>
            </a:r>
          </a:p>
          <a:p>
            <a:pPr marL="609600" indent="-609600" algn="r" rtl="1" eaLnBrk="1" hangingPunct="1">
              <a:lnSpc>
                <a:spcPct val="90000"/>
              </a:lnSpc>
              <a:buFont typeface="Wingdings" pitchFamily="2" charset="2"/>
              <a:buAutoNum type="arabicPeriod"/>
            </a:pPr>
            <a:r>
              <a:rPr lang="fa-IR" sz="2400" b="1" smtClean="0"/>
              <a:t>فهرست منابع</a:t>
            </a:r>
          </a:p>
          <a:p>
            <a:pPr marL="609600" indent="-609600" algn="r" rtl="1" eaLnBrk="1" hangingPunct="1">
              <a:lnSpc>
                <a:spcPct val="90000"/>
              </a:lnSpc>
              <a:buFont typeface="Wingdings" pitchFamily="2" charset="2"/>
              <a:buAutoNum type="arabicPeriod"/>
            </a:pPr>
            <a:r>
              <a:rPr lang="fa-IR" sz="2400" b="1" smtClean="0"/>
              <a:t>صفحه سفید</a:t>
            </a:r>
            <a:r>
              <a:rPr lang="fa-IR" sz="2400" smtClean="0"/>
              <a:t> </a:t>
            </a:r>
            <a:endParaRPr lang="en-US" sz="2400" smtClean="0"/>
          </a:p>
        </p:txBody>
      </p:sp>
      <p:sp>
        <p:nvSpPr>
          <p:cNvPr id="3" name="Rectangle 2"/>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6"/>
          <p:cNvSpPr>
            <a:spLocks noChangeArrowheads="1"/>
          </p:cNvSpPr>
          <p:nvPr/>
        </p:nvSpPr>
        <p:spPr bwMode="auto">
          <a:xfrm>
            <a:off x="107950" y="26988"/>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238595" name="Rectangle 7"/>
          <p:cNvSpPr>
            <a:spLocks noChangeArrowheads="1"/>
          </p:cNvSpPr>
          <p:nvPr/>
        </p:nvSpPr>
        <p:spPr bwMode="auto">
          <a:xfrm>
            <a:off x="2124075" y="892175"/>
            <a:ext cx="1873250" cy="396875"/>
          </a:xfrm>
          <a:prstGeom prst="rect">
            <a:avLst/>
          </a:prstGeom>
          <a:solidFill>
            <a:schemeClr val="accent1"/>
          </a:solidFill>
          <a:ln w="9525" algn="ctr">
            <a:noFill/>
            <a:miter lim="800000"/>
            <a:headEnd/>
            <a:tailEnd/>
          </a:ln>
        </p:spPr>
        <p:txBody>
          <a:bodyPr anchor="ctr">
            <a:spAutoFit/>
          </a:bodyPr>
          <a:lstStyle/>
          <a:p>
            <a:r>
              <a:rPr lang="fa-IR" sz="2000">
                <a:solidFill>
                  <a:schemeClr val="tx1"/>
                </a:solidFill>
              </a:rPr>
              <a:t>عنوان گزارش </a:t>
            </a:r>
            <a:endParaRPr lang="en-US" sz="2000">
              <a:solidFill>
                <a:schemeClr val="tx1"/>
              </a:solidFill>
            </a:endParaRPr>
          </a:p>
        </p:txBody>
      </p:sp>
      <p:sp>
        <p:nvSpPr>
          <p:cNvPr id="238596" name="Rectangle 9"/>
          <p:cNvSpPr>
            <a:spLocks noChangeArrowheads="1"/>
          </p:cNvSpPr>
          <p:nvPr/>
        </p:nvSpPr>
        <p:spPr bwMode="auto">
          <a:xfrm>
            <a:off x="1258888" y="3484563"/>
            <a:ext cx="3024187" cy="366712"/>
          </a:xfrm>
          <a:prstGeom prst="rect">
            <a:avLst/>
          </a:prstGeom>
          <a:solidFill>
            <a:schemeClr val="accent1"/>
          </a:solidFill>
          <a:ln w="9525" algn="ctr">
            <a:noFill/>
            <a:miter lim="800000"/>
            <a:headEnd/>
            <a:tailEnd/>
          </a:ln>
        </p:spPr>
        <p:txBody>
          <a:bodyPr anchor="ctr">
            <a:spAutoFit/>
          </a:bodyPr>
          <a:lstStyle/>
          <a:p>
            <a:r>
              <a:rPr lang="fa-IR">
                <a:solidFill>
                  <a:schemeClr val="tx1"/>
                </a:solidFill>
              </a:rPr>
              <a:t>تاريخ  </a:t>
            </a:r>
            <a:endParaRPr lang="en-US">
              <a:solidFill>
                <a:schemeClr val="tx1"/>
              </a:solidFill>
            </a:endParaRPr>
          </a:p>
        </p:txBody>
      </p:sp>
      <p:sp>
        <p:nvSpPr>
          <p:cNvPr id="238597" name="Rectangle 12"/>
          <p:cNvSpPr>
            <a:spLocks noChangeArrowheads="1"/>
          </p:cNvSpPr>
          <p:nvPr/>
        </p:nvSpPr>
        <p:spPr bwMode="auto">
          <a:xfrm>
            <a:off x="3490913" y="2332038"/>
            <a:ext cx="1439862" cy="336550"/>
          </a:xfrm>
          <a:prstGeom prst="rect">
            <a:avLst/>
          </a:prstGeom>
          <a:solidFill>
            <a:schemeClr val="accent1"/>
          </a:solidFill>
          <a:ln w="9525" algn="ctr">
            <a:noFill/>
            <a:miter lim="800000"/>
            <a:headEnd/>
            <a:tailEnd/>
          </a:ln>
        </p:spPr>
        <p:txBody>
          <a:bodyPr anchor="ctr">
            <a:spAutoFit/>
          </a:bodyPr>
          <a:lstStyle/>
          <a:p>
            <a:r>
              <a:rPr lang="fa-IR" sz="1600">
                <a:solidFill>
                  <a:schemeClr val="tx1"/>
                </a:solidFill>
              </a:rPr>
              <a:t>ارائه شده توسط :</a:t>
            </a:r>
            <a:endParaRPr lang="en-US" sz="1600">
              <a:solidFill>
                <a:schemeClr val="tx1"/>
              </a:solidFill>
            </a:endParaRPr>
          </a:p>
        </p:txBody>
      </p:sp>
      <p:sp>
        <p:nvSpPr>
          <p:cNvPr id="238598" name="Rectangle 13"/>
          <p:cNvSpPr>
            <a:spLocks noChangeArrowheads="1"/>
          </p:cNvSpPr>
          <p:nvPr/>
        </p:nvSpPr>
        <p:spPr bwMode="auto">
          <a:xfrm>
            <a:off x="1258888" y="3109913"/>
            <a:ext cx="3095625" cy="366712"/>
          </a:xfrm>
          <a:prstGeom prst="rect">
            <a:avLst/>
          </a:prstGeom>
          <a:solidFill>
            <a:schemeClr val="accent1"/>
          </a:solidFill>
          <a:ln w="9525" algn="ctr">
            <a:noFill/>
            <a:miter lim="800000"/>
            <a:headEnd/>
            <a:tailEnd/>
          </a:ln>
        </p:spPr>
        <p:txBody>
          <a:bodyPr anchor="ctr">
            <a:spAutoFit/>
          </a:bodyPr>
          <a:lstStyle/>
          <a:p>
            <a:r>
              <a:rPr lang="fa-IR">
                <a:solidFill>
                  <a:schemeClr val="tx1"/>
                </a:solidFill>
              </a:rPr>
              <a:t>نام ارائه كننده </a:t>
            </a:r>
            <a:endParaRPr lang="en-US">
              <a:solidFill>
                <a:schemeClr val="tx1"/>
              </a:solidFill>
            </a:endParaRPr>
          </a:p>
        </p:txBody>
      </p:sp>
      <p:sp>
        <p:nvSpPr>
          <p:cNvPr id="238599" name="Rectangle 14"/>
          <p:cNvSpPr>
            <a:spLocks noChangeArrowheads="1"/>
          </p:cNvSpPr>
          <p:nvPr/>
        </p:nvSpPr>
        <p:spPr bwMode="auto">
          <a:xfrm>
            <a:off x="2339975" y="5643563"/>
            <a:ext cx="1212850" cy="366712"/>
          </a:xfrm>
          <a:prstGeom prst="rect">
            <a:avLst/>
          </a:prstGeom>
          <a:solidFill>
            <a:schemeClr val="accent1"/>
          </a:solidFill>
          <a:ln w="9525" algn="ctr">
            <a:noFill/>
            <a:miter lim="800000"/>
            <a:headEnd/>
            <a:tailEnd/>
          </a:ln>
        </p:spPr>
        <p:txBody>
          <a:bodyPr anchor="ctr">
            <a:spAutoFit/>
          </a:bodyPr>
          <a:lstStyle/>
          <a:p>
            <a:r>
              <a:rPr lang="fa-IR">
                <a:solidFill>
                  <a:schemeClr val="tx1"/>
                </a:solidFill>
              </a:rPr>
              <a:t>نشاني </a:t>
            </a:r>
            <a:endParaRPr lang="en-US">
              <a:solidFill>
                <a:schemeClr val="tx1"/>
              </a:solidFill>
            </a:endParaRPr>
          </a:p>
        </p:txBody>
      </p:sp>
      <p:sp>
        <p:nvSpPr>
          <p:cNvPr id="238600" name="Rectangle 18"/>
          <p:cNvSpPr>
            <a:spLocks noChangeArrowheads="1"/>
          </p:cNvSpPr>
          <p:nvPr/>
        </p:nvSpPr>
        <p:spPr bwMode="auto">
          <a:xfrm>
            <a:off x="5959475" y="2016125"/>
            <a:ext cx="2847975" cy="376238"/>
          </a:xfrm>
          <a:prstGeom prst="rect">
            <a:avLst/>
          </a:prstGeom>
          <a:solidFill>
            <a:schemeClr val="accent1"/>
          </a:solidFill>
          <a:ln w="9525" algn="ctr">
            <a:solidFill>
              <a:schemeClr val="tx1"/>
            </a:solidFill>
            <a:miter lim="800000"/>
            <a:headEnd/>
            <a:tailEnd/>
          </a:ln>
        </p:spPr>
        <p:txBody>
          <a:bodyPr wrap="none" anchor="ctr">
            <a:spAutoFit/>
          </a:bodyPr>
          <a:lstStyle/>
          <a:p>
            <a:pPr rtl="1"/>
            <a:r>
              <a:rPr lang="fa-IR">
                <a:solidFill>
                  <a:schemeClr val="tx1"/>
                </a:solidFill>
              </a:rPr>
              <a:t>الف -  صفحه عنوان گزارش بلند  :</a:t>
            </a:r>
            <a:endParaRPr lang="en-US">
              <a:solidFill>
                <a:schemeClr val="tx1"/>
              </a:solidFill>
            </a:endParaRPr>
          </a:p>
        </p:txBody>
      </p:sp>
      <p:sp>
        <p:nvSpPr>
          <p:cNvPr id="9" name="Rectangle 8"/>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4"/>
          <p:cNvSpPr>
            <a:spLocks noChangeArrowheads="1"/>
          </p:cNvSpPr>
          <p:nvPr/>
        </p:nvSpPr>
        <p:spPr bwMode="auto">
          <a:xfrm>
            <a:off x="107950" y="26988"/>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239619" name="Rectangle 5"/>
          <p:cNvSpPr>
            <a:spLocks noChangeArrowheads="1"/>
          </p:cNvSpPr>
          <p:nvPr/>
        </p:nvSpPr>
        <p:spPr bwMode="auto">
          <a:xfrm>
            <a:off x="2268538" y="892175"/>
            <a:ext cx="1873250" cy="396875"/>
          </a:xfrm>
          <a:prstGeom prst="rect">
            <a:avLst/>
          </a:prstGeom>
          <a:solidFill>
            <a:schemeClr val="accent1"/>
          </a:solidFill>
          <a:ln w="9525" algn="ctr">
            <a:noFill/>
            <a:miter lim="800000"/>
            <a:headEnd/>
            <a:tailEnd/>
          </a:ln>
        </p:spPr>
        <p:txBody>
          <a:bodyPr anchor="ctr">
            <a:spAutoFit/>
          </a:bodyPr>
          <a:lstStyle/>
          <a:p>
            <a:r>
              <a:rPr lang="fa-IR" sz="2000">
                <a:solidFill>
                  <a:schemeClr val="tx1"/>
                </a:solidFill>
              </a:rPr>
              <a:t>عنوان گزارش </a:t>
            </a:r>
            <a:endParaRPr lang="en-US" sz="2000">
              <a:solidFill>
                <a:schemeClr val="tx1"/>
              </a:solidFill>
            </a:endParaRPr>
          </a:p>
        </p:txBody>
      </p:sp>
      <p:sp>
        <p:nvSpPr>
          <p:cNvPr id="239620" name="Rectangle 6"/>
          <p:cNvSpPr>
            <a:spLocks noChangeArrowheads="1"/>
          </p:cNvSpPr>
          <p:nvPr/>
        </p:nvSpPr>
        <p:spPr bwMode="auto">
          <a:xfrm>
            <a:off x="1476375" y="3267075"/>
            <a:ext cx="3024188" cy="366713"/>
          </a:xfrm>
          <a:prstGeom prst="rect">
            <a:avLst/>
          </a:prstGeom>
          <a:solidFill>
            <a:schemeClr val="accent1"/>
          </a:solidFill>
          <a:ln w="9525" algn="ctr">
            <a:noFill/>
            <a:miter lim="800000"/>
            <a:headEnd/>
            <a:tailEnd/>
          </a:ln>
        </p:spPr>
        <p:txBody>
          <a:bodyPr anchor="ctr">
            <a:spAutoFit/>
          </a:bodyPr>
          <a:lstStyle/>
          <a:p>
            <a:r>
              <a:rPr lang="fa-IR">
                <a:solidFill>
                  <a:schemeClr val="tx1"/>
                </a:solidFill>
              </a:rPr>
              <a:t>موضوع :</a:t>
            </a:r>
            <a:endParaRPr lang="en-US">
              <a:solidFill>
                <a:schemeClr val="tx1"/>
              </a:solidFill>
            </a:endParaRPr>
          </a:p>
        </p:txBody>
      </p:sp>
      <p:sp>
        <p:nvSpPr>
          <p:cNvPr id="239621" name="Rectangle 7"/>
          <p:cNvSpPr>
            <a:spLocks noChangeArrowheads="1"/>
          </p:cNvSpPr>
          <p:nvPr/>
        </p:nvSpPr>
        <p:spPr bwMode="auto">
          <a:xfrm>
            <a:off x="3203575" y="1755775"/>
            <a:ext cx="1439863" cy="336550"/>
          </a:xfrm>
          <a:prstGeom prst="rect">
            <a:avLst/>
          </a:prstGeom>
          <a:solidFill>
            <a:schemeClr val="accent1"/>
          </a:solidFill>
          <a:ln w="9525" algn="ctr">
            <a:noFill/>
            <a:miter lim="800000"/>
            <a:headEnd/>
            <a:tailEnd/>
          </a:ln>
        </p:spPr>
        <p:txBody>
          <a:bodyPr anchor="ctr">
            <a:spAutoFit/>
          </a:bodyPr>
          <a:lstStyle/>
          <a:p>
            <a:r>
              <a:rPr lang="fa-IR" sz="1600">
                <a:solidFill>
                  <a:schemeClr val="tx1"/>
                </a:solidFill>
              </a:rPr>
              <a:t>گزارشي از :</a:t>
            </a:r>
            <a:endParaRPr lang="en-US" sz="1600">
              <a:solidFill>
                <a:schemeClr val="tx1"/>
              </a:solidFill>
            </a:endParaRPr>
          </a:p>
        </p:txBody>
      </p:sp>
      <p:sp>
        <p:nvSpPr>
          <p:cNvPr id="239622" name="Rectangle 8"/>
          <p:cNvSpPr>
            <a:spLocks noChangeArrowheads="1"/>
          </p:cNvSpPr>
          <p:nvPr/>
        </p:nvSpPr>
        <p:spPr bwMode="auto">
          <a:xfrm>
            <a:off x="1403350" y="2259013"/>
            <a:ext cx="3095625" cy="366712"/>
          </a:xfrm>
          <a:prstGeom prst="rect">
            <a:avLst/>
          </a:prstGeom>
          <a:solidFill>
            <a:schemeClr val="accent1"/>
          </a:solidFill>
          <a:ln w="9525" algn="ctr">
            <a:noFill/>
            <a:miter lim="800000"/>
            <a:headEnd/>
            <a:tailEnd/>
          </a:ln>
        </p:spPr>
        <p:txBody>
          <a:bodyPr anchor="ctr">
            <a:spAutoFit/>
          </a:bodyPr>
          <a:lstStyle/>
          <a:p>
            <a:r>
              <a:rPr lang="fa-IR">
                <a:solidFill>
                  <a:schemeClr val="tx1"/>
                </a:solidFill>
              </a:rPr>
              <a:t>بخش تهيه كننده</a:t>
            </a:r>
            <a:endParaRPr lang="en-US">
              <a:solidFill>
                <a:schemeClr val="tx1"/>
              </a:solidFill>
            </a:endParaRPr>
          </a:p>
        </p:txBody>
      </p:sp>
      <p:sp>
        <p:nvSpPr>
          <p:cNvPr id="239623" name="Rectangle 9"/>
          <p:cNvSpPr>
            <a:spLocks noChangeArrowheads="1"/>
          </p:cNvSpPr>
          <p:nvPr/>
        </p:nvSpPr>
        <p:spPr bwMode="auto">
          <a:xfrm>
            <a:off x="2495550" y="5643563"/>
            <a:ext cx="1212850" cy="366712"/>
          </a:xfrm>
          <a:prstGeom prst="rect">
            <a:avLst/>
          </a:prstGeom>
          <a:solidFill>
            <a:schemeClr val="accent1"/>
          </a:solidFill>
          <a:ln w="9525" algn="ctr">
            <a:noFill/>
            <a:miter lim="800000"/>
            <a:headEnd/>
            <a:tailEnd/>
          </a:ln>
        </p:spPr>
        <p:txBody>
          <a:bodyPr anchor="ctr">
            <a:spAutoFit/>
          </a:bodyPr>
          <a:lstStyle/>
          <a:p>
            <a:r>
              <a:rPr lang="fa-IR">
                <a:solidFill>
                  <a:schemeClr val="tx1"/>
                </a:solidFill>
              </a:rPr>
              <a:t>نشاني </a:t>
            </a:r>
            <a:endParaRPr lang="en-US">
              <a:solidFill>
                <a:schemeClr val="tx1"/>
              </a:solidFill>
            </a:endParaRPr>
          </a:p>
        </p:txBody>
      </p:sp>
      <p:sp>
        <p:nvSpPr>
          <p:cNvPr id="239624" name="Rectangle 10"/>
          <p:cNvSpPr>
            <a:spLocks noChangeArrowheads="1"/>
          </p:cNvSpPr>
          <p:nvPr/>
        </p:nvSpPr>
        <p:spPr bwMode="auto">
          <a:xfrm>
            <a:off x="6357938" y="2016125"/>
            <a:ext cx="2338387" cy="376238"/>
          </a:xfrm>
          <a:prstGeom prst="rect">
            <a:avLst/>
          </a:prstGeom>
          <a:solidFill>
            <a:schemeClr val="accent1"/>
          </a:solidFill>
          <a:ln w="9525" algn="ctr">
            <a:solidFill>
              <a:schemeClr val="tx1"/>
            </a:solidFill>
            <a:miter lim="800000"/>
            <a:headEnd/>
            <a:tailEnd/>
          </a:ln>
        </p:spPr>
        <p:txBody>
          <a:bodyPr wrap="none" anchor="ctr">
            <a:spAutoFit/>
          </a:bodyPr>
          <a:lstStyle/>
          <a:p>
            <a:pPr rtl="1"/>
            <a:r>
              <a:rPr lang="fa-IR">
                <a:solidFill>
                  <a:schemeClr val="tx1"/>
                </a:solidFill>
              </a:rPr>
              <a:t>ب -  صفحه عنوان گزارش :</a:t>
            </a:r>
            <a:endParaRPr lang="en-US">
              <a:solidFill>
                <a:schemeClr val="tx1"/>
              </a:solidFill>
            </a:endParaRPr>
          </a:p>
        </p:txBody>
      </p:sp>
      <p:sp>
        <p:nvSpPr>
          <p:cNvPr id="239625" name="Rectangle 11"/>
          <p:cNvSpPr>
            <a:spLocks noChangeArrowheads="1"/>
          </p:cNvSpPr>
          <p:nvPr/>
        </p:nvSpPr>
        <p:spPr bwMode="auto">
          <a:xfrm>
            <a:off x="3132138" y="2763838"/>
            <a:ext cx="1439862" cy="336550"/>
          </a:xfrm>
          <a:prstGeom prst="rect">
            <a:avLst/>
          </a:prstGeom>
          <a:solidFill>
            <a:schemeClr val="accent1"/>
          </a:solidFill>
          <a:ln w="9525" algn="ctr">
            <a:noFill/>
            <a:miter lim="800000"/>
            <a:headEnd/>
            <a:tailEnd/>
          </a:ln>
        </p:spPr>
        <p:txBody>
          <a:bodyPr anchor="ctr">
            <a:spAutoFit/>
          </a:bodyPr>
          <a:lstStyle/>
          <a:p>
            <a:r>
              <a:rPr lang="fa-IR" sz="1600">
                <a:solidFill>
                  <a:schemeClr val="tx1"/>
                </a:solidFill>
              </a:rPr>
              <a:t>در مورد :</a:t>
            </a:r>
            <a:endParaRPr lang="en-US" sz="1600">
              <a:solidFill>
                <a:schemeClr val="tx1"/>
              </a:solidFill>
            </a:endParaRPr>
          </a:p>
        </p:txBody>
      </p:sp>
      <p:sp>
        <p:nvSpPr>
          <p:cNvPr id="239626" name="Rectangle 12"/>
          <p:cNvSpPr>
            <a:spLocks noChangeArrowheads="1"/>
          </p:cNvSpPr>
          <p:nvPr/>
        </p:nvSpPr>
        <p:spPr bwMode="auto">
          <a:xfrm>
            <a:off x="3276600" y="3771900"/>
            <a:ext cx="1439863" cy="336550"/>
          </a:xfrm>
          <a:prstGeom prst="rect">
            <a:avLst/>
          </a:prstGeom>
          <a:solidFill>
            <a:schemeClr val="accent1"/>
          </a:solidFill>
          <a:ln w="9525" algn="ctr">
            <a:noFill/>
            <a:miter lim="800000"/>
            <a:headEnd/>
            <a:tailEnd/>
          </a:ln>
        </p:spPr>
        <p:txBody>
          <a:bodyPr anchor="ctr">
            <a:spAutoFit/>
          </a:bodyPr>
          <a:lstStyle/>
          <a:p>
            <a:r>
              <a:rPr lang="fa-IR" sz="1600">
                <a:solidFill>
                  <a:schemeClr val="tx1"/>
                </a:solidFill>
              </a:rPr>
              <a:t>تهيه شده توسط:</a:t>
            </a:r>
            <a:endParaRPr lang="en-US" sz="1600">
              <a:solidFill>
                <a:schemeClr val="tx1"/>
              </a:solidFill>
            </a:endParaRPr>
          </a:p>
        </p:txBody>
      </p:sp>
      <p:sp>
        <p:nvSpPr>
          <p:cNvPr id="239627" name="Rectangle 13"/>
          <p:cNvSpPr>
            <a:spLocks noChangeArrowheads="1"/>
          </p:cNvSpPr>
          <p:nvPr/>
        </p:nvSpPr>
        <p:spPr bwMode="auto">
          <a:xfrm>
            <a:off x="2339975" y="4564063"/>
            <a:ext cx="1439863" cy="336550"/>
          </a:xfrm>
          <a:prstGeom prst="rect">
            <a:avLst/>
          </a:prstGeom>
          <a:solidFill>
            <a:schemeClr val="accent1"/>
          </a:solidFill>
          <a:ln w="9525" algn="ctr">
            <a:noFill/>
            <a:miter lim="800000"/>
            <a:headEnd/>
            <a:tailEnd/>
          </a:ln>
        </p:spPr>
        <p:txBody>
          <a:bodyPr anchor="ctr">
            <a:spAutoFit/>
          </a:bodyPr>
          <a:lstStyle/>
          <a:p>
            <a:r>
              <a:rPr lang="fa-IR" sz="1600">
                <a:solidFill>
                  <a:schemeClr val="tx1"/>
                </a:solidFill>
              </a:rPr>
              <a:t>نام تهيه كننده :</a:t>
            </a:r>
            <a:endParaRPr lang="en-US" sz="1600">
              <a:solidFill>
                <a:schemeClr val="tx1"/>
              </a:solidFill>
            </a:endParaRPr>
          </a:p>
        </p:txBody>
      </p:sp>
      <p:sp>
        <p:nvSpPr>
          <p:cNvPr id="239628" name="Rectangle 14"/>
          <p:cNvSpPr>
            <a:spLocks noChangeArrowheads="1"/>
          </p:cNvSpPr>
          <p:nvPr/>
        </p:nvSpPr>
        <p:spPr bwMode="auto">
          <a:xfrm>
            <a:off x="2484438" y="6003925"/>
            <a:ext cx="1212850" cy="366713"/>
          </a:xfrm>
          <a:prstGeom prst="rect">
            <a:avLst/>
          </a:prstGeom>
          <a:solidFill>
            <a:schemeClr val="accent1"/>
          </a:solidFill>
          <a:ln w="9525" algn="ctr">
            <a:noFill/>
            <a:miter lim="800000"/>
            <a:headEnd/>
            <a:tailEnd/>
          </a:ln>
        </p:spPr>
        <p:txBody>
          <a:bodyPr anchor="ctr">
            <a:spAutoFit/>
          </a:bodyPr>
          <a:lstStyle/>
          <a:p>
            <a:r>
              <a:rPr lang="fa-IR">
                <a:solidFill>
                  <a:schemeClr val="tx1"/>
                </a:solidFill>
              </a:rPr>
              <a:t>تاريخ  </a:t>
            </a:r>
            <a:endParaRPr lang="en-US">
              <a:solidFill>
                <a:schemeClr val="tx1"/>
              </a:solidFill>
            </a:endParaRPr>
          </a:p>
        </p:txBody>
      </p:sp>
      <p:sp>
        <p:nvSpPr>
          <p:cNvPr id="239629" name="Rectangle 15"/>
          <p:cNvSpPr>
            <a:spLocks noChangeArrowheads="1"/>
          </p:cNvSpPr>
          <p:nvPr/>
        </p:nvSpPr>
        <p:spPr bwMode="auto">
          <a:xfrm>
            <a:off x="1331913" y="5284788"/>
            <a:ext cx="3527425" cy="366712"/>
          </a:xfrm>
          <a:prstGeom prst="rect">
            <a:avLst/>
          </a:prstGeom>
          <a:solidFill>
            <a:schemeClr val="accent1"/>
          </a:solidFill>
          <a:ln w="9525" algn="ctr">
            <a:noFill/>
            <a:miter lim="800000"/>
            <a:headEnd/>
            <a:tailEnd/>
          </a:ln>
        </p:spPr>
        <p:txBody>
          <a:bodyPr anchor="ctr">
            <a:spAutoFit/>
          </a:bodyPr>
          <a:lstStyle/>
          <a:p>
            <a:r>
              <a:rPr lang="fa-IR">
                <a:solidFill>
                  <a:schemeClr val="tx1"/>
                </a:solidFill>
              </a:rPr>
              <a:t>عنوان شركت يا سازمان تهيه كننده</a:t>
            </a:r>
            <a:endParaRPr lang="en-US">
              <a:solidFill>
                <a:schemeClr val="tx1"/>
              </a:solidFill>
            </a:endParaRPr>
          </a:p>
        </p:txBody>
      </p:sp>
      <p:sp>
        <p:nvSpPr>
          <p:cNvPr id="14" name="Rectangle 1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642" name="Rectangle 4"/>
          <p:cNvSpPr>
            <a:spLocks noChangeArrowheads="1"/>
          </p:cNvSpPr>
          <p:nvPr/>
        </p:nvSpPr>
        <p:spPr bwMode="auto">
          <a:xfrm>
            <a:off x="179388" y="26988"/>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240643" name="Rectangle 5"/>
          <p:cNvSpPr>
            <a:spLocks noChangeArrowheads="1"/>
          </p:cNvSpPr>
          <p:nvPr/>
        </p:nvSpPr>
        <p:spPr bwMode="auto">
          <a:xfrm>
            <a:off x="1331913" y="892175"/>
            <a:ext cx="3527425" cy="396875"/>
          </a:xfrm>
          <a:prstGeom prst="rect">
            <a:avLst/>
          </a:prstGeom>
          <a:solidFill>
            <a:schemeClr val="accent1"/>
          </a:solidFill>
          <a:ln w="9525" algn="ctr">
            <a:noFill/>
            <a:miter lim="800000"/>
            <a:headEnd/>
            <a:tailEnd/>
          </a:ln>
        </p:spPr>
        <p:txBody>
          <a:bodyPr anchor="ctr">
            <a:spAutoFit/>
          </a:bodyPr>
          <a:lstStyle/>
          <a:p>
            <a:r>
              <a:rPr lang="fa-IR" sz="2000"/>
              <a:t>عنوان سازمان يا شركت تهيه كننده </a:t>
            </a:r>
            <a:endParaRPr lang="en-US" sz="2000"/>
          </a:p>
        </p:txBody>
      </p:sp>
      <p:sp>
        <p:nvSpPr>
          <p:cNvPr id="240644" name="Rectangle 6"/>
          <p:cNvSpPr>
            <a:spLocks noChangeArrowheads="1"/>
          </p:cNvSpPr>
          <p:nvPr/>
        </p:nvSpPr>
        <p:spPr bwMode="auto">
          <a:xfrm>
            <a:off x="1403350" y="3484563"/>
            <a:ext cx="3024188" cy="366712"/>
          </a:xfrm>
          <a:prstGeom prst="rect">
            <a:avLst/>
          </a:prstGeom>
          <a:solidFill>
            <a:schemeClr val="accent1"/>
          </a:solidFill>
          <a:ln w="9525" algn="ctr">
            <a:noFill/>
            <a:miter lim="800000"/>
            <a:headEnd/>
            <a:tailEnd/>
          </a:ln>
        </p:spPr>
        <p:txBody>
          <a:bodyPr anchor="ctr">
            <a:spAutoFit/>
          </a:bodyPr>
          <a:lstStyle/>
          <a:p>
            <a:r>
              <a:rPr lang="fa-IR"/>
              <a:t>شماره گزارش </a:t>
            </a:r>
            <a:endParaRPr lang="en-US"/>
          </a:p>
        </p:txBody>
      </p:sp>
      <p:sp>
        <p:nvSpPr>
          <p:cNvPr id="240645" name="Rectangle 8"/>
          <p:cNvSpPr>
            <a:spLocks noChangeArrowheads="1"/>
          </p:cNvSpPr>
          <p:nvPr/>
        </p:nvSpPr>
        <p:spPr bwMode="auto">
          <a:xfrm>
            <a:off x="1403350" y="3109913"/>
            <a:ext cx="3095625" cy="366712"/>
          </a:xfrm>
          <a:prstGeom prst="rect">
            <a:avLst/>
          </a:prstGeom>
          <a:solidFill>
            <a:schemeClr val="accent1"/>
          </a:solidFill>
          <a:ln w="9525" algn="ctr">
            <a:noFill/>
            <a:miter lim="800000"/>
            <a:headEnd/>
            <a:tailEnd/>
          </a:ln>
        </p:spPr>
        <p:txBody>
          <a:bodyPr anchor="ctr">
            <a:spAutoFit/>
          </a:bodyPr>
          <a:lstStyle/>
          <a:p>
            <a:r>
              <a:rPr lang="fa-IR"/>
              <a:t>عنوان گزارش </a:t>
            </a:r>
            <a:endParaRPr lang="en-US"/>
          </a:p>
        </p:txBody>
      </p:sp>
      <p:sp>
        <p:nvSpPr>
          <p:cNvPr id="240646" name="Rectangle 9"/>
          <p:cNvSpPr>
            <a:spLocks noChangeArrowheads="1"/>
          </p:cNvSpPr>
          <p:nvPr/>
        </p:nvSpPr>
        <p:spPr bwMode="auto">
          <a:xfrm>
            <a:off x="2484438" y="5643563"/>
            <a:ext cx="1212850" cy="366712"/>
          </a:xfrm>
          <a:prstGeom prst="rect">
            <a:avLst/>
          </a:prstGeom>
          <a:solidFill>
            <a:schemeClr val="accent1"/>
          </a:solidFill>
          <a:ln w="9525" algn="ctr">
            <a:noFill/>
            <a:miter lim="800000"/>
            <a:headEnd/>
            <a:tailEnd/>
          </a:ln>
        </p:spPr>
        <p:txBody>
          <a:bodyPr anchor="ctr">
            <a:spAutoFit/>
          </a:bodyPr>
          <a:lstStyle/>
          <a:p>
            <a:r>
              <a:rPr lang="fa-IR"/>
              <a:t>نشاني </a:t>
            </a:r>
            <a:endParaRPr lang="en-US"/>
          </a:p>
        </p:txBody>
      </p:sp>
      <p:sp>
        <p:nvSpPr>
          <p:cNvPr id="240647" name="Rectangle 10"/>
          <p:cNvSpPr>
            <a:spLocks noChangeArrowheads="1"/>
          </p:cNvSpPr>
          <p:nvPr/>
        </p:nvSpPr>
        <p:spPr bwMode="auto">
          <a:xfrm>
            <a:off x="6594475" y="2016125"/>
            <a:ext cx="1866900" cy="376238"/>
          </a:xfrm>
          <a:prstGeom prst="rect">
            <a:avLst/>
          </a:prstGeom>
          <a:solidFill>
            <a:schemeClr val="accent1"/>
          </a:solidFill>
          <a:ln w="9525" algn="ctr">
            <a:solidFill>
              <a:schemeClr val="tx1"/>
            </a:solidFill>
            <a:miter lim="800000"/>
            <a:headEnd/>
            <a:tailEnd/>
          </a:ln>
        </p:spPr>
        <p:txBody>
          <a:bodyPr wrap="none" anchor="ctr">
            <a:spAutoFit/>
          </a:bodyPr>
          <a:lstStyle/>
          <a:p>
            <a:pPr rtl="1"/>
            <a:r>
              <a:rPr lang="fa-IR">
                <a:solidFill>
                  <a:schemeClr val="tx1"/>
                </a:solidFill>
              </a:rPr>
              <a:t>الف -  صفحه عنوان :</a:t>
            </a:r>
            <a:endParaRPr lang="en-US">
              <a:solidFill>
                <a:schemeClr val="tx1"/>
              </a:solidFill>
            </a:endParaRPr>
          </a:p>
        </p:txBody>
      </p:sp>
      <p:sp>
        <p:nvSpPr>
          <p:cNvPr id="240648" name="Rectangle 11"/>
          <p:cNvSpPr>
            <a:spLocks noChangeArrowheads="1"/>
          </p:cNvSpPr>
          <p:nvPr/>
        </p:nvSpPr>
        <p:spPr bwMode="auto">
          <a:xfrm>
            <a:off x="1331913" y="1250950"/>
            <a:ext cx="3527425" cy="396875"/>
          </a:xfrm>
          <a:prstGeom prst="rect">
            <a:avLst/>
          </a:prstGeom>
          <a:solidFill>
            <a:schemeClr val="accent1"/>
          </a:solidFill>
          <a:ln w="9525" algn="ctr">
            <a:noFill/>
            <a:miter lim="800000"/>
            <a:headEnd/>
            <a:tailEnd/>
          </a:ln>
        </p:spPr>
        <p:txBody>
          <a:bodyPr anchor="ctr">
            <a:spAutoFit/>
          </a:bodyPr>
          <a:lstStyle/>
          <a:p>
            <a:r>
              <a:rPr lang="fa-IR" sz="2000"/>
              <a:t>عنوان اداره يا بخش تهيه كننده </a:t>
            </a:r>
            <a:endParaRPr lang="en-US" sz="2000"/>
          </a:p>
        </p:txBody>
      </p:sp>
      <p:sp>
        <p:nvSpPr>
          <p:cNvPr id="240649" name="Rectangle 12"/>
          <p:cNvSpPr>
            <a:spLocks noChangeArrowheads="1"/>
          </p:cNvSpPr>
          <p:nvPr/>
        </p:nvSpPr>
        <p:spPr bwMode="auto">
          <a:xfrm>
            <a:off x="2484438" y="6003925"/>
            <a:ext cx="1212850" cy="366713"/>
          </a:xfrm>
          <a:prstGeom prst="rect">
            <a:avLst/>
          </a:prstGeom>
          <a:solidFill>
            <a:schemeClr val="accent1"/>
          </a:solidFill>
          <a:ln w="9525" algn="ctr">
            <a:noFill/>
            <a:miter lim="800000"/>
            <a:headEnd/>
            <a:tailEnd/>
          </a:ln>
        </p:spPr>
        <p:txBody>
          <a:bodyPr anchor="ctr">
            <a:spAutoFit/>
          </a:bodyPr>
          <a:lstStyle/>
          <a:p>
            <a:r>
              <a:rPr lang="fa-IR"/>
              <a:t>تاريخ </a:t>
            </a:r>
            <a:endParaRPr lang="en-US"/>
          </a:p>
        </p:txBody>
      </p:sp>
      <p:sp>
        <p:nvSpPr>
          <p:cNvPr id="10" name="Rectangle 9"/>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Text Box 4">
            <a:hlinkClick r:id="rId2" action="ppaction://hlinksldjump"/>
          </p:cNvPr>
          <p:cNvSpPr txBox="1">
            <a:spLocks noChangeArrowheads="1"/>
          </p:cNvSpPr>
          <p:nvPr/>
        </p:nvSpPr>
        <p:spPr bwMode="auto">
          <a:xfrm>
            <a:off x="1476375" y="2565400"/>
            <a:ext cx="5975350" cy="1446550"/>
          </a:xfrm>
          <a:prstGeom prst="rect">
            <a:avLst/>
          </a:prstGeom>
          <a:noFill/>
          <a:ln w="9525">
            <a:noFill/>
            <a:miter lim="800000"/>
            <a:headEnd/>
            <a:tailEnd/>
          </a:ln>
        </p:spPr>
        <p:txBody>
          <a:bodyPr>
            <a:spAutoFit/>
          </a:bodyPr>
          <a:lstStyle/>
          <a:p>
            <a:pPr rtl="1"/>
            <a:r>
              <a:rPr lang="fa-IR" sz="4400" dirty="0">
                <a:solidFill>
                  <a:schemeClr val="tx1"/>
                </a:solidFill>
                <a:cs typeface="B Titr" panose="00000700000000000000" pitchFamily="2" charset="-78"/>
              </a:rPr>
              <a:t>ادامه </a:t>
            </a:r>
            <a:r>
              <a:rPr lang="fa-IR" sz="4400" dirty="0" err="1">
                <a:solidFill>
                  <a:schemeClr val="tx1"/>
                </a:solidFill>
                <a:cs typeface="B Titr" panose="00000700000000000000" pitchFamily="2" charset="-78"/>
              </a:rPr>
              <a:t>آشنايي</a:t>
            </a:r>
            <a:r>
              <a:rPr lang="fa-IR" sz="4400" dirty="0">
                <a:solidFill>
                  <a:schemeClr val="tx1"/>
                </a:solidFill>
                <a:cs typeface="B Titr" panose="00000700000000000000" pitchFamily="2" charset="-78"/>
              </a:rPr>
              <a:t> با چند نوع گزارش</a:t>
            </a:r>
            <a:endParaRPr lang="en-US" sz="4400" dirty="0">
              <a:solidFill>
                <a:schemeClr val="tx1"/>
              </a:solidFill>
              <a:cs typeface="B Titr" panose="00000700000000000000" pitchFamily="2" charset="-78"/>
            </a:endParaRPr>
          </a:p>
        </p:txBody>
      </p:sp>
      <p:sp>
        <p:nvSpPr>
          <p:cNvPr id="3" name="Rectangle 2"/>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3"/>
          <p:cNvSpPr>
            <a:spLocks noGrp="1" noChangeArrowheads="1"/>
          </p:cNvSpPr>
          <p:nvPr>
            <p:ph type="body" sz="half" idx="2"/>
          </p:nvPr>
        </p:nvSpPr>
        <p:spPr>
          <a:xfrm>
            <a:off x="1214414" y="1643050"/>
            <a:ext cx="7162800" cy="4162436"/>
          </a:xfrm>
          <a:noFill/>
          <a:ln w="9525">
            <a:noFill/>
            <a:miter lim="800000"/>
            <a:headEnd/>
            <a:tailEnd/>
          </a:ln>
        </p:spPr>
        <p:txBody>
          <a:bodyPr vert="horz" wrap="square" lIns="91440" tIns="45720" rIns="91440" bIns="45720" numCol="1" anchor="t" anchorCtr="0" compatLnSpc="1">
            <a:prstTxWarp prst="textNoShape">
              <a:avLst/>
            </a:prstTxWarp>
          </a:bodyPr>
          <a:lstStyle/>
          <a:p>
            <a:pPr marL="609600" marR="0" indent="-609600" algn="justLow" rtl="1" eaLnBrk="1" hangingPunct="1">
              <a:buFont typeface="Wingdings" pitchFamily="2" charset="2"/>
              <a:buAutoNum type="arabicPeriod"/>
            </a:pPr>
            <a:r>
              <a:rPr lang="fa-IR" sz="2700" b="1" dirty="0" smtClean="0"/>
              <a:t>منظور از پیشنهاد طرح اولیه اینست که باید از سوی متقاضیان اجرای پروژه به مدیران و مسئولان سازمانی که در خواست اجرای آن را دارند تسلیم شود . در واقع سازمانی که مایل است پروژه ای را به اجرا درآورد درخواستی را مثلا از طریق جراید عمومی مطرح می‌سازد و طی آن اعلام می‌دارد که درصدد است پروژه ای را به اجرا بگذارد و از صاحبان شرکتها و ... می خواهد که پیشنهادات خود را در مهلت مقرر تسلیم نمایند .</a:t>
            </a:r>
            <a:endParaRPr lang="en-US" sz="2700" b="1" dirty="0" smtClean="0"/>
          </a:p>
        </p:txBody>
      </p:sp>
      <p:sp>
        <p:nvSpPr>
          <p:cNvPr id="269314" name="Rectangle 2"/>
          <p:cNvSpPr>
            <a:spLocks noGrp="1" noChangeArrowheads="1"/>
          </p:cNvSpPr>
          <p:nvPr>
            <p:ph type="title"/>
          </p:nvPr>
        </p:nvSpPr>
        <p:spPr>
          <a:xfrm>
            <a:off x="642910" y="428604"/>
            <a:ext cx="8075432" cy="562672"/>
          </a:xfrm>
        </p:spPr>
        <p:txBody>
          <a:bodyPr vert="horz" rtlCol="0" anchor="ctr">
            <a:normAutofit fontScale="90000"/>
            <a:scene3d>
              <a:camera prst="orthographicFront"/>
              <a:lightRig rig="soft" dir="t"/>
            </a:scene3d>
            <a:sp3d prstMaterial="softEdge">
              <a:bevelT w="25400" h="25400"/>
            </a:sp3d>
          </a:bodyPr>
          <a:lstStyle/>
          <a:p>
            <a:pPr rtl="1" eaLnBrk="1" fontAlgn="auto" hangingPunct="1">
              <a:spcAft>
                <a:spcPts val="0"/>
              </a:spcAft>
              <a:defRPr/>
            </a:pPr>
            <a:r>
              <a:rPr lang="fa-IR" sz="3700" b="1" dirty="0" smtClean="0">
                <a:solidFill>
                  <a:srgbClr val="FF0000"/>
                </a:solidFill>
                <a:effectLst/>
                <a:cs typeface="B Titr" pitchFamily="2" charset="-78"/>
              </a:rPr>
              <a:t>پیشنهاد شرکت در مناقصه </a:t>
            </a:r>
            <a:endParaRPr lang="en-US" sz="3700" b="1" dirty="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3"/>
          <p:cNvSpPr>
            <a:spLocks noGrp="1" noChangeArrowheads="1"/>
          </p:cNvSpPr>
          <p:nvPr>
            <p:ph idx="1"/>
          </p:nvPr>
        </p:nvSpPr>
        <p:spPr/>
        <p:txBody>
          <a:bodyPr/>
          <a:lstStyle/>
          <a:p>
            <a:pPr marL="609600" indent="-609600" algn="justLow" rtl="1" eaLnBrk="1" hangingPunct="1">
              <a:buFont typeface="Wingdings" pitchFamily="2" charset="2"/>
              <a:buAutoNum type="arabicPeriod"/>
            </a:pPr>
            <a:r>
              <a:rPr lang="fa-IR" b="1" dirty="0" smtClean="0"/>
              <a:t>به مسئولان سازمان نشان دهد که </a:t>
            </a:r>
            <a:r>
              <a:rPr lang="fa-IR" b="1" dirty="0" err="1" smtClean="0"/>
              <a:t>منظورآنها</a:t>
            </a:r>
            <a:r>
              <a:rPr lang="fa-IR" b="1" dirty="0" smtClean="0"/>
              <a:t> به درستی درک شده است (منظور آنها به روشنی دریافت شده است ) .</a:t>
            </a:r>
          </a:p>
          <a:p>
            <a:pPr marL="609600" indent="-609600" algn="justLow" rtl="1" eaLnBrk="1" hangingPunct="1">
              <a:buFont typeface="Wingdings" pitchFamily="2" charset="2"/>
              <a:buAutoNum type="arabicPeriod"/>
            </a:pPr>
            <a:r>
              <a:rPr lang="fa-IR" b="1" dirty="0" smtClean="0"/>
              <a:t>آنان را مجاب کند که پیشنهاد دهندگان قادرند منظور آنها را بطور موثر و </a:t>
            </a:r>
            <a:r>
              <a:rPr lang="fa-IR" b="1" dirty="0" err="1" smtClean="0"/>
              <a:t>کارآ</a:t>
            </a:r>
            <a:r>
              <a:rPr lang="fa-IR" b="1" dirty="0" smtClean="0"/>
              <a:t> برآورده کنند . در واقع  پیشنهاد خوب به متقاضی می گوید : چه کاری باید انجام بگیرد تا سازمان به </a:t>
            </a:r>
            <a:r>
              <a:rPr lang="fa-IR" b="1" dirty="0" err="1" smtClean="0"/>
              <a:t>اهدافش</a:t>
            </a:r>
            <a:r>
              <a:rPr lang="fa-IR" b="1" dirty="0" smtClean="0"/>
              <a:t> بهتر نائل شود و </a:t>
            </a:r>
            <a:r>
              <a:rPr lang="fa-IR" b="1" dirty="0" err="1" smtClean="0"/>
              <a:t>نیازهایش</a:t>
            </a:r>
            <a:r>
              <a:rPr lang="fa-IR" b="1" dirty="0" smtClean="0"/>
              <a:t> به احسن وجه در محدوده امکانات مرتفع گردد .</a:t>
            </a:r>
            <a:endParaRPr lang="en-US" b="1" dirty="0" smtClean="0"/>
          </a:p>
        </p:txBody>
      </p:sp>
      <p:sp>
        <p:nvSpPr>
          <p:cNvPr id="27033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 اهداف پیشنهاد :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3"/>
          <p:cNvSpPr>
            <a:spLocks noGrp="1" noChangeArrowheads="1"/>
          </p:cNvSpPr>
          <p:nvPr>
            <p:ph idx="1"/>
          </p:nvPr>
        </p:nvSpPr>
        <p:spPr>
          <a:xfrm>
            <a:off x="468313" y="1341438"/>
            <a:ext cx="8229600" cy="5876925"/>
          </a:xfrm>
        </p:spPr>
        <p:txBody>
          <a:bodyPr/>
          <a:lstStyle/>
          <a:p>
            <a:pPr marL="609600" indent="-609600" algn="r" rtl="1" eaLnBrk="1" hangingPunct="1">
              <a:lnSpc>
                <a:spcPct val="90000"/>
              </a:lnSpc>
              <a:buFont typeface="Wingdings" pitchFamily="2" charset="2"/>
              <a:buAutoNum type="arabicPeriod"/>
            </a:pPr>
            <a:r>
              <a:rPr lang="fa-IR" sz="2400" b="1" smtClean="0"/>
              <a:t>حاوی اطلاعات کافی در مورد راه حل پیشنهادی باشد .</a:t>
            </a:r>
          </a:p>
          <a:p>
            <a:pPr marL="609600" indent="-609600" algn="r" rtl="1" eaLnBrk="1" hangingPunct="1">
              <a:lnSpc>
                <a:spcPct val="90000"/>
              </a:lnSpc>
              <a:buFont typeface="Wingdings" pitchFamily="2" charset="2"/>
              <a:buAutoNum type="arabicPeriod"/>
            </a:pPr>
            <a:r>
              <a:rPr lang="fa-IR" sz="2400" b="1" smtClean="0"/>
              <a:t>کامل بودن : به نحوی که سازمان دریافت کننده پیشنهاد با فقدان یا نقص اطلاعاتی در پیشنهاد مواجه نشود.</a:t>
            </a:r>
          </a:p>
          <a:p>
            <a:pPr marL="609600" indent="-609600" algn="r" rtl="1" eaLnBrk="1" hangingPunct="1">
              <a:lnSpc>
                <a:spcPct val="90000"/>
              </a:lnSpc>
              <a:buFont typeface="Wingdings" pitchFamily="2" charset="2"/>
              <a:buAutoNum type="arabicPeriod"/>
            </a:pPr>
            <a:r>
              <a:rPr lang="fa-IR" sz="2400" b="1" smtClean="0"/>
              <a:t>روان و واضح بودن متن و موجز بودن آن (در عین حال کامل بودن) </a:t>
            </a:r>
          </a:p>
          <a:p>
            <a:pPr marL="609600" indent="-609600" algn="r" rtl="1" eaLnBrk="1" hangingPunct="1">
              <a:lnSpc>
                <a:spcPct val="90000"/>
              </a:lnSpc>
              <a:buFont typeface="Wingdings" pitchFamily="2" charset="2"/>
              <a:buAutoNum type="arabicPeriod"/>
            </a:pPr>
            <a:r>
              <a:rPr lang="fa-IR" sz="2400" b="1" smtClean="0"/>
              <a:t>ساختمند بودن :  بخشهای  پیشنهاد از نخستین تا انجامین دارای ارتباط منطقی با یکدیگر و با موضوع پروژه درخواست شده باشد .</a:t>
            </a:r>
          </a:p>
          <a:p>
            <a:pPr marL="609600" indent="-609600" algn="r" rtl="1" eaLnBrk="1" hangingPunct="1">
              <a:lnSpc>
                <a:spcPct val="90000"/>
              </a:lnSpc>
              <a:buFont typeface="Wingdings" pitchFamily="2" charset="2"/>
              <a:buAutoNum type="arabicPeriod"/>
            </a:pPr>
            <a:r>
              <a:rPr lang="fa-IR" sz="2400" b="1" smtClean="0"/>
              <a:t>مجاب کننده بودن (بر اساس مبانی علمی و فنی به هنگام  و با توجه به امکانات و شرایط ) </a:t>
            </a:r>
          </a:p>
          <a:p>
            <a:pPr marL="609600" indent="-609600" algn="r" rtl="1" eaLnBrk="1" hangingPunct="1">
              <a:lnSpc>
                <a:spcPct val="90000"/>
              </a:lnSpc>
              <a:buFont typeface="Wingdings" pitchFamily="2" charset="2"/>
              <a:buAutoNum type="arabicPeriod"/>
            </a:pPr>
            <a:r>
              <a:rPr lang="fa-IR" sz="2400" b="1" smtClean="0"/>
              <a:t>اطمینان بخش بودن </a:t>
            </a:r>
          </a:p>
          <a:p>
            <a:pPr marL="609600" indent="-609600" algn="r" rtl="1" eaLnBrk="1" hangingPunct="1">
              <a:lnSpc>
                <a:spcPct val="90000"/>
              </a:lnSpc>
              <a:buFont typeface="Wingdings" pitchFamily="2" charset="2"/>
              <a:buAutoNum type="arabicPeriod"/>
            </a:pPr>
            <a:r>
              <a:rPr lang="fa-IR" sz="2400" b="1" smtClean="0"/>
              <a:t>دقیق بودن </a:t>
            </a:r>
          </a:p>
          <a:p>
            <a:pPr marL="609600" indent="-609600" algn="r" rtl="1" eaLnBrk="1" hangingPunct="1">
              <a:lnSpc>
                <a:spcPct val="90000"/>
              </a:lnSpc>
              <a:buFont typeface="Wingdings" pitchFamily="2" charset="2"/>
              <a:buAutoNum type="arabicPeriod"/>
            </a:pPr>
            <a:r>
              <a:rPr lang="fa-IR" sz="2400" b="1" smtClean="0"/>
              <a:t>نشان دهنده  قابلیتهای پیشنهاد دهندگان و روش برخورد آنان با مشکل سازمان</a:t>
            </a:r>
            <a:endParaRPr lang="en-US" sz="2400" b="1" smtClean="0"/>
          </a:p>
          <a:p>
            <a:pPr marL="609600" indent="-609600" algn="r" rtl="1" eaLnBrk="1" hangingPunct="1">
              <a:lnSpc>
                <a:spcPct val="90000"/>
              </a:lnSpc>
              <a:buFont typeface="Wingdings" pitchFamily="2" charset="2"/>
              <a:buAutoNum type="arabicPeriod"/>
            </a:pPr>
            <a:r>
              <a:rPr lang="fa-IR" sz="2400" b="1" smtClean="0"/>
              <a:t>داشتن آراستگی ظاهر و وضوح بصری</a:t>
            </a:r>
            <a:r>
              <a:rPr lang="en-US" sz="2400" smtClean="0"/>
              <a:t> </a:t>
            </a:r>
          </a:p>
        </p:txBody>
      </p:sp>
      <p:sp>
        <p:nvSpPr>
          <p:cNvPr id="271362" name="Rectangle 2"/>
          <p:cNvSpPr>
            <a:spLocks noGrp="1" noChangeArrowheads="1"/>
          </p:cNvSpPr>
          <p:nvPr>
            <p:ph type="title"/>
          </p:nvPr>
        </p:nvSpPr>
        <p:spPr>
          <a:xfrm>
            <a:off x="457200" y="277813"/>
            <a:ext cx="8229600" cy="487362"/>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خصوصیات پیشنهاد :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3"/>
          <p:cNvSpPr>
            <a:spLocks noGrp="1" noChangeArrowheads="1"/>
          </p:cNvSpPr>
          <p:nvPr>
            <p:ph idx="1"/>
          </p:nvPr>
        </p:nvSpPr>
        <p:spPr/>
        <p:txBody>
          <a:bodyPr/>
          <a:lstStyle/>
          <a:p>
            <a:pPr marL="609600" indent="-609600" algn="justLow" rtl="1" eaLnBrk="1" hangingPunct="1">
              <a:buFont typeface="Wingdings" pitchFamily="2" charset="2"/>
              <a:buAutoNum type="arabicPeriod"/>
            </a:pPr>
            <a:r>
              <a:rPr lang="fa-IR" b="1" smtClean="0"/>
              <a:t>دریافت به موقع &lt;&lt; درخواست تسلیم پیشنهاد &gt;&gt; </a:t>
            </a:r>
          </a:p>
          <a:p>
            <a:pPr marL="609600" indent="-609600" algn="justLow" rtl="1" eaLnBrk="1" hangingPunct="1">
              <a:buFont typeface="Wingdings" pitchFamily="2" charset="2"/>
              <a:buAutoNum type="arabicPeriod"/>
            </a:pPr>
            <a:r>
              <a:rPr lang="fa-IR" b="1" smtClean="0"/>
              <a:t>برقراری ارتباط با سازمان متقاضی حتی الامکان قبل از اعلام رسمی درخواست و جمع آوری اطلاعاتی  در مورد  چند و چون منظور سازمان ...</a:t>
            </a:r>
          </a:p>
          <a:p>
            <a:pPr marL="609600" indent="-609600" algn="justLow" rtl="1" eaLnBrk="1" hangingPunct="1">
              <a:buFont typeface="Wingdings" pitchFamily="2" charset="2"/>
              <a:buAutoNum type="arabicPeriod"/>
            </a:pPr>
            <a:r>
              <a:rPr lang="fa-IR" b="1" smtClean="0"/>
              <a:t>بررسی دقیق &lt;&lt; درخواست &gt;&gt; به منظور استخراج هر چه بیشتر اطلاعات لازم جهت تنظیم پیشنهاد </a:t>
            </a:r>
          </a:p>
          <a:p>
            <a:pPr marL="609600" indent="-609600" algn="justLow" rtl="1" eaLnBrk="1" hangingPunct="1">
              <a:buFont typeface="Wingdings" pitchFamily="2" charset="2"/>
              <a:buAutoNum type="arabicPeriod"/>
            </a:pPr>
            <a:r>
              <a:rPr lang="fa-IR" b="1" smtClean="0"/>
              <a:t>مطالعه محیط عملیاتی ( در جوانبی که مربوط به موضوع پروژه می شود )</a:t>
            </a:r>
            <a:endParaRPr lang="en-US" b="1" smtClean="0"/>
          </a:p>
        </p:txBody>
      </p:sp>
      <p:sp>
        <p:nvSpPr>
          <p:cNvPr id="27238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مقدمات لازم برای پیشنهاد اجرای پروژه:</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3"/>
          <p:cNvSpPr>
            <a:spLocks noGrp="1" noChangeArrowheads="1"/>
          </p:cNvSpPr>
          <p:nvPr>
            <p:ph idx="1"/>
          </p:nvPr>
        </p:nvSpPr>
        <p:spPr/>
        <p:txBody>
          <a:bodyPr/>
          <a:lstStyle/>
          <a:p>
            <a:pPr marL="609600" indent="-609600" algn="justLow" rtl="1" eaLnBrk="1" hangingPunct="1">
              <a:lnSpc>
                <a:spcPct val="80000"/>
              </a:lnSpc>
              <a:buFont typeface="Wingdings" pitchFamily="2" charset="2"/>
              <a:buAutoNum type="arabicPeriod"/>
            </a:pPr>
            <a:r>
              <a:rPr lang="fa-IR" sz="2400" b="1" smtClean="0"/>
              <a:t>درخواست کننده کیست ؟ ( خصوصیات کلی سازمان درخواست کننده )</a:t>
            </a:r>
            <a:endParaRPr lang="en-US" sz="2400" b="1" smtClean="0"/>
          </a:p>
          <a:p>
            <a:pPr marL="609600" indent="-609600" algn="justLow" rtl="1" eaLnBrk="1" hangingPunct="1">
              <a:lnSpc>
                <a:spcPct val="80000"/>
              </a:lnSpc>
              <a:buFont typeface="Wingdings" pitchFamily="2" charset="2"/>
              <a:buAutoNum type="arabicPeriod"/>
            </a:pPr>
            <a:r>
              <a:rPr lang="en-US" sz="2400" b="1" smtClean="0"/>
              <a:t> </a:t>
            </a:r>
            <a:r>
              <a:rPr lang="fa-IR" sz="2400" b="1" smtClean="0"/>
              <a:t>محل سازمان کجاست ؟ شرایط خاص آن چیست ؟ ( شرایط جغرافیایی – محیطی )</a:t>
            </a:r>
            <a:endParaRPr lang="en-US" sz="2400" b="1" smtClean="0"/>
          </a:p>
          <a:p>
            <a:pPr marL="609600" indent="-609600" algn="justLow" rtl="1" eaLnBrk="1" hangingPunct="1">
              <a:lnSpc>
                <a:spcPct val="80000"/>
              </a:lnSpc>
              <a:buFont typeface="Wingdings" pitchFamily="2" charset="2"/>
              <a:buAutoNum type="arabicPeriod"/>
            </a:pPr>
            <a:r>
              <a:rPr lang="en-US" sz="2400" b="1" smtClean="0"/>
              <a:t> </a:t>
            </a:r>
            <a:r>
              <a:rPr lang="fa-IR" sz="2400" b="1" smtClean="0"/>
              <a:t>چه پروژه هایی قبلا در آنجا توسط چه شرکتهایی و با چه هزینه ای اجرا شده است ؟ </a:t>
            </a:r>
            <a:endParaRPr lang="en-US" sz="2400" b="1" smtClean="0"/>
          </a:p>
          <a:p>
            <a:pPr marL="609600" indent="-609600" algn="justLow" rtl="1" eaLnBrk="1" hangingPunct="1">
              <a:lnSpc>
                <a:spcPct val="80000"/>
              </a:lnSpc>
              <a:buFont typeface="Wingdings" pitchFamily="2" charset="2"/>
              <a:buAutoNum type="arabicPeriod"/>
            </a:pPr>
            <a:r>
              <a:rPr lang="en-US" sz="2400" b="1" smtClean="0"/>
              <a:t> </a:t>
            </a:r>
            <a:r>
              <a:rPr lang="fa-IR" sz="2400" b="1" smtClean="0"/>
              <a:t>موضوع درخواست دقیقا چیست ؟ ( چه پروژه ای قرار است اجرا شود ) </a:t>
            </a:r>
            <a:endParaRPr lang="en-US" sz="2400" b="1" smtClean="0"/>
          </a:p>
          <a:p>
            <a:pPr marL="609600" indent="-609600" algn="justLow" rtl="1" eaLnBrk="1" hangingPunct="1">
              <a:lnSpc>
                <a:spcPct val="80000"/>
              </a:lnSpc>
              <a:buFont typeface="Wingdings" pitchFamily="2" charset="2"/>
              <a:buAutoNum type="arabicPeriod"/>
            </a:pPr>
            <a:r>
              <a:rPr lang="en-US" sz="2400" b="1" smtClean="0"/>
              <a:t> </a:t>
            </a:r>
            <a:r>
              <a:rPr lang="fa-IR" sz="2400" b="1" smtClean="0"/>
              <a:t>نیازها و هدفهای اصلی سازمان در اجرای پروژه چیست ؟ </a:t>
            </a:r>
            <a:endParaRPr lang="en-US" sz="2400" b="1" smtClean="0"/>
          </a:p>
          <a:p>
            <a:pPr marL="609600" indent="-609600" algn="justLow" rtl="1" eaLnBrk="1" hangingPunct="1">
              <a:lnSpc>
                <a:spcPct val="80000"/>
              </a:lnSpc>
              <a:buFont typeface="Wingdings" pitchFamily="2" charset="2"/>
              <a:buAutoNum type="arabicPeriod"/>
            </a:pPr>
            <a:r>
              <a:rPr lang="en-US" sz="2400" b="1" smtClean="0"/>
              <a:t> </a:t>
            </a:r>
            <a:r>
              <a:rPr lang="fa-IR" sz="2400" b="1" smtClean="0"/>
              <a:t>چه خصوصیاتی در پروژه از نظر مسئولان سازمان حائز اهمیت است ؟ </a:t>
            </a:r>
            <a:endParaRPr lang="en-US" sz="2400" b="1" smtClean="0"/>
          </a:p>
          <a:p>
            <a:pPr marL="609600" indent="-609600" algn="justLow" rtl="1" eaLnBrk="1" hangingPunct="1">
              <a:lnSpc>
                <a:spcPct val="80000"/>
              </a:lnSpc>
              <a:buFont typeface="Wingdings" pitchFamily="2" charset="2"/>
              <a:buAutoNum type="arabicPeriod"/>
            </a:pPr>
            <a:r>
              <a:rPr lang="en-US" sz="2400" b="1" smtClean="0"/>
              <a:t> </a:t>
            </a:r>
            <a:r>
              <a:rPr lang="fa-IR" sz="2400" b="1" smtClean="0"/>
              <a:t>مهلت تسلیم پیشنهاد چیست ؟ </a:t>
            </a:r>
            <a:endParaRPr lang="en-US" sz="2400" b="1" smtClean="0"/>
          </a:p>
          <a:p>
            <a:pPr marL="609600" indent="-609600" algn="justLow" rtl="1" eaLnBrk="1" hangingPunct="1">
              <a:lnSpc>
                <a:spcPct val="80000"/>
              </a:lnSpc>
              <a:buFont typeface="Wingdings" pitchFamily="2" charset="2"/>
              <a:buAutoNum type="arabicPeriod"/>
            </a:pPr>
            <a:r>
              <a:rPr lang="en-US" sz="2400" b="1" smtClean="0"/>
              <a:t> </a:t>
            </a:r>
            <a:r>
              <a:rPr lang="fa-IR" sz="2400" b="1" smtClean="0"/>
              <a:t>آیا در درخواست فرم خاصی برای پیشنهاد ارائه شده است که باید پیشنهاد دهنده رعایت کند ؟ </a:t>
            </a:r>
            <a:endParaRPr lang="en-US" sz="2400" b="1" smtClean="0"/>
          </a:p>
          <a:p>
            <a:pPr marL="609600" indent="-609600" algn="justLow" rtl="1" eaLnBrk="1" hangingPunct="1">
              <a:lnSpc>
                <a:spcPct val="80000"/>
              </a:lnSpc>
              <a:buFont typeface="Wingdings" pitchFamily="2" charset="2"/>
              <a:buAutoNum type="arabicPeriod"/>
            </a:pPr>
            <a:r>
              <a:rPr lang="en-US" sz="2400" b="1" smtClean="0"/>
              <a:t> </a:t>
            </a:r>
            <a:r>
              <a:rPr lang="fa-IR" sz="2400" b="1" smtClean="0"/>
              <a:t>سازمان متقاضی چه امکانات و تجهیزاتی در اختیار می گذارد ؟ </a:t>
            </a:r>
            <a:endParaRPr lang="en-US" sz="2400" b="1" smtClean="0"/>
          </a:p>
          <a:p>
            <a:pPr marL="609600" indent="-609600" algn="justLow" rtl="1" eaLnBrk="1" hangingPunct="1">
              <a:lnSpc>
                <a:spcPct val="80000"/>
              </a:lnSpc>
              <a:buFont typeface="Wingdings" pitchFamily="2" charset="2"/>
              <a:buAutoNum type="arabicPeriod"/>
            </a:pPr>
            <a:r>
              <a:rPr lang="en-US" sz="2400" b="1" smtClean="0"/>
              <a:t> </a:t>
            </a:r>
            <a:r>
              <a:rPr lang="fa-IR" sz="2400" b="1" smtClean="0"/>
              <a:t>محدودیت های سازمان کدامند ؟</a:t>
            </a:r>
            <a:endParaRPr lang="en-US" sz="2400" b="1" smtClean="0"/>
          </a:p>
        </p:txBody>
      </p:sp>
      <p:sp>
        <p:nvSpPr>
          <p:cNvPr id="292866" name="Rectangle 2"/>
          <p:cNvSpPr>
            <a:spLocks noGrp="1" noChangeArrowheads="1"/>
          </p:cNvSpPr>
          <p:nvPr>
            <p:ph type="title"/>
          </p:nvPr>
        </p:nvSpPr>
        <p:spPr>
          <a:xfrm>
            <a:off x="1258888" y="277813"/>
            <a:ext cx="7283450" cy="990600"/>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2400" dirty="0" smtClean="0">
                <a:solidFill>
                  <a:srgbClr val="FF0000"/>
                </a:solidFill>
                <a:effectLst/>
                <a:cs typeface="B Titr" pitchFamily="2" charset="-78"/>
              </a:rPr>
              <a:t>اطلاعات بدست آمده در مرحله  قبل باید چنان باشد که به تهیه </a:t>
            </a:r>
            <a:r>
              <a:rPr lang="fa-IR" sz="2400" dirty="0" err="1" smtClean="0">
                <a:solidFill>
                  <a:srgbClr val="FF0000"/>
                </a:solidFill>
                <a:effectLst/>
                <a:cs typeface="B Titr" pitchFamily="2" charset="-78"/>
              </a:rPr>
              <a:t>کنندگان</a:t>
            </a:r>
            <a:r>
              <a:rPr lang="fa-IR" sz="2400" dirty="0" smtClean="0">
                <a:solidFill>
                  <a:srgbClr val="FF0000"/>
                </a:solidFill>
                <a:effectLst/>
                <a:cs typeface="B Titr" pitchFamily="2" charset="-78"/>
              </a:rPr>
              <a:t> پیشنهاد کمک کند تا پاسخ </a:t>
            </a:r>
            <a:r>
              <a:rPr lang="fa-IR" sz="2400" dirty="0" err="1" smtClean="0">
                <a:solidFill>
                  <a:srgbClr val="FF0000"/>
                </a:solidFill>
                <a:effectLst/>
                <a:cs typeface="B Titr" pitchFamily="2" charset="-78"/>
              </a:rPr>
              <a:t>سئوالات</a:t>
            </a:r>
            <a:r>
              <a:rPr lang="fa-IR" sz="2400" dirty="0" smtClean="0">
                <a:solidFill>
                  <a:srgbClr val="FF0000"/>
                </a:solidFill>
                <a:effectLst/>
                <a:cs typeface="B Titr" pitchFamily="2" charset="-78"/>
              </a:rPr>
              <a:t> زیر را بیابند : </a:t>
            </a:r>
            <a:endParaRPr lang="en-US" sz="2400" dirty="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3"/>
          <p:cNvSpPr>
            <a:spLocks noGrp="1" noChangeArrowheads="1"/>
          </p:cNvSpPr>
          <p:nvPr>
            <p:ph idx="1"/>
          </p:nvPr>
        </p:nvSpPr>
        <p:spPr/>
        <p:txBody>
          <a:bodyPr/>
          <a:lstStyle/>
          <a:p>
            <a:pPr algn="r" rtl="1" eaLnBrk="1" hangingPunct="1"/>
            <a:r>
              <a:rPr lang="fa-IR" b="1" smtClean="0"/>
              <a:t>پایین بودن هزینه </a:t>
            </a:r>
            <a:endParaRPr lang="en-US" smtClean="0"/>
          </a:p>
          <a:p>
            <a:pPr algn="r" rtl="1" eaLnBrk="1" hangingPunct="1"/>
            <a:r>
              <a:rPr lang="fa-IR" b="1" smtClean="0"/>
              <a:t>بالا بودن قابلیت اطمینان </a:t>
            </a:r>
            <a:endParaRPr lang="en-US" smtClean="0"/>
          </a:p>
          <a:p>
            <a:pPr algn="r" rtl="1" eaLnBrk="1" hangingPunct="1"/>
            <a:r>
              <a:rPr lang="fa-IR" b="1" smtClean="0"/>
              <a:t>بالا بودن سرعت عملیاتی </a:t>
            </a:r>
            <a:endParaRPr lang="en-US" smtClean="0"/>
          </a:p>
          <a:p>
            <a:pPr algn="r" rtl="1" eaLnBrk="1" hangingPunct="1"/>
            <a:r>
              <a:rPr lang="fa-IR" b="1" smtClean="0"/>
              <a:t>کوتاه بودن مدت اجرای پروژه </a:t>
            </a:r>
            <a:endParaRPr lang="en-US" smtClean="0"/>
          </a:p>
          <a:p>
            <a:pPr algn="r" rtl="1" eaLnBrk="1" hangingPunct="1"/>
            <a:r>
              <a:rPr lang="fa-IR" b="1" smtClean="0"/>
              <a:t>ساده بودن طرح و غیره</a:t>
            </a:r>
            <a:r>
              <a:rPr lang="fa-IR" smtClean="0"/>
              <a:t> </a:t>
            </a:r>
            <a:endParaRPr lang="en-US" smtClean="0"/>
          </a:p>
        </p:txBody>
      </p:sp>
      <p:sp>
        <p:nvSpPr>
          <p:cNvPr id="277506" name="Rectangle 2"/>
          <p:cNvSpPr>
            <a:spLocks noGrp="1" noChangeArrowheads="1"/>
          </p:cNvSpPr>
          <p:nvPr>
            <p:ph type="title"/>
          </p:nvPr>
        </p:nvSpPr>
        <p:spPr>
          <a:xfrm>
            <a:off x="663575" y="277813"/>
            <a:ext cx="8229600" cy="774700"/>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برخی از نکات اساسی منظور نظر سازمان متقاضی: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3"/>
          <p:cNvSpPr>
            <a:spLocks noGrp="1" noChangeArrowheads="1"/>
          </p:cNvSpPr>
          <p:nvPr>
            <p:ph idx="1"/>
          </p:nvPr>
        </p:nvSpPr>
        <p:spPr/>
        <p:txBody>
          <a:bodyPr/>
          <a:lstStyle/>
          <a:p>
            <a:pPr marL="609600" indent="-609600" algn="justLow" rtl="1" eaLnBrk="1" hangingPunct="1">
              <a:lnSpc>
                <a:spcPct val="80000"/>
              </a:lnSpc>
              <a:buFont typeface="Wingdings" pitchFamily="2" charset="2"/>
              <a:buAutoNum type="arabicPeriod"/>
            </a:pPr>
            <a:r>
              <a:rPr lang="fa-IR" sz="2800" b="1" smtClean="0"/>
              <a:t>مقدمه : حاوی مطالبی موجز و روان در معرفی شرکت یا سازمان پیشنهاد دهنده از نظر تواناییها و تخصص ها و سوابق کاری انجام شده و ...</a:t>
            </a:r>
          </a:p>
          <a:p>
            <a:pPr marL="609600" indent="-609600" algn="justLow" rtl="1" eaLnBrk="1" hangingPunct="1">
              <a:lnSpc>
                <a:spcPct val="80000"/>
              </a:lnSpc>
              <a:buFont typeface="Wingdings" pitchFamily="2" charset="2"/>
              <a:buAutoNum type="arabicPeriod"/>
            </a:pPr>
            <a:r>
              <a:rPr lang="fa-IR" sz="2800" b="1" smtClean="0"/>
              <a:t>شرح خواسته و منظور سازمان متقاضی و بیان روشن اهدافش </a:t>
            </a:r>
          </a:p>
          <a:p>
            <a:pPr marL="609600" indent="-609600" algn="justLow" rtl="1" eaLnBrk="1" hangingPunct="1">
              <a:lnSpc>
                <a:spcPct val="80000"/>
              </a:lnSpc>
              <a:buFont typeface="Wingdings" pitchFamily="2" charset="2"/>
              <a:buAutoNum type="arabicPeriod"/>
            </a:pPr>
            <a:r>
              <a:rPr lang="fa-IR" sz="2800" b="1" smtClean="0"/>
              <a:t>شرح طرح  پیشنهادی </a:t>
            </a:r>
          </a:p>
          <a:p>
            <a:pPr marL="609600" indent="-609600" algn="justLow" rtl="1" eaLnBrk="1" hangingPunct="1">
              <a:lnSpc>
                <a:spcPct val="80000"/>
              </a:lnSpc>
              <a:buFont typeface="Wingdings" pitchFamily="2" charset="2"/>
              <a:buAutoNum type="arabicPeriod"/>
            </a:pPr>
            <a:r>
              <a:rPr lang="fa-IR" sz="2800" b="1" smtClean="0"/>
              <a:t>امکانات لازم برای اجرای پروژه  (نیروی انسانی – تجهیزات و وسایل ) </a:t>
            </a:r>
          </a:p>
          <a:p>
            <a:pPr marL="609600" indent="-609600" algn="justLow" rtl="1" eaLnBrk="1" hangingPunct="1">
              <a:lnSpc>
                <a:spcPct val="80000"/>
              </a:lnSpc>
              <a:buFont typeface="Wingdings" pitchFamily="2" charset="2"/>
              <a:buAutoNum type="arabicPeriod"/>
            </a:pPr>
            <a:r>
              <a:rPr lang="fa-IR" sz="2800" b="1" smtClean="0"/>
              <a:t>شرح هزینه ها ( اقلام اساسی و بطور کلی هزینه برآورد شده ) </a:t>
            </a:r>
          </a:p>
          <a:p>
            <a:pPr marL="609600" indent="-609600" algn="justLow" rtl="1" eaLnBrk="1" hangingPunct="1">
              <a:lnSpc>
                <a:spcPct val="80000"/>
              </a:lnSpc>
              <a:buFont typeface="Wingdings" pitchFamily="2" charset="2"/>
              <a:buAutoNum type="arabicPeriod"/>
            </a:pPr>
            <a:r>
              <a:rPr lang="fa-IR" sz="2800" b="1" smtClean="0"/>
              <a:t>نحوه اجرای پروژه : مدت- زمانبندی و ...</a:t>
            </a:r>
          </a:p>
          <a:p>
            <a:pPr marL="609600" indent="-609600" algn="justLow" rtl="1" eaLnBrk="1" hangingPunct="1">
              <a:lnSpc>
                <a:spcPct val="80000"/>
              </a:lnSpc>
              <a:buFont typeface="Wingdings" pitchFamily="2" charset="2"/>
              <a:buAutoNum type="arabicPeriod"/>
            </a:pPr>
            <a:r>
              <a:rPr lang="fa-IR" sz="2800" b="1" smtClean="0"/>
              <a:t>شرایط  اجرای پروژه  : شروع ، ادامه ، پایان و تحویل و ...</a:t>
            </a:r>
          </a:p>
          <a:p>
            <a:pPr marL="609600" indent="-609600" algn="justLow" rtl="1" eaLnBrk="1" hangingPunct="1">
              <a:lnSpc>
                <a:spcPct val="80000"/>
              </a:lnSpc>
              <a:buFont typeface="Wingdings" pitchFamily="2" charset="2"/>
              <a:buAutoNum type="arabicPeriod"/>
            </a:pPr>
            <a:r>
              <a:rPr lang="fa-IR" sz="2800" b="1" smtClean="0"/>
              <a:t>جمع بندی</a:t>
            </a:r>
            <a:endParaRPr lang="en-US" sz="2800" b="1" smtClean="0"/>
          </a:p>
        </p:txBody>
      </p:sp>
      <p:sp>
        <p:nvSpPr>
          <p:cNvPr id="278530" name="Rectangle 2"/>
          <p:cNvSpPr>
            <a:spLocks noGrp="1" noChangeArrowheads="1"/>
          </p:cNvSpPr>
          <p:nvPr>
            <p:ph type="title"/>
          </p:nvPr>
        </p:nvSpPr>
        <p:spPr>
          <a:xfrm>
            <a:off x="1403350" y="277813"/>
            <a:ext cx="706755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مطالبی که در متن پیشنهاد باید به طرز گویا و روشن نوشته شوند :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3"/>
          <p:cNvSpPr>
            <a:spLocks noGrp="1" noChangeArrowheads="1"/>
          </p:cNvSpPr>
          <p:nvPr>
            <p:ph idx="1"/>
          </p:nvPr>
        </p:nvSpPr>
        <p:spPr/>
        <p:txBody>
          <a:bodyPr/>
          <a:lstStyle/>
          <a:p>
            <a:pPr algn="r" rtl="1" eaLnBrk="1" hangingPunct="1"/>
            <a:r>
              <a:rPr lang="fa-IR" b="1" smtClean="0"/>
              <a:t>طرحهای ممکن </a:t>
            </a:r>
            <a:endParaRPr lang="en-US" smtClean="0"/>
          </a:p>
          <a:p>
            <a:pPr algn="r" rtl="1" eaLnBrk="1" hangingPunct="1"/>
            <a:r>
              <a:rPr lang="fa-IR" b="1" smtClean="0"/>
              <a:t>طرح پیشنهادی ( طرح بهتر )</a:t>
            </a:r>
            <a:endParaRPr lang="en-US" smtClean="0"/>
          </a:p>
          <a:p>
            <a:pPr algn="r" rtl="1" eaLnBrk="1" hangingPunct="1"/>
            <a:r>
              <a:rPr lang="fa-IR" b="1" smtClean="0"/>
              <a:t>ویژگیهای طرح </a:t>
            </a:r>
            <a:endParaRPr lang="en-US" smtClean="0"/>
          </a:p>
          <a:p>
            <a:pPr algn="r" rtl="1" eaLnBrk="1" hangingPunct="1"/>
            <a:r>
              <a:rPr lang="fa-IR" b="1" smtClean="0"/>
              <a:t>مزایای طرح </a:t>
            </a:r>
            <a:endParaRPr lang="en-US" smtClean="0"/>
          </a:p>
          <a:p>
            <a:pPr algn="r" rtl="1" eaLnBrk="1" hangingPunct="1"/>
            <a:r>
              <a:rPr lang="fa-IR" b="1" smtClean="0"/>
              <a:t>میزان انعطاف پذیر بودن راه حل </a:t>
            </a:r>
            <a:endParaRPr lang="en-US" smtClean="0"/>
          </a:p>
          <a:p>
            <a:pPr algn="r" rtl="1" eaLnBrk="1" hangingPunct="1"/>
            <a:r>
              <a:rPr lang="fa-IR" b="1" smtClean="0"/>
              <a:t>هدفهایی که تامین می شوند  </a:t>
            </a:r>
            <a:endParaRPr lang="en-US" smtClean="0"/>
          </a:p>
          <a:p>
            <a:pPr algn="r" rtl="1" eaLnBrk="1" hangingPunct="1"/>
            <a:r>
              <a:rPr lang="fa-IR" smtClean="0"/>
              <a:t> </a:t>
            </a:r>
            <a:endParaRPr lang="en-US" smtClean="0"/>
          </a:p>
        </p:txBody>
      </p:sp>
      <p:sp>
        <p:nvSpPr>
          <p:cNvPr id="279554" name="Rectangle 2"/>
          <p:cNvSpPr>
            <a:spLocks noGrp="1" noChangeArrowheads="1"/>
          </p:cNvSpPr>
          <p:nvPr>
            <p:ph type="title"/>
          </p:nvPr>
        </p:nvSpPr>
        <p:spPr>
          <a:xfrm>
            <a:off x="1763713" y="488950"/>
            <a:ext cx="6213475"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شرح طرح پیشنهادی می تواند شامل موارد زیر باشد: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3"/>
          <p:cNvSpPr>
            <a:spLocks noGrp="1" noChangeArrowheads="1"/>
          </p:cNvSpPr>
          <p:nvPr>
            <p:ph idx="1"/>
          </p:nvPr>
        </p:nvSpPr>
        <p:spPr/>
        <p:txBody>
          <a:bodyPr/>
          <a:lstStyle/>
          <a:p>
            <a:pPr algn="r" rtl="1" eaLnBrk="1" hangingPunct="1">
              <a:lnSpc>
                <a:spcPct val="90000"/>
              </a:lnSpc>
            </a:pPr>
            <a:r>
              <a:rPr lang="fa-IR" sz="2800" b="1" smtClean="0"/>
              <a:t>جلد </a:t>
            </a:r>
            <a:endParaRPr lang="en-US" sz="2800" smtClean="0"/>
          </a:p>
          <a:p>
            <a:pPr algn="r" rtl="1" eaLnBrk="1" hangingPunct="1">
              <a:lnSpc>
                <a:spcPct val="90000"/>
              </a:lnSpc>
            </a:pPr>
            <a:r>
              <a:rPr lang="fa-IR" sz="2800" b="1" smtClean="0"/>
              <a:t>صفحه سفید    </a:t>
            </a:r>
            <a:endParaRPr lang="en-US" sz="2800" smtClean="0"/>
          </a:p>
          <a:p>
            <a:pPr algn="r" rtl="1" eaLnBrk="1" hangingPunct="1">
              <a:lnSpc>
                <a:spcPct val="90000"/>
              </a:lnSpc>
            </a:pPr>
            <a:r>
              <a:rPr lang="fa-IR" sz="2800" b="1" smtClean="0"/>
              <a:t>صفحه عنوان </a:t>
            </a:r>
            <a:endParaRPr lang="en-US" sz="2800" smtClean="0"/>
          </a:p>
          <a:p>
            <a:pPr algn="r" rtl="1" eaLnBrk="1" hangingPunct="1">
              <a:lnSpc>
                <a:spcPct val="90000"/>
              </a:lnSpc>
            </a:pPr>
            <a:r>
              <a:rPr lang="fa-IR" sz="2800" b="1" smtClean="0"/>
              <a:t>پیشگفتار </a:t>
            </a:r>
            <a:endParaRPr lang="en-US" sz="2800" smtClean="0"/>
          </a:p>
          <a:p>
            <a:pPr algn="r" rtl="1" eaLnBrk="1" hangingPunct="1">
              <a:lnSpc>
                <a:spcPct val="90000"/>
              </a:lnSpc>
            </a:pPr>
            <a:r>
              <a:rPr lang="fa-IR" sz="2800" b="1" smtClean="0"/>
              <a:t>فهرست مطالب </a:t>
            </a:r>
            <a:endParaRPr lang="en-US" sz="2800" smtClean="0"/>
          </a:p>
          <a:p>
            <a:pPr algn="r" rtl="1" eaLnBrk="1" hangingPunct="1">
              <a:lnSpc>
                <a:spcPct val="90000"/>
              </a:lnSpc>
            </a:pPr>
            <a:r>
              <a:rPr lang="fa-IR" sz="2800" b="1" smtClean="0"/>
              <a:t>فهرست شکلها و جدولها </a:t>
            </a:r>
            <a:endParaRPr lang="en-US" sz="2800" smtClean="0"/>
          </a:p>
          <a:p>
            <a:pPr algn="r" rtl="1" eaLnBrk="1" hangingPunct="1">
              <a:lnSpc>
                <a:spcPct val="90000"/>
              </a:lnSpc>
            </a:pPr>
            <a:r>
              <a:rPr lang="fa-IR" sz="2800" b="1" smtClean="0"/>
              <a:t>متن اصلی </a:t>
            </a:r>
            <a:endParaRPr lang="en-US" sz="2800" smtClean="0"/>
          </a:p>
          <a:p>
            <a:pPr algn="r" rtl="1" eaLnBrk="1" hangingPunct="1">
              <a:lnSpc>
                <a:spcPct val="90000"/>
              </a:lnSpc>
            </a:pPr>
            <a:r>
              <a:rPr lang="fa-IR" sz="2800" b="1" smtClean="0"/>
              <a:t>پیوستها </a:t>
            </a:r>
            <a:endParaRPr lang="en-US" sz="2800" smtClean="0"/>
          </a:p>
          <a:p>
            <a:pPr algn="r" rtl="1" eaLnBrk="1" hangingPunct="1">
              <a:lnSpc>
                <a:spcPct val="90000"/>
              </a:lnSpc>
            </a:pPr>
            <a:r>
              <a:rPr lang="fa-IR" sz="2800" b="1" smtClean="0"/>
              <a:t>صفحه سفید</a:t>
            </a:r>
            <a:r>
              <a:rPr lang="fa-IR" sz="2800" smtClean="0"/>
              <a:t> </a:t>
            </a:r>
            <a:endParaRPr lang="en-US" sz="2800" smtClean="0"/>
          </a:p>
        </p:txBody>
      </p:sp>
      <p:sp>
        <p:nvSpPr>
          <p:cNvPr id="280578" name="Rectangle 2"/>
          <p:cNvSpPr>
            <a:spLocks noGrp="1" noChangeArrowheads="1"/>
          </p:cNvSpPr>
          <p:nvPr>
            <p:ph type="title"/>
          </p:nvPr>
        </p:nvSpPr>
        <p:spPr>
          <a:xfrm>
            <a:off x="1403350" y="277813"/>
            <a:ext cx="7067550" cy="1139825"/>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2400" dirty="0" smtClean="0">
                <a:solidFill>
                  <a:srgbClr val="FF0000"/>
                </a:solidFill>
                <a:effectLst/>
                <a:cs typeface="B Titr" pitchFamily="2" charset="-78"/>
              </a:rPr>
              <a:t>اجزاء متن پیشنهاد : </a:t>
            </a:r>
            <a:br>
              <a:rPr lang="fa-IR" sz="2400" dirty="0" smtClean="0">
                <a:solidFill>
                  <a:srgbClr val="FF0000"/>
                </a:solidFill>
                <a:effectLst/>
                <a:cs typeface="B Titr" pitchFamily="2" charset="-78"/>
              </a:rPr>
            </a:br>
            <a:r>
              <a:rPr lang="fa-IR" sz="2400" dirty="0" smtClean="0">
                <a:solidFill>
                  <a:srgbClr val="FF0000"/>
                </a:solidFill>
                <a:effectLst/>
                <a:cs typeface="B Titr" pitchFamily="2" charset="-78"/>
              </a:rPr>
              <a:t>اجزاء این نوع متن بستگی به عواملی دارد از جمله حجم متن اصلی و </a:t>
            </a:r>
            <a:r>
              <a:rPr lang="fa-IR" sz="2400" dirty="0" err="1" smtClean="0">
                <a:solidFill>
                  <a:srgbClr val="FF0000"/>
                </a:solidFill>
                <a:effectLst/>
                <a:cs typeface="B Titr" pitchFamily="2" charset="-78"/>
              </a:rPr>
              <a:t>پیوستها</a:t>
            </a:r>
            <a:r>
              <a:rPr lang="fa-IR" sz="2400" dirty="0" smtClean="0">
                <a:solidFill>
                  <a:srgbClr val="FF0000"/>
                </a:solidFill>
                <a:effectLst/>
                <a:cs typeface="B Titr" pitchFamily="2" charset="-78"/>
              </a:rPr>
              <a:t> اما بهتر است اجزاء زیر را داشته باشد : </a:t>
            </a:r>
            <a:endParaRPr lang="en-US" sz="2400" dirty="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3"/>
          <p:cNvSpPr>
            <a:spLocks noGrp="1" noChangeArrowheads="1"/>
          </p:cNvSpPr>
          <p:nvPr>
            <p:ph idx="1"/>
          </p:nvPr>
        </p:nvSpPr>
        <p:spPr>
          <a:xfrm>
            <a:off x="468313" y="1989138"/>
            <a:ext cx="8229600" cy="4530725"/>
          </a:xfrm>
        </p:spPr>
        <p:txBody>
          <a:bodyPr/>
          <a:lstStyle/>
          <a:p>
            <a:pPr algn="r" rtl="1" eaLnBrk="1" hangingPunct="1"/>
            <a:r>
              <a:rPr lang="fa-IR" b="1" smtClean="0"/>
              <a:t>طرح یک پرسش یا مشکل فنی و درخواست پاسخ یا راه حل </a:t>
            </a:r>
            <a:endParaRPr lang="en-US" smtClean="0"/>
          </a:p>
          <a:p>
            <a:pPr algn="r" rtl="1" eaLnBrk="1" hangingPunct="1"/>
            <a:r>
              <a:rPr lang="fa-IR" b="1" smtClean="0"/>
              <a:t>پاسخ به نامهای که پرسش یا مشکل فنی را مطرح کرده است </a:t>
            </a:r>
            <a:endParaRPr lang="en-US" smtClean="0"/>
          </a:p>
          <a:p>
            <a:pPr algn="r" rtl="1" eaLnBrk="1" hangingPunct="1"/>
            <a:r>
              <a:rPr lang="fa-IR" b="1" smtClean="0"/>
              <a:t>معرفی یک تولید / یک سیستم / یک خدمت و ...</a:t>
            </a:r>
            <a:endParaRPr lang="en-US" smtClean="0"/>
          </a:p>
          <a:p>
            <a:pPr algn="r" rtl="1" eaLnBrk="1" hangingPunct="1"/>
            <a:r>
              <a:rPr lang="fa-IR" b="1" smtClean="0"/>
              <a:t>درخواست یک سیستم / یک تولید / یک خدمت و ...</a:t>
            </a:r>
            <a:endParaRPr lang="en-US" b="1" smtClean="0"/>
          </a:p>
        </p:txBody>
      </p:sp>
      <p:sp>
        <p:nvSpPr>
          <p:cNvPr id="281602" name="Rectangle 2"/>
          <p:cNvSpPr>
            <a:spLocks noGrp="1" noChangeArrowheads="1"/>
          </p:cNvSpPr>
          <p:nvPr>
            <p:ph type="title"/>
          </p:nvPr>
        </p:nvSpPr>
        <p:spPr>
          <a:xfrm>
            <a:off x="457200" y="277813"/>
            <a:ext cx="8229600" cy="1782762"/>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2800" dirty="0" smtClean="0">
                <a:solidFill>
                  <a:srgbClr val="FF0000"/>
                </a:solidFill>
                <a:effectLst/>
                <a:cs typeface="B Titr" pitchFamily="2" charset="-78"/>
              </a:rPr>
              <a:t>مکاتبه فنی- تجاری مکاتبه فنی- تجاری : </a:t>
            </a:r>
            <a:br>
              <a:rPr lang="fa-IR" sz="2800" dirty="0" smtClean="0">
                <a:solidFill>
                  <a:srgbClr val="FF0000"/>
                </a:solidFill>
                <a:effectLst/>
                <a:cs typeface="B Titr" pitchFamily="2" charset="-78"/>
              </a:rPr>
            </a:br>
            <a:r>
              <a:rPr lang="fa-IR" sz="2800" dirty="0" smtClean="0">
                <a:solidFill>
                  <a:srgbClr val="FF0000"/>
                </a:solidFill>
                <a:effectLst/>
                <a:cs typeface="B Titr" pitchFamily="2" charset="-78"/>
              </a:rPr>
              <a:t>مکاتبه فنی یا فنی – تجاری در محیطهای کاری امر رایجی است</a:t>
            </a:r>
            <a:br>
              <a:rPr lang="fa-IR" sz="2800" dirty="0" smtClean="0">
                <a:solidFill>
                  <a:srgbClr val="FF0000"/>
                </a:solidFill>
                <a:effectLst/>
                <a:cs typeface="B Titr" pitchFamily="2" charset="-78"/>
              </a:rPr>
            </a:br>
            <a:r>
              <a:rPr lang="fa-IR" sz="2800" dirty="0" smtClean="0">
                <a:solidFill>
                  <a:srgbClr val="FF0000"/>
                </a:solidFill>
                <a:effectLst/>
                <a:cs typeface="B Titr" pitchFamily="2" charset="-78"/>
              </a:rPr>
              <a:t>  که به </a:t>
            </a:r>
            <a:r>
              <a:rPr lang="fa-IR" sz="2800" dirty="0" err="1" smtClean="0">
                <a:solidFill>
                  <a:srgbClr val="FF0000"/>
                </a:solidFill>
                <a:effectLst/>
                <a:cs typeface="B Titr" pitchFamily="2" charset="-78"/>
              </a:rPr>
              <a:t>منظورهای</a:t>
            </a:r>
            <a:r>
              <a:rPr lang="fa-IR" sz="2800" dirty="0" smtClean="0">
                <a:solidFill>
                  <a:srgbClr val="FF0000"/>
                </a:solidFill>
                <a:effectLst/>
                <a:cs typeface="B Titr" pitchFamily="2" charset="-78"/>
              </a:rPr>
              <a:t> زیر  نوشته می شود :</a:t>
            </a:r>
            <a:endParaRPr lang="en-US" sz="2800" dirty="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3"/>
          <p:cNvSpPr>
            <a:spLocks noGrp="1" noChangeArrowheads="1"/>
          </p:cNvSpPr>
          <p:nvPr>
            <p:ph idx="1"/>
          </p:nvPr>
        </p:nvSpPr>
        <p:spPr/>
        <p:txBody>
          <a:bodyPr/>
          <a:lstStyle/>
          <a:p>
            <a:pPr algn="r" rtl="1" eaLnBrk="1" hangingPunct="1"/>
            <a:r>
              <a:rPr lang="fa-IR" sz="2800" b="1" smtClean="0"/>
              <a:t>آیا درخواست به گونه ای مطرح شده است که بدون اقدامات توجیهی دیگر بتوان با مکاتبه به آن پاسخ داد ؟</a:t>
            </a:r>
            <a:endParaRPr lang="en-US" sz="2800" smtClean="0"/>
          </a:p>
          <a:p>
            <a:pPr algn="r" rtl="1" eaLnBrk="1" hangingPunct="1"/>
            <a:r>
              <a:rPr lang="fa-IR" sz="2800" b="1" smtClean="0"/>
              <a:t>آیا قبل از مکاتبه اقدامات توجیهی خاصی لازم است ؟ ای بسا با یک تماس تلفنی توجیه به عمل آید و احیانا پاسخ هم داده شود .</a:t>
            </a:r>
            <a:endParaRPr lang="en-US" sz="2800" smtClean="0"/>
          </a:p>
          <a:p>
            <a:pPr algn="r" rtl="1" eaLnBrk="1" hangingPunct="1"/>
            <a:r>
              <a:rPr lang="fa-IR" sz="2800" b="1" smtClean="0"/>
              <a:t> آیا موضوع درخواست نیازی به پیگیری فوری دارد ؟ در این صورت طبعا از روشهای سریعتر باید استفاده شود .</a:t>
            </a:r>
            <a:endParaRPr lang="en-US" sz="2800" smtClean="0"/>
          </a:p>
          <a:p>
            <a:pPr algn="r" rtl="1" eaLnBrk="1" hangingPunct="1"/>
            <a:r>
              <a:rPr lang="fa-IR" sz="2800" b="1" smtClean="0"/>
              <a:t>آیا مذاکرات بیشتری لازم است ؟ بررسیهایی باید انجام شود ؟ بازدیدی باید به عمل آید ؟ اگر – بله – ملاقات حضوری راه بهتر است .</a:t>
            </a:r>
            <a:endParaRPr lang="en-US" sz="2800" smtClean="0"/>
          </a:p>
          <a:p>
            <a:pPr algn="r" rtl="1" eaLnBrk="1" hangingPunct="1"/>
            <a:endParaRPr lang="en-US" sz="2800" smtClean="0"/>
          </a:p>
        </p:txBody>
      </p:sp>
      <p:sp>
        <p:nvSpPr>
          <p:cNvPr id="282626" name="Rectangle 2"/>
          <p:cNvSpPr>
            <a:spLocks noGrp="1" noChangeArrowheads="1"/>
          </p:cNvSpPr>
          <p:nvPr>
            <p:ph type="title"/>
          </p:nvPr>
        </p:nvSpPr>
        <p:spPr>
          <a:xfrm>
            <a:off x="1331913" y="260350"/>
            <a:ext cx="728345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پاسخ  پرسشهایی که قبل از اقدام به مکاتبه در یک محیط فنی-  تجاری باید روشن شود: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3"/>
          <p:cNvSpPr>
            <a:spLocks noGrp="1" noChangeArrowheads="1"/>
          </p:cNvSpPr>
          <p:nvPr>
            <p:ph idx="1"/>
          </p:nvPr>
        </p:nvSpPr>
        <p:spPr/>
        <p:txBody>
          <a:bodyPr/>
          <a:lstStyle/>
          <a:p>
            <a:pPr algn="r" rtl="1" eaLnBrk="1" hangingPunct="1">
              <a:lnSpc>
                <a:spcPct val="80000"/>
              </a:lnSpc>
            </a:pPr>
            <a:r>
              <a:rPr lang="fa-IR" sz="2000" b="1" smtClean="0"/>
              <a:t>از همان اولین نوشتپار به طور صریح وارد اصل مطلب شوید . البته گاه لازم است اولین نوشتپار حالت مقدمه داشته باشد که در این صورت باید با جملات موثر و جاذب نوشته شود .</a:t>
            </a:r>
            <a:endParaRPr lang="en-US" sz="2000" smtClean="0"/>
          </a:p>
          <a:p>
            <a:pPr algn="r" rtl="1" eaLnBrk="1" hangingPunct="1">
              <a:lnSpc>
                <a:spcPct val="80000"/>
              </a:lnSpc>
            </a:pPr>
            <a:r>
              <a:rPr lang="fa-IR" sz="2000" b="1" smtClean="0"/>
              <a:t>از نوشتن جملات نالازم در شرح و بسط موضوع نامه دریافتی اجتناب کنید </a:t>
            </a:r>
            <a:endParaRPr lang="en-US" sz="2000" smtClean="0"/>
          </a:p>
          <a:p>
            <a:pPr algn="r" rtl="1" eaLnBrk="1" hangingPunct="1">
              <a:lnSpc>
                <a:spcPct val="80000"/>
              </a:lnSpc>
            </a:pPr>
            <a:r>
              <a:rPr lang="fa-IR" sz="2000" b="1" smtClean="0"/>
              <a:t>از درج عبارات یا جملات تعارف آمیز، مبالغه آمیز و ... خودداری کنید .</a:t>
            </a:r>
            <a:endParaRPr lang="en-US" sz="2000" smtClean="0"/>
          </a:p>
          <a:p>
            <a:pPr algn="r" rtl="1" eaLnBrk="1" hangingPunct="1">
              <a:lnSpc>
                <a:spcPct val="80000"/>
              </a:lnSpc>
            </a:pPr>
            <a:r>
              <a:rPr lang="fa-IR" sz="2000" b="1" smtClean="0"/>
              <a:t>خلاصه و ناظر به موضوع اصلی و موثر بنویسید </a:t>
            </a:r>
            <a:endParaRPr lang="en-US" sz="2000" smtClean="0"/>
          </a:p>
          <a:p>
            <a:pPr algn="r" rtl="1" eaLnBrk="1" hangingPunct="1">
              <a:lnSpc>
                <a:spcPct val="80000"/>
              </a:lnSpc>
            </a:pPr>
            <a:r>
              <a:rPr lang="fa-IR" sz="2000" b="1" smtClean="0"/>
              <a:t>در آغاز مشخصات  نامه ای  که پاسخ آن را می نویسید قید کنید </a:t>
            </a:r>
            <a:endParaRPr lang="en-US" sz="2000" smtClean="0"/>
          </a:p>
          <a:p>
            <a:pPr algn="r" rtl="1" eaLnBrk="1" hangingPunct="1">
              <a:lnSpc>
                <a:spcPct val="80000"/>
              </a:lnSpc>
            </a:pPr>
            <a:r>
              <a:rPr lang="fa-IR" sz="2000" b="1" smtClean="0"/>
              <a:t>به پرسشها به ترتیب مطرح شدن پاسخ دهید </a:t>
            </a:r>
            <a:endParaRPr lang="en-US" sz="2000" smtClean="0"/>
          </a:p>
          <a:p>
            <a:pPr algn="r" rtl="1" eaLnBrk="1" hangingPunct="1">
              <a:lnSpc>
                <a:spcPct val="80000"/>
              </a:lnSpc>
            </a:pPr>
            <a:r>
              <a:rPr lang="fa-IR" sz="2000" b="1" smtClean="0"/>
              <a:t>به زبانی بنویسید که خواننده بفهمد </a:t>
            </a:r>
            <a:endParaRPr lang="en-US" sz="2000" smtClean="0"/>
          </a:p>
          <a:p>
            <a:pPr algn="r" rtl="1" eaLnBrk="1" hangingPunct="1">
              <a:lnSpc>
                <a:spcPct val="80000"/>
              </a:lnSpc>
            </a:pPr>
            <a:r>
              <a:rPr lang="fa-IR" sz="2000" b="1" smtClean="0"/>
              <a:t>حتی الامکان نامه را با احساس بنویسید </a:t>
            </a:r>
            <a:endParaRPr lang="en-US" sz="2000" smtClean="0"/>
          </a:p>
          <a:p>
            <a:pPr algn="r" rtl="1" eaLnBrk="1" hangingPunct="1">
              <a:lnSpc>
                <a:spcPct val="80000"/>
              </a:lnSpc>
            </a:pPr>
            <a:r>
              <a:rPr lang="fa-IR" sz="2000" b="1" smtClean="0"/>
              <a:t>از اصطلاحات و عبارات قدیمی و معمولا نالازم که در بعضی نامه های اداری دیده می شود اجتناب کنید .</a:t>
            </a:r>
            <a:endParaRPr lang="en-US" sz="2000" smtClean="0"/>
          </a:p>
          <a:p>
            <a:pPr algn="r" rtl="1" eaLnBrk="1" hangingPunct="1">
              <a:lnSpc>
                <a:spcPct val="80000"/>
              </a:lnSpc>
            </a:pPr>
            <a:r>
              <a:rPr lang="fa-IR" sz="2000" b="1" smtClean="0"/>
              <a:t>پیوستهای فنی یا تجاری را در همان پاکتی بگذارید که نامه را می گذارید </a:t>
            </a:r>
            <a:endParaRPr lang="en-US" sz="2000" smtClean="0"/>
          </a:p>
          <a:p>
            <a:pPr algn="r" rtl="1" eaLnBrk="1" hangingPunct="1">
              <a:lnSpc>
                <a:spcPct val="80000"/>
              </a:lnSpc>
            </a:pPr>
            <a:r>
              <a:rPr lang="fa-IR" sz="2000" b="1" smtClean="0"/>
              <a:t>نامه را با جمله یا عباراتی بیانگر اقدامی که می توانید انجام دهید پایان ببرید </a:t>
            </a:r>
            <a:endParaRPr lang="en-US" sz="2000" smtClean="0"/>
          </a:p>
          <a:p>
            <a:pPr algn="r" rtl="1" eaLnBrk="1" hangingPunct="1">
              <a:lnSpc>
                <a:spcPct val="80000"/>
              </a:lnSpc>
            </a:pPr>
            <a:endParaRPr lang="en-US" sz="2000" smtClean="0"/>
          </a:p>
        </p:txBody>
      </p:sp>
      <p:sp>
        <p:nvSpPr>
          <p:cNvPr id="283650" name="Rectangle 2"/>
          <p:cNvSpPr>
            <a:spLocks noGrp="1" noChangeArrowheads="1"/>
          </p:cNvSpPr>
          <p:nvPr>
            <p:ph type="title"/>
          </p:nvPr>
        </p:nvSpPr>
        <p:spPr>
          <a:xfrm>
            <a:off x="1393825" y="277813"/>
            <a:ext cx="7138988"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مواردی که باید در پاسخ به یک نامه در محیط فنی – تجاری رعایت گردد: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3"/>
          <p:cNvSpPr>
            <a:spLocks noGrp="1" noChangeArrowheads="1"/>
          </p:cNvSpPr>
          <p:nvPr>
            <p:ph idx="1"/>
          </p:nvPr>
        </p:nvSpPr>
        <p:spPr/>
        <p:txBody>
          <a:bodyPr/>
          <a:lstStyle/>
          <a:p>
            <a:pPr algn="justLow" rtl="1" eaLnBrk="1" hangingPunct="1">
              <a:buFont typeface="Wingdings" pitchFamily="2" charset="2"/>
              <a:buNone/>
            </a:pPr>
            <a:r>
              <a:rPr lang="fa-IR" b="1" smtClean="0"/>
              <a:t>گونه ای از گزارش است که نوشتن آن در محیطهای فنی بسیار رایج است . اجزاء و ساختار این گزارش همان است که قبلا در بخش گزارشات دیدیم .</a:t>
            </a:r>
          </a:p>
          <a:p>
            <a:pPr algn="justLow" rtl="1" eaLnBrk="1" hangingPunct="1">
              <a:buFont typeface="Wingdings" pitchFamily="2" charset="2"/>
              <a:buNone/>
            </a:pPr>
            <a:r>
              <a:rPr lang="fa-IR" smtClean="0"/>
              <a:t> </a:t>
            </a:r>
            <a:endParaRPr lang="en-US" smtClean="0"/>
          </a:p>
        </p:txBody>
      </p:sp>
      <p:sp>
        <p:nvSpPr>
          <p:cNvPr id="28467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گزارش امکان سنجی اجرای پروژه: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3"/>
          <p:cNvSpPr>
            <a:spLocks noGrp="1" noChangeArrowheads="1"/>
          </p:cNvSpPr>
          <p:nvPr>
            <p:ph idx="1"/>
          </p:nvPr>
        </p:nvSpPr>
        <p:spPr/>
        <p:txBody>
          <a:bodyPr/>
          <a:lstStyle/>
          <a:p>
            <a:pPr algn="r" rtl="1" eaLnBrk="1" hangingPunct="1">
              <a:lnSpc>
                <a:spcPct val="80000"/>
              </a:lnSpc>
            </a:pPr>
            <a:r>
              <a:rPr lang="fa-IR" sz="1800" b="1" smtClean="0"/>
              <a:t>امکانات  بالقوه سازمان </a:t>
            </a:r>
            <a:endParaRPr lang="en-US" sz="1800" smtClean="0"/>
          </a:p>
          <a:p>
            <a:pPr algn="r" rtl="1" eaLnBrk="1" hangingPunct="1">
              <a:lnSpc>
                <a:spcPct val="80000"/>
              </a:lnSpc>
            </a:pPr>
            <a:r>
              <a:rPr lang="fa-IR" sz="1800" b="1" smtClean="0"/>
              <a:t>ریسکها ، خطرات و احتمال آنها </a:t>
            </a:r>
            <a:endParaRPr lang="en-US" sz="1800" smtClean="0"/>
          </a:p>
          <a:p>
            <a:pPr algn="r" rtl="1" eaLnBrk="1" hangingPunct="1">
              <a:lnSpc>
                <a:spcPct val="80000"/>
              </a:lnSpc>
            </a:pPr>
            <a:r>
              <a:rPr lang="fa-IR" sz="1800" b="1" smtClean="0"/>
              <a:t>اولویتها در سازمان </a:t>
            </a:r>
            <a:endParaRPr lang="en-US" sz="1800" smtClean="0"/>
          </a:p>
          <a:p>
            <a:pPr algn="r" rtl="1" eaLnBrk="1" hangingPunct="1">
              <a:lnSpc>
                <a:spcPct val="80000"/>
              </a:lnSpc>
            </a:pPr>
            <a:r>
              <a:rPr lang="fa-IR" sz="1800" b="1" smtClean="0"/>
              <a:t>محدوده کاربرد </a:t>
            </a:r>
            <a:endParaRPr lang="en-US" sz="1800" smtClean="0"/>
          </a:p>
          <a:p>
            <a:pPr algn="r" rtl="1" eaLnBrk="1" hangingPunct="1">
              <a:lnSpc>
                <a:spcPct val="80000"/>
              </a:lnSpc>
            </a:pPr>
            <a:r>
              <a:rPr lang="fa-IR" sz="1800" b="1" smtClean="0"/>
              <a:t>جنبه های تجاری – اقتصادی </a:t>
            </a:r>
            <a:endParaRPr lang="en-US" sz="1800" smtClean="0"/>
          </a:p>
          <a:p>
            <a:pPr algn="r" rtl="1" eaLnBrk="1" hangingPunct="1">
              <a:lnSpc>
                <a:spcPct val="80000"/>
              </a:lnSpc>
            </a:pPr>
            <a:r>
              <a:rPr lang="fa-IR" sz="1800" b="1" smtClean="0"/>
              <a:t>زمینه های رقابت </a:t>
            </a:r>
            <a:endParaRPr lang="en-US" sz="1800" smtClean="0"/>
          </a:p>
          <a:p>
            <a:pPr algn="r" rtl="1" eaLnBrk="1" hangingPunct="1">
              <a:lnSpc>
                <a:spcPct val="80000"/>
              </a:lnSpc>
            </a:pPr>
            <a:r>
              <a:rPr lang="fa-IR" sz="1800" b="1" smtClean="0"/>
              <a:t>اهمیت پروژه یا تولید برای سازمان </a:t>
            </a:r>
            <a:endParaRPr lang="en-US" sz="1800" smtClean="0"/>
          </a:p>
          <a:p>
            <a:pPr algn="r" rtl="1" eaLnBrk="1" hangingPunct="1">
              <a:lnSpc>
                <a:spcPct val="80000"/>
              </a:lnSpc>
            </a:pPr>
            <a:r>
              <a:rPr lang="fa-IR" sz="1800" b="1" smtClean="0"/>
              <a:t>اقدامات اولیه لازم </a:t>
            </a:r>
            <a:endParaRPr lang="en-US" sz="1800" smtClean="0"/>
          </a:p>
          <a:p>
            <a:pPr algn="r" rtl="1" eaLnBrk="1" hangingPunct="1">
              <a:lnSpc>
                <a:spcPct val="80000"/>
              </a:lnSpc>
            </a:pPr>
            <a:r>
              <a:rPr lang="fa-IR" sz="1800" b="1" smtClean="0"/>
              <a:t>طرح پیشنهادی برای اجرا</a:t>
            </a:r>
            <a:endParaRPr lang="en-US" sz="1800" smtClean="0"/>
          </a:p>
          <a:p>
            <a:pPr algn="r" rtl="1" eaLnBrk="1" hangingPunct="1">
              <a:lnSpc>
                <a:spcPct val="80000"/>
              </a:lnSpc>
            </a:pPr>
            <a:r>
              <a:rPr lang="fa-IR" sz="1800" b="1" smtClean="0"/>
              <a:t>اقدامات لازم در طول مدت انجام کار </a:t>
            </a:r>
            <a:endParaRPr lang="en-US" sz="1800" smtClean="0"/>
          </a:p>
          <a:p>
            <a:pPr algn="r" rtl="1" eaLnBrk="1" hangingPunct="1">
              <a:lnSpc>
                <a:spcPct val="80000"/>
              </a:lnSpc>
            </a:pPr>
            <a:r>
              <a:rPr lang="fa-IR" sz="1800" b="1" smtClean="0"/>
              <a:t>نیروی انسانی لازم </a:t>
            </a:r>
            <a:endParaRPr lang="en-US" sz="1800" smtClean="0"/>
          </a:p>
          <a:p>
            <a:pPr algn="r" rtl="1" eaLnBrk="1" hangingPunct="1">
              <a:lnSpc>
                <a:spcPct val="80000"/>
              </a:lnSpc>
            </a:pPr>
            <a:r>
              <a:rPr lang="fa-IR" sz="1800" b="1" smtClean="0"/>
              <a:t>امکانات و تجهیزات لازم </a:t>
            </a:r>
            <a:endParaRPr lang="en-US" sz="1800" smtClean="0"/>
          </a:p>
          <a:p>
            <a:pPr algn="r" rtl="1" eaLnBrk="1" hangingPunct="1">
              <a:lnSpc>
                <a:spcPct val="80000"/>
              </a:lnSpc>
            </a:pPr>
            <a:r>
              <a:rPr lang="fa-IR" sz="1800" b="1" smtClean="0"/>
              <a:t>دوره حیات پروژه یا تولید </a:t>
            </a:r>
            <a:endParaRPr lang="en-US" sz="1800" smtClean="0"/>
          </a:p>
          <a:p>
            <a:pPr algn="r" rtl="1" eaLnBrk="1" hangingPunct="1">
              <a:lnSpc>
                <a:spcPct val="80000"/>
              </a:lnSpc>
            </a:pPr>
            <a:r>
              <a:rPr lang="fa-IR" sz="1800" b="1" smtClean="0"/>
              <a:t>طرح زمانبندی اجرا با توجه به اولویت ها </a:t>
            </a:r>
            <a:endParaRPr lang="en-US" sz="1800" smtClean="0"/>
          </a:p>
          <a:p>
            <a:pPr algn="r" rtl="1" eaLnBrk="1" hangingPunct="1">
              <a:lnSpc>
                <a:spcPct val="80000"/>
              </a:lnSpc>
            </a:pPr>
            <a:r>
              <a:rPr lang="fa-IR" sz="1800" b="1" smtClean="0"/>
              <a:t>هزینه اجرا </a:t>
            </a:r>
            <a:endParaRPr lang="en-US" sz="1800" smtClean="0"/>
          </a:p>
          <a:p>
            <a:pPr algn="r" rtl="1" eaLnBrk="1" hangingPunct="1">
              <a:lnSpc>
                <a:spcPct val="80000"/>
              </a:lnSpc>
            </a:pPr>
            <a:endParaRPr lang="en-US" sz="1800" smtClean="0"/>
          </a:p>
        </p:txBody>
      </p:sp>
      <p:sp>
        <p:nvSpPr>
          <p:cNvPr id="285698" name="Rectangle 2"/>
          <p:cNvSpPr>
            <a:spLocks noGrp="1" noChangeArrowheads="1"/>
          </p:cNvSpPr>
          <p:nvPr>
            <p:ph type="title"/>
          </p:nvPr>
        </p:nvSpPr>
        <p:spPr>
          <a:xfrm>
            <a:off x="1619250" y="277813"/>
            <a:ext cx="685165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مواردی که درمتن گزارش امکان سنجی اجرای پروژه باید به آنها پرداخته شود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3"/>
          <p:cNvSpPr>
            <a:spLocks noGrp="1" noChangeArrowheads="1"/>
          </p:cNvSpPr>
          <p:nvPr>
            <p:ph idx="1"/>
          </p:nvPr>
        </p:nvSpPr>
        <p:spPr/>
        <p:txBody>
          <a:bodyPr/>
          <a:lstStyle/>
          <a:p>
            <a:pPr algn="r" rtl="1" eaLnBrk="1" hangingPunct="1">
              <a:lnSpc>
                <a:spcPct val="80000"/>
              </a:lnSpc>
            </a:pPr>
            <a:r>
              <a:rPr lang="fa-IR" sz="1800" b="1" smtClean="0"/>
              <a:t>مشکل چیست ؟ </a:t>
            </a:r>
            <a:endParaRPr lang="en-US" sz="1800" smtClean="0"/>
          </a:p>
          <a:p>
            <a:pPr algn="r" rtl="1" eaLnBrk="1" hangingPunct="1">
              <a:lnSpc>
                <a:spcPct val="80000"/>
              </a:lnSpc>
            </a:pPr>
            <a:r>
              <a:rPr lang="fa-IR" sz="1800" b="1" smtClean="0"/>
              <a:t>چرا مورد بررسی قرار می گیرد ؟ </a:t>
            </a:r>
            <a:endParaRPr lang="en-US" sz="1800" smtClean="0"/>
          </a:p>
          <a:p>
            <a:pPr algn="r" rtl="1" eaLnBrk="1" hangingPunct="1">
              <a:lnSpc>
                <a:spcPct val="80000"/>
              </a:lnSpc>
            </a:pPr>
            <a:r>
              <a:rPr lang="fa-IR" sz="1800" b="1" smtClean="0"/>
              <a:t>روش بررسی مشکل چیست و از چه جنبه هایی مورد بررسی قرار میگیرد ؟ </a:t>
            </a:r>
            <a:endParaRPr lang="en-US" sz="1800" smtClean="0"/>
          </a:p>
          <a:p>
            <a:pPr algn="r" rtl="1" eaLnBrk="1" hangingPunct="1">
              <a:lnSpc>
                <a:spcPct val="80000"/>
              </a:lnSpc>
            </a:pPr>
            <a:r>
              <a:rPr lang="fa-IR" sz="1800" b="1" smtClean="0"/>
              <a:t>از چه زمانی و در چه وضعی و چگونه پدید آمده است . </a:t>
            </a:r>
            <a:endParaRPr lang="en-US" sz="1800" smtClean="0"/>
          </a:p>
          <a:p>
            <a:pPr algn="r" rtl="1" eaLnBrk="1" hangingPunct="1">
              <a:lnSpc>
                <a:spcPct val="80000"/>
              </a:lnSpc>
            </a:pPr>
            <a:r>
              <a:rPr lang="fa-IR" sz="1800" b="1" smtClean="0"/>
              <a:t>به چه دلایلی مشکل  پدید آمده است ؟ </a:t>
            </a:r>
            <a:endParaRPr lang="en-US" sz="1800" smtClean="0"/>
          </a:p>
          <a:p>
            <a:pPr algn="r" rtl="1" eaLnBrk="1" hangingPunct="1">
              <a:lnSpc>
                <a:spcPct val="80000"/>
              </a:lnSpc>
            </a:pPr>
            <a:r>
              <a:rPr lang="fa-IR" sz="1800" b="1" smtClean="0"/>
              <a:t>ابعاد و خصوصیات آن چیست ؟ </a:t>
            </a:r>
            <a:endParaRPr lang="en-US" sz="1800" smtClean="0"/>
          </a:p>
          <a:p>
            <a:pPr algn="r" rtl="1" eaLnBrk="1" hangingPunct="1">
              <a:lnSpc>
                <a:spcPct val="80000"/>
              </a:lnSpc>
            </a:pPr>
            <a:r>
              <a:rPr lang="fa-IR" sz="1800" b="1" smtClean="0"/>
              <a:t>اهمیت مشکل تا چه حد است و تبعات آن چیست ؟</a:t>
            </a:r>
            <a:endParaRPr lang="en-US" sz="1800" smtClean="0"/>
          </a:p>
          <a:p>
            <a:pPr algn="r" rtl="1" eaLnBrk="1" hangingPunct="1">
              <a:lnSpc>
                <a:spcPct val="80000"/>
              </a:lnSpc>
            </a:pPr>
            <a:r>
              <a:rPr lang="fa-IR" sz="1800" b="1" smtClean="0"/>
              <a:t>چه کسان دیگری باید مشکل را بررسی کنند </a:t>
            </a:r>
            <a:endParaRPr lang="en-US" sz="1800" smtClean="0"/>
          </a:p>
          <a:p>
            <a:pPr algn="r" rtl="1" eaLnBrk="1" hangingPunct="1">
              <a:lnSpc>
                <a:spcPct val="80000"/>
              </a:lnSpc>
            </a:pPr>
            <a:r>
              <a:rPr lang="fa-IR" sz="1800" b="1" smtClean="0"/>
              <a:t>راه حل پیشنهادی چیست ؟ </a:t>
            </a:r>
            <a:endParaRPr lang="en-US" sz="1800" smtClean="0"/>
          </a:p>
          <a:p>
            <a:pPr algn="r" rtl="1" eaLnBrk="1" hangingPunct="1">
              <a:lnSpc>
                <a:spcPct val="80000"/>
              </a:lnSpc>
            </a:pPr>
            <a:r>
              <a:rPr lang="fa-IR" sz="1800" b="1" smtClean="0"/>
              <a:t>سایر راه حلها کدامند ؟ </a:t>
            </a:r>
            <a:endParaRPr lang="en-US" sz="1800" smtClean="0"/>
          </a:p>
          <a:p>
            <a:pPr algn="r" rtl="1" eaLnBrk="1" hangingPunct="1">
              <a:lnSpc>
                <a:spcPct val="80000"/>
              </a:lnSpc>
            </a:pPr>
            <a:r>
              <a:rPr lang="fa-IR" sz="1800" b="1" smtClean="0"/>
              <a:t>زمان لازم  برای پیاده سازی راه حل چیست ؟ </a:t>
            </a:r>
            <a:endParaRPr lang="en-US" sz="1800" smtClean="0"/>
          </a:p>
          <a:p>
            <a:pPr algn="r" rtl="1" eaLnBrk="1" hangingPunct="1">
              <a:lnSpc>
                <a:spcPct val="80000"/>
              </a:lnSpc>
            </a:pPr>
            <a:r>
              <a:rPr lang="fa-IR" sz="1800" b="1" smtClean="0"/>
              <a:t>امکانات لازم برای پیاده سازی راه حل چیست ؟</a:t>
            </a:r>
            <a:endParaRPr lang="en-US" sz="1800" smtClean="0"/>
          </a:p>
          <a:p>
            <a:pPr algn="r" rtl="1" eaLnBrk="1" hangingPunct="1">
              <a:lnSpc>
                <a:spcPct val="80000"/>
              </a:lnSpc>
            </a:pPr>
            <a:r>
              <a:rPr lang="fa-IR" sz="1800" b="1" smtClean="0"/>
              <a:t> امکانات و محدودیت های پیاده سازی راه حل کدامند ؟ </a:t>
            </a:r>
            <a:endParaRPr lang="en-US" sz="1800" smtClean="0"/>
          </a:p>
          <a:p>
            <a:pPr algn="r" rtl="1" eaLnBrk="1" hangingPunct="1">
              <a:lnSpc>
                <a:spcPct val="80000"/>
              </a:lnSpc>
            </a:pPr>
            <a:r>
              <a:rPr lang="fa-IR" sz="1800" b="1" smtClean="0"/>
              <a:t>نتایج قابل پیش بینی در جهت حل مشکل کدامند ؟ </a:t>
            </a:r>
            <a:endParaRPr lang="en-US" sz="1800" smtClean="0"/>
          </a:p>
          <a:p>
            <a:pPr algn="r" rtl="1" eaLnBrk="1" hangingPunct="1">
              <a:lnSpc>
                <a:spcPct val="80000"/>
              </a:lnSpc>
            </a:pPr>
            <a:r>
              <a:rPr lang="fa-IR" sz="1800" smtClean="0"/>
              <a:t> </a:t>
            </a:r>
            <a:endParaRPr lang="en-US" sz="1800" smtClean="0"/>
          </a:p>
        </p:txBody>
      </p:sp>
      <p:sp>
        <p:nvSpPr>
          <p:cNvPr id="286722" name="Rectangle 2"/>
          <p:cNvSpPr>
            <a:spLocks noGrp="1" noChangeArrowheads="1"/>
          </p:cNvSpPr>
          <p:nvPr>
            <p:ph type="title"/>
          </p:nvPr>
        </p:nvSpPr>
        <p:spPr>
          <a:xfrm>
            <a:off x="1187450" y="277813"/>
            <a:ext cx="728345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مطالبی که باید در گزارش بررسی یک مشکل فنی نوشته شود</a:t>
            </a:r>
            <a:r>
              <a:rPr lang="en-US" sz="3700" smtClean="0">
                <a:solidFill>
                  <a:srgbClr val="FF0000"/>
                </a:solidFill>
                <a:effectLst/>
                <a:cs typeface="B Titr" pitchFamily="2" charset="-78"/>
              </a:rPr>
              <a:t>: </a:t>
            </a: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3"/>
          <p:cNvSpPr>
            <a:spLocks noGrp="1" noChangeArrowheads="1"/>
          </p:cNvSpPr>
          <p:nvPr>
            <p:ph idx="1"/>
          </p:nvPr>
        </p:nvSpPr>
        <p:spPr/>
        <p:txBody>
          <a:bodyPr/>
          <a:lstStyle/>
          <a:p>
            <a:pPr algn="r" rtl="1" eaLnBrk="1" hangingPunct="1">
              <a:lnSpc>
                <a:spcPct val="80000"/>
              </a:lnSpc>
            </a:pPr>
            <a:r>
              <a:rPr lang="fa-IR" sz="2400" b="1" smtClean="0"/>
              <a:t>چه تجهیزاتی  آسیب دیده اند ؟ </a:t>
            </a:r>
            <a:endParaRPr lang="en-US" sz="2400" smtClean="0"/>
          </a:p>
          <a:p>
            <a:pPr algn="r" rtl="1" eaLnBrk="1" hangingPunct="1">
              <a:lnSpc>
                <a:spcPct val="80000"/>
              </a:lnSpc>
            </a:pPr>
            <a:r>
              <a:rPr lang="fa-IR" sz="2400" b="1" smtClean="0"/>
              <a:t>ماهیت و گستردگی خرابی چیست ؟ </a:t>
            </a:r>
            <a:endParaRPr lang="en-US" sz="2400" smtClean="0"/>
          </a:p>
          <a:p>
            <a:pPr algn="r" rtl="1" eaLnBrk="1" hangingPunct="1">
              <a:lnSpc>
                <a:spcPct val="80000"/>
              </a:lnSpc>
            </a:pPr>
            <a:r>
              <a:rPr lang="fa-IR" sz="2400" b="1" smtClean="0"/>
              <a:t>میزان خسارتهای وارده چقدر است ؟ </a:t>
            </a:r>
            <a:endParaRPr lang="en-US" sz="2400" smtClean="0"/>
          </a:p>
          <a:p>
            <a:pPr algn="r" rtl="1" eaLnBrk="1" hangingPunct="1">
              <a:lnSpc>
                <a:spcPct val="80000"/>
              </a:lnSpc>
            </a:pPr>
            <a:r>
              <a:rPr lang="fa-IR" sz="2400" b="1" smtClean="0"/>
              <a:t>چه پیامدهایی دارد ؟ </a:t>
            </a:r>
            <a:endParaRPr lang="en-US" sz="2400" smtClean="0"/>
          </a:p>
          <a:p>
            <a:pPr algn="r" rtl="1" eaLnBrk="1" hangingPunct="1">
              <a:lnSpc>
                <a:spcPct val="80000"/>
              </a:lnSpc>
            </a:pPr>
            <a:r>
              <a:rPr lang="fa-IR" sz="2400" b="1" smtClean="0"/>
              <a:t>ایا سابقه دارد ؟ </a:t>
            </a:r>
            <a:endParaRPr lang="en-US" sz="2400" smtClean="0"/>
          </a:p>
          <a:p>
            <a:pPr algn="r" rtl="1" eaLnBrk="1" hangingPunct="1">
              <a:lnSpc>
                <a:spcPct val="80000"/>
              </a:lnSpc>
            </a:pPr>
            <a:r>
              <a:rPr lang="fa-IR" sz="2400" b="1" smtClean="0"/>
              <a:t>مسئولیت نگهداری دستگاه با کسیت ؟ </a:t>
            </a:r>
            <a:endParaRPr lang="en-US" sz="2400" smtClean="0"/>
          </a:p>
          <a:p>
            <a:pPr algn="r" rtl="1" eaLnBrk="1" hangingPunct="1">
              <a:lnSpc>
                <a:spcPct val="80000"/>
              </a:lnSpc>
            </a:pPr>
            <a:r>
              <a:rPr lang="fa-IR" sz="2400" b="1" smtClean="0"/>
              <a:t>چه کاری باید انجام شود ( جهت ترمیم ) ؟ </a:t>
            </a:r>
            <a:endParaRPr lang="en-US" sz="2400" smtClean="0"/>
          </a:p>
          <a:p>
            <a:pPr algn="r" rtl="1" eaLnBrk="1" hangingPunct="1">
              <a:lnSpc>
                <a:spcPct val="80000"/>
              </a:lnSpc>
            </a:pPr>
            <a:r>
              <a:rPr lang="fa-IR" sz="2400" b="1" smtClean="0"/>
              <a:t>آیا به ملزومات خاصی نیاز است ؟ </a:t>
            </a:r>
            <a:endParaRPr lang="en-US" sz="2400" smtClean="0"/>
          </a:p>
          <a:p>
            <a:pPr algn="r" rtl="1" eaLnBrk="1" hangingPunct="1">
              <a:lnSpc>
                <a:spcPct val="80000"/>
              </a:lnSpc>
            </a:pPr>
            <a:r>
              <a:rPr lang="fa-IR" sz="2400" b="1" smtClean="0"/>
              <a:t>چه کسی چه کاری باید بکند ؟ از چه زمان و به چه مدتی ؟ </a:t>
            </a:r>
            <a:endParaRPr lang="en-US" sz="2400" smtClean="0"/>
          </a:p>
          <a:p>
            <a:pPr algn="r" rtl="1" eaLnBrk="1" hangingPunct="1">
              <a:lnSpc>
                <a:spcPct val="80000"/>
              </a:lnSpc>
            </a:pPr>
            <a:r>
              <a:rPr lang="fa-IR" sz="2400" b="1" smtClean="0"/>
              <a:t>عملی ترین راه حل چیست ؟ </a:t>
            </a:r>
            <a:endParaRPr lang="en-US" sz="2400" smtClean="0"/>
          </a:p>
          <a:p>
            <a:pPr algn="r" rtl="1" eaLnBrk="1" hangingPunct="1">
              <a:lnSpc>
                <a:spcPct val="80000"/>
              </a:lnSpc>
            </a:pPr>
            <a:r>
              <a:rPr lang="fa-IR" sz="2400" b="1" smtClean="0"/>
              <a:t>هزینه ترمیم چه قدر است ؟ </a:t>
            </a:r>
            <a:endParaRPr lang="en-US" sz="2400" smtClean="0"/>
          </a:p>
          <a:p>
            <a:pPr algn="r" rtl="1" eaLnBrk="1" hangingPunct="1">
              <a:lnSpc>
                <a:spcPct val="80000"/>
              </a:lnSpc>
            </a:pPr>
            <a:r>
              <a:rPr lang="fa-IR" sz="2400" b="1" smtClean="0"/>
              <a:t>چه توصیه هایی باید کرد ؟  </a:t>
            </a:r>
            <a:endParaRPr lang="en-US" sz="2400" smtClean="0"/>
          </a:p>
          <a:p>
            <a:pPr algn="r" rtl="1" eaLnBrk="1" hangingPunct="1">
              <a:lnSpc>
                <a:spcPct val="80000"/>
              </a:lnSpc>
            </a:pPr>
            <a:endParaRPr lang="en-US" sz="2400" smtClean="0"/>
          </a:p>
        </p:txBody>
      </p:sp>
      <p:sp>
        <p:nvSpPr>
          <p:cNvPr id="288770" name="Rectangle 2"/>
          <p:cNvSpPr>
            <a:spLocks noGrp="1" noChangeArrowheads="1"/>
          </p:cNvSpPr>
          <p:nvPr>
            <p:ph type="title"/>
          </p:nvPr>
        </p:nvSpPr>
        <p:spPr>
          <a:xfrm>
            <a:off x="857224" y="277813"/>
            <a:ext cx="7643866"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dirty="0" smtClean="0">
                <a:solidFill>
                  <a:srgbClr val="FF0000"/>
                </a:solidFill>
                <a:effectLst/>
                <a:cs typeface="B Titr" pitchFamily="2" charset="-78"/>
              </a:rPr>
              <a:t>متن گزارش بررسی خرابی تجهیزات باید حاوی پاسخ </a:t>
            </a:r>
            <a:r>
              <a:rPr lang="fa-IR" sz="3700" dirty="0" err="1" smtClean="0">
                <a:solidFill>
                  <a:srgbClr val="FF0000"/>
                </a:solidFill>
                <a:effectLst/>
                <a:cs typeface="B Titr" pitchFamily="2" charset="-78"/>
              </a:rPr>
              <a:t>سئوالات</a:t>
            </a:r>
            <a:r>
              <a:rPr lang="fa-IR" sz="3700" dirty="0" smtClean="0">
                <a:solidFill>
                  <a:srgbClr val="FF0000"/>
                </a:solidFill>
                <a:effectLst/>
                <a:cs typeface="B Titr" pitchFamily="2" charset="-78"/>
              </a:rPr>
              <a:t> زیر باشد: </a:t>
            </a:r>
            <a:endParaRPr lang="en-US" sz="3700" dirty="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Text Box 4">
            <a:hlinkClick r:id="rId2" action="ppaction://hlinksldjump"/>
          </p:cNvPr>
          <p:cNvSpPr txBox="1">
            <a:spLocks noChangeArrowheads="1"/>
          </p:cNvSpPr>
          <p:nvPr/>
        </p:nvSpPr>
        <p:spPr bwMode="auto">
          <a:xfrm>
            <a:off x="1547813" y="2492375"/>
            <a:ext cx="6121400" cy="762000"/>
          </a:xfrm>
          <a:prstGeom prst="rect">
            <a:avLst/>
          </a:prstGeom>
          <a:noFill/>
          <a:ln w="9525">
            <a:noFill/>
            <a:miter lim="800000"/>
            <a:headEnd/>
            <a:tailEnd/>
          </a:ln>
        </p:spPr>
        <p:txBody>
          <a:bodyPr>
            <a:spAutoFit/>
          </a:bodyPr>
          <a:lstStyle/>
          <a:p>
            <a:pPr rtl="1"/>
            <a:r>
              <a:rPr lang="fa-IR" sz="4400" dirty="0">
                <a:solidFill>
                  <a:schemeClr val="tx1"/>
                </a:solidFill>
                <a:cs typeface="B Titr" panose="00000700000000000000" pitchFamily="2" charset="-78"/>
              </a:rPr>
              <a:t>انواع </a:t>
            </a:r>
            <a:r>
              <a:rPr lang="fa-IR" sz="4400" dirty="0" err="1">
                <a:solidFill>
                  <a:schemeClr val="tx1"/>
                </a:solidFill>
                <a:cs typeface="B Titr" panose="00000700000000000000" pitchFamily="2" charset="-78"/>
              </a:rPr>
              <a:t>ارائه‌هاي</a:t>
            </a:r>
            <a:r>
              <a:rPr lang="fa-IR" sz="4400" dirty="0">
                <a:solidFill>
                  <a:schemeClr val="tx1"/>
                </a:solidFill>
                <a:cs typeface="B Titr" panose="00000700000000000000" pitchFamily="2" charset="-78"/>
              </a:rPr>
              <a:t> </a:t>
            </a:r>
            <a:r>
              <a:rPr lang="fa-IR" sz="4400" dirty="0" err="1">
                <a:solidFill>
                  <a:schemeClr val="tx1"/>
                </a:solidFill>
                <a:cs typeface="B Titr" panose="00000700000000000000" pitchFamily="2" charset="-78"/>
              </a:rPr>
              <a:t>غيردانشگاهي</a:t>
            </a:r>
            <a:endParaRPr lang="en-US" sz="4400" dirty="0">
              <a:solidFill>
                <a:schemeClr val="tx1"/>
              </a:solidFill>
              <a:cs typeface="B Titr" panose="00000700000000000000" pitchFamily="2" charset="-78"/>
            </a:endParaRPr>
          </a:p>
        </p:txBody>
      </p:sp>
      <p:sp>
        <p:nvSpPr>
          <p:cNvPr id="3" name="Rectangle 2"/>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3"/>
          <p:cNvSpPr>
            <a:spLocks noGrp="1" noChangeArrowheads="1"/>
          </p:cNvSpPr>
          <p:nvPr>
            <p:ph idx="1"/>
          </p:nvPr>
        </p:nvSpPr>
        <p:spPr/>
        <p:txBody>
          <a:bodyPr/>
          <a:lstStyle/>
          <a:p>
            <a:pPr algn="justLow" rtl="1" eaLnBrk="1" hangingPunct="1">
              <a:buFont typeface="Wingdings" pitchFamily="2" charset="2"/>
              <a:buNone/>
            </a:pPr>
            <a:r>
              <a:rPr lang="fa-IR" b="1" smtClean="0"/>
              <a:t>منظور از ماشین تشریح معنای عام آن است و می تواند یک کامپیوتر باشد یا ماشینی در یک کارگاه یا کارخانه و یا آزمایشگاه و امثال آن .</a:t>
            </a:r>
            <a:endParaRPr lang="en-US" b="1" smtClean="0"/>
          </a:p>
        </p:txBody>
      </p:sp>
      <p:sp>
        <p:nvSpPr>
          <p:cNvPr id="28979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متن ماشین تشریح :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3"/>
          <p:cNvSpPr>
            <a:spLocks noGrp="1" noChangeArrowheads="1"/>
          </p:cNvSpPr>
          <p:nvPr>
            <p:ph idx="1"/>
          </p:nvPr>
        </p:nvSpPr>
        <p:spPr/>
        <p:txBody>
          <a:bodyPr/>
          <a:lstStyle/>
          <a:p>
            <a:pPr marL="609600" indent="-609600" algn="r" rtl="1" eaLnBrk="1" hangingPunct="1">
              <a:lnSpc>
                <a:spcPct val="90000"/>
              </a:lnSpc>
            </a:pPr>
            <a:r>
              <a:rPr lang="fa-IR" sz="2400" b="1" smtClean="0"/>
              <a:t>بیان مختصر تاریخچه طراحی و ساخت ماشین </a:t>
            </a:r>
          </a:p>
          <a:p>
            <a:pPr marL="609600" indent="-609600" algn="r" rtl="1" eaLnBrk="1" hangingPunct="1">
              <a:lnSpc>
                <a:spcPct val="90000"/>
              </a:lnSpc>
            </a:pPr>
            <a:r>
              <a:rPr lang="fa-IR" sz="2400" b="1" smtClean="0"/>
              <a:t>اشاره ای به ماشینهای مشابه دیگر  </a:t>
            </a:r>
          </a:p>
          <a:p>
            <a:pPr marL="609600" indent="-609600" algn="r" rtl="1" eaLnBrk="1" hangingPunct="1">
              <a:lnSpc>
                <a:spcPct val="90000"/>
              </a:lnSpc>
            </a:pPr>
            <a:r>
              <a:rPr lang="fa-IR" sz="2400" b="1" smtClean="0"/>
              <a:t>شرح کامل ماشین </a:t>
            </a:r>
          </a:p>
          <a:p>
            <a:pPr marL="609600" indent="-609600" algn="r" rtl="1" eaLnBrk="1" hangingPunct="1">
              <a:lnSpc>
                <a:spcPct val="90000"/>
              </a:lnSpc>
            </a:pPr>
            <a:r>
              <a:rPr lang="fa-IR" sz="2400" b="1" smtClean="0"/>
              <a:t>شرح مبانی و مفاهیم نظری مربوط به ماشین ( به اجمال ) </a:t>
            </a:r>
          </a:p>
          <a:p>
            <a:pPr marL="609600" indent="-609600" algn="r" rtl="1" eaLnBrk="1" hangingPunct="1">
              <a:lnSpc>
                <a:spcPct val="90000"/>
              </a:lnSpc>
            </a:pPr>
            <a:r>
              <a:rPr lang="fa-IR" sz="2400" b="1" smtClean="0"/>
              <a:t>شرح کامل عملیات ماشین </a:t>
            </a:r>
          </a:p>
          <a:p>
            <a:pPr marL="609600" indent="-609600" algn="r" rtl="1" eaLnBrk="1" hangingPunct="1">
              <a:lnSpc>
                <a:spcPct val="90000"/>
              </a:lnSpc>
            </a:pPr>
            <a:r>
              <a:rPr lang="fa-IR" sz="2400" b="1" smtClean="0"/>
              <a:t>شرح نحوه تماس انسان با آن ( دستور کار با ماشین )</a:t>
            </a:r>
          </a:p>
          <a:p>
            <a:pPr marL="609600" indent="-609600" algn="r" rtl="1" eaLnBrk="1" hangingPunct="1">
              <a:lnSpc>
                <a:spcPct val="90000"/>
              </a:lnSpc>
            </a:pPr>
            <a:r>
              <a:rPr lang="fa-IR" sz="2400" b="1" smtClean="0"/>
              <a:t>بیان موارد استفاده از ماشین و محدودیت های آن </a:t>
            </a:r>
          </a:p>
          <a:p>
            <a:pPr marL="609600" indent="-609600" algn="r" rtl="1" eaLnBrk="1" hangingPunct="1">
              <a:lnSpc>
                <a:spcPct val="90000"/>
              </a:lnSpc>
            </a:pPr>
            <a:r>
              <a:rPr lang="fa-IR" sz="2400" b="1" smtClean="0"/>
              <a:t>بیان احتیاطات و ملاحظات که باید در حین استفاده از ماشین رعایت گردد .</a:t>
            </a:r>
          </a:p>
          <a:p>
            <a:pPr marL="609600" indent="-609600" algn="r" rtl="1" eaLnBrk="1" hangingPunct="1">
              <a:lnSpc>
                <a:spcPct val="90000"/>
              </a:lnSpc>
            </a:pPr>
            <a:r>
              <a:rPr lang="fa-IR" sz="2400" b="1" smtClean="0"/>
              <a:t>اشاره به شرکت سازنده ، نحوه سفارش خرید وحدود قیمت و ... ( در صورت وجود اطلاعات ).</a:t>
            </a:r>
            <a:endParaRPr lang="en-US" sz="2400" b="1" smtClean="0"/>
          </a:p>
        </p:txBody>
      </p:sp>
      <p:sp>
        <p:nvSpPr>
          <p:cNvPr id="290818" name="Rectangle 2"/>
          <p:cNvSpPr>
            <a:spLocks noGrp="1" noChangeArrowheads="1"/>
          </p:cNvSpPr>
          <p:nvPr>
            <p:ph type="title"/>
          </p:nvPr>
        </p:nvSpPr>
        <p:spPr>
          <a:xfrm>
            <a:off x="1979613" y="277813"/>
            <a:ext cx="6048375"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متن ماشین تشریح باید حاوی اطلاعات زیر باشد:</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3"/>
          <p:cNvSpPr>
            <a:spLocks noGrp="1" noChangeArrowheads="1"/>
          </p:cNvSpPr>
          <p:nvPr>
            <p:ph idx="1"/>
          </p:nvPr>
        </p:nvSpPr>
        <p:spPr/>
        <p:txBody>
          <a:bodyPr/>
          <a:lstStyle/>
          <a:p>
            <a:pPr algn="justLow" rtl="1" eaLnBrk="1" hangingPunct="1">
              <a:buFont typeface="Wingdings" pitchFamily="2" charset="2"/>
              <a:buNone/>
            </a:pPr>
            <a:r>
              <a:rPr lang="fa-IR" b="1" smtClean="0"/>
              <a:t>اگر ماشین پیچیده باشد قبل از ورود به جزئیات حتما کلیات مربوط به آن باید ذکر گردد . برای بیان جزئیات باید به صورت ساختمند و مبتنی بر یک نظم منطقی عمل کرد که خواهیم دید .</a:t>
            </a:r>
            <a:endParaRPr lang="en-US" b="1" smtClean="0"/>
          </a:p>
        </p:txBody>
      </p:sp>
      <p:sp>
        <p:nvSpPr>
          <p:cNvPr id="29184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شرح کامل ماشین :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3"/>
          <p:cNvSpPr>
            <a:spLocks noGrp="1" noChangeArrowheads="1"/>
          </p:cNvSpPr>
          <p:nvPr>
            <p:ph idx="1"/>
          </p:nvPr>
        </p:nvSpPr>
        <p:spPr/>
        <p:txBody>
          <a:bodyPr/>
          <a:lstStyle/>
          <a:p>
            <a:pPr marL="609600" indent="-609600" algn="justLow" rtl="1" eaLnBrk="1" hangingPunct="1">
              <a:lnSpc>
                <a:spcPct val="80000"/>
              </a:lnSpc>
            </a:pPr>
            <a:r>
              <a:rPr lang="fa-IR" sz="2800" b="1" smtClean="0"/>
              <a:t>بر اساس ترتیب فعال شدن بخشهای ماشین باشد هنگامیکه بکار می افتد . به عبارت دیگر ابتدا آن بخش از ماشین که زودتر فعال می شود تشریح می گردد و سپس بخش بعدی . در واقع این نظم منطقی مبتنی است بر کرونولوژی فعالیت اجزاء مختلف ماشین .</a:t>
            </a:r>
          </a:p>
          <a:p>
            <a:pPr marL="609600" indent="-609600" algn="justLow" rtl="1" eaLnBrk="1" hangingPunct="1">
              <a:lnSpc>
                <a:spcPct val="80000"/>
              </a:lnSpc>
            </a:pPr>
            <a:r>
              <a:rPr lang="fa-IR" sz="2800" b="1" smtClean="0"/>
              <a:t>بر اساس اهمیت اجزاء باشد . هر چند عملکرد کل ماشین بستگی به عملکرد همه اجزاء آن دارد ولی بعضی از اجزاء ممکن است از سایرین مهم تر باشند .</a:t>
            </a:r>
          </a:p>
          <a:p>
            <a:pPr marL="609600" indent="-609600" algn="justLow" rtl="1" eaLnBrk="1" hangingPunct="1">
              <a:lnSpc>
                <a:spcPct val="80000"/>
              </a:lnSpc>
            </a:pPr>
            <a:r>
              <a:rPr lang="fa-IR" sz="2800" b="1" smtClean="0"/>
              <a:t>بر اساس ترتیب قرار گرفتن اجزاء در پیکربندی ماشین باشد . مثلا از بیرونی تر ین قطعه شروع به تشریح می کنیم تا درونی‌ترین یا  بالاترین جزء تا پایین ترین و یا در نظاره به ماشین از چپ به راست و یار راست به چپ و ... </a:t>
            </a:r>
          </a:p>
        </p:txBody>
      </p:sp>
      <p:sp>
        <p:nvSpPr>
          <p:cNvPr id="29389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نظم منطقی در متن تشریح ماشین می تواند: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3"/>
          <p:cNvSpPr>
            <a:spLocks noGrp="1" noChangeArrowheads="1"/>
          </p:cNvSpPr>
          <p:nvPr>
            <p:ph idx="1"/>
          </p:nvPr>
        </p:nvSpPr>
        <p:spPr/>
        <p:txBody>
          <a:bodyPr/>
          <a:lstStyle/>
          <a:p>
            <a:pPr algn="justLow" rtl="1" eaLnBrk="1" hangingPunct="1">
              <a:buFont typeface="Wingdings" pitchFamily="2" charset="2"/>
              <a:buNone/>
            </a:pPr>
            <a:r>
              <a:rPr lang="fa-IR" b="1" smtClean="0"/>
              <a:t>کاتالوگ متنی است تا حدودی فنی و گاه تجاری که در نهایت سادگی و اختصار به منظور معرفی یک تولید تهیه می‌شود. در این متن به شرح جنبه های مختلف تولید به تفصیل پرداخته نمی شود .</a:t>
            </a:r>
            <a:endParaRPr lang="en-US" b="1" smtClean="0"/>
          </a:p>
        </p:txBody>
      </p:sp>
      <p:sp>
        <p:nvSpPr>
          <p:cNvPr id="29491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کاتالوگ :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3"/>
          <p:cNvSpPr>
            <a:spLocks noGrp="1" noChangeArrowheads="1"/>
          </p:cNvSpPr>
          <p:nvPr>
            <p:ph idx="1"/>
          </p:nvPr>
        </p:nvSpPr>
        <p:spPr/>
        <p:txBody>
          <a:bodyPr/>
          <a:lstStyle/>
          <a:p>
            <a:pPr marL="609600" indent="-609600" algn="r" rtl="1" eaLnBrk="1" hangingPunct="1">
              <a:lnSpc>
                <a:spcPct val="90000"/>
              </a:lnSpc>
            </a:pPr>
            <a:r>
              <a:rPr lang="fa-IR" b="1" smtClean="0"/>
              <a:t>توضیح مختصر تولید </a:t>
            </a:r>
          </a:p>
          <a:p>
            <a:pPr marL="609600" indent="-609600" algn="r" rtl="1" eaLnBrk="1" hangingPunct="1">
              <a:lnSpc>
                <a:spcPct val="90000"/>
              </a:lnSpc>
            </a:pPr>
            <a:r>
              <a:rPr lang="fa-IR" b="1" smtClean="0"/>
              <a:t>بیان جنبه ها  و ویژگیهای آن به اجمال  </a:t>
            </a:r>
          </a:p>
          <a:p>
            <a:pPr marL="609600" indent="-609600" algn="r" rtl="1" eaLnBrk="1" hangingPunct="1">
              <a:lnSpc>
                <a:spcPct val="90000"/>
              </a:lnSpc>
            </a:pPr>
            <a:r>
              <a:rPr lang="fa-IR" b="1" smtClean="0"/>
              <a:t>داده های لازم در مورد ابعاد </a:t>
            </a:r>
          </a:p>
          <a:p>
            <a:pPr marL="609600" indent="-609600" algn="r" rtl="1" eaLnBrk="1" hangingPunct="1">
              <a:lnSpc>
                <a:spcPct val="90000"/>
              </a:lnSpc>
            </a:pPr>
            <a:r>
              <a:rPr lang="fa-IR" b="1" smtClean="0"/>
              <a:t>محدودیتها ، قابلیتها و کاربردهای تولید </a:t>
            </a:r>
          </a:p>
          <a:p>
            <a:pPr marL="609600" indent="-609600" algn="r" rtl="1" eaLnBrk="1" hangingPunct="1">
              <a:lnSpc>
                <a:spcPct val="90000"/>
              </a:lnSpc>
            </a:pPr>
            <a:r>
              <a:rPr lang="fa-IR" b="1" smtClean="0"/>
              <a:t>قیمت در صورت امکان </a:t>
            </a:r>
          </a:p>
          <a:p>
            <a:pPr marL="609600" indent="-609600" algn="r" rtl="1" eaLnBrk="1" hangingPunct="1">
              <a:lnSpc>
                <a:spcPct val="90000"/>
              </a:lnSpc>
            </a:pPr>
            <a:r>
              <a:rPr lang="fa-IR" b="1" smtClean="0"/>
              <a:t>نحوه کار تولید و چگونگی استفاده از آن </a:t>
            </a:r>
          </a:p>
          <a:p>
            <a:pPr marL="609600" indent="-609600" algn="r" rtl="1" eaLnBrk="1" hangingPunct="1">
              <a:lnSpc>
                <a:spcPct val="90000"/>
              </a:lnSpc>
            </a:pPr>
            <a:r>
              <a:rPr lang="fa-IR" b="1" smtClean="0"/>
              <a:t>توضیحاتی در مورد نحوه درخواست تولید </a:t>
            </a:r>
          </a:p>
          <a:p>
            <a:pPr marL="609600" indent="-609600" algn="r" rtl="1" eaLnBrk="1" hangingPunct="1">
              <a:lnSpc>
                <a:spcPct val="90000"/>
              </a:lnSpc>
            </a:pPr>
            <a:r>
              <a:rPr lang="fa-IR" b="1" smtClean="0"/>
              <a:t>نشانی و مشخصات سازمان عرضه کننده</a:t>
            </a:r>
            <a:r>
              <a:rPr lang="fa-IR" smtClean="0"/>
              <a:t> </a:t>
            </a:r>
            <a:endParaRPr lang="en-US" smtClean="0"/>
          </a:p>
        </p:txBody>
      </p:sp>
      <p:sp>
        <p:nvSpPr>
          <p:cNvPr id="295938" name="Rectangle 2"/>
          <p:cNvSpPr>
            <a:spLocks noGrp="1" noChangeArrowheads="1"/>
          </p:cNvSpPr>
          <p:nvPr>
            <p:ph type="title"/>
          </p:nvPr>
        </p:nvSpPr>
        <p:spPr>
          <a:xfrm>
            <a:off x="663575"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نکاتی که در چنین متنی باید درج می شود: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3"/>
          <p:cNvSpPr>
            <a:spLocks noGrp="1" noChangeArrowheads="1"/>
          </p:cNvSpPr>
          <p:nvPr>
            <p:ph idx="1"/>
          </p:nvPr>
        </p:nvSpPr>
        <p:spPr/>
        <p:txBody>
          <a:bodyPr/>
          <a:lstStyle/>
          <a:p>
            <a:pPr algn="justLow" rtl="1" eaLnBrk="1" hangingPunct="1">
              <a:buFont typeface="Wingdings" pitchFamily="2" charset="2"/>
              <a:buNone/>
            </a:pPr>
            <a:r>
              <a:rPr lang="fa-IR" smtClean="0"/>
              <a:t> </a:t>
            </a:r>
            <a:endParaRPr lang="fa-IR" b="1" smtClean="0"/>
          </a:p>
          <a:p>
            <a:pPr algn="justLow" rtl="1" eaLnBrk="1" hangingPunct="1">
              <a:buFont typeface="Wingdings" pitchFamily="2" charset="2"/>
              <a:buNone/>
            </a:pPr>
            <a:r>
              <a:rPr lang="fa-IR" b="1" smtClean="0"/>
              <a:t>معمولا این متن حاوی شکلها و جدولهایی است که خواننده را  در شناخت سریعتر و واضح تر تولید کمک می کند . از بکارگیری فرمولها و درج مطالب نظری در این متن اجتناب می شود .</a:t>
            </a:r>
            <a:endParaRPr lang="en-US" b="1" smtClean="0"/>
          </a:p>
        </p:txBody>
      </p:sp>
      <p:sp>
        <p:nvSpPr>
          <p:cNvPr id="29696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محتوای کاتالوگ  :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3"/>
          <p:cNvSpPr>
            <a:spLocks noGrp="1" noChangeArrowheads="1"/>
          </p:cNvSpPr>
          <p:nvPr>
            <p:ph idx="1"/>
          </p:nvPr>
        </p:nvSpPr>
        <p:spPr/>
        <p:txBody>
          <a:bodyPr/>
          <a:lstStyle/>
          <a:p>
            <a:pPr algn="justLow" rtl="1" eaLnBrk="1" hangingPunct="1">
              <a:buFont typeface="Wingdings" pitchFamily="2" charset="2"/>
              <a:buNone/>
            </a:pPr>
            <a:r>
              <a:rPr lang="fa-IR" b="1" smtClean="0"/>
              <a:t>به طور کلی در محیطهای فنی – مهندسی می توان 5 سطح مخاطب را بازشناسی کرد و 5 سطح برای کنترل کمی و کیفی متون راهنما قائل شد .</a:t>
            </a:r>
            <a:endParaRPr lang="en-US" b="1" smtClean="0"/>
          </a:p>
        </p:txBody>
      </p:sp>
      <p:sp>
        <p:nvSpPr>
          <p:cNvPr id="29798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قواعد تولید متون راهنمای فنی :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3"/>
          <p:cNvSpPr>
            <a:spLocks noGrp="1" noChangeArrowheads="1"/>
          </p:cNvSpPr>
          <p:nvPr>
            <p:ph idx="1"/>
          </p:nvPr>
        </p:nvSpPr>
        <p:spPr/>
        <p:txBody>
          <a:bodyPr/>
          <a:lstStyle/>
          <a:p>
            <a:pPr marL="609600" indent="-609600" algn="justLow" rtl="1" eaLnBrk="1" hangingPunct="1"/>
            <a:r>
              <a:rPr lang="fa-IR" b="1" smtClean="0"/>
              <a:t>سطح اپراتورها و افراد غیر تکنیکی </a:t>
            </a:r>
          </a:p>
          <a:p>
            <a:pPr marL="609600" indent="-609600" algn="justLow" rtl="1" eaLnBrk="1" hangingPunct="1"/>
            <a:r>
              <a:rPr lang="fa-IR" b="1" smtClean="0"/>
              <a:t>سطح افراد تکنیکی وتکنسین </a:t>
            </a:r>
          </a:p>
          <a:p>
            <a:pPr marL="609600" indent="-609600" algn="justLow" rtl="1" eaLnBrk="1" hangingPunct="1"/>
            <a:r>
              <a:rPr lang="fa-IR" b="1" smtClean="0"/>
              <a:t>سطح تکنسین های عالی یا مهندسین مبتدی </a:t>
            </a:r>
          </a:p>
          <a:p>
            <a:pPr marL="609600" indent="-609600" algn="justLow" rtl="1" eaLnBrk="1" hangingPunct="1"/>
            <a:r>
              <a:rPr lang="fa-IR" b="1" smtClean="0"/>
              <a:t>سطح مهندسین مجرب </a:t>
            </a:r>
          </a:p>
          <a:p>
            <a:pPr marL="609600" indent="-609600" algn="justLow" rtl="1" eaLnBrk="1" hangingPunct="1"/>
            <a:r>
              <a:rPr lang="fa-IR" b="1" smtClean="0"/>
              <a:t>سطح مهندسین عالی و پژوهشگران</a:t>
            </a:r>
            <a:r>
              <a:rPr lang="fa-IR" smtClean="0"/>
              <a:t> </a:t>
            </a:r>
            <a:endParaRPr lang="en-US" smtClean="0"/>
          </a:p>
        </p:txBody>
      </p:sp>
      <p:sp>
        <p:nvSpPr>
          <p:cNvPr id="299010" name="Rectangle 2"/>
          <p:cNvSpPr>
            <a:spLocks noGrp="1" noChangeArrowheads="1"/>
          </p:cNvSpPr>
          <p:nvPr>
            <p:ph type="title"/>
          </p:nvPr>
        </p:nvSpPr>
        <p:spPr>
          <a:xfrm>
            <a:off x="714348" y="214290"/>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dirty="0" smtClean="0">
                <a:solidFill>
                  <a:srgbClr val="FF0000"/>
                </a:solidFill>
                <a:effectLst/>
                <a:cs typeface="B Titr" pitchFamily="2" charset="-78"/>
              </a:rPr>
              <a:t>سطوح پنج گانه مخاطب در متون راهنمای فنی:</a:t>
            </a:r>
            <a:endParaRPr lang="en-US" sz="3700" dirty="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عرضه کردن فقط اطلاعات مبنایی لازم </a:t>
            </a:r>
          </a:p>
          <a:p>
            <a:pPr marL="609600" indent="-609600" algn="r" rtl="1" eaLnBrk="1" hangingPunct="1">
              <a:buFont typeface="Wingdings" pitchFamily="2" charset="2"/>
              <a:buAutoNum type="arabicPeriod"/>
            </a:pPr>
            <a:r>
              <a:rPr lang="fa-IR" b="1" smtClean="0"/>
              <a:t>ضمیمه کردن شکلهای ساده به متن </a:t>
            </a:r>
          </a:p>
          <a:p>
            <a:pPr marL="609600" indent="-609600" algn="r" rtl="1" eaLnBrk="1" hangingPunct="1">
              <a:buFont typeface="Wingdings" pitchFamily="2" charset="2"/>
              <a:buAutoNum type="arabicPeriod"/>
            </a:pPr>
            <a:r>
              <a:rPr lang="fa-IR" b="1" smtClean="0"/>
              <a:t>چنانچه متن حاوی دستورهای عملیاتی باشد (مثلا دستورهای کار با یک ماشین یا انجام آزمایشها )</a:t>
            </a:r>
          </a:p>
          <a:p>
            <a:pPr marL="609600" indent="-609600" algn="r" rtl="1" eaLnBrk="1" hangingPunct="1">
              <a:buFont typeface="Wingdings" pitchFamily="2" charset="2"/>
              <a:buAutoNum type="arabicPeriod"/>
            </a:pPr>
            <a:r>
              <a:rPr lang="fa-IR" b="1" smtClean="0"/>
              <a:t>عر ضه کردن  آنها به صورت ساختمند و روشمند و به کمک جملاتی کوتاه و گویا .</a:t>
            </a:r>
            <a:endParaRPr lang="en-US" b="1" smtClean="0"/>
          </a:p>
        </p:txBody>
      </p:sp>
      <p:sp>
        <p:nvSpPr>
          <p:cNvPr id="30003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مخاطبین سطح اول :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تشریح ماشین یا دستگاهی که باید با آن کار کنند . ( در جزئیات ) </a:t>
            </a:r>
          </a:p>
          <a:p>
            <a:pPr marL="609600" indent="-609600" algn="r" rtl="1" eaLnBrk="1" hangingPunct="1">
              <a:buFont typeface="Wingdings" pitchFamily="2" charset="2"/>
              <a:buAutoNum type="arabicPeriod"/>
            </a:pPr>
            <a:r>
              <a:rPr lang="fa-IR" b="1" smtClean="0"/>
              <a:t>بیان اجمالی مبانی نظری عملیات یا آزمایشها </a:t>
            </a:r>
          </a:p>
          <a:p>
            <a:pPr marL="609600" indent="-609600" algn="r" rtl="1" eaLnBrk="1" hangingPunct="1">
              <a:buFont typeface="Wingdings" pitchFamily="2" charset="2"/>
              <a:buAutoNum type="arabicPeriod"/>
            </a:pPr>
            <a:r>
              <a:rPr lang="fa-IR" b="1" smtClean="0"/>
              <a:t>استفاده از نمودارها بجای معادلات ریاضی </a:t>
            </a:r>
          </a:p>
          <a:p>
            <a:pPr marL="609600" indent="-609600" algn="r" rtl="1" eaLnBrk="1" hangingPunct="1">
              <a:buFont typeface="Wingdings" pitchFamily="2" charset="2"/>
              <a:buAutoNum type="arabicPeriod"/>
            </a:pPr>
            <a:r>
              <a:rPr lang="fa-IR" b="1" smtClean="0"/>
              <a:t>ارجاع دادن به متون دیگر و نیز کتابچه های راهنما</a:t>
            </a:r>
            <a:r>
              <a:rPr lang="fa-IR" smtClean="0"/>
              <a:t> </a:t>
            </a:r>
            <a:endParaRPr lang="en-US" smtClean="0"/>
          </a:p>
        </p:txBody>
      </p:sp>
      <p:sp>
        <p:nvSpPr>
          <p:cNvPr id="30105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مخاطبین سطح دوم :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3"/>
          <p:cNvSpPr>
            <a:spLocks noGrp="1" noChangeArrowheads="1"/>
          </p:cNvSpPr>
          <p:nvPr>
            <p:ph idx="1"/>
          </p:nvPr>
        </p:nvSpPr>
        <p:spPr/>
        <p:txBody>
          <a:bodyPr/>
          <a:lstStyle/>
          <a:p>
            <a:pPr marL="609600" indent="-609600" algn="r" rtl="1" eaLnBrk="1" hangingPunct="1">
              <a:lnSpc>
                <a:spcPct val="80000"/>
              </a:lnSpc>
              <a:buFont typeface="Wingdings" pitchFamily="2" charset="2"/>
              <a:buAutoNum type="arabicPeriod"/>
            </a:pPr>
            <a:r>
              <a:rPr lang="fa-IR" sz="2800" b="1" smtClean="0"/>
              <a:t>نیازی به شرح کارهایی که ماشین یا دستگاه ( به ویژه آزمایشگاهی ) انجام می دهد نیست .  </a:t>
            </a:r>
          </a:p>
          <a:p>
            <a:pPr marL="609600" indent="-609600" algn="r" rtl="1" eaLnBrk="1" hangingPunct="1">
              <a:lnSpc>
                <a:spcPct val="80000"/>
              </a:lnSpc>
              <a:buFont typeface="Wingdings" pitchFamily="2" charset="2"/>
              <a:buAutoNum type="arabicPeriod"/>
            </a:pPr>
            <a:r>
              <a:rPr lang="fa-IR" sz="2800" b="1" smtClean="0"/>
              <a:t>( فرض بر این است که مخاطبین اطلاع لازم را دارند )</a:t>
            </a:r>
          </a:p>
          <a:p>
            <a:pPr marL="609600" indent="-609600" algn="r" rtl="1" eaLnBrk="1" hangingPunct="1">
              <a:lnSpc>
                <a:spcPct val="80000"/>
              </a:lnSpc>
              <a:buFont typeface="Wingdings" pitchFamily="2" charset="2"/>
              <a:buAutoNum type="arabicPeriod"/>
            </a:pPr>
            <a:r>
              <a:rPr lang="fa-IR" sz="2800" b="1" smtClean="0"/>
              <a:t>تشریح عملیاتی وسایل خاص آزمایشگاهی و علمی ( در صورت وجود ) </a:t>
            </a:r>
          </a:p>
          <a:p>
            <a:pPr marL="609600" indent="-609600" algn="r" rtl="1" eaLnBrk="1" hangingPunct="1">
              <a:lnSpc>
                <a:spcPct val="80000"/>
              </a:lnSpc>
              <a:buFont typeface="Wingdings" pitchFamily="2" charset="2"/>
              <a:buAutoNum type="arabicPeriod"/>
            </a:pPr>
            <a:r>
              <a:rPr lang="fa-IR" sz="2800" b="1" smtClean="0"/>
              <a:t>تشریح اجزایی وسایل خاص و نحوه پیاده کردن و سوار کردن آنها . در صورت امکان همراه با شکلهای لازم </a:t>
            </a:r>
          </a:p>
          <a:p>
            <a:pPr marL="609600" indent="-609600" algn="r" rtl="1" eaLnBrk="1" hangingPunct="1">
              <a:lnSpc>
                <a:spcPct val="80000"/>
              </a:lnSpc>
              <a:buFont typeface="Wingdings" pitchFamily="2" charset="2"/>
              <a:buAutoNum type="arabicPeriod"/>
            </a:pPr>
            <a:r>
              <a:rPr lang="fa-IR" sz="2800" b="1" smtClean="0"/>
              <a:t> شرح اصول نظری عملیات به کمک طرحها ، نقشه ها ، و مفاهیم نظری </a:t>
            </a:r>
          </a:p>
          <a:p>
            <a:pPr marL="609600" indent="-609600" algn="r" rtl="1" eaLnBrk="1" hangingPunct="1">
              <a:lnSpc>
                <a:spcPct val="80000"/>
              </a:lnSpc>
              <a:buFont typeface="Wingdings" pitchFamily="2" charset="2"/>
              <a:buAutoNum type="arabicPeriod"/>
            </a:pPr>
            <a:r>
              <a:rPr lang="fa-IR" sz="2800" b="1" smtClean="0"/>
              <a:t>استفاده از منحنی ها  بجای معادلات تئوریک </a:t>
            </a:r>
          </a:p>
          <a:p>
            <a:pPr marL="609600" indent="-609600" algn="r" rtl="1" eaLnBrk="1" hangingPunct="1">
              <a:lnSpc>
                <a:spcPct val="80000"/>
              </a:lnSpc>
              <a:buFont typeface="Wingdings" pitchFamily="2" charset="2"/>
              <a:buAutoNum type="arabicPeriod"/>
            </a:pPr>
            <a:r>
              <a:rPr lang="fa-IR" sz="2800" b="1" smtClean="0"/>
              <a:t>ارجاع دادن به منابع دیگر</a:t>
            </a:r>
            <a:r>
              <a:rPr lang="fa-IR" sz="2800" smtClean="0"/>
              <a:t> </a:t>
            </a:r>
            <a:endParaRPr lang="en-US" sz="2800" smtClean="0"/>
          </a:p>
        </p:txBody>
      </p:sp>
      <p:sp>
        <p:nvSpPr>
          <p:cNvPr id="30208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مخاطبین سطح سوم :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شرح مفاهیم مهم مبنایی </a:t>
            </a:r>
          </a:p>
          <a:p>
            <a:pPr marL="609600" indent="-609600" algn="r" rtl="1" eaLnBrk="1" hangingPunct="1">
              <a:buFont typeface="Wingdings" pitchFamily="2" charset="2"/>
              <a:buAutoNum type="arabicPeriod"/>
            </a:pPr>
            <a:r>
              <a:rPr lang="fa-IR" b="1" smtClean="0"/>
              <a:t>ارائه اطلاعات به طور کامل </a:t>
            </a:r>
          </a:p>
          <a:p>
            <a:pPr marL="609600" indent="-609600" algn="r" rtl="1" eaLnBrk="1" hangingPunct="1">
              <a:buFont typeface="Wingdings" pitchFamily="2" charset="2"/>
              <a:buAutoNum type="arabicPeriod"/>
            </a:pPr>
            <a:r>
              <a:rPr lang="fa-IR" b="1" smtClean="0"/>
              <a:t>درج محاسبات ریاضی ساده </a:t>
            </a:r>
          </a:p>
          <a:p>
            <a:pPr marL="609600" indent="-609600" algn="r" rtl="1" eaLnBrk="1" hangingPunct="1">
              <a:buFont typeface="Wingdings" pitchFamily="2" charset="2"/>
              <a:buAutoNum type="arabicPeriod"/>
            </a:pPr>
            <a:r>
              <a:rPr lang="fa-IR" b="1" smtClean="0"/>
              <a:t>اجتناب از محاسبات ریاضی پیشرفته ( در صورت لزوم در پیوستها آورده شود )</a:t>
            </a:r>
          </a:p>
          <a:p>
            <a:pPr marL="609600" indent="-609600" algn="r" rtl="1" eaLnBrk="1" hangingPunct="1">
              <a:buFont typeface="Wingdings" pitchFamily="2" charset="2"/>
              <a:buAutoNum type="arabicPeriod"/>
            </a:pPr>
            <a:r>
              <a:rPr lang="fa-IR" b="1" smtClean="0"/>
              <a:t>استفاده از نمادهای استاندارد</a:t>
            </a:r>
            <a:r>
              <a:rPr lang="fa-IR" smtClean="0"/>
              <a:t> </a:t>
            </a:r>
            <a:endParaRPr lang="en-US" smtClean="0"/>
          </a:p>
        </p:txBody>
      </p:sp>
      <p:sp>
        <p:nvSpPr>
          <p:cNvPr id="30310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مخاطبین سطح چهارم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ذکر منابع حاوی مفاهیم مبنایی در مقدمه </a:t>
            </a:r>
          </a:p>
          <a:p>
            <a:pPr marL="609600" indent="-609600" algn="r" rtl="1" eaLnBrk="1" hangingPunct="1">
              <a:buFont typeface="Wingdings" pitchFamily="2" charset="2"/>
              <a:buAutoNum type="arabicPeriod"/>
            </a:pPr>
            <a:r>
              <a:rPr lang="fa-IR" b="1" smtClean="0"/>
              <a:t>استفاده از ریاضیات عالی برای بیان مطلب </a:t>
            </a:r>
          </a:p>
          <a:p>
            <a:pPr marL="609600" indent="-609600" algn="r" rtl="1" eaLnBrk="1" hangingPunct="1">
              <a:buFont typeface="Wingdings" pitchFamily="2" charset="2"/>
              <a:buAutoNum type="arabicPeriod"/>
            </a:pPr>
            <a:r>
              <a:rPr lang="fa-IR" b="1" smtClean="0"/>
              <a:t>ارائه اطلاعات به طور گستره و کامل </a:t>
            </a:r>
          </a:p>
          <a:p>
            <a:pPr marL="609600" indent="-609600" algn="r" rtl="1" eaLnBrk="1" hangingPunct="1">
              <a:buFont typeface="Wingdings" pitchFamily="2" charset="2"/>
              <a:buAutoNum type="arabicPeriod"/>
            </a:pPr>
            <a:r>
              <a:rPr lang="fa-IR" b="1" smtClean="0"/>
              <a:t>استفاده از نمادهای استاندارد</a:t>
            </a:r>
            <a:r>
              <a:rPr lang="fa-IR" smtClean="0"/>
              <a:t> </a:t>
            </a:r>
            <a:endParaRPr lang="en-US" smtClean="0"/>
          </a:p>
        </p:txBody>
      </p:sp>
      <p:sp>
        <p:nvSpPr>
          <p:cNvPr id="30413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مخاطبین سطح پنجم </a:t>
            </a:r>
            <a:endParaRPr lang="en-US" sz="37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Text Box 4">
            <a:hlinkClick r:id="rId2" action="ppaction://hlinksldjump"/>
          </p:cNvPr>
          <p:cNvSpPr txBox="1">
            <a:spLocks noChangeArrowheads="1"/>
          </p:cNvSpPr>
          <p:nvPr/>
        </p:nvSpPr>
        <p:spPr bwMode="auto">
          <a:xfrm>
            <a:off x="2484438" y="2379663"/>
            <a:ext cx="4464050" cy="762000"/>
          </a:xfrm>
          <a:prstGeom prst="rect">
            <a:avLst/>
          </a:prstGeom>
          <a:noFill/>
          <a:ln w="9525">
            <a:noFill/>
            <a:miter lim="800000"/>
            <a:headEnd/>
            <a:tailEnd/>
          </a:ln>
        </p:spPr>
        <p:txBody>
          <a:bodyPr>
            <a:spAutoFit/>
          </a:bodyPr>
          <a:lstStyle/>
          <a:p>
            <a:pPr rtl="1"/>
            <a:r>
              <a:rPr lang="fa-IR" sz="4400" dirty="0">
                <a:solidFill>
                  <a:schemeClr val="tx1"/>
                </a:solidFill>
                <a:cs typeface="B Titr" panose="00000700000000000000" pitchFamily="2" charset="-78"/>
              </a:rPr>
              <a:t>ارائه </a:t>
            </a:r>
            <a:r>
              <a:rPr lang="fa-IR" sz="4400" dirty="0" err="1">
                <a:solidFill>
                  <a:schemeClr val="tx1"/>
                </a:solidFill>
                <a:cs typeface="B Titr" panose="00000700000000000000" pitchFamily="2" charset="-78"/>
              </a:rPr>
              <a:t>شفاهي</a:t>
            </a:r>
            <a:endParaRPr lang="en-US" sz="4400" dirty="0">
              <a:solidFill>
                <a:schemeClr val="tx1"/>
              </a:solidFill>
              <a:cs typeface="B Titr" panose="00000700000000000000" pitchFamily="2" charset="-78"/>
            </a:endParaRPr>
          </a:p>
        </p:txBody>
      </p:sp>
    </p:spTree>
  </p:cSld>
  <p:clrMapOvr>
    <a:masterClrMapping/>
  </p:clrMapOvr>
  <p:transition spd="med">
    <p:wipe dir="d"/>
  </p:transition>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3"/>
          <p:cNvSpPr>
            <a:spLocks noGrp="1" noChangeArrowheads="1"/>
          </p:cNvSpPr>
          <p:nvPr>
            <p:ph idx="1"/>
          </p:nvPr>
        </p:nvSpPr>
        <p:spPr/>
        <p:txBody>
          <a:bodyPr/>
          <a:lstStyle/>
          <a:p>
            <a:pPr algn="justLow" rtl="1" eaLnBrk="1" hangingPunct="1">
              <a:buFont typeface="Wingdings" pitchFamily="2" charset="2"/>
              <a:buNone/>
            </a:pPr>
            <a:r>
              <a:rPr lang="fa-IR" b="1" dirty="0" smtClean="0"/>
              <a:t>نوعی انتقال اطلاعات است که </a:t>
            </a:r>
            <a:r>
              <a:rPr lang="fa-IR" b="1" dirty="0" smtClean="0">
                <a:solidFill>
                  <a:srgbClr val="00B050"/>
                </a:solidFill>
              </a:rPr>
              <a:t>رسانه اصلی آن کلام یا گفتار </a:t>
            </a:r>
            <a:r>
              <a:rPr lang="fa-IR" b="1" dirty="0" smtClean="0"/>
              <a:t>است . ارائه کننده ایده مورد نظرش را با استفاده </a:t>
            </a:r>
            <a:r>
              <a:rPr lang="fa-IR" b="1" dirty="0" err="1" smtClean="0"/>
              <a:t>ازگفتار</a:t>
            </a:r>
            <a:r>
              <a:rPr lang="fa-IR" b="1" dirty="0" smtClean="0"/>
              <a:t> و برخی امکانات دیگر به مخاطب منتقل می‌کند . ساخت و پرداخت جملات که بعضی از آنها </a:t>
            </a:r>
            <a:r>
              <a:rPr lang="fa-IR" b="1" dirty="0" smtClean="0">
                <a:solidFill>
                  <a:srgbClr val="00B050"/>
                </a:solidFill>
              </a:rPr>
              <a:t>پیش اندیشیده</a:t>
            </a:r>
            <a:r>
              <a:rPr lang="fa-IR" b="1" dirty="0" smtClean="0"/>
              <a:t> و بعضی </a:t>
            </a:r>
            <a:r>
              <a:rPr lang="fa-IR" b="1" dirty="0" smtClean="0">
                <a:solidFill>
                  <a:srgbClr val="00B050"/>
                </a:solidFill>
              </a:rPr>
              <a:t>موردی و فی </a:t>
            </a:r>
            <a:r>
              <a:rPr lang="fa-IR" b="1" dirty="0" err="1" smtClean="0">
                <a:solidFill>
                  <a:srgbClr val="00B050"/>
                </a:solidFill>
              </a:rPr>
              <a:t>البداهه</a:t>
            </a:r>
            <a:r>
              <a:rPr lang="fa-IR" b="1" dirty="0" smtClean="0">
                <a:solidFill>
                  <a:srgbClr val="00B050"/>
                </a:solidFill>
              </a:rPr>
              <a:t> </a:t>
            </a:r>
            <a:r>
              <a:rPr lang="fa-IR" b="1" dirty="0" smtClean="0"/>
              <a:t>هستند به هر حال نیاز به نوعی انشاء مطلب دارد . از این رو ارائه شفاهی در معنای عام به </a:t>
            </a:r>
            <a:r>
              <a:rPr lang="fa-IR" b="1" dirty="0" smtClean="0">
                <a:solidFill>
                  <a:srgbClr val="FF0000"/>
                </a:solidFill>
              </a:rPr>
              <a:t>انشای </a:t>
            </a:r>
            <a:r>
              <a:rPr lang="fa-IR" b="1" dirty="0" err="1" smtClean="0">
                <a:solidFill>
                  <a:srgbClr val="FF0000"/>
                </a:solidFill>
              </a:rPr>
              <a:t>خطابی</a:t>
            </a:r>
            <a:r>
              <a:rPr lang="fa-IR" b="1" dirty="0" smtClean="0">
                <a:solidFill>
                  <a:srgbClr val="FF0000"/>
                </a:solidFill>
              </a:rPr>
              <a:t> </a:t>
            </a:r>
            <a:r>
              <a:rPr lang="fa-IR" b="1" dirty="0" smtClean="0"/>
              <a:t>نیز موسوم است .</a:t>
            </a:r>
            <a:endParaRPr lang="en-US" b="1" dirty="0" smtClean="0"/>
          </a:p>
        </p:txBody>
      </p:sp>
      <p:sp>
        <p:nvSpPr>
          <p:cNvPr id="30617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تعریف ارائه شفاهی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3"/>
          <p:cNvSpPr>
            <a:spLocks noGrp="1" noChangeArrowheads="1"/>
          </p:cNvSpPr>
          <p:nvPr>
            <p:ph idx="1"/>
          </p:nvPr>
        </p:nvSpPr>
        <p:spPr>
          <a:xfrm>
            <a:off x="457200" y="1268413"/>
            <a:ext cx="8229600" cy="5589587"/>
          </a:xfrm>
        </p:spPr>
        <p:txBody>
          <a:bodyPr/>
          <a:lstStyle/>
          <a:p>
            <a:pPr algn="r" rtl="1" eaLnBrk="1" hangingPunct="1">
              <a:lnSpc>
                <a:spcPct val="80000"/>
              </a:lnSpc>
            </a:pPr>
            <a:r>
              <a:rPr lang="fa-IR" sz="2000" b="1" dirty="0" smtClean="0"/>
              <a:t>حضوری است ( مخاطب در حضور است )</a:t>
            </a:r>
            <a:endParaRPr lang="en-US" sz="2000" dirty="0" smtClean="0"/>
          </a:p>
          <a:p>
            <a:pPr algn="r" rtl="1" eaLnBrk="1" hangingPunct="1">
              <a:lnSpc>
                <a:spcPct val="80000"/>
              </a:lnSpc>
            </a:pPr>
            <a:r>
              <a:rPr lang="fa-IR" sz="2000" b="1" dirty="0" smtClean="0"/>
              <a:t>قابل استناد نیست ( مگر آنکه گفتار به نحوی ضبط شود ) .</a:t>
            </a:r>
            <a:endParaRPr lang="en-US" sz="2000" dirty="0" smtClean="0"/>
          </a:p>
          <a:p>
            <a:pPr algn="r" rtl="1" eaLnBrk="1" hangingPunct="1">
              <a:lnSpc>
                <a:spcPct val="80000"/>
              </a:lnSpc>
            </a:pPr>
            <a:r>
              <a:rPr lang="fa-IR" sz="2000" b="1" dirty="0" smtClean="0"/>
              <a:t>به خاطر محدودیت زمانی به اندازه ارائه کتبی مشروح نیست و ممکن است در معرض خطر </a:t>
            </a:r>
            <a:r>
              <a:rPr lang="fa-IR" sz="2000" b="1" dirty="0" smtClean="0">
                <a:solidFill>
                  <a:srgbClr val="00B050"/>
                </a:solidFill>
              </a:rPr>
              <a:t>ناقص</a:t>
            </a:r>
            <a:r>
              <a:rPr lang="fa-IR" sz="2000" b="1" dirty="0" smtClean="0"/>
              <a:t> بودن باشد </a:t>
            </a:r>
            <a:endParaRPr lang="en-US" sz="2000" dirty="0" smtClean="0"/>
          </a:p>
          <a:p>
            <a:pPr algn="r" rtl="1" eaLnBrk="1" hangingPunct="1">
              <a:lnSpc>
                <a:spcPct val="80000"/>
              </a:lnSpc>
            </a:pPr>
            <a:r>
              <a:rPr lang="fa-IR" sz="2000" b="1" dirty="0" smtClean="0"/>
              <a:t>کنترل کیفی – کمی آن دشوار است و </a:t>
            </a:r>
            <a:r>
              <a:rPr lang="fa-IR" sz="2000" b="1" dirty="0" smtClean="0">
                <a:solidFill>
                  <a:srgbClr val="00B050"/>
                </a:solidFill>
              </a:rPr>
              <a:t>مهارت</a:t>
            </a:r>
            <a:r>
              <a:rPr lang="fa-IR" sz="2000" b="1" dirty="0" smtClean="0"/>
              <a:t> خاصی لازم دارد </a:t>
            </a:r>
            <a:endParaRPr lang="en-US" sz="2000" dirty="0" smtClean="0"/>
          </a:p>
          <a:p>
            <a:pPr algn="r" rtl="1" eaLnBrk="1" hangingPunct="1">
              <a:lnSpc>
                <a:spcPct val="80000"/>
              </a:lnSpc>
            </a:pPr>
            <a:r>
              <a:rPr lang="fa-IR" sz="2000" b="1" dirty="0" smtClean="0"/>
              <a:t>تعداد مخاطبین معمولا کمتر از تعداد مخاطبین ارائه کتبی است  </a:t>
            </a:r>
            <a:endParaRPr lang="en-US" sz="2000" dirty="0" smtClean="0"/>
          </a:p>
          <a:p>
            <a:pPr algn="r" rtl="1" eaLnBrk="1" hangingPunct="1">
              <a:lnSpc>
                <a:spcPct val="80000"/>
              </a:lnSpc>
            </a:pPr>
            <a:r>
              <a:rPr lang="fa-IR" sz="2000" b="1" dirty="0" smtClean="0"/>
              <a:t>از نظر آرایش و سبک بیان  ضوابط ارائه کتبی را ندارد و ارائه کننده می </a:t>
            </a:r>
            <a:r>
              <a:rPr lang="fa-IR" sz="2000" b="1" dirty="0" err="1" smtClean="0"/>
              <a:t>تواتند</a:t>
            </a:r>
            <a:r>
              <a:rPr lang="fa-IR" sz="2000" b="1" dirty="0" smtClean="0"/>
              <a:t> از چند سبک بیانی استفاده کند .</a:t>
            </a:r>
            <a:endParaRPr lang="en-US" sz="2000" dirty="0" smtClean="0"/>
          </a:p>
          <a:p>
            <a:pPr algn="r" rtl="1" eaLnBrk="1" hangingPunct="1">
              <a:lnSpc>
                <a:spcPct val="80000"/>
              </a:lnSpc>
            </a:pPr>
            <a:r>
              <a:rPr lang="fa-IR" sz="2000" b="1" dirty="0" smtClean="0"/>
              <a:t>تاثیر گذاری </a:t>
            </a:r>
            <a:r>
              <a:rPr lang="fa-IR" sz="2000" b="1" dirty="0" err="1" smtClean="0"/>
              <a:t>اش</a:t>
            </a:r>
            <a:r>
              <a:rPr lang="fa-IR" sz="2000" b="1" dirty="0" smtClean="0"/>
              <a:t> می تواند سریع باشد هر چند اثرش در مخاطب لزوما دیرپای نیست .</a:t>
            </a:r>
            <a:endParaRPr lang="en-US" sz="2000" dirty="0" smtClean="0"/>
          </a:p>
          <a:p>
            <a:pPr algn="r" rtl="1" eaLnBrk="1" hangingPunct="1">
              <a:lnSpc>
                <a:spcPct val="80000"/>
              </a:lnSpc>
            </a:pPr>
            <a:r>
              <a:rPr lang="fa-IR" sz="2000" b="1" dirty="0" smtClean="0"/>
              <a:t>امکان تبادل نظر بین ارائه کننده و مخاطب وجود دارد و به بیان دیگر نوعی انتقال اطلاعات </a:t>
            </a:r>
            <a:r>
              <a:rPr lang="fa-IR" sz="2000" b="1" dirty="0" err="1" smtClean="0">
                <a:solidFill>
                  <a:srgbClr val="00B050"/>
                </a:solidFill>
              </a:rPr>
              <a:t>دوسویه</a:t>
            </a:r>
            <a:r>
              <a:rPr lang="fa-IR" sz="2000" b="1" dirty="0" smtClean="0"/>
              <a:t> است .</a:t>
            </a:r>
            <a:endParaRPr lang="en-US" sz="2000" dirty="0" smtClean="0"/>
          </a:p>
          <a:p>
            <a:pPr algn="r" rtl="1" eaLnBrk="1" hangingPunct="1">
              <a:lnSpc>
                <a:spcPct val="80000"/>
              </a:lnSpc>
            </a:pPr>
            <a:r>
              <a:rPr lang="fa-IR" sz="2000" b="1" dirty="0" smtClean="0"/>
              <a:t>از نظر مجموعه امکانات از ارائه کتبی غنی تر است به ویژه &lt;&lt; </a:t>
            </a:r>
            <a:r>
              <a:rPr lang="fa-IR" sz="2000" b="1" dirty="0" smtClean="0">
                <a:solidFill>
                  <a:srgbClr val="FF0000"/>
                </a:solidFill>
              </a:rPr>
              <a:t>زبان بدن </a:t>
            </a:r>
            <a:r>
              <a:rPr lang="fa-IR" sz="2000" b="1" dirty="0" smtClean="0"/>
              <a:t>&gt;&gt;  امکانی بسیار موثر در این نوع انتقال اطلاعات است .</a:t>
            </a:r>
            <a:endParaRPr lang="en-US" sz="2000" dirty="0" smtClean="0"/>
          </a:p>
          <a:p>
            <a:pPr algn="r" rtl="1" eaLnBrk="1" hangingPunct="1">
              <a:lnSpc>
                <a:spcPct val="80000"/>
              </a:lnSpc>
            </a:pPr>
            <a:r>
              <a:rPr lang="fa-IR" sz="2000" b="1" dirty="0" smtClean="0"/>
              <a:t>ممکن است با هدف سازگاری و یا مجاب کردن مخاطب و جلب نظر موافق او انجام شود. از این نظر ارائه شفاهی ممکن است &lt;&lt; </a:t>
            </a:r>
            <a:r>
              <a:rPr lang="fa-IR" sz="2000" b="1" dirty="0" smtClean="0">
                <a:solidFill>
                  <a:srgbClr val="FF0000"/>
                </a:solidFill>
              </a:rPr>
              <a:t>آگاه ساز </a:t>
            </a:r>
            <a:r>
              <a:rPr lang="fa-IR" sz="2000" b="1" dirty="0" smtClean="0"/>
              <a:t>&gt;&gt; یا &lt;&lt; </a:t>
            </a:r>
            <a:r>
              <a:rPr lang="fa-IR" sz="2000" b="1" dirty="0" smtClean="0">
                <a:solidFill>
                  <a:srgbClr val="FF0000"/>
                </a:solidFill>
              </a:rPr>
              <a:t>مجاب کننده </a:t>
            </a:r>
            <a:r>
              <a:rPr lang="fa-IR" sz="2000" b="1" dirty="0" smtClean="0"/>
              <a:t>&gt;&gt; باشد .</a:t>
            </a:r>
            <a:endParaRPr lang="en-US" sz="2000" dirty="0" smtClean="0"/>
          </a:p>
          <a:p>
            <a:pPr algn="r" rtl="1" eaLnBrk="1" hangingPunct="1">
              <a:lnSpc>
                <a:spcPct val="80000"/>
              </a:lnSpc>
            </a:pPr>
            <a:endParaRPr lang="en-US" sz="2000" dirty="0" smtClean="0"/>
          </a:p>
        </p:txBody>
      </p:sp>
      <p:sp>
        <p:nvSpPr>
          <p:cNvPr id="30720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خصوصیات ارائه شفاهی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86722" name="Rectangle 4"/>
          <p:cNvSpPr>
            <a:spLocks noChangeArrowheads="1"/>
          </p:cNvSpPr>
          <p:nvPr/>
        </p:nvSpPr>
        <p:spPr bwMode="auto">
          <a:xfrm>
            <a:off x="7297738" y="26988"/>
            <a:ext cx="1036637" cy="376237"/>
          </a:xfrm>
          <a:prstGeom prst="rect">
            <a:avLst/>
          </a:prstGeom>
          <a:solidFill>
            <a:srgbClr val="FFFF99"/>
          </a:solidFill>
          <a:ln w="9525" algn="ctr">
            <a:solidFill>
              <a:schemeClr val="tx1"/>
            </a:solidFill>
            <a:miter lim="800000"/>
            <a:headEnd/>
            <a:tailEnd/>
          </a:ln>
        </p:spPr>
        <p:txBody>
          <a:bodyPr wrap="none" anchor="ctr">
            <a:spAutoFit/>
          </a:bodyPr>
          <a:lstStyle/>
          <a:p>
            <a:r>
              <a:rPr lang="fa-IR">
                <a:solidFill>
                  <a:schemeClr val="tx1"/>
                </a:solidFill>
              </a:rPr>
              <a:t>ارائه كننده </a:t>
            </a:r>
            <a:endParaRPr lang="en-US">
              <a:solidFill>
                <a:schemeClr val="tx1"/>
              </a:solidFill>
            </a:endParaRPr>
          </a:p>
        </p:txBody>
      </p:sp>
      <p:sp>
        <p:nvSpPr>
          <p:cNvPr id="286723" name="Rectangle 5"/>
          <p:cNvSpPr>
            <a:spLocks noChangeArrowheads="1"/>
          </p:cNvSpPr>
          <p:nvPr/>
        </p:nvSpPr>
        <p:spPr bwMode="auto">
          <a:xfrm>
            <a:off x="612775" y="26988"/>
            <a:ext cx="793750" cy="376237"/>
          </a:xfrm>
          <a:prstGeom prst="rect">
            <a:avLst/>
          </a:prstGeom>
          <a:solidFill>
            <a:srgbClr val="FFFF99"/>
          </a:solidFill>
          <a:ln w="9525" algn="ctr">
            <a:solidFill>
              <a:schemeClr val="tx1"/>
            </a:solidFill>
            <a:miter lim="800000"/>
            <a:headEnd/>
            <a:tailEnd/>
          </a:ln>
        </p:spPr>
        <p:txBody>
          <a:bodyPr wrap="none" anchor="ctr">
            <a:spAutoFit/>
          </a:bodyPr>
          <a:lstStyle/>
          <a:p>
            <a:r>
              <a:rPr lang="fa-IR">
                <a:solidFill>
                  <a:schemeClr val="tx1"/>
                </a:solidFill>
              </a:rPr>
              <a:t>مخاطب </a:t>
            </a:r>
            <a:endParaRPr lang="en-US">
              <a:solidFill>
                <a:schemeClr val="tx1"/>
              </a:solidFill>
            </a:endParaRPr>
          </a:p>
        </p:txBody>
      </p:sp>
      <p:sp>
        <p:nvSpPr>
          <p:cNvPr id="286724" name="Rectangle 6"/>
          <p:cNvSpPr>
            <a:spLocks noChangeArrowheads="1"/>
          </p:cNvSpPr>
          <p:nvPr/>
        </p:nvSpPr>
        <p:spPr bwMode="auto">
          <a:xfrm>
            <a:off x="3679825" y="26988"/>
            <a:ext cx="1792288" cy="376237"/>
          </a:xfrm>
          <a:prstGeom prst="rect">
            <a:avLst/>
          </a:prstGeom>
          <a:solidFill>
            <a:srgbClr val="FFFF99"/>
          </a:solidFill>
          <a:ln w="9525" algn="ctr">
            <a:solidFill>
              <a:schemeClr val="tx1"/>
            </a:solidFill>
            <a:miter lim="800000"/>
            <a:headEnd/>
            <a:tailEnd/>
          </a:ln>
        </p:spPr>
        <p:txBody>
          <a:bodyPr wrap="none" anchor="ctr">
            <a:spAutoFit/>
          </a:bodyPr>
          <a:lstStyle/>
          <a:p>
            <a:r>
              <a:rPr lang="fa-IR">
                <a:solidFill>
                  <a:schemeClr val="tx1"/>
                </a:solidFill>
              </a:rPr>
              <a:t>امكانات ارائه شفاهي </a:t>
            </a:r>
            <a:endParaRPr lang="en-US">
              <a:solidFill>
                <a:schemeClr val="tx1"/>
              </a:solidFill>
            </a:endParaRPr>
          </a:p>
        </p:txBody>
      </p:sp>
      <p:sp>
        <p:nvSpPr>
          <p:cNvPr id="286725" name="Rectangle 7"/>
          <p:cNvSpPr>
            <a:spLocks noChangeArrowheads="1"/>
          </p:cNvSpPr>
          <p:nvPr/>
        </p:nvSpPr>
        <p:spPr bwMode="auto">
          <a:xfrm>
            <a:off x="0" y="404813"/>
            <a:ext cx="2017713" cy="369332"/>
          </a:xfrm>
          <a:prstGeom prst="rect">
            <a:avLst/>
          </a:prstGeom>
          <a:solidFill>
            <a:schemeClr val="accent1"/>
          </a:solidFill>
          <a:ln w="9525" algn="ctr">
            <a:solidFill>
              <a:schemeClr val="tx1"/>
            </a:solidFill>
            <a:miter lim="800000"/>
            <a:headEnd/>
            <a:tailEnd/>
          </a:ln>
        </p:spPr>
        <p:txBody>
          <a:bodyPr anchor="ctr">
            <a:spAutoFit/>
          </a:bodyPr>
          <a:lstStyle/>
          <a:p>
            <a:endParaRPr lang="en-US" dirty="0">
              <a:solidFill>
                <a:schemeClr val="bg1"/>
              </a:solidFill>
            </a:endParaRPr>
          </a:p>
        </p:txBody>
      </p:sp>
      <p:sp>
        <p:nvSpPr>
          <p:cNvPr id="286726" name="Rectangle 8"/>
          <p:cNvSpPr>
            <a:spLocks noChangeArrowheads="1"/>
          </p:cNvSpPr>
          <p:nvPr/>
        </p:nvSpPr>
        <p:spPr bwMode="auto">
          <a:xfrm>
            <a:off x="3132138" y="908050"/>
            <a:ext cx="2735262" cy="5045075"/>
          </a:xfrm>
          <a:prstGeom prst="rect">
            <a:avLst/>
          </a:prstGeom>
          <a:solidFill>
            <a:srgbClr val="FFFF99"/>
          </a:solidFill>
          <a:ln w="9525" algn="ctr">
            <a:solidFill>
              <a:schemeClr val="tx1"/>
            </a:solidFill>
            <a:miter lim="800000"/>
            <a:headEnd/>
            <a:tailEnd/>
          </a:ln>
        </p:spPr>
        <p:txBody>
          <a:bodyPr anchor="ctr">
            <a:spAutoFit/>
          </a:bodyPr>
          <a:lstStyle/>
          <a:p>
            <a:pPr algn="r"/>
            <a:r>
              <a:rPr lang="fa-IR" dirty="0">
                <a:solidFill>
                  <a:schemeClr val="tx1"/>
                </a:solidFill>
              </a:rPr>
              <a:t>1-</a:t>
            </a:r>
            <a:r>
              <a:rPr lang="fa-IR" dirty="0" err="1">
                <a:solidFill>
                  <a:schemeClr val="tx1"/>
                </a:solidFill>
              </a:rPr>
              <a:t>خصوصيات</a:t>
            </a:r>
            <a:r>
              <a:rPr lang="fa-IR" dirty="0">
                <a:solidFill>
                  <a:schemeClr val="tx1"/>
                </a:solidFill>
              </a:rPr>
              <a:t> ارائه </a:t>
            </a:r>
            <a:r>
              <a:rPr lang="fa-IR" dirty="0" err="1">
                <a:solidFill>
                  <a:schemeClr val="tx1"/>
                </a:solidFill>
              </a:rPr>
              <a:t>كننده</a:t>
            </a:r>
            <a:endParaRPr lang="fa-IR" dirty="0">
              <a:solidFill>
                <a:schemeClr val="tx1"/>
              </a:solidFill>
            </a:endParaRPr>
          </a:p>
          <a:p>
            <a:pPr algn="r"/>
            <a:r>
              <a:rPr lang="fa-IR" dirty="0">
                <a:solidFill>
                  <a:srgbClr val="FF0000"/>
                </a:solidFill>
              </a:rPr>
              <a:t>2-</a:t>
            </a:r>
            <a:r>
              <a:rPr lang="fa-IR" dirty="0" err="1">
                <a:solidFill>
                  <a:srgbClr val="FF0000"/>
                </a:solidFill>
              </a:rPr>
              <a:t>كلام</a:t>
            </a:r>
            <a:r>
              <a:rPr lang="fa-IR" dirty="0">
                <a:solidFill>
                  <a:srgbClr val="FF0000"/>
                </a:solidFill>
              </a:rPr>
              <a:t> </a:t>
            </a:r>
          </a:p>
          <a:p>
            <a:pPr algn="r"/>
            <a:r>
              <a:rPr lang="fa-IR" dirty="0">
                <a:solidFill>
                  <a:schemeClr val="tx1"/>
                </a:solidFill>
              </a:rPr>
              <a:t>3-</a:t>
            </a:r>
            <a:r>
              <a:rPr lang="fa-IR" dirty="0" err="1">
                <a:solidFill>
                  <a:schemeClr val="tx1"/>
                </a:solidFill>
              </a:rPr>
              <a:t>سبك</a:t>
            </a:r>
            <a:r>
              <a:rPr lang="fa-IR" dirty="0">
                <a:solidFill>
                  <a:schemeClr val="tx1"/>
                </a:solidFill>
              </a:rPr>
              <a:t> </a:t>
            </a:r>
            <a:r>
              <a:rPr lang="fa-IR" dirty="0" err="1">
                <a:solidFill>
                  <a:schemeClr val="tx1"/>
                </a:solidFill>
              </a:rPr>
              <a:t>بيان</a:t>
            </a:r>
            <a:r>
              <a:rPr lang="fa-IR" dirty="0">
                <a:solidFill>
                  <a:schemeClr val="tx1"/>
                </a:solidFill>
              </a:rPr>
              <a:t> و </a:t>
            </a:r>
            <a:r>
              <a:rPr lang="fa-IR" dirty="0">
                <a:solidFill>
                  <a:srgbClr val="FF0000"/>
                </a:solidFill>
              </a:rPr>
              <a:t>صدا</a:t>
            </a:r>
          </a:p>
          <a:p>
            <a:pPr algn="r"/>
            <a:r>
              <a:rPr lang="fa-IR" dirty="0">
                <a:solidFill>
                  <a:schemeClr val="tx1"/>
                </a:solidFill>
              </a:rPr>
              <a:t>-آهنگ</a:t>
            </a:r>
          </a:p>
          <a:p>
            <a:pPr algn="r"/>
            <a:r>
              <a:rPr lang="fa-IR" dirty="0">
                <a:solidFill>
                  <a:schemeClr val="tx1"/>
                </a:solidFill>
              </a:rPr>
              <a:t>-نواخت و </a:t>
            </a:r>
            <a:r>
              <a:rPr lang="fa-IR" dirty="0">
                <a:solidFill>
                  <a:srgbClr val="FF0000"/>
                </a:solidFill>
              </a:rPr>
              <a:t>لحن</a:t>
            </a:r>
          </a:p>
          <a:p>
            <a:pPr algn="r"/>
            <a:r>
              <a:rPr lang="fa-IR" dirty="0">
                <a:solidFill>
                  <a:schemeClr val="tx1"/>
                </a:solidFill>
              </a:rPr>
              <a:t>-طرز </a:t>
            </a:r>
            <a:r>
              <a:rPr lang="fa-IR" dirty="0" err="1">
                <a:solidFill>
                  <a:srgbClr val="FF0000"/>
                </a:solidFill>
              </a:rPr>
              <a:t>اداي</a:t>
            </a:r>
            <a:r>
              <a:rPr lang="fa-IR" dirty="0">
                <a:solidFill>
                  <a:schemeClr val="tx1"/>
                </a:solidFill>
              </a:rPr>
              <a:t> </a:t>
            </a:r>
            <a:r>
              <a:rPr lang="fa-IR" dirty="0" err="1">
                <a:solidFill>
                  <a:schemeClr val="tx1"/>
                </a:solidFill>
              </a:rPr>
              <a:t>كلمات</a:t>
            </a:r>
            <a:r>
              <a:rPr lang="fa-IR" dirty="0">
                <a:solidFill>
                  <a:schemeClr val="tx1"/>
                </a:solidFill>
              </a:rPr>
              <a:t> </a:t>
            </a:r>
          </a:p>
          <a:p>
            <a:pPr algn="r"/>
            <a:r>
              <a:rPr lang="fa-IR" dirty="0">
                <a:solidFill>
                  <a:schemeClr val="tx1"/>
                </a:solidFill>
              </a:rPr>
              <a:t>-</a:t>
            </a:r>
            <a:r>
              <a:rPr lang="fa-IR" dirty="0" err="1">
                <a:solidFill>
                  <a:srgbClr val="FF0000"/>
                </a:solidFill>
              </a:rPr>
              <a:t>مكث</a:t>
            </a:r>
            <a:r>
              <a:rPr lang="fa-IR" dirty="0">
                <a:solidFill>
                  <a:schemeClr val="tx1"/>
                </a:solidFill>
              </a:rPr>
              <a:t> و </a:t>
            </a:r>
            <a:r>
              <a:rPr lang="fa-IR" dirty="0" err="1">
                <a:solidFill>
                  <a:schemeClr val="tx1"/>
                </a:solidFill>
              </a:rPr>
              <a:t>سكوت</a:t>
            </a:r>
            <a:r>
              <a:rPr lang="fa-IR" dirty="0">
                <a:solidFill>
                  <a:schemeClr val="tx1"/>
                </a:solidFill>
              </a:rPr>
              <a:t> </a:t>
            </a:r>
          </a:p>
          <a:p>
            <a:pPr algn="r"/>
            <a:r>
              <a:rPr lang="fa-IR" dirty="0">
                <a:solidFill>
                  <a:schemeClr val="tx1"/>
                </a:solidFill>
              </a:rPr>
              <a:t>4- </a:t>
            </a:r>
            <a:r>
              <a:rPr lang="fa-IR" dirty="0">
                <a:solidFill>
                  <a:srgbClr val="FF0000"/>
                </a:solidFill>
              </a:rPr>
              <a:t>حضور </a:t>
            </a:r>
            <a:r>
              <a:rPr lang="fa-IR" dirty="0" err="1">
                <a:solidFill>
                  <a:srgbClr val="FF0000"/>
                </a:solidFill>
              </a:rPr>
              <a:t>فيزيكي</a:t>
            </a:r>
            <a:r>
              <a:rPr lang="fa-IR" dirty="0">
                <a:solidFill>
                  <a:srgbClr val="FF0000"/>
                </a:solidFill>
              </a:rPr>
              <a:t> </a:t>
            </a:r>
            <a:r>
              <a:rPr lang="fa-IR" dirty="0" err="1">
                <a:solidFill>
                  <a:schemeClr val="tx1"/>
                </a:solidFill>
              </a:rPr>
              <a:t>رويارويي</a:t>
            </a:r>
            <a:r>
              <a:rPr lang="fa-IR" dirty="0">
                <a:solidFill>
                  <a:schemeClr val="tx1"/>
                </a:solidFill>
              </a:rPr>
              <a:t> </a:t>
            </a:r>
          </a:p>
          <a:p>
            <a:pPr algn="r" rtl="1">
              <a:buFontTx/>
              <a:buChar char="-"/>
            </a:pPr>
            <a:r>
              <a:rPr lang="fa-IR" dirty="0">
                <a:solidFill>
                  <a:srgbClr val="FF0000"/>
                </a:solidFill>
              </a:rPr>
              <a:t>زبان بدن</a:t>
            </a:r>
          </a:p>
          <a:p>
            <a:pPr algn="r" rtl="1">
              <a:buFontTx/>
              <a:buChar char="-"/>
            </a:pPr>
            <a:r>
              <a:rPr lang="fa-IR" dirty="0">
                <a:solidFill>
                  <a:srgbClr val="FF0000"/>
                </a:solidFill>
              </a:rPr>
              <a:t>نگاه </a:t>
            </a:r>
          </a:p>
          <a:p>
            <a:pPr algn="r" rtl="1"/>
            <a:r>
              <a:rPr lang="fa-IR" dirty="0">
                <a:solidFill>
                  <a:schemeClr val="tx1"/>
                </a:solidFill>
              </a:rPr>
              <a:t>5- </a:t>
            </a:r>
            <a:r>
              <a:rPr lang="fa-IR" dirty="0" err="1">
                <a:solidFill>
                  <a:schemeClr val="tx1"/>
                </a:solidFill>
              </a:rPr>
              <a:t>امكانات</a:t>
            </a:r>
            <a:r>
              <a:rPr lang="fa-IR" dirty="0">
                <a:solidFill>
                  <a:schemeClr val="tx1"/>
                </a:solidFill>
              </a:rPr>
              <a:t> </a:t>
            </a:r>
            <a:r>
              <a:rPr lang="fa-IR" dirty="0" err="1">
                <a:solidFill>
                  <a:srgbClr val="FF0000"/>
                </a:solidFill>
              </a:rPr>
              <a:t>شنيداري</a:t>
            </a:r>
            <a:r>
              <a:rPr lang="fa-IR" dirty="0">
                <a:solidFill>
                  <a:srgbClr val="FF0000"/>
                </a:solidFill>
              </a:rPr>
              <a:t>- </a:t>
            </a:r>
            <a:r>
              <a:rPr lang="fa-IR" dirty="0" err="1">
                <a:solidFill>
                  <a:srgbClr val="FF0000"/>
                </a:solidFill>
              </a:rPr>
              <a:t>ديداري</a:t>
            </a:r>
            <a:r>
              <a:rPr lang="fa-IR" dirty="0">
                <a:solidFill>
                  <a:srgbClr val="FF0000"/>
                </a:solidFill>
              </a:rPr>
              <a:t> </a:t>
            </a:r>
          </a:p>
          <a:p>
            <a:pPr algn="r" rtl="1"/>
            <a:r>
              <a:rPr lang="fa-IR" dirty="0">
                <a:solidFill>
                  <a:schemeClr val="tx1"/>
                </a:solidFill>
              </a:rPr>
              <a:t>6- اعمال </a:t>
            </a:r>
            <a:r>
              <a:rPr lang="fa-IR" dirty="0" err="1">
                <a:solidFill>
                  <a:schemeClr val="tx1"/>
                </a:solidFill>
              </a:rPr>
              <a:t>تغييرات</a:t>
            </a:r>
            <a:r>
              <a:rPr lang="fa-IR" dirty="0">
                <a:solidFill>
                  <a:schemeClr val="tx1"/>
                </a:solidFill>
              </a:rPr>
              <a:t> </a:t>
            </a:r>
            <a:r>
              <a:rPr lang="fa-IR" dirty="0" err="1">
                <a:solidFill>
                  <a:schemeClr val="tx1"/>
                </a:solidFill>
              </a:rPr>
              <a:t>سريع</a:t>
            </a:r>
            <a:r>
              <a:rPr lang="fa-IR" dirty="0">
                <a:solidFill>
                  <a:schemeClr val="tx1"/>
                </a:solidFill>
              </a:rPr>
              <a:t> </a:t>
            </a:r>
          </a:p>
          <a:p>
            <a:pPr algn="r" rtl="1"/>
            <a:r>
              <a:rPr lang="fa-IR" dirty="0">
                <a:solidFill>
                  <a:schemeClr val="tx1"/>
                </a:solidFill>
              </a:rPr>
              <a:t>7- گفتار و </a:t>
            </a:r>
            <a:r>
              <a:rPr lang="fa-IR" dirty="0" err="1">
                <a:solidFill>
                  <a:schemeClr val="tx1"/>
                </a:solidFill>
              </a:rPr>
              <a:t>حركتهاي</a:t>
            </a:r>
            <a:r>
              <a:rPr lang="fa-IR" dirty="0">
                <a:solidFill>
                  <a:schemeClr val="tx1"/>
                </a:solidFill>
              </a:rPr>
              <a:t> </a:t>
            </a:r>
            <a:r>
              <a:rPr lang="fa-IR" dirty="0" err="1">
                <a:solidFill>
                  <a:schemeClr val="tx1"/>
                </a:solidFill>
              </a:rPr>
              <a:t>موردي</a:t>
            </a:r>
            <a:r>
              <a:rPr lang="fa-IR" dirty="0">
                <a:solidFill>
                  <a:schemeClr val="tx1"/>
                </a:solidFill>
              </a:rPr>
              <a:t> </a:t>
            </a:r>
          </a:p>
          <a:p>
            <a:pPr algn="r" rtl="1"/>
            <a:r>
              <a:rPr lang="fa-IR" dirty="0">
                <a:solidFill>
                  <a:schemeClr val="tx1"/>
                </a:solidFill>
              </a:rPr>
              <a:t>8- وضع زمان و </a:t>
            </a:r>
            <a:r>
              <a:rPr lang="fa-IR" dirty="0" err="1">
                <a:solidFill>
                  <a:schemeClr val="tx1"/>
                </a:solidFill>
              </a:rPr>
              <a:t>مكاني</a:t>
            </a:r>
            <a:r>
              <a:rPr lang="fa-IR" dirty="0">
                <a:solidFill>
                  <a:schemeClr val="tx1"/>
                </a:solidFill>
              </a:rPr>
              <a:t> </a:t>
            </a:r>
          </a:p>
          <a:p>
            <a:pPr algn="r" rtl="1"/>
            <a:r>
              <a:rPr lang="fa-IR" dirty="0">
                <a:solidFill>
                  <a:schemeClr val="tx1"/>
                </a:solidFill>
              </a:rPr>
              <a:t>9- وضع </a:t>
            </a:r>
            <a:r>
              <a:rPr lang="fa-IR" dirty="0" err="1">
                <a:solidFill>
                  <a:schemeClr val="tx1"/>
                </a:solidFill>
              </a:rPr>
              <a:t>روحي</a:t>
            </a:r>
            <a:r>
              <a:rPr lang="fa-IR" dirty="0">
                <a:solidFill>
                  <a:schemeClr val="tx1"/>
                </a:solidFill>
              </a:rPr>
              <a:t> – </a:t>
            </a:r>
            <a:r>
              <a:rPr lang="fa-IR" dirty="0" err="1">
                <a:solidFill>
                  <a:schemeClr val="tx1"/>
                </a:solidFill>
              </a:rPr>
              <a:t>عاطفي</a:t>
            </a:r>
            <a:r>
              <a:rPr lang="fa-IR" dirty="0">
                <a:solidFill>
                  <a:schemeClr val="tx1"/>
                </a:solidFill>
              </a:rPr>
              <a:t> </a:t>
            </a:r>
          </a:p>
          <a:p>
            <a:pPr algn="r" rtl="1"/>
            <a:r>
              <a:rPr lang="fa-IR" dirty="0" err="1">
                <a:solidFill>
                  <a:schemeClr val="tx1"/>
                </a:solidFill>
              </a:rPr>
              <a:t>احساسي</a:t>
            </a:r>
            <a:r>
              <a:rPr lang="fa-IR" dirty="0">
                <a:solidFill>
                  <a:schemeClr val="tx1"/>
                </a:solidFill>
              </a:rPr>
              <a:t> مخاطب </a:t>
            </a:r>
          </a:p>
          <a:p>
            <a:pPr algn="r" rtl="1"/>
            <a:r>
              <a:rPr lang="fa-IR" dirty="0">
                <a:solidFill>
                  <a:schemeClr val="tx1"/>
                </a:solidFill>
              </a:rPr>
              <a:t>10- وضع </a:t>
            </a:r>
            <a:r>
              <a:rPr lang="fa-IR" dirty="0" err="1">
                <a:solidFill>
                  <a:schemeClr val="tx1"/>
                </a:solidFill>
              </a:rPr>
              <a:t>اجتماعي</a:t>
            </a:r>
            <a:r>
              <a:rPr lang="fa-IR" dirty="0">
                <a:solidFill>
                  <a:schemeClr val="tx1"/>
                </a:solidFill>
              </a:rPr>
              <a:t> ارائه  </a:t>
            </a:r>
          </a:p>
          <a:p>
            <a:pPr algn="r" rtl="1"/>
            <a:endParaRPr lang="en-US" dirty="0">
              <a:solidFill>
                <a:schemeClr val="tx1"/>
              </a:solidFill>
            </a:endParaRPr>
          </a:p>
        </p:txBody>
      </p:sp>
      <p:sp>
        <p:nvSpPr>
          <p:cNvPr id="286727" name="Rectangle 9"/>
          <p:cNvSpPr>
            <a:spLocks noChangeArrowheads="1"/>
          </p:cNvSpPr>
          <p:nvPr/>
        </p:nvSpPr>
        <p:spPr bwMode="auto">
          <a:xfrm>
            <a:off x="6804025" y="476250"/>
            <a:ext cx="2017713" cy="369332"/>
          </a:xfrm>
          <a:prstGeom prst="rect">
            <a:avLst/>
          </a:prstGeom>
          <a:solidFill>
            <a:schemeClr val="accent1"/>
          </a:solidFill>
          <a:ln w="9525" algn="ctr">
            <a:solidFill>
              <a:schemeClr val="tx1"/>
            </a:solidFill>
            <a:miter lim="800000"/>
            <a:headEnd/>
            <a:tailEnd/>
          </a:ln>
        </p:spPr>
        <p:txBody>
          <a:bodyPr anchor="ctr">
            <a:spAutoFit/>
          </a:bodyPr>
          <a:lstStyle/>
          <a:p>
            <a:endParaRPr lang="en-US" dirty="0">
              <a:solidFill>
                <a:schemeClr val="bg1"/>
              </a:solidFill>
            </a:endParaRPr>
          </a:p>
        </p:txBody>
      </p:sp>
      <p:sp>
        <p:nvSpPr>
          <p:cNvPr id="286728" name="Oval 10"/>
          <p:cNvSpPr>
            <a:spLocks noChangeArrowheads="1"/>
          </p:cNvSpPr>
          <p:nvPr/>
        </p:nvSpPr>
        <p:spPr bwMode="auto">
          <a:xfrm>
            <a:off x="7451725" y="549275"/>
            <a:ext cx="1206500" cy="1298377"/>
          </a:xfrm>
          <a:prstGeom prst="ellipse">
            <a:avLst/>
          </a:prstGeom>
          <a:solidFill>
            <a:srgbClr val="FFFF99"/>
          </a:solidFill>
          <a:ln w="9525" algn="ctr">
            <a:solidFill>
              <a:schemeClr val="tx1"/>
            </a:solidFill>
            <a:round/>
            <a:headEnd/>
            <a:tailEnd/>
          </a:ln>
        </p:spPr>
        <p:txBody>
          <a:bodyPr anchor="ctr">
            <a:spAutoFit/>
          </a:bodyPr>
          <a:lstStyle/>
          <a:p>
            <a:r>
              <a:rPr lang="fa-IR">
                <a:solidFill>
                  <a:schemeClr val="tx1"/>
                </a:solidFill>
              </a:rPr>
              <a:t>پيام انديشي </a:t>
            </a:r>
          </a:p>
          <a:p>
            <a:endParaRPr lang="en-US">
              <a:solidFill>
                <a:schemeClr val="tx1"/>
              </a:solidFill>
            </a:endParaRPr>
          </a:p>
        </p:txBody>
      </p:sp>
      <p:sp>
        <p:nvSpPr>
          <p:cNvPr id="286729" name="Oval 11"/>
          <p:cNvSpPr>
            <a:spLocks noChangeArrowheads="1"/>
          </p:cNvSpPr>
          <p:nvPr/>
        </p:nvSpPr>
        <p:spPr bwMode="auto">
          <a:xfrm>
            <a:off x="7235825" y="2060575"/>
            <a:ext cx="1434076" cy="1298377"/>
          </a:xfrm>
          <a:prstGeom prst="ellipse">
            <a:avLst/>
          </a:prstGeom>
          <a:solidFill>
            <a:srgbClr val="FFFF99"/>
          </a:solidFill>
          <a:ln w="9525" algn="ctr">
            <a:solidFill>
              <a:schemeClr val="tx1"/>
            </a:solidFill>
            <a:round/>
            <a:headEnd/>
            <a:tailEnd/>
          </a:ln>
        </p:spPr>
        <p:txBody>
          <a:bodyPr wrap="none" anchor="ctr">
            <a:spAutoFit/>
          </a:bodyPr>
          <a:lstStyle/>
          <a:p>
            <a:r>
              <a:rPr lang="fa-IR">
                <a:solidFill>
                  <a:schemeClr val="tx1"/>
                </a:solidFill>
              </a:rPr>
              <a:t>پيام سازي </a:t>
            </a:r>
          </a:p>
          <a:p>
            <a:endParaRPr lang="fa-IR">
              <a:solidFill>
                <a:schemeClr val="tx1"/>
              </a:solidFill>
            </a:endParaRPr>
          </a:p>
          <a:p>
            <a:endParaRPr lang="en-US">
              <a:solidFill>
                <a:schemeClr val="tx1"/>
              </a:solidFill>
            </a:endParaRPr>
          </a:p>
        </p:txBody>
      </p:sp>
      <p:sp>
        <p:nvSpPr>
          <p:cNvPr id="286730" name="Oval 12"/>
          <p:cNvSpPr>
            <a:spLocks noChangeArrowheads="1"/>
          </p:cNvSpPr>
          <p:nvPr/>
        </p:nvSpPr>
        <p:spPr bwMode="auto">
          <a:xfrm>
            <a:off x="7235825" y="3573463"/>
            <a:ext cx="1470142" cy="1298377"/>
          </a:xfrm>
          <a:prstGeom prst="ellipse">
            <a:avLst/>
          </a:prstGeom>
          <a:solidFill>
            <a:srgbClr val="FFFF99"/>
          </a:solidFill>
          <a:ln w="9525" algn="ctr">
            <a:solidFill>
              <a:schemeClr val="tx1"/>
            </a:solidFill>
            <a:round/>
            <a:headEnd/>
            <a:tailEnd/>
          </a:ln>
        </p:spPr>
        <p:txBody>
          <a:bodyPr wrap="none" anchor="ctr">
            <a:spAutoFit/>
          </a:bodyPr>
          <a:lstStyle/>
          <a:p>
            <a:r>
              <a:rPr lang="fa-IR">
                <a:solidFill>
                  <a:schemeClr val="tx1"/>
                </a:solidFill>
              </a:rPr>
              <a:t>پيام پيرايي </a:t>
            </a:r>
          </a:p>
          <a:p>
            <a:endParaRPr lang="fa-IR">
              <a:solidFill>
                <a:schemeClr val="tx1"/>
              </a:solidFill>
            </a:endParaRPr>
          </a:p>
          <a:p>
            <a:endParaRPr lang="en-US">
              <a:solidFill>
                <a:schemeClr val="tx1"/>
              </a:solidFill>
            </a:endParaRPr>
          </a:p>
        </p:txBody>
      </p:sp>
      <p:sp>
        <p:nvSpPr>
          <p:cNvPr id="286731" name="Oval 13"/>
          <p:cNvSpPr>
            <a:spLocks noChangeArrowheads="1"/>
          </p:cNvSpPr>
          <p:nvPr/>
        </p:nvSpPr>
        <p:spPr bwMode="auto">
          <a:xfrm>
            <a:off x="7308850" y="5157788"/>
            <a:ext cx="1431822" cy="1298377"/>
          </a:xfrm>
          <a:prstGeom prst="ellipse">
            <a:avLst/>
          </a:prstGeom>
          <a:solidFill>
            <a:srgbClr val="FFFF99"/>
          </a:solidFill>
          <a:ln w="9525" algn="ctr">
            <a:solidFill>
              <a:schemeClr val="tx1"/>
            </a:solidFill>
            <a:round/>
            <a:headEnd/>
            <a:tailEnd/>
          </a:ln>
        </p:spPr>
        <p:txBody>
          <a:bodyPr wrap="none" anchor="ctr">
            <a:spAutoFit/>
          </a:bodyPr>
          <a:lstStyle/>
          <a:p>
            <a:r>
              <a:rPr lang="fa-IR">
                <a:solidFill>
                  <a:schemeClr val="tx1"/>
                </a:solidFill>
              </a:rPr>
              <a:t>پيام فرستي</a:t>
            </a:r>
          </a:p>
          <a:p>
            <a:endParaRPr lang="fa-IR">
              <a:solidFill>
                <a:schemeClr val="tx1"/>
              </a:solidFill>
            </a:endParaRPr>
          </a:p>
          <a:p>
            <a:endParaRPr lang="en-US">
              <a:solidFill>
                <a:schemeClr val="tx1"/>
              </a:solidFill>
            </a:endParaRPr>
          </a:p>
        </p:txBody>
      </p:sp>
      <p:sp>
        <p:nvSpPr>
          <p:cNvPr id="286732" name="Oval 14"/>
          <p:cNvSpPr>
            <a:spLocks noChangeArrowheads="1"/>
          </p:cNvSpPr>
          <p:nvPr/>
        </p:nvSpPr>
        <p:spPr bwMode="auto">
          <a:xfrm>
            <a:off x="509588" y="620713"/>
            <a:ext cx="978742" cy="1298377"/>
          </a:xfrm>
          <a:prstGeom prst="ellipse">
            <a:avLst/>
          </a:prstGeom>
          <a:solidFill>
            <a:srgbClr val="FFFF99"/>
          </a:solidFill>
          <a:ln w="9525" algn="ctr">
            <a:solidFill>
              <a:schemeClr val="tx1"/>
            </a:solidFill>
            <a:round/>
            <a:headEnd/>
            <a:tailEnd/>
          </a:ln>
        </p:spPr>
        <p:txBody>
          <a:bodyPr wrap="none" anchor="ctr">
            <a:spAutoFit/>
          </a:bodyPr>
          <a:lstStyle/>
          <a:p>
            <a:r>
              <a:rPr lang="fa-IR">
                <a:solidFill>
                  <a:schemeClr val="tx1"/>
                </a:solidFill>
              </a:rPr>
              <a:t>پرسش</a:t>
            </a:r>
          </a:p>
          <a:p>
            <a:r>
              <a:rPr lang="fa-IR">
                <a:solidFill>
                  <a:schemeClr val="tx1"/>
                </a:solidFill>
              </a:rPr>
              <a:t>ابهام </a:t>
            </a:r>
          </a:p>
          <a:p>
            <a:r>
              <a:rPr lang="fa-IR">
                <a:solidFill>
                  <a:schemeClr val="tx1"/>
                </a:solidFill>
              </a:rPr>
              <a:t>ترديد</a:t>
            </a:r>
            <a:endParaRPr lang="en-US">
              <a:solidFill>
                <a:schemeClr val="tx1"/>
              </a:solidFill>
            </a:endParaRPr>
          </a:p>
        </p:txBody>
      </p:sp>
      <p:sp>
        <p:nvSpPr>
          <p:cNvPr id="286733" name="Oval 15"/>
          <p:cNvSpPr>
            <a:spLocks noChangeArrowheads="1"/>
          </p:cNvSpPr>
          <p:nvPr/>
        </p:nvSpPr>
        <p:spPr bwMode="auto">
          <a:xfrm>
            <a:off x="142875" y="2398713"/>
            <a:ext cx="1582848" cy="908864"/>
          </a:xfrm>
          <a:prstGeom prst="ellipse">
            <a:avLst/>
          </a:prstGeom>
          <a:solidFill>
            <a:srgbClr val="FFFF99"/>
          </a:solidFill>
          <a:ln w="9525" algn="ctr">
            <a:solidFill>
              <a:schemeClr val="tx1"/>
            </a:solidFill>
            <a:round/>
            <a:headEnd/>
            <a:tailEnd/>
          </a:ln>
        </p:spPr>
        <p:txBody>
          <a:bodyPr wrap="none" anchor="ctr">
            <a:spAutoFit/>
          </a:bodyPr>
          <a:lstStyle/>
          <a:p>
            <a:r>
              <a:rPr lang="fa-IR">
                <a:solidFill>
                  <a:schemeClr val="tx1"/>
                </a:solidFill>
              </a:rPr>
              <a:t>درك يا حس </a:t>
            </a:r>
          </a:p>
          <a:p>
            <a:r>
              <a:rPr lang="fa-IR">
                <a:solidFill>
                  <a:schemeClr val="tx1"/>
                </a:solidFill>
              </a:rPr>
              <a:t>پيام </a:t>
            </a:r>
            <a:endParaRPr lang="en-US">
              <a:solidFill>
                <a:schemeClr val="tx1"/>
              </a:solidFill>
            </a:endParaRPr>
          </a:p>
        </p:txBody>
      </p:sp>
      <p:sp>
        <p:nvSpPr>
          <p:cNvPr id="286734" name="Oval 16"/>
          <p:cNvSpPr>
            <a:spLocks noChangeArrowheads="1"/>
          </p:cNvSpPr>
          <p:nvPr/>
        </p:nvSpPr>
        <p:spPr bwMode="auto">
          <a:xfrm>
            <a:off x="250825" y="3716338"/>
            <a:ext cx="1359690" cy="1298377"/>
          </a:xfrm>
          <a:prstGeom prst="ellipse">
            <a:avLst/>
          </a:prstGeom>
          <a:solidFill>
            <a:srgbClr val="FFFF99"/>
          </a:solidFill>
          <a:ln w="9525" algn="ctr">
            <a:solidFill>
              <a:schemeClr val="tx1"/>
            </a:solidFill>
            <a:round/>
            <a:headEnd/>
            <a:tailEnd/>
          </a:ln>
        </p:spPr>
        <p:txBody>
          <a:bodyPr wrap="none" anchor="ctr">
            <a:spAutoFit/>
          </a:bodyPr>
          <a:lstStyle/>
          <a:p>
            <a:r>
              <a:rPr lang="fa-IR">
                <a:solidFill>
                  <a:schemeClr val="tx1"/>
                </a:solidFill>
              </a:rPr>
              <a:t>پيام كاوي </a:t>
            </a:r>
          </a:p>
          <a:p>
            <a:endParaRPr lang="fa-IR">
              <a:solidFill>
                <a:schemeClr val="tx1"/>
              </a:solidFill>
            </a:endParaRPr>
          </a:p>
          <a:p>
            <a:endParaRPr lang="en-US">
              <a:solidFill>
                <a:schemeClr val="tx1"/>
              </a:solidFill>
            </a:endParaRPr>
          </a:p>
        </p:txBody>
      </p:sp>
      <p:sp>
        <p:nvSpPr>
          <p:cNvPr id="286735" name="Oval 17"/>
          <p:cNvSpPr>
            <a:spLocks noChangeArrowheads="1"/>
          </p:cNvSpPr>
          <p:nvPr/>
        </p:nvSpPr>
        <p:spPr bwMode="auto">
          <a:xfrm>
            <a:off x="250825" y="5157788"/>
            <a:ext cx="1364197" cy="1298377"/>
          </a:xfrm>
          <a:prstGeom prst="ellipse">
            <a:avLst/>
          </a:prstGeom>
          <a:solidFill>
            <a:srgbClr val="FFFF99"/>
          </a:solidFill>
          <a:ln w="9525" algn="ctr">
            <a:solidFill>
              <a:schemeClr val="tx1"/>
            </a:solidFill>
            <a:round/>
            <a:headEnd/>
            <a:tailEnd/>
          </a:ln>
        </p:spPr>
        <p:txBody>
          <a:bodyPr wrap="none" anchor="ctr">
            <a:spAutoFit/>
          </a:bodyPr>
          <a:lstStyle/>
          <a:p>
            <a:r>
              <a:rPr lang="fa-IR">
                <a:solidFill>
                  <a:schemeClr val="tx1"/>
                </a:solidFill>
              </a:rPr>
              <a:t>پيام گيري </a:t>
            </a:r>
          </a:p>
          <a:p>
            <a:endParaRPr lang="fa-IR">
              <a:solidFill>
                <a:schemeClr val="tx1"/>
              </a:solidFill>
            </a:endParaRPr>
          </a:p>
          <a:p>
            <a:endParaRPr lang="en-US">
              <a:solidFill>
                <a:schemeClr val="tx1"/>
              </a:solidFill>
            </a:endParaRPr>
          </a:p>
        </p:txBody>
      </p:sp>
      <p:sp>
        <p:nvSpPr>
          <p:cNvPr id="286736" name="Line 18"/>
          <p:cNvSpPr>
            <a:spLocks noChangeShapeType="1"/>
          </p:cNvSpPr>
          <p:nvPr/>
        </p:nvSpPr>
        <p:spPr bwMode="auto">
          <a:xfrm flipH="1">
            <a:off x="1547813" y="4652963"/>
            <a:ext cx="1584325" cy="936625"/>
          </a:xfrm>
          <a:prstGeom prst="line">
            <a:avLst/>
          </a:prstGeom>
          <a:noFill/>
          <a:ln w="9525">
            <a:solidFill>
              <a:srgbClr val="00FF00"/>
            </a:solidFill>
            <a:round/>
            <a:headEnd/>
            <a:tailEnd type="triangle" w="med" len="med"/>
          </a:ln>
        </p:spPr>
        <p:txBody>
          <a:bodyPr anchor="ctr">
            <a:spAutoFit/>
          </a:bodyPr>
          <a:lstStyle/>
          <a:p>
            <a:endParaRPr lang="en-US">
              <a:solidFill>
                <a:schemeClr val="tx1"/>
              </a:solidFill>
            </a:endParaRPr>
          </a:p>
        </p:txBody>
      </p:sp>
      <p:sp>
        <p:nvSpPr>
          <p:cNvPr id="286737" name="Line 19"/>
          <p:cNvSpPr>
            <a:spLocks noChangeShapeType="1"/>
          </p:cNvSpPr>
          <p:nvPr/>
        </p:nvSpPr>
        <p:spPr bwMode="auto">
          <a:xfrm>
            <a:off x="1547813" y="1341438"/>
            <a:ext cx="1584325" cy="0"/>
          </a:xfrm>
          <a:prstGeom prst="line">
            <a:avLst/>
          </a:prstGeom>
          <a:noFill/>
          <a:ln w="9525">
            <a:solidFill>
              <a:srgbClr val="00FF00"/>
            </a:solidFill>
            <a:round/>
            <a:headEnd/>
            <a:tailEnd type="triangle" w="med" len="med"/>
          </a:ln>
        </p:spPr>
        <p:txBody>
          <a:bodyPr anchor="ctr">
            <a:spAutoFit/>
          </a:bodyPr>
          <a:lstStyle/>
          <a:p>
            <a:endParaRPr lang="en-US">
              <a:solidFill>
                <a:schemeClr val="tx1"/>
              </a:solidFill>
            </a:endParaRPr>
          </a:p>
        </p:txBody>
      </p:sp>
      <p:sp>
        <p:nvSpPr>
          <p:cNvPr id="286738" name="Line 21"/>
          <p:cNvSpPr>
            <a:spLocks noChangeShapeType="1"/>
          </p:cNvSpPr>
          <p:nvPr/>
        </p:nvSpPr>
        <p:spPr bwMode="auto">
          <a:xfrm>
            <a:off x="5940425" y="1268413"/>
            <a:ext cx="1584325" cy="0"/>
          </a:xfrm>
          <a:prstGeom prst="line">
            <a:avLst/>
          </a:prstGeom>
          <a:noFill/>
          <a:ln w="9525">
            <a:solidFill>
              <a:srgbClr val="00FF00"/>
            </a:solidFill>
            <a:round/>
            <a:headEnd/>
            <a:tailEnd type="triangle" w="med" len="med"/>
          </a:ln>
        </p:spPr>
        <p:txBody>
          <a:bodyPr anchor="ctr">
            <a:spAutoFit/>
          </a:bodyPr>
          <a:lstStyle/>
          <a:p>
            <a:endParaRPr lang="en-US">
              <a:solidFill>
                <a:schemeClr val="tx1"/>
              </a:solidFill>
            </a:endParaRPr>
          </a:p>
        </p:txBody>
      </p:sp>
      <p:sp>
        <p:nvSpPr>
          <p:cNvPr id="286739" name="Line 22"/>
          <p:cNvSpPr>
            <a:spLocks noChangeShapeType="1"/>
          </p:cNvSpPr>
          <p:nvPr/>
        </p:nvSpPr>
        <p:spPr bwMode="auto">
          <a:xfrm flipH="1" flipV="1">
            <a:off x="5867400" y="4581525"/>
            <a:ext cx="1441450" cy="935038"/>
          </a:xfrm>
          <a:prstGeom prst="line">
            <a:avLst/>
          </a:prstGeom>
          <a:noFill/>
          <a:ln w="9525">
            <a:solidFill>
              <a:srgbClr val="00FF00"/>
            </a:solidFill>
            <a:round/>
            <a:headEnd/>
            <a:tailEnd type="triangle" w="med" len="med"/>
          </a:ln>
        </p:spPr>
        <p:txBody>
          <a:bodyPr anchor="ctr">
            <a:spAutoFit/>
          </a:bodyPr>
          <a:lstStyle/>
          <a:p>
            <a:endParaRPr lang="en-US">
              <a:solidFill>
                <a:schemeClr val="tx1"/>
              </a:solidFill>
            </a:endParaRPr>
          </a:p>
        </p:txBody>
      </p:sp>
    </p:spTree>
  </p:cSld>
  <p:clrMapOvr>
    <a:masterClrMapping/>
  </p:clrMapOvr>
  <p:transition spd="med">
    <p:wipe dir="d"/>
  </p:transition>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سخنرانی عمومی </a:t>
            </a:r>
          </a:p>
          <a:p>
            <a:pPr marL="609600" indent="-609600" algn="r" rtl="1" eaLnBrk="1" hangingPunct="1">
              <a:buFont typeface="Wingdings" pitchFamily="2" charset="2"/>
              <a:buAutoNum type="arabicPeriod"/>
            </a:pPr>
            <a:r>
              <a:rPr lang="fa-IR" b="1" smtClean="0"/>
              <a:t>تدریس </a:t>
            </a:r>
          </a:p>
          <a:p>
            <a:pPr marL="609600" indent="-609600" algn="r" rtl="1" eaLnBrk="1" hangingPunct="1">
              <a:buFont typeface="Wingdings" pitchFamily="2" charset="2"/>
              <a:buAutoNum type="arabicPeriod"/>
            </a:pPr>
            <a:r>
              <a:rPr lang="fa-IR" b="1" smtClean="0"/>
              <a:t>سخنرانی علمی – فنی </a:t>
            </a:r>
          </a:p>
          <a:p>
            <a:pPr marL="609600" indent="-609600" algn="r" rtl="1" eaLnBrk="1" hangingPunct="1">
              <a:buFont typeface="Wingdings" pitchFamily="2" charset="2"/>
              <a:buAutoNum type="arabicPeriod"/>
            </a:pPr>
            <a:r>
              <a:rPr lang="fa-IR" b="1" smtClean="0"/>
              <a:t>قرائت نثر و شعر</a:t>
            </a:r>
            <a:r>
              <a:rPr lang="fa-IR" smtClean="0"/>
              <a:t> </a:t>
            </a:r>
            <a:endParaRPr lang="en-US" smtClean="0"/>
          </a:p>
        </p:txBody>
      </p:sp>
      <p:sp>
        <p:nvSpPr>
          <p:cNvPr id="30925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انواع ارائه شفاهی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3"/>
          <p:cNvSpPr>
            <a:spLocks noGrp="1" noChangeArrowheads="1"/>
          </p:cNvSpPr>
          <p:nvPr>
            <p:ph idx="1"/>
          </p:nvPr>
        </p:nvSpPr>
        <p:spPr/>
        <p:txBody>
          <a:bodyPr/>
          <a:lstStyle/>
          <a:p>
            <a:pPr marL="457200" indent="-457200" algn="r" rtl="1" eaLnBrk="1" hangingPunct="1">
              <a:lnSpc>
                <a:spcPct val="90000"/>
              </a:lnSpc>
            </a:pPr>
            <a:r>
              <a:rPr lang="fa-IR" sz="2400" b="1" smtClean="0"/>
              <a:t>در این نوع ارائه شفاهی معمولا از امکانات شنیداری و دیداری استفاده نمی‌شود .</a:t>
            </a:r>
            <a:endParaRPr lang="en-US" sz="2400" smtClean="0"/>
          </a:p>
          <a:p>
            <a:pPr marL="457200" indent="-457200" algn="r" rtl="1" eaLnBrk="1" hangingPunct="1">
              <a:lnSpc>
                <a:spcPct val="90000"/>
              </a:lnSpc>
            </a:pPr>
            <a:r>
              <a:rPr lang="fa-IR" sz="2400" b="1" smtClean="0"/>
              <a:t>به طور انفرادی صورت می گیرد </a:t>
            </a:r>
            <a:endParaRPr lang="en-US" sz="2400" smtClean="0"/>
          </a:p>
          <a:p>
            <a:pPr marL="457200" indent="-457200" algn="r" rtl="1" eaLnBrk="1" hangingPunct="1">
              <a:lnSpc>
                <a:spcPct val="90000"/>
              </a:lnSpc>
            </a:pPr>
            <a:r>
              <a:rPr lang="fa-IR" sz="2400" b="1" smtClean="0"/>
              <a:t>مدتش معمولا حدود نیم ساعت و گاه بیشتر است </a:t>
            </a:r>
            <a:endParaRPr lang="en-US" sz="2400" smtClean="0"/>
          </a:p>
          <a:p>
            <a:pPr marL="457200" indent="-457200" algn="r" rtl="1" eaLnBrk="1" hangingPunct="1">
              <a:lnSpc>
                <a:spcPct val="90000"/>
              </a:lnSpc>
            </a:pPr>
            <a:r>
              <a:rPr lang="fa-IR" sz="2400" b="1" smtClean="0"/>
              <a:t>ارائه کننده باید آ یین سخنوری رابشناسد و با فن خطابه آشنا باشد </a:t>
            </a:r>
            <a:endParaRPr lang="en-US" sz="2400" smtClean="0"/>
          </a:p>
          <a:p>
            <a:pPr marL="457200" indent="-457200" algn="r" rtl="1" eaLnBrk="1" hangingPunct="1">
              <a:lnSpc>
                <a:spcPct val="90000"/>
              </a:lnSpc>
            </a:pPr>
            <a:r>
              <a:rPr lang="fa-IR" sz="2400" b="1" smtClean="0"/>
              <a:t>شخصیت سخنران و حرکات و رفتارش در حین سخنرانی در موفقیت یا عدم موفقیت سخنرانی تاثیر زیاد دارد </a:t>
            </a:r>
            <a:endParaRPr lang="en-US" sz="2400" smtClean="0"/>
          </a:p>
          <a:p>
            <a:pPr marL="457200" indent="-457200" algn="r" rtl="1" eaLnBrk="1" hangingPunct="1">
              <a:lnSpc>
                <a:spcPct val="90000"/>
              </a:lnSpc>
            </a:pPr>
            <a:r>
              <a:rPr lang="fa-IR" sz="2400" b="1" smtClean="0"/>
              <a:t>مناسبتهایش گوناگون است و محتوایش نیز طبعا تابع مناسب آن است</a:t>
            </a:r>
            <a:endParaRPr lang="en-US" sz="2400" smtClean="0"/>
          </a:p>
          <a:p>
            <a:pPr marL="457200" indent="-457200" algn="r" rtl="1" eaLnBrk="1" hangingPunct="1">
              <a:lnSpc>
                <a:spcPct val="90000"/>
              </a:lnSpc>
            </a:pPr>
            <a:r>
              <a:rPr lang="fa-IR" sz="2400" b="1" smtClean="0"/>
              <a:t>وضع روحی – عاطفی و احساسی مخاطب در این نوع ارائه عامل مهمی است </a:t>
            </a:r>
            <a:endParaRPr lang="en-US" sz="2400" smtClean="0"/>
          </a:p>
          <a:p>
            <a:pPr marL="457200" indent="-457200" algn="r" rtl="1" eaLnBrk="1" hangingPunct="1">
              <a:lnSpc>
                <a:spcPct val="90000"/>
              </a:lnSpc>
            </a:pPr>
            <a:r>
              <a:rPr lang="fa-IR" sz="2400" b="1" smtClean="0"/>
              <a:t>شرایط زمانی – مکانی می تواند عامل مهمی باشد </a:t>
            </a:r>
            <a:endParaRPr lang="en-US" sz="2400" smtClean="0"/>
          </a:p>
          <a:p>
            <a:pPr marL="457200" indent="-457200" algn="r" rtl="1" eaLnBrk="1" hangingPunct="1">
              <a:lnSpc>
                <a:spcPct val="90000"/>
              </a:lnSpc>
            </a:pPr>
            <a:endParaRPr lang="en-US" sz="2400" smtClean="0"/>
          </a:p>
        </p:txBody>
      </p:sp>
      <p:sp>
        <p:nvSpPr>
          <p:cNvPr id="31027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خصوصیات سخنرانی عمومی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3"/>
          <p:cNvSpPr>
            <a:spLocks noGrp="1" noChangeArrowheads="1"/>
          </p:cNvSpPr>
          <p:nvPr>
            <p:ph idx="1"/>
          </p:nvPr>
        </p:nvSpPr>
        <p:spPr/>
        <p:txBody>
          <a:bodyPr/>
          <a:lstStyle/>
          <a:p>
            <a:pPr algn="r" rtl="1" eaLnBrk="1" hangingPunct="1">
              <a:lnSpc>
                <a:spcPct val="90000"/>
              </a:lnSpc>
            </a:pPr>
            <a:r>
              <a:rPr lang="fa-IR" sz="2400" b="1" dirty="0" smtClean="0"/>
              <a:t>معمولا از امکانات شنیداری و دیداری ساده استفاده می شود </a:t>
            </a:r>
            <a:endParaRPr lang="en-US" sz="2400" dirty="0" smtClean="0"/>
          </a:p>
          <a:p>
            <a:pPr algn="r" rtl="1" eaLnBrk="1" hangingPunct="1">
              <a:lnSpc>
                <a:spcPct val="90000"/>
              </a:lnSpc>
            </a:pPr>
            <a:r>
              <a:rPr lang="fa-IR" sz="2400" b="1" dirty="0" smtClean="0"/>
              <a:t>هدف اصلی </a:t>
            </a:r>
            <a:r>
              <a:rPr lang="fa-IR" sz="2400" b="1" dirty="0" err="1" smtClean="0"/>
              <a:t>اش</a:t>
            </a:r>
            <a:r>
              <a:rPr lang="fa-IR" sz="2400" b="1" dirty="0" smtClean="0"/>
              <a:t> آموزش است </a:t>
            </a:r>
            <a:endParaRPr lang="en-US" sz="2400" dirty="0" smtClean="0"/>
          </a:p>
          <a:p>
            <a:pPr algn="r" rtl="1" eaLnBrk="1" hangingPunct="1">
              <a:lnSpc>
                <a:spcPct val="90000"/>
              </a:lnSpc>
            </a:pPr>
            <a:r>
              <a:rPr lang="fa-IR" sz="2400" b="1" dirty="0" smtClean="0"/>
              <a:t>ارائه کننده باید شیوه تدریس را بداند </a:t>
            </a:r>
            <a:endParaRPr lang="en-US" sz="2400" dirty="0" smtClean="0"/>
          </a:p>
          <a:p>
            <a:pPr algn="r" rtl="1" eaLnBrk="1" hangingPunct="1">
              <a:lnSpc>
                <a:spcPct val="90000"/>
              </a:lnSpc>
            </a:pPr>
            <a:r>
              <a:rPr lang="fa-IR" sz="2400" b="1" dirty="0" smtClean="0"/>
              <a:t>بر اساس یک </a:t>
            </a:r>
            <a:r>
              <a:rPr lang="fa-IR" sz="2400" b="1" dirty="0" smtClean="0">
                <a:solidFill>
                  <a:srgbClr val="0070C0"/>
                </a:solidFill>
              </a:rPr>
              <a:t>طرح درس </a:t>
            </a:r>
            <a:r>
              <a:rPr lang="fa-IR" sz="2400" b="1" dirty="0" smtClean="0"/>
              <a:t>مشخص انجام می شود که قبلا باید آماده شده باشد </a:t>
            </a:r>
            <a:endParaRPr lang="en-US" sz="2400" dirty="0" smtClean="0"/>
          </a:p>
          <a:p>
            <a:pPr algn="r" rtl="1" eaLnBrk="1" hangingPunct="1">
              <a:lnSpc>
                <a:spcPct val="90000"/>
              </a:lnSpc>
            </a:pPr>
            <a:r>
              <a:rPr lang="fa-IR" sz="2400" b="1" dirty="0" smtClean="0"/>
              <a:t>معمولا مخاطبین چندان اطلاعی از موضوع ندارند </a:t>
            </a:r>
            <a:endParaRPr lang="en-US" sz="2400" dirty="0" smtClean="0"/>
          </a:p>
          <a:p>
            <a:pPr algn="r" rtl="1" eaLnBrk="1" hangingPunct="1">
              <a:lnSpc>
                <a:spcPct val="90000"/>
              </a:lnSpc>
            </a:pPr>
            <a:r>
              <a:rPr lang="fa-IR" sz="2400" b="1" dirty="0" smtClean="0"/>
              <a:t>مخاطبین موظف به رعایت آداب خاص هستند </a:t>
            </a:r>
            <a:endParaRPr lang="en-US" sz="2400" dirty="0" smtClean="0"/>
          </a:p>
          <a:p>
            <a:pPr algn="r" rtl="1" eaLnBrk="1" hangingPunct="1">
              <a:lnSpc>
                <a:spcPct val="90000"/>
              </a:lnSpc>
            </a:pPr>
            <a:r>
              <a:rPr lang="fa-IR" sz="2400" b="1" dirty="0" smtClean="0"/>
              <a:t>مخاطبین ملزم به دریافت هستند </a:t>
            </a:r>
            <a:endParaRPr lang="en-US" sz="2400" dirty="0" smtClean="0"/>
          </a:p>
          <a:p>
            <a:pPr algn="r" rtl="1" eaLnBrk="1" hangingPunct="1">
              <a:lnSpc>
                <a:spcPct val="90000"/>
              </a:lnSpc>
            </a:pPr>
            <a:r>
              <a:rPr lang="fa-IR" sz="2400" b="1" dirty="0" smtClean="0">
                <a:solidFill>
                  <a:srgbClr val="0070C0"/>
                </a:solidFill>
              </a:rPr>
              <a:t>کسب اطمینان از انجام </a:t>
            </a:r>
            <a:r>
              <a:rPr lang="fa-IR" sz="2400" b="1" dirty="0" err="1" smtClean="0">
                <a:solidFill>
                  <a:srgbClr val="0070C0"/>
                </a:solidFill>
              </a:rPr>
              <a:t>فراروند</a:t>
            </a:r>
            <a:r>
              <a:rPr lang="fa-IR" sz="2400" b="1" dirty="0" smtClean="0">
                <a:solidFill>
                  <a:srgbClr val="0070C0"/>
                </a:solidFill>
              </a:rPr>
              <a:t> دریافت و درک </a:t>
            </a:r>
            <a:r>
              <a:rPr lang="fa-IR" sz="2400" b="1" dirty="0" smtClean="0"/>
              <a:t>بسیار حائز اهمیت است </a:t>
            </a:r>
            <a:endParaRPr lang="en-US" sz="2400" dirty="0" smtClean="0"/>
          </a:p>
          <a:p>
            <a:pPr algn="r" rtl="1" eaLnBrk="1" hangingPunct="1">
              <a:lnSpc>
                <a:spcPct val="90000"/>
              </a:lnSpc>
            </a:pPr>
            <a:r>
              <a:rPr lang="fa-IR" sz="2400" b="1" dirty="0" smtClean="0"/>
              <a:t>حتما باید </a:t>
            </a:r>
            <a:r>
              <a:rPr lang="fa-IR" sz="2400" b="1" dirty="0" smtClean="0">
                <a:solidFill>
                  <a:srgbClr val="0070C0"/>
                </a:solidFill>
              </a:rPr>
              <a:t>کنترل کمی و کیفی </a:t>
            </a:r>
            <a:r>
              <a:rPr lang="fa-IR" sz="2400" b="1" dirty="0" smtClean="0"/>
              <a:t>دقیق انجام شود </a:t>
            </a:r>
            <a:endParaRPr lang="en-US" sz="2400" dirty="0" smtClean="0"/>
          </a:p>
          <a:p>
            <a:pPr algn="r" rtl="1" eaLnBrk="1" hangingPunct="1">
              <a:lnSpc>
                <a:spcPct val="90000"/>
              </a:lnSpc>
            </a:pPr>
            <a:r>
              <a:rPr lang="fa-IR" sz="2400" b="1" dirty="0" smtClean="0"/>
              <a:t>مخاطبین از نظر دانش و آگاهی در موضوع ارائه معمولا با یکدیگر همسطح و زیر سطح ارائه کننده هستند </a:t>
            </a:r>
            <a:endParaRPr lang="en-US" sz="2400" dirty="0" smtClean="0"/>
          </a:p>
          <a:p>
            <a:pPr algn="r" rtl="1" eaLnBrk="1" hangingPunct="1">
              <a:lnSpc>
                <a:spcPct val="90000"/>
              </a:lnSpc>
            </a:pPr>
            <a:endParaRPr lang="en-US" sz="2400" dirty="0" smtClean="0"/>
          </a:p>
        </p:txBody>
      </p:sp>
      <p:sp>
        <p:nvSpPr>
          <p:cNvPr id="311298" name="Rectangle 2"/>
          <p:cNvSpPr>
            <a:spLocks noGrp="1" noChangeArrowheads="1"/>
          </p:cNvSpPr>
          <p:nvPr>
            <p:ph type="title"/>
          </p:nvPr>
        </p:nvSpPr>
        <p:spPr>
          <a:xfrm>
            <a:off x="663575"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خصوصیات کلی تدریس (ارائه تعلیمی):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3"/>
          <p:cNvSpPr>
            <a:spLocks noGrp="1" noChangeArrowheads="1"/>
          </p:cNvSpPr>
          <p:nvPr>
            <p:ph idx="1"/>
          </p:nvPr>
        </p:nvSpPr>
        <p:spPr/>
        <p:txBody>
          <a:bodyPr/>
          <a:lstStyle/>
          <a:p>
            <a:pPr algn="r" rtl="1" eaLnBrk="1" hangingPunct="1">
              <a:lnSpc>
                <a:spcPct val="80000"/>
              </a:lnSpc>
            </a:pPr>
            <a:r>
              <a:rPr lang="fa-IR" sz="1800" b="1" dirty="0" smtClean="0"/>
              <a:t>خاص محافل علمی – فنی است </a:t>
            </a:r>
            <a:endParaRPr lang="en-US" sz="1800" dirty="0" smtClean="0"/>
          </a:p>
          <a:p>
            <a:pPr algn="r" rtl="1" eaLnBrk="1" hangingPunct="1">
              <a:lnSpc>
                <a:spcPct val="80000"/>
              </a:lnSpc>
            </a:pPr>
            <a:r>
              <a:rPr lang="fa-IR" sz="1800" b="1" dirty="0" smtClean="0"/>
              <a:t>معمولا در </a:t>
            </a:r>
            <a:r>
              <a:rPr lang="fa-IR" sz="1800" b="1" dirty="0" smtClean="0">
                <a:solidFill>
                  <a:srgbClr val="0070C0"/>
                </a:solidFill>
              </a:rPr>
              <a:t>کنفرانس ، سمینار ، سمپوزیوم </a:t>
            </a:r>
            <a:r>
              <a:rPr lang="fa-IR" sz="1800" b="1" dirty="0" smtClean="0"/>
              <a:t>و ... انجام می شود </a:t>
            </a:r>
            <a:endParaRPr lang="en-US" sz="1800" dirty="0" smtClean="0"/>
          </a:p>
          <a:p>
            <a:pPr algn="r" rtl="1" eaLnBrk="1" hangingPunct="1">
              <a:lnSpc>
                <a:spcPct val="80000"/>
              </a:lnSpc>
            </a:pPr>
            <a:r>
              <a:rPr lang="fa-IR" sz="1800" b="1" dirty="0" smtClean="0"/>
              <a:t>موضوع آن غالبا تخصصی است </a:t>
            </a:r>
            <a:endParaRPr lang="en-US" sz="1800" dirty="0" smtClean="0"/>
          </a:p>
          <a:p>
            <a:pPr algn="r" rtl="1" eaLnBrk="1" hangingPunct="1">
              <a:lnSpc>
                <a:spcPct val="80000"/>
              </a:lnSpc>
            </a:pPr>
            <a:r>
              <a:rPr lang="fa-IR" sz="1800" b="1" dirty="0" smtClean="0"/>
              <a:t>از انواع امکانات دیداری </a:t>
            </a:r>
            <a:r>
              <a:rPr lang="fa-IR" sz="1800" b="1" dirty="0" err="1" smtClean="0"/>
              <a:t>وشنیداری</a:t>
            </a:r>
            <a:r>
              <a:rPr lang="fa-IR" sz="1800" b="1" dirty="0" smtClean="0"/>
              <a:t> در این نوع ارائه استفاده می شود </a:t>
            </a:r>
            <a:endParaRPr lang="en-US" sz="1800" dirty="0" smtClean="0"/>
          </a:p>
          <a:p>
            <a:pPr algn="r" rtl="1" eaLnBrk="1" hangingPunct="1">
              <a:lnSpc>
                <a:spcPct val="80000"/>
              </a:lnSpc>
            </a:pPr>
            <a:r>
              <a:rPr lang="fa-IR" sz="1800" b="1" dirty="0" err="1" smtClean="0"/>
              <a:t>مدتش</a:t>
            </a:r>
            <a:r>
              <a:rPr lang="fa-IR" sz="1800" b="1" dirty="0" smtClean="0"/>
              <a:t> بین</a:t>
            </a:r>
            <a:r>
              <a:rPr lang="fa-IR" sz="1800" b="1" dirty="0" smtClean="0">
                <a:solidFill>
                  <a:srgbClr val="0070C0"/>
                </a:solidFill>
              </a:rPr>
              <a:t> 10 تا 25 </a:t>
            </a:r>
            <a:r>
              <a:rPr lang="fa-IR" sz="1800" b="1" dirty="0" smtClean="0"/>
              <a:t>دقیقه است </a:t>
            </a:r>
            <a:endParaRPr lang="en-US" sz="1800" dirty="0" smtClean="0"/>
          </a:p>
          <a:p>
            <a:pPr algn="r" rtl="1" eaLnBrk="1" hangingPunct="1">
              <a:lnSpc>
                <a:spcPct val="80000"/>
              </a:lnSpc>
            </a:pPr>
            <a:r>
              <a:rPr lang="fa-IR" sz="1800" b="1" dirty="0" smtClean="0"/>
              <a:t>معمولا به طور انفرادی انجام می شود هرچند ، گاه ممکن است موضوعی را بیش از یک نفر و بر اساس یک طرح ارائه چند نفره ارائه نمایند </a:t>
            </a:r>
            <a:endParaRPr lang="en-US" sz="1800" dirty="0" smtClean="0"/>
          </a:p>
          <a:p>
            <a:pPr algn="r" rtl="1" eaLnBrk="1" hangingPunct="1">
              <a:lnSpc>
                <a:spcPct val="80000"/>
              </a:lnSpc>
            </a:pPr>
            <a:r>
              <a:rPr lang="fa-IR" sz="1800" b="1" dirty="0" smtClean="0"/>
              <a:t> </a:t>
            </a:r>
            <a:r>
              <a:rPr lang="fa-IR" sz="1800" b="1" dirty="0" smtClean="0">
                <a:solidFill>
                  <a:srgbClr val="0070C0"/>
                </a:solidFill>
              </a:rPr>
              <a:t>استفاده بجا و درست از امکانات سمعی – بصری </a:t>
            </a:r>
            <a:r>
              <a:rPr lang="fa-IR" sz="1800" b="1" dirty="0" smtClean="0"/>
              <a:t>در موفقیت آن بسیار تاثیر دارد </a:t>
            </a:r>
            <a:endParaRPr lang="en-US" sz="1800" dirty="0" smtClean="0"/>
          </a:p>
          <a:p>
            <a:pPr algn="r" rtl="1" eaLnBrk="1" hangingPunct="1">
              <a:lnSpc>
                <a:spcPct val="80000"/>
              </a:lnSpc>
            </a:pPr>
            <a:r>
              <a:rPr lang="fa-IR" sz="1800" b="1" dirty="0" err="1" smtClean="0"/>
              <a:t>محتوایش</a:t>
            </a:r>
            <a:r>
              <a:rPr lang="fa-IR" sz="1800" b="1" dirty="0" smtClean="0"/>
              <a:t> را باید با دقت آماده کرد و از این نظر تمام مراحل یک ارائه </a:t>
            </a:r>
            <a:r>
              <a:rPr lang="fa-IR" sz="1800" b="1" dirty="0" err="1" smtClean="0"/>
              <a:t>کتنبی</a:t>
            </a:r>
            <a:r>
              <a:rPr lang="fa-IR" sz="1800" b="1" dirty="0" smtClean="0"/>
              <a:t> ( غیر از تنظیم ساختار سه بخشی)  را باید انجام داد </a:t>
            </a:r>
            <a:endParaRPr lang="en-US" sz="1800" dirty="0" smtClean="0"/>
          </a:p>
          <a:p>
            <a:pPr algn="r" rtl="1" eaLnBrk="1" hangingPunct="1">
              <a:lnSpc>
                <a:spcPct val="80000"/>
              </a:lnSpc>
            </a:pPr>
            <a:r>
              <a:rPr lang="fa-IR" sz="1800" b="1" dirty="0" smtClean="0"/>
              <a:t>هر چند نیازی نیست که سخنران آیین سخنوری بداند اما هر چه سخنرانی با آداب سخنرانی بیشتر آشنا باشد موفق تر است .</a:t>
            </a:r>
            <a:endParaRPr lang="en-US" sz="1800" dirty="0" smtClean="0"/>
          </a:p>
          <a:p>
            <a:pPr algn="r" rtl="1" eaLnBrk="1" hangingPunct="1">
              <a:lnSpc>
                <a:spcPct val="80000"/>
              </a:lnSpc>
            </a:pPr>
            <a:r>
              <a:rPr lang="fa-IR" sz="1800" b="1" dirty="0" smtClean="0"/>
              <a:t>مخاطبین ممکن است از نظر دانش و آگاهی علمی – فنی در سطوح مختلف بوده حتی بعضی از آنها </a:t>
            </a:r>
            <a:r>
              <a:rPr lang="fa-IR" sz="1800" b="1" dirty="0" err="1" smtClean="0"/>
              <a:t>فراسطح</a:t>
            </a:r>
            <a:r>
              <a:rPr lang="fa-IR" sz="1800" b="1" dirty="0" smtClean="0"/>
              <a:t> ارائه کننده باشند </a:t>
            </a:r>
            <a:endParaRPr lang="en-US" sz="1800" dirty="0" smtClean="0"/>
          </a:p>
          <a:p>
            <a:pPr algn="r" rtl="1" eaLnBrk="1" hangingPunct="1">
              <a:lnSpc>
                <a:spcPct val="80000"/>
              </a:lnSpc>
            </a:pPr>
            <a:r>
              <a:rPr lang="fa-IR" sz="1800" b="1" dirty="0" smtClean="0"/>
              <a:t>ممکن است </a:t>
            </a:r>
            <a:r>
              <a:rPr lang="fa-IR" sz="1800" b="1" dirty="0" err="1" smtClean="0"/>
              <a:t>ماهیتا</a:t>
            </a:r>
            <a:r>
              <a:rPr lang="fa-IR" sz="1800" b="1" dirty="0" smtClean="0"/>
              <a:t> از نوع ارائه شفاهی اطلاع دهنده یا از نوع ارائه شفاهی مجاب کننده باشد </a:t>
            </a:r>
            <a:endParaRPr lang="en-US" sz="1800" dirty="0" smtClean="0"/>
          </a:p>
          <a:p>
            <a:pPr algn="r" rtl="1" eaLnBrk="1" hangingPunct="1">
              <a:lnSpc>
                <a:spcPct val="80000"/>
              </a:lnSpc>
            </a:pPr>
            <a:r>
              <a:rPr lang="fa-IR" sz="1800" b="1" dirty="0" smtClean="0"/>
              <a:t>حتما باید بر اساس یک </a:t>
            </a:r>
            <a:r>
              <a:rPr lang="fa-IR" sz="1800" b="1" dirty="0" smtClean="0">
                <a:solidFill>
                  <a:srgbClr val="0070C0"/>
                </a:solidFill>
              </a:rPr>
              <a:t>طرح زمانبندی مشخص </a:t>
            </a:r>
            <a:r>
              <a:rPr lang="fa-IR" sz="1800" b="1" dirty="0" smtClean="0"/>
              <a:t>انجام  شود </a:t>
            </a:r>
            <a:endParaRPr lang="en-US" sz="1800" dirty="0" smtClean="0"/>
          </a:p>
          <a:p>
            <a:pPr algn="r" rtl="1" eaLnBrk="1" hangingPunct="1">
              <a:lnSpc>
                <a:spcPct val="80000"/>
              </a:lnSpc>
            </a:pPr>
            <a:r>
              <a:rPr lang="fa-IR" sz="1800" b="1" dirty="0" smtClean="0"/>
              <a:t> ارائه کننده باید آدابی را رعایت کند و به بیان دیگر باید طبق شیوه ارائه عمل کند.</a:t>
            </a:r>
            <a:endParaRPr lang="en-US" sz="1800" dirty="0" smtClean="0"/>
          </a:p>
          <a:p>
            <a:pPr algn="r" rtl="1" eaLnBrk="1" hangingPunct="1">
              <a:lnSpc>
                <a:spcPct val="80000"/>
              </a:lnSpc>
            </a:pPr>
            <a:endParaRPr lang="en-US" sz="1800" dirty="0" smtClean="0"/>
          </a:p>
        </p:txBody>
      </p:sp>
      <p:sp>
        <p:nvSpPr>
          <p:cNvPr id="31232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خصوصیات سخنرانی علمی – فنی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91842" name="Line 4"/>
          <p:cNvSpPr>
            <a:spLocks noChangeShapeType="1"/>
          </p:cNvSpPr>
          <p:nvPr/>
        </p:nvSpPr>
        <p:spPr bwMode="auto">
          <a:xfrm>
            <a:off x="1979613" y="449263"/>
            <a:ext cx="0" cy="5616575"/>
          </a:xfrm>
          <a:prstGeom prst="line">
            <a:avLst/>
          </a:prstGeom>
          <a:noFill/>
          <a:ln w="9525">
            <a:solidFill>
              <a:srgbClr val="FFFF00"/>
            </a:solidFill>
            <a:round/>
            <a:headEnd type="triangle" w="med" len="med"/>
            <a:tailEnd/>
          </a:ln>
        </p:spPr>
        <p:txBody>
          <a:bodyPr anchor="ctr">
            <a:spAutoFit/>
          </a:bodyPr>
          <a:lstStyle/>
          <a:p>
            <a:endParaRPr lang="en-US"/>
          </a:p>
        </p:txBody>
      </p:sp>
      <p:sp>
        <p:nvSpPr>
          <p:cNvPr id="291843" name="Line 5"/>
          <p:cNvSpPr>
            <a:spLocks noChangeShapeType="1"/>
          </p:cNvSpPr>
          <p:nvPr/>
        </p:nvSpPr>
        <p:spPr bwMode="auto">
          <a:xfrm flipV="1">
            <a:off x="1979613" y="6021388"/>
            <a:ext cx="7164387" cy="44450"/>
          </a:xfrm>
          <a:prstGeom prst="line">
            <a:avLst/>
          </a:prstGeom>
          <a:noFill/>
          <a:ln w="9525">
            <a:solidFill>
              <a:srgbClr val="FFFF00"/>
            </a:solidFill>
            <a:round/>
            <a:headEnd/>
            <a:tailEnd type="triangle" w="med" len="med"/>
          </a:ln>
        </p:spPr>
        <p:txBody>
          <a:bodyPr anchor="ctr">
            <a:spAutoFit/>
          </a:bodyPr>
          <a:lstStyle/>
          <a:p>
            <a:endParaRPr lang="en-US"/>
          </a:p>
        </p:txBody>
      </p:sp>
      <p:sp>
        <p:nvSpPr>
          <p:cNvPr id="291844" name="Rectangle 6"/>
          <p:cNvSpPr>
            <a:spLocks noChangeArrowheads="1"/>
          </p:cNvSpPr>
          <p:nvPr/>
        </p:nvSpPr>
        <p:spPr bwMode="auto">
          <a:xfrm rot="-5400000">
            <a:off x="-6350" y="2636838"/>
            <a:ext cx="1862137" cy="376238"/>
          </a:xfrm>
          <a:prstGeom prst="rect">
            <a:avLst/>
          </a:prstGeom>
          <a:solidFill>
            <a:schemeClr val="tx2"/>
          </a:solidFill>
          <a:ln w="9525" algn="ctr">
            <a:solidFill>
              <a:srgbClr val="CCFFFF"/>
            </a:solidFill>
            <a:miter lim="800000"/>
            <a:headEnd/>
            <a:tailEnd/>
          </a:ln>
        </p:spPr>
        <p:txBody>
          <a:bodyPr wrap="none" anchor="ctr">
            <a:spAutoFit/>
          </a:bodyPr>
          <a:lstStyle/>
          <a:p>
            <a:r>
              <a:rPr lang="fa-IR"/>
              <a:t>درصد دريافت مخاطب </a:t>
            </a:r>
            <a:endParaRPr lang="en-US"/>
          </a:p>
        </p:txBody>
      </p:sp>
      <p:sp>
        <p:nvSpPr>
          <p:cNvPr id="291845" name="Line 7"/>
          <p:cNvSpPr>
            <a:spLocks noChangeShapeType="1"/>
          </p:cNvSpPr>
          <p:nvPr/>
        </p:nvSpPr>
        <p:spPr bwMode="auto">
          <a:xfrm>
            <a:off x="8604250" y="809625"/>
            <a:ext cx="71438" cy="5256213"/>
          </a:xfrm>
          <a:prstGeom prst="line">
            <a:avLst/>
          </a:prstGeom>
          <a:noFill/>
          <a:ln w="9525">
            <a:solidFill>
              <a:schemeClr val="tx1"/>
            </a:solidFill>
            <a:round/>
            <a:headEnd/>
            <a:tailEnd/>
          </a:ln>
        </p:spPr>
        <p:txBody>
          <a:bodyPr anchor="ctr">
            <a:spAutoFit/>
          </a:bodyPr>
          <a:lstStyle/>
          <a:p>
            <a:endParaRPr lang="en-US"/>
          </a:p>
        </p:txBody>
      </p:sp>
      <p:sp>
        <p:nvSpPr>
          <p:cNvPr id="291846" name="Rectangle 8"/>
          <p:cNvSpPr>
            <a:spLocks noChangeArrowheads="1"/>
          </p:cNvSpPr>
          <p:nvPr/>
        </p:nvSpPr>
        <p:spPr bwMode="auto">
          <a:xfrm>
            <a:off x="7380288" y="6354763"/>
            <a:ext cx="1498600" cy="376237"/>
          </a:xfrm>
          <a:prstGeom prst="rect">
            <a:avLst/>
          </a:prstGeom>
          <a:solidFill>
            <a:srgbClr val="CCFFFF"/>
          </a:solidFill>
          <a:ln w="9525" algn="ctr">
            <a:solidFill>
              <a:schemeClr val="tx1"/>
            </a:solidFill>
            <a:miter lim="800000"/>
            <a:headEnd/>
            <a:tailEnd/>
          </a:ln>
        </p:spPr>
        <p:txBody>
          <a:bodyPr wrap="none" anchor="ctr">
            <a:spAutoFit/>
          </a:bodyPr>
          <a:lstStyle/>
          <a:p>
            <a:r>
              <a:rPr lang="fa-IR">
                <a:solidFill>
                  <a:schemeClr val="tx1"/>
                </a:solidFill>
              </a:rPr>
              <a:t>زمان سپري شده </a:t>
            </a:r>
            <a:endParaRPr lang="en-US">
              <a:solidFill>
                <a:schemeClr val="tx1"/>
              </a:solidFill>
            </a:endParaRPr>
          </a:p>
        </p:txBody>
      </p:sp>
      <p:sp>
        <p:nvSpPr>
          <p:cNvPr id="291847" name="Line 10"/>
          <p:cNvSpPr>
            <a:spLocks noChangeShapeType="1"/>
          </p:cNvSpPr>
          <p:nvPr/>
        </p:nvSpPr>
        <p:spPr bwMode="auto">
          <a:xfrm>
            <a:off x="1979613" y="3330575"/>
            <a:ext cx="144462" cy="0"/>
          </a:xfrm>
          <a:prstGeom prst="line">
            <a:avLst/>
          </a:prstGeom>
          <a:noFill/>
          <a:ln w="9525">
            <a:solidFill>
              <a:schemeClr val="tx1"/>
            </a:solidFill>
            <a:round/>
            <a:headEnd/>
            <a:tailEnd/>
          </a:ln>
        </p:spPr>
        <p:txBody>
          <a:bodyPr anchor="ctr">
            <a:spAutoFit/>
          </a:bodyPr>
          <a:lstStyle/>
          <a:p>
            <a:endParaRPr lang="en-US"/>
          </a:p>
        </p:txBody>
      </p:sp>
      <p:sp>
        <p:nvSpPr>
          <p:cNvPr id="291848" name="Rectangle 11"/>
          <p:cNvSpPr>
            <a:spLocks noChangeArrowheads="1"/>
          </p:cNvSpPr>
          <p:nvPr/>
        </p:nvSpPr>
        <p:spPr bwMode="auto">
          <a:xfrm>
            <a:off x="1468438" y="3105150"/>
            <a:ext cx="450850" cy="376238"/>
          </a:xfrm>
          <a:prstGeom prst="rect">
            <a:avLst/>
          </a:prstGeom>
          <a:solidFill>
            <a:schemeClr val="tx2"/>
          </a:solidFill>
          <a:ln w="9525" algn="ctr">
            <a:solidFill>
              <a:schemeClr val="tx1"/>
            </a:solidFill>
            <a:miter lim="800000"/>
            <a:headEnd/>
            <a:tailEnd/>
          </a:ln>
        </p:spPr>
        <p:txBody>
          <a:bodyPr wrap="none" anchor="ctr">
            <a:spAutoFit/>
          </a:bodyPr>
          <a:lstStyle/>
          <a:p>
            <a:r>
              <a:rPr lang="fa-IR"/>
              <a:t>50</a:t>
            </a:r>
            <a:endParaRPr lang="en-US"/>
          </a:p>
        </p:txBody>
      </p:sp>
      <p:sp>
        <p:nvSpPr>
          <p:cNvPr id="291849" name="Rectangle 12"/>
          <p:cNvSpPr>
            <a:spLocks noChangeArrowheads="1"/>
          </p:cNvSpPr>
          <p:nvPr/>
        </p:nvSpPr>
        <p:spPr bwMode="auto">
          <a:xfrm>
            <a:off x="1539875" y="5849938"/>
            <a:ext cx="322263" cy="376237"/>
          </a:xfrm>
          <a:prstGeom prst="rect">
            <a:avLst/>
          </a:prstGeom>
          <a:solidFill>
            <a:schemeClr val="tx2"/>
          </a:solidFill>
          <a:ln w="9525" algn="ctr">
            <a:solidFill>
              <a:schemeClr val="tx1"/>
            </a:solidFill>
            <a:miter lim="800000"/>
            <a:headEnd/>
            <a:tailEnd/>
          </a:ln>
        </p:spPr>
        <p:txBody>
          <a:bodyPr wrap="none" anchor="ctr">
            <a:spAutoFit/>
          </a:bodyPr>
          <a:lstStyle/>
          <a:p>
            <a:r>
              <a:rPr lang="fa-IR"/>
              <a:t>0</a:t>
            </a:r>
            <a:endParaRPr lang="en-US"/>
          </a:p>
        </p:txBody>
      </p:sp>
      <p:sp>
        <p:nvSpPr>
          <p:cNvPr id="291850" name="Rectangle 13"/>
          <p:cNvSpPr>
            <a:spLocks noChangeArrowheads="1"/>
          </p:cNvSpPr>
          <p:nvPr/>
        </p:nvSpPr>
        <p:spPr bwMode="auto">
          <a:xfrm>
            <a:off x="1260475" y="811213"/>
            <a:ext cx="666750" cy="376237"/>
          </a:xfrm>
          <a:prstGeom prst="rect">
            <a:avLst/>
          </a:prstGeom>
          <a:solidFill>
            <a:schemeClr val="tx2"/>
          </a:solidFill>
          <a:ln w="9525" algn="ctr">
            <a:solidFill>
              <a:schemeClr val="tx1"/>
            </a:solidFill>
            <a:miter lim="800000"/>
            <a:headEnd/>
            <a:tailEnd/>
          </a:ln>
        </p:spPr>
        <p:txBody>
          <a:bodyPr anchor="ctr">
            <a:spAutoFit/>
          </a:bodyPr>
          <a:lstStyle/>
          <a:p>
            <a:r>
              <a:rPr lang="fa-IR"/>
              <a:t>100</a:t>
            </a:r>
            <a:endParaRPr lang="en-US"/>
          </a:p>
        </p:txBody>
      </p:sp>
      <p:sp>
        <p:nvSpPr>
          <p:cNvPr id="291851" name="Arc 16"/>
          <p:cNvSpPr>
            <a:spLocks/>
          </p:cNvSpPr>
          <p:nvPr/>
        </p:nvSpPr>
        <p:spPr bwMode="auto">
          <a:xfrm rot="10800000">
            <a:off x="1979613" y="1169988"/>
            <a:ext cx="6697662" cy="158432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p:spPr>
        <p:txBody>
          <a:bodyPr wrap="none" anchor="ctr">
            <a:spAutoFit/>
          </a:bodyPr>
          <a:lstStyle/>
          <a:p>
            <a:endParaRPr lang="en-US"/>
          </a:p>
        </p:txBody>
      </p:sp>
      <p:sp>
        <p:nvSpPr>
          <p:cNvPr id="291852" name="Arc 17"/>
          <p:cNvSpPr>
            <a:spLocks/>
          </p:cNvSpPr>
          <p:nvPr/>
        </p:nvSpPr>
        <p:spPr bwMode="auto">
          <a:xfrm rot="10800000">
            <a:off x="1979613" y="2105025"/>
            <a:ext cx="6697662" cy="1581150"/>
          </a:xfrm>
          <a:custGeom>
            <a:avLst/>
            <a:gdLst>
              <a:gd name="T0" fmla="*/ 2147483647 w 21600"/>
              <a:gd name="T1" fmla="*/ 0 h 21597"/>
              <a:gd name="T2" fmla="*/ 2147483647 w 21600"/>
              <a:gd name="T3" fmla="*/ 2147483647 h 21597"/>
              <a:gd name="T4" fmla="*/ 0 w 21600"/>
              <a:gd name="T5" fmla="*/ 2147483647 h 21597"/>
              <a:gd name="T6" fmla="*/ 0 60000 65536"/>
              <a:gd name="T7" fmla="*/ 0 60000 65536"/>
              <a:gd name="T8" fmla="*/ 0 60000 65536"/>
              <a:gd name="T9" fmla="*/ 0 w 21600"/>
              <a:gd name="T10" fmla="*/ 0 h 21597"/>
              <a:gd name="T11" fmla="*/ 21600 w 21600"/>
              <a:gd name="T12" fmla="*/ 21597 h 21597"/>
            </a:gdLst>
            <a:ahLst/>
            <a:cxnLst>
              <a:cxn ang="T6">
                <a:pos x="T0" y="T1"/>
              </a:cxn>
              <a:cxn ang="T7">
                <a:pos x="T2" y="T3"/>
              </a:cxn>
              <a:cxn ang="T8">
                <a:pos x="T4" y="T5"/>
              </a:cxn>
            </a:cxnLst>
            <a:rect l="T9" t="T10" r="T11" b="T12"/>
            <a:pathLst>
              <a:path w="21600" h="21597" fill="none" extrusionOk="0">
                <a:moveTo>
                  <a:pt x="349" y="-1"/>
                </a:moveTo>
                <a:cubicBezTo>
                  <a:pt x="12140" y="190"/>
                  <a:pt x="21600" y="9803"/>
                  <a:pt x="21600" y="21597"/>
                </a:cubicBezTo>
              </a:path>
              <a:path w="21600" h="21597" stroke="0" extrusionOk="0">
                <a:moveTo>
                  <a:pt x="349" y="-1"/>
                </a:moveTo>
                <a:cubicBezTo>
                  <a:pt x="12140" y="190"/>
                  <a:pt x="21600" y="9803"/>
                  <a:pt x="21600" y="21597"/>
                </a:cubicBezTo>
                <a:lnTo>
                  <a:pt x="0" y="21597"/>
                </a:lnTo>
                <a:close/>
              </a:path>
            </a:pathLst>
          </a:custGeom>
          <a:noFill/>
          <a:ln w="38100">
            <a:solidFill>
              <a:schemeClr val="tx1"/>
            </a:solidFill>
            <a:round/>
            <a:headEnd/>
            <a:tailEnd/>
          </a:ln>
        </p:spPr>
        <p:txBody>
          <a:bodyPr wrap="none" anchor="ctr">
            <a:spAutoFit/>
          </a:bodyPr>
          <a:lstStyle/>
          <a:p>
            <a:endParaRPr lang="en-US"/>
          </a:p>
        </p:txBody>
      </p:sp>
      <p:sp>
        <p:nvSpPr>
          <p:cNvPr id="291853" name="Arc 18"/>
          <p:cNvSpPr>
            <a:spLocks/>
          </p:cNvSpPr>
          <p:nvPr/>
        </p:nvSpPr>
        <p:spPr bwMode="auto">
          <a:xfrm rot="10800000">
            <a:off x="1979613" y="3617913"/>
            <a:ext cx="6697662" cy="158432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p:spPr>
        <p:txBody>
          <a:bodyPr wrap="none" anchor="ctr">
            <a:spAutoFit/>
          </a:bodyPr>
          <a:lstStyle/>
          <a:p>
            <a:endParaRPr lang="en-US"/>
          </a:p>
        </p:txBody>
      </p:sp>
      <p:sp>
        <p:nvSpPr>
          <p:cNvPr id="291854" name="Rectangle 19"/>
          <p:cNvSpPr>
            <a:spLocks noChangeArrowheads="1"/>
          </p:cNvSpPr>
          <p:nvPr/>
        </p:nvSpPr>
        <p:spPr bwMode="auto">
          <a:xfrm>
            <a:off x="3305175" y="404813"/>
            <a:ext cx="4687502" cy="461665"/>
          </a:xfrm>
          <a:prstGeom prst="rect">
            <a:avLst/>
          </a:prstGeom>
          <a:solidFill>
            <a:srgbClr val="FFFF99"/>
          </a:solidFill>
          <a:ln w="9525" algn="ctr">
            <a:solidFill>
              <a:schemeClr val="tx1"/>
            </a:solidFill>
            <a:miter lim="800000"/>
            <a:headEnd/>
            <a:tailEnd/>
          </a:ln>
        </p:spPr>
        <p:txBody>
          <a:bodyPr wrap="none" anchor="ctr">
            <a:spAutoFit/>
          </a:bodyPr>
          <a:lstStyle/>
          <a:p>
            <a:r>
              <a:rPr lang="fa-IR" sz="2400">
                <a:solidFill>
                  <a:schemeClr val="tx1"/>
                </a:solidFill>
              </a:rPr>
              <a:t>میزان دریافت مخاطب در انواع ارائه شفاهی</a:t>
            </a:r>
            <a:r>
              <a:rPr lang="en-US" sz="2400">
                <a:solidFill>
                  <a:schemeClr val="tx1"/>
                </a:solidFill>
              </a:rPr>
              <a:t> </a:t>
            </a:r>
          </a:p>
        </p:txBody>
      </p:sp>
    </p:spTree>
  </p:cSld>
  <p:clrMapOvr>
    <a:masterClrMapping/>
  </p:clrMapOvr>
  <p:transition spd="med">
    <p:wipe dir="d"/>
  </p:transition>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امکانات مربوط به ارائه کننده </a:t>
            </a:r>
          </a:p>
          <a:p>
            <a:pPr marL="609600" indent="-609600" algn="r" rtl="1" eaLnBrk="1" hangingPunct="1">
              <a:buFont typeface="Wingdings" pitchFamily="2" charset="2"/>
              <a:buAutoNum type="arabicPeriod"/>
            </a:pPr>
            <a:r>
              <a:rPr lang="fa-IR" b="1" smtClean="0"/>
              <a:t>امکانات مربوط به مخاطب </a:t>
            </a:r>
          </a:p>
          <a:p>
            <a:pPr marL="609600" indent="-609600" algn="r" rtl="1" eaLnBrk="1" hangingPunct="1">
              <a:buFont typeface="Wingdings" pitchFamily="2" charset="2"/>
              <a:buAutoNum type="arabicPeriod"/>
            </a:pPr>
            <a:r>
              <a:rPr lang="fa-IR" b="1" smtClean="0"/>
              <a:t>امکانات ناشی از ماهیت ارائه شفاهی </a:t>
            </a:r>
          </a:p>
          <a:p>
            <a:pPr marL="609600" indent="-609600" algn="r" rtl="1" eaLnBrk="1" hangingPunct="1">
              <a:buFont typeface="Wingdings" pitchFamily="2" charset="2"/>
              <a:buAutoNum type="arabicPeriod"/>
            </a:pPr>
            <a:r>
              <a:rPr lang="fa-IR" b="1" smtClean="0"/>
              <a:t>امکانات محیطی</a:t>
            </a:r>
            <a:r>
              <a:rPr lang="fa-IR" smtClean="0"/>
              <a:t> </a:t>
            </a:r>
            <a:endParaRPr lang="en-US" smtClean="0"/>
          </a:p>
        </p:txBody>
      </p:sp>
      <p:sp>
        <p:nvSpPr>
          <p:cNvPr id="313346" name="Rectangle 2"/>
          <p:cNvSpPr>
            <a:spLocks noGrp="1" noChangeArrowheads="1"/>
          </p:cNvSpPr>
          <p:nvPr>
            <p:ph type="title"/>
          </p:nvPr>
        </p:nvSpPr>
        <p:spPr>
          <a:xfrm>
            <a:off x="428597" y="188913"/>
            <a:ext cx="8286808" cy="1139825"/>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2400" dirty="0" smtClean="0">
                <a:solidFill>
                  <a:srgbClr val="FF0000"/>
                </a:solidFill>
                <a:effectLst/>
                <a:cs typeface="B Titr" pitchFamily="2" charset="-78"/>
              </a:rPr>
              <a:t>امکانات ارائه شفاهی : </a:t>
            </a:r>
            <a:br>
              <a:rPr lang="fa-IR" sz="2400" dirty="0" smtClean="0">
                <a:solidFill>
                  <a:srgbClr val="FF0000"/>
                </a:solidFill>
                <a:effectLst/>
                <a:cs typeface="B Titr" pitchFamily="2" charset="-78"/>
              </a:rPr>
            </a:br>
            <a:r>
              <a:rPr lang="fa-IR" sz="2400" dirty="0" smtClean="0">
                <a:solidFill>
                  <a:srgbClr val="FF0000"/>
                </a:solidFill>
                <a:effectLst/>
                <a:cs typeface="B Titr" pitchFamily="2" charset="-78"/>
              </a:rPr>
              <a:t>ارائه شفاهی از نظر امکانات غنی تر از ارائه کتبی است این امکانات را می‌توان به 4 دسته زیر تقسیم کرد :</a:t>
            </a:r>
            <a:endParaRPr lang="en-US" sz="24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3"/>
          <p:cNvSpPr>
            <a:spLocks noGrp="1" noChangeArrowheads="1"/>
          </p:cNvSpPr>
          <p:nvPr>
            <p:ph idx="1"/>
          </p:nvPr>
        </p:nvSpPr>
        <p:spPr/>
        <p:txBody>
          <a:bodyPr/>
          <a:lstStyle/>
          <a:p>
            <a:pPr algn="justLow" rtl="1" eaLnBrk="1" hangingPunct="1">
              <a:buFont typeface="Wingdings" pitchFamily="2" charset="2"/>
              <a:buNone/>
            </a:pPr>
            <a:r>
              <a:rPr lang="fa-IR" smtClean="0"/>
              <a:t> </a:t>
            </a:r>
            <a:r>
              <a:rPr lang="fa-IR" b="1" smtClean="0"/>
              <a:t>آنهایی هستند که از وضع کانال ارائه کننده ناشی می‌شود. ارائه کننده شفاهی علاوه بر خصوصیاتی که قبلا دیدیم  باید خصوصیات دیگری هم  داشته باشد که خواهیم دید</a:t>
            </a:r>
            <a:r>
              <a:rPr lang="fa-IR" smtClean="0"/>
              <a:t> </a:t>
            </a:r>
            <a:endParaRPr lang="en-US" smtClean="0"/>
          </a:p>
        </p:txBody>
      </p:sp>
      <p:sp>
        <p:nvSpPr>
          <p:cNvPr id="31437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امکانات مربوط به ارائه کننده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3"/>
          <p:cNvSpPr>
            <a:spLocks noGrp="1" noChangeArrowheads="1"/>
          </p:cNvSpPr>
          <p:nvPr>
            <p:ph idx="1"/>
          </p:nvPr>
        </p:nvSpPr>
        <p:spPr/>
        <p:txBody>
          <a:bodyPr/>
          <a:lstStyle/>
          <a:p>
            <a:pPr algn="justLow" rtl="1" eaLnBrk="1" hangingPunct="1">
              <a:buFont typeface="Wingdings" pitchFamily="2" charset="2"/>
              <a:buNone/>
            </a:pPr>
            <a:r>
              <a:rPr lang="fa-IR" b="1" smtClean="0"/>
              <a:t>آنهایی هستند که از وضع کانال مخاطب ناشی می شود  مخاطب علاوه بر خصوصیاتی که قبلا دیدیم باید خصوصیات دیگری هم داشته باشد و آدابی را رعایت کند که کم و بیش از آنها آگاهیم .</a:t>
            </a:r>
            <a:r>
              <a:rPr lang="fa-IR" smtClean="0"/>
              <a:t> </a:t>
            </a:r>
            <a:endParaRPr lang="en-US" smtClean="0"/>
          </a:p>
        </p:txBody>
      </p:sp>
      <p:sp>
        <p:nvSpPr>
          <p:cNvPr id="31539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امکانات مربوط به مخاطب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3"/>
          <p:cNvSpPr>
            <a:spLocks noGrp="1" noChangeArrowheads="1"/>
          </p:cNvSpPr>
          <p:nvPr>
            <p:ph idx="1"/>
          </p:nvPr>
        </p:nvSpPr>
        <p:spPr/>
        <p:txBody>
          <a:bodyPr/>
          <a:lstStyle/>
          <a:p>
            <a:pPr algn="r" rtl="1" eaLnBrk="1" hangingPunct="1"/>
            <a:r>
              <a:rPr lang="fa-IR" b="1" dirty="0" smtClean="0">
                <a:solidFill>
                  <a:srgbClr val="0070C0"/>
                </a:solidFill>
              </a:rPr>
              <a:t>کلام </a:t>
            </a:r>
            <a:endParaRPr lang="en-US" dirty="0" smtClean="0">
              <a:solidFill>
                <a:srgbClr val="0070C0"/>
              </a:solidFill>
            </a:endParaRPr>
          </a:p>
          <a:p>
            <a:pPr algn="r" rtl="1" eaLnBrk="1" hangingPunct="1"/>
            <a:r>
              <a:rPr lang="fa-IR" b="1" dirty="0" smtClean="0">
                <a:solidFill>
                  <a:srgbClr val="0070C0"/>
                </a:solidFill>
              </a:rPr>
              <a:t>سبک بیان و صدا </a:t>
            </a:r>
            <a:endParaRPr lang="en-US" dirty="0" smtClean="0">
              <a:solidFill>
                <a:srgbClr val="0070C0"/>
              </a:solidFill>
            </a:endParaRPr>
          </a:p>
          <a:p>
            <a:pPr algn="r" rtl="1" eaLnBrk="1" hangingPunct="1"/>
            <a:r>
              <a:rPr lang="fa-IR" b="1" dirty="0" smtClean="0">
                <a:solidFill>
                  <a:srgbClr val="0070C0"/>
                </a:solidFill>
              </a:rPr>
              <a:t>حضور فیزیکی رویاروی </a:t>
            </a:r>
            <a:endParaRPr lang="en-US" dirty="0" smtClean="0">
              <a:solidFill>
                <a:srgbClr val="0070C0"/>
              </a:solidFill>
            </a:endParaRPr>
          </a:p>
          <a:p>
            <a:pPr algn="r" rtl="1" eaLnBrk="1" hangingPunct="1"/>
            <a:r>
              <a:rPr lang="fa-IR" b="1" dirty="0" smtClean="0">
                <a:solidFill>
                  <a:srgbClr val="0070C0"/>
                </a:solidFill>
              </a:rPr>
              <a:t>نگاه </a:t>
            </a:r>
            <a:endParaRPr lang="en-US" dirty="0" smtClean="0">
              <a:solidFill>
                <a:srgbClr val="0070C0"/>
              </a:solidFill>
            </a:endParaRPr>
          </a:p>
          <a:p>
            <a:pPr algn="r" rtl="1" eaLnBrk="1" hangingPunct="1"/>
            <a:r>
              <a:rPr lang="fa-IR" b="1" dirty="0" smtClean="0">
                <a:solidFill>
                  <a:srgbClr val="0070C0"/>
                </a:solidFill>
              </a:rPr>
              <a:t>زبان بدن ( به ویژه حرکت دستها و سر) </a:t>
            </a:r>
            <a:endParaRPr lang="en-US" dirty="0" smtClean="0">
              <a:solidFill>
                <a:srgbClr val="0070C0"/>
              </a:solidFill>
            </a:endParaRPr>
          </a:p>
          <a:p>
            <a:pPr algn="r" rtl="1" eaLnBrk="1" hangingPunct="1"/>
            <a:r>
              <a:rPr lang="fa-IR" b="1" dirty="0" smtClean="0">
                <a:solidFill>
                  <a:srgbClr val="0070C0"/>
                </a:solidFill>
              </a:rPr>
              <a:t>تغییرات سریع و اصلاحات </a:t>
            </a:r>
            <a:endParaRPr lang="en-US" dirty="0" smtClean="0">
              <a:solidFill>
                <a:srgbClr val="0070C0"/>
              </a:solidFill>
            </a:endParaRPr>
          </a:p>
          <a:p>
            <a:pPr algn="r" rtl="1" eaLnBrk="1" hangingPunct="1"/>
            <a:r>
              <a:rPr lang="fa-IR" b="1" dirty="0" smtClean="0">
                <a:solidFill>
                  <a:srgbClr val="0070C0"/>
                </a:solidFill>
              </a:rPr>
              <a:t>گفتارها و حرکتهای موردی </a:t>
            </a:r>
            <a:endParaRPr lang="en-US" dirty="0" smtClean="0">
              <a:solidFill>
                <a:srgbClr val="0070C0"/>
              </a:solidFill>
            </a:endParaRPr>
          </a:p>
          <a:p>
            <a:pPr algn="r" rtl="1" eaLnBrk="1" hangingPunct="1"/>
            <a:endParaRPr lang="en-US" dirty="0" smtClean="0"/>
          </a:p>
        </p:txBody>
      </p:sp>
      <p:sp>
        <p:nvSpPr>
          <p:cNvPr id="316418" name="Rectangle 2"/>
          <p:cNvSpPr>
            <a:spLocks noGrp="1" noChangeArrowheads="1"/>
          </p:cNvSpPr>
          <p:nvPr>
            <p:ph type="title"/>
          </p:nvPr>
        </p:nvSpPr>
        <p:spPr>
          <a:xfrm>
            <a:off x="457200" y="488950"/>
            <a:ext cx="8229600" cy="1139825"/>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2400" dirty="0" smtClean="0">
                <a:solidFill>
                  <a:srgbClr val="FF0000"/>
                </a:solidFill>
                <a:effectLst/>
                <a:cs typeface="B Titr" pitchFamily="2" charset="-78"/>
              </a:rPr>
              <a:t>امکانات ناشی از ماهیت ارائه شفاهی : </a:t>
            </a:r>
            <a:br>
              <a:rPr lang="fa-IR" sz="2400" dirty="0" smtClean="0">
                <a:solidFill>
                  <a:srgbClr val="FF0000"/>
                </a:solidFill>
                <a:effectLst/>
                <a:cs typeface="B Titr" pitchFamily="2" charset="-78"/>
              </a:rPr>
            </a:br>
            <a:r>
              <a:rPr lang="fa-IR" sz="2400" dirty="0" smtClean="0">
                <a:solidFill>
                  <a:srgbClr val="FF0000"/>
                </a:solidFill>
                <a:effectLst/>
                <a:cs typeface="B Titr" pitchFamily="2" charset="-78"/>
              </a:rPr>
              <a:t>این امکانات ناشی از ماهیت خود ارائه شفاهی هستند و عبارتند از :</a:t>
            </a:r>
            <a:endParaRPr lang="en-US" sz="24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3"/>
          <p:cNvSpPr>
            <a:spLocks noGrp="1" noChangeArrowheads="1"/>
          </p:cNvSpPr>
          <p:nvPr>
            <p:ph idx="1"/>
          </p:nvPr>
        </p:nvSpPr>
        <p:spPr>
          <a:xfrm>
            <a:off x="611188" y="3429000"/>
            <a:ext cx="8229600" cy="2808288"/>
          </a:xfrm>
        </p:spPr>
        <p:txBody>
          <a:bodyPr/>
          <a:lstStyle/>
          <a:p>
            <a:pPr algn="r" rtl="1" eaLnBrk="1" hangingPunct="1"/>
            <a:r>
              <a:rPr lang="fa-IR" b="1" smtClean="0"/>
              <a:t>وضع مکانی – زمانی و اجتماعی ارائه </a:t>
            </a:r>
            <a:endParaRPr lang="en-US" smtClean="0"/>
          </a:p>
          <a:p>
            <a:pPr algn="r" rtl="1" eaLnBrk="1" hangingPunct="1"/>
            <a:r>
              <a:rPr lang="fa-IR" b="1" smtClean="0"/>
              <a:t>امکانات دیداری – شنیداری</a:t>
            </a:r>
            <a:r>
              <a:rPr lang="fa-IR" smtClean="0"/>
              <a:t> </a:t>
            </a:r>
            <a:endParaRPr lang="en-US" smtClean="0"/>
          </a:p>
        </p:txBody>
      </p:sp>
      <p:sp>
        <p:nvSpPr>
          <p:cNvPr id="317442" name="Rectangle 2"/>
          <p:cNvSpPr>
            <a:spLocks noGrp="1" noChangeArrowheads="1"/>
          </p:cNvSpPr>
          <p:nvPr>
            <p:ph type="title"/>
          </p:nvPr>
        </p:nvSpPr>
        <p:spPr>
          <a:xfrm>
            <a:off x="179388" y="0"/>
            <a:ext cx="8229600" cy="2624138"/>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امکانات محیطی : </a:t>
            </a:r>
            <a:br>
              <a:rPr lang="fa-IR" sz="3700" smtClean="0">
                <a:solidFill>
                  <a:srgbClr val="FF0000"/>
                </a:solidFill>
                <a:effectLst/>
                <a:cs typeface="B Titr" pitchFamily="2" charset="-78"/>
              </a:rPr>
            </a:br>
            <a:r>
              <a:rPr lang="fa-IR" sz="3700" smtClean="0">
                <a:solidFill>
                  <a:srgbClr val="FF0000"/>
                </a:solidFill>
                <a:effectLst/>
                <a:cs typeface="B Titr" pitchFamily="2" charset="-78"/>
              </a:rPr>
              <a:t>آنهایی هستند که در محیط ارائه فراهم</a:t>
            </a:r>
            <a:br>
              <a:rPr lang="fa-IR" sz="3700" smtClean="0">
                <a:solidFill>
                  <a:srgbClr val="FF0000"/>
                </a:solidFill>
                <a:effectLst/>
                <a:cs typeface="B Titr" pitchFamily="2" charset="-78"/>
              </a:rPr>
            </a:br>
            <a:r>
              <a:rPr lang="fa-IR" sz="3700" smtClean="0">
                <a:solidFill>
                  <a:srgbClr val="FF0000"/>
                </a:solidFill>
                <a:effectLst/>
                <a:cs typeface="B Titr" pitchFamily="2" charset="-78"/>
              </a:rPr>
              <a:t> می آیند و عبارتند از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3"/>
          <p:cNvSpPr>
            <a:spLocks noGrp="1" noChangeArrowheads="1"/>
          </p:cNvSpPr>
          <p:nvPr>
            <p:ph idx="1"/>
          </p:nvPr>
        </p:nvSpPr>
        <p:spPr/>
        <p:txBody>
          <a:bodyPr/>
          <a:lstStyle/>
          <a:p>
            <a:pPr algn="r" rtl="1" eaLnBrk="1" hangingPunct="1"/>
            <a:r>
              <a:rPr lang="fa-IR" b="1" smtClean="0"/>
              <a:t>تخته سیاه ( یا سفید )</a:t>
            </a:r>
            <a:endParaRPr lang="en-US" smtClean="0"/>
          </a:p>
          <a:p>
            <a:pPr algn="r" rtl="1" eaLnBrk="1" hangingPunct="1"/>
            <a:r>
              <a:rPr lang="fa-IR" b="1" smtClean="0"/>
              <a:t>چارت</a:t>
            </a:r>
            <a:endParaRPr lang="en-US" smtClean="0"/>
          </a:p>
          <a:p>
            <a:pPr algn="r" rtl="1" eaLnBrk="1" hangingPunct="1"/>
            <a:r>
              <a:rPr lang="fa-IR" b="1" smtClean="0"/>
              <a:t>پوستر </a:t>
            </a:r>
            <a:endParaRPr lang="en-US" smtClean="0"/>
          </a:p>
          <a:p>
            <a:pPr algn="r" rtl="1" eaLnBrk="1" hangingPunct="1"/>
            <a:r>
              <a:rPr lang="fa-IR" b="1" smtClean="0"/>
              <a:t>ابزارهای نمایشی ( در انواع گوناگون ) </a:t>
            </a:r>
            <a:endParaRPr lang="en-US" smtClean="0"/>
          </a:p>
          <a:p>
            <a:pPr algn="r" rtl="1" eaLnBrk="1" hangingPunct="1"/>
            <a:r>
              <a:rPr lang="fa-IR" b="1" smtClean="0"/>
              <a:t>دستگاههای تقویت و پخش صدا </a:t>
            </a:r>
            <a:endParaRPr lang="en-US" smtClean="0"/>
          </a:p>
          <a:p>
            <a:pPr algn="r" rtl="1" eaLnBrk="1" hangingPunct="1"/>
            <a:endParaRPr lang="en-US" smtClean="0"/>
          </a:p>
        </p:txBody>
      </p:sp>
      <p:sp>
        <p:nvSpPr>
          <p:cNvPr id="318466" name="Rectangle 2"/>
          <p:cNvSpPr>
            <a:spLocks noGrp="1" noChangeArrowheads="1"/>
          </p:cNvSpPr>
          <p:nvPr>
            <p:ph type="title"/>
          </p:nvPr>
        </p:nvSpPr>
        <p:spPr>
          <a:xfrm>
            <a:off x="663575"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امکانات دیداری – شنیداری عبارتند از: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3"/>
          <p:cNvSpPr>
            <a:spLocks noGrp="1" noChangeArrowheads="1"/>
          </p:cNvSpPr>
          <p:nvPr>
            <p:ph idx="1"/>
          </p:nvPr>
        </p:nvSpPr>
        <p:spPr/>
        <p:txBody>
          <a:bodyPr/>
          <a:lstStyle/>
          <a:p>
            <a:pPr algn="justLow" rtl="1" eaLnBrk="1" hangingPunct="1"/>
            <a:r>
              <a:rPr lang="fa-IR" b="1" dirty="0" smtClean="0">
                <a:solidFill>
                  <a:srgbClr val="FF0000"/>
                </a:solidFill>
              </a:rPr>
              <a:t>جلب توجه دقیق مخاطبین </a:t>
            </a:r>
            <a:r>
              <a:rPr lang="fa-IR" b="1" dirty="0" smtClean="0"/>
              <a:t>به یک موضوع مشخص </a:t>
            </a:r>
            <a:endParaRPr lang="en-US" dirty="0" smtClean="0"/>
          </a:p>
          <a:p>
            <a:pPr algn="justLow" rtl="1" eaLnBrk="1" hangingPunct="1"/>
            <a:r>
              <a:rPr lang="fa-IR" b="1" dirty="0" smtClean="0">
                <a:solidFill>
                  <a:srgbClr val="FF0000"/>
                </a:solidFill>
              </a:rPr>
              <a:t>افزایش تاثیر محتوای مطلبی  </a:t>
            </a:r>
            <a:r>
              <a:rPr lang="fa-IR" b="1" dirty="0" smtClean="0"/>
              <a:t>که ارائه می شود ( تقویت تاثیر پیام ) </a:t>
            </a:r>
            <a:endParaRPr lang="en-US" dirty="0" smtClean="0"/>
          </a:p>
          <a:p>
            <a:pPr algn="justLow" rtl="1" eaLnBrk="1" hangingPunct="1"/>
            <a:r>
              <a:rPr lang="fa-IR" b="1" dirty="0" smtClean="0">
                <a:solidFill>
                  <a:srgbClr val="FF0000"/>
                </a:solidFill>
              </a:rPr>
              <a:t>تشدید علاقه </a:t>
            </a:r>
            <a:r>
              <a:rPr lang="fa-IR" b="1" dirty="0" smtClean="0"/>
              <a:t>مخاطبین به موضوع </a:t>
            </a:r>
            <a:endParaRPr lang="en-US" dirty="0" smtClean="0"/>
          </a:p>
          <a:p>
            <a:pPr algn="justLow" rtl="1" eaLnBrk="1" hangingPunct="1"/>
            <a:r>
              <a:rPr lang="fa-IR" b="1" dirty="0" smtClean="0">
                <a:solidFill>
                  <a:srgbClr val="FF0000"/>
                </a:solidFill>
              </a:rPr>
              <a:t>نمایش مفاهیم با ایده هایی</a:t>
            </a:r>
            <a:r>
              <a:rPr lang="fa-IR" b="1" dirty="0" smtClean="0"/>
              <a:t> که شرح آنها با کلام </a:t>
            </a:r>
            <a:r>
              <a:rPr lang="fa-IR" b="1" dirty="0" err="1" smtClean="0"/>
              <a:t>زمانگیر</a:t>
            </a:r>
            <a:r>
              <a:rPr lang="fa-IR" b="1" dirty="0" smtClean="0"/>
              <a:t> یا دشوار است </a:t>
            </a:r>
            <a:endParaRPr lang="en-US" dirty="0" smtClean="0"/>
          </a:p>
          <a:p>
            <a:pPr algn="justLow" rtl="1" eaLnBrk="1" hangingPunct="1"/>
            <a:endParaRPr lang="en-US" dirty="0" smtClean="0"/>
          </a:p>
        </p:txBody>
      </p:sp>
      <p:sp>
        <p:nvSpPr>
          <p:cNvPr id="319490" name="Rectangle 2"/>
          <p:cNvSpPr>
            <a:spLocks noGrp="1" noChangeArrowheads="1"/>
          </p:cNvSpPr>
          <p:nvPr>
            <p:ph type="title"/>
          </p:nvPr>
        </p:nvSpPr>
        <p:spPr>
          <a:xfrm>
            <a:off x="900113" y="488950"/>
            <a:ext cx="728345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dirty="0" smtClean="0">
                <a:solidFill>
                  <a:srgbClr val="FF0000"/>
                </a:solidFill>
                <a:effectLst/>
                <a:cs typeface="B Titr" pitchFamily="2" charset="-78"/>
              </a:rPr>
              <a:t>امکانات </a:t>
            </a:r>
            <a:r>
              <a:rPr lang="fa-IR" sz="3700" dirty="0" err="1" smtClean="0">
                <a:solidFill>
                  <a:srgbClr val="FF0000"/>
                </a:solidFill>
                <a:effectLst/>
                <a:cs typeface="B Titr" pitchFamily="2" charset="-78"/>
              </a:rPr>
              <a:t>دیداری–</a:t>
            </a:r>
            <a:r>
              <a:rPr lang="fa-IR" sz="3700" dirty="0" smtClean="0">
                <a:solidFill>
                  <a:srgbClr val="FF0000"/>
                </a:solidFill>
                <a:effectLst/>
                <a:cs typeface="B Titr" pitchFamily="2" charset="-78"/>
              </a:rPr>
              <a:t> شنیداری باید به چه </a:t>
            </a:r>
            <a:r>
              <a:rPr lang="fa-IR" sz="3700" dirty="0" err="1" smtClean="0">
                <a:solidFill>
                  <a:srgbClr val="FF0000"/>
                </a:solidFill>
                <a:effectLst/>
                <a:cs typeface="B Titr" pitchFamily="2" charset="-78"/>
              </a:rPr>
              <a:t>منظورهایی</a:t>
            </a:r>
            <a:r>
              <a:rPr lang="fa-IR" sz="3700" dirty="0" smtClean="0">
                <a:solidFill>
                  <a:srgbClr val="FF0000"/>
                </a:solidFill>
                <a:effectLst/>
                <a:cs typeface="B Titr" pitchFamily="2" charset="-78"/>
              </a:rPr>
              <a:t> مورد استفاده قرارگیرند و بالعکس :  	</a:t>
            </a:r>
            <a:endParaRPr lang="en-US" sz="37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3"/>
          <p:cNvSpPr>
            <a:spLocks noGrp="1" noChangeArrowheads="1"/>
          </p:cNvSpPr>
          <p:nvPr>
            <p:ph idx="1"/>
          </p:nvPr>
        </p:nvSpPr>
        <p:spPr>
          <a:xfrm>
            <a:off x="468313" y="2327275"/>
            <a:ext cx="8229600" cy="4530725"/>
          </a:xfrm>
        </p:spPr>
        <p:txBody>
          <a:bodyPr/>
          <a:lstStyle/>
          <a:p>
            <a:pPr algn="r" rtl="1" eaLnBrk="1" hangingPunct="1"/>
            <a:r>
              <a:rPr lang="fa-IR" b="1" smtClean="0"/>
              <a:t>تاثیر گذاشتن روی مخاطب از طریق ارائه تعداد زیادی جدول و نمودار.</a:t>
            </a:r>
            <a:endParaRPr lang="en-US" smtClean="0"/>
          </a:p>
          <a:p>
            <a:pPr algn="r" rtl="1" eaLnBrk="1" hangingPunct="1"/>
            <a:r>
              <a:rPr lang="fa-IR" b="1" smtClean="0"/>
              <a:t>اجتناب از برقراری تماس پویا با مخاطبین .</a:t>
            </a:r>
            <a:endParaRPr lang="en-US" smtClean="0"/>
          </a:p>
          <a:p>
            <a:pPr algn="r" rtl="1" eaLnBrk="1" hangingPunct="1"/>
            <a:r>
              <a:rPr lang="fa-IR" b="1" smtClean="0"/>
              <a:t>ارائه ایده های متعدد در یک مطلب واحد. </a:t>
            </a:r>
            <a:endParaRPr lang="en-US" smtClean="0"/>
          </a:p>
          <a:p>
            <a:pPr algn="r" rtl="1" eaLnBrk="1" hangingPunct="1"/>
            <a:r>
              <a:rPr lang="fa-IR" b="1" smtClean="0"/>
              <a:t>ارائه ایده های ساده که با کلام به آسانی قابل بیان هستند .</a:t>
            </a:r>
            <a:endParaRPr lang="en-US" smtClean="0"/>
          </a:p>
          <a:p>
            <a:pPr algn="r" rtl="1" eaLnBrk="1" hangingPunct="1">
              <a:buFont typeface="Wingdings" pitchFamily="2" charset="2"/>
              <a:buNone/>
            </a:pPr>
            <a:r>
              <a:rPr lang="fa-IR" smtClean="0"/>
              <a:t> </a:t>
            </a:r>
            <a:endParaRPr lang="en-US" smtClean="0"/>
          </a:p>
        </p:txBody>
      </p:sp>
      <p:sp>
        <p:nvSpPr>
          <p:cNvPr id="320514" name="Rectangle 2"/>
          <p:cNvSpPr>
            <a:spLocks noGrp="1" noChangeArrowheads="1"/>
          </p:cNvSpPr>
          <p:nvPr>
            <p:ph type="title"/>
          </p:nvPr>
        </p:nvSpPr>
        <p:spPr>
          <a:xfrm>
            <a:off x="1258888" y="620713"/>
            <a:ext cx="7078662"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300" dirty="0" smtClean="0">
                <a:solidFill>
                  <a:srgbClr val="FF0000"/>
                </a:solidFill>
                <a:effectLst/>
                <a:cs typeface="B Titr" pitchFamily="2" charset="-78"/>
              </a:rPr>
              <a:t>هرگز نباید به </a:t>
            </a:r>
            <a:r>
              <a:rPr lang="fa-IR" sz="3300" dirty="0" err="1" smtClean="0">
                <a:solidFill>
                  <a:srgbClr val="FF0000"/>
                </a:solidFill>
                <a:effectLst/>
                <a:cs typeface="B Titr" pitchFamily="2" charset="-78"/>
              </a:rPr>
              <a:t>منظورهای</a:t>
            </a:r>
            <a:r>
              <a:rPr lang="fa-IR" sz="3300" dirty="0" smtClean="0">
                <a:solidFill>
                  <a:srgbClr val="FF0000"/>
                </a:solidFill>
                <a:effectLst/>
                <a:cs typeface="B Titr" pitchFamily="2" charset="-78"/>
              </a:rPr>
              <a:t> زیر از این امکانات استفاده کرد : </a:t>
            </a:r>
            <a:br>
              <a:rPr lang="fa-IR" sz="3300" dirty="0" smtClean="0">
                <a:solidFill>
                  <a:srgbClr val="FF0000"/>
                </a:solidFill>
                <a:effectLst/>
                <a:cs typeface="B Titr" pitchFamily="2" charset="-78"/>
              </a:rPr>
            </a:br>
            <a:r>
              <a:rPr lang="fa-IR" sz="3300" dirty="0" smtClean="0">
                <a:solidFill>
                  <a:srgbClr val="FF0000"/>
                </a:solidFill>
                <a:effectLst/>
                <a:cs typeface="B Titr" pitchFamily="2" charset="-78"/>
              </a:rPr>
              <a:t> </a:t>
            </a:r>
            <a:endParaRPr lang="en-US" sz="33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Text Box 4">
            <a:hlinkClick r:id="rId2" action="ppaction://hlinksldjump"/>
          </p:cNvPr>
          <p:cNvSpPr txBox="1">
            <a:spLocks noChangeArrowheads="1"/>
          </p:cNvSpPr>
          <p:nvPr/>
        </p:nvSpPr>
        <p:spPr bwMode="auto">
          <a:xfrm>
            <a:off x="2484438" y="2492375"/>
            <a:ext cx="4535487" cy="762000"/>
          </a:xfrm>
          <a:prstGeom prst="rect">
            <a:avLst/>
          </a:prstGeom>
          <a:noFill/>
          <a:ln w="9525">
            <a:noFill/>
            <a:miter lim="800000"/>
            <a:headEnd/>
            <a:tailEnd/>
          </a:ln>
        </p:spPr>
        <p:txBody>
          <a:bodyPr>
            <a:spAutoFit/>
          </a:bodyPr>
          <a:lstStyle/>
          <a:p>
            <a:pPr rtl="1"/>
            <a:r>
              <a:rPr lang="fa-IR" sz="4400" dirty="0" err="1">
                <a:solidFill>
                  <a:schemeClr val="tx1"/>
                </a:solidFill>
                <a:cs typeface="B Titr" panose="00000700000000000000" pitchFamily="2" charset="-78"/>
              </a:rPr>
              <a:t>سخنراني</a:t>
            </a:r>
            <a:r>
              <a:rPr lang="fa-IR" sz="4400" dirty="0">
                <a:solidFill>
                  <a:schemeClr val="tx1"/>
                </a:solidFill>
                <a:cs typeface="B Titr" panose="00000700000000000000" pitchFamily="2" charset="-78"/>
              </a:rPr>
              <a:t> </a:t>
            </a:r>
            <a:r>
              <a:rPr lang="fa-IR" sz="4400" dirty="0" err="1">
                <a:solidFill>
                  <a:schemeClr val="tx1"/>
                </a:solidFill>
                <a:cs typeface="B Titr" panose="00000700000000000000" pitchFamily="2" charset="-78"/>
              </a:rPr>
              <a:t>علمي-فني</a:t>
            </a:r>
            <a:endParaRPr lang="en-US" sz="4400" dirty="0">
              <a:solidFill>
                <a:schemeClr val="tx1"/>
              </a:solidFill>
              <a:cs typeface="B Titr" panose="00000700000000000000" pitchFamily="2" charset="-78"/>
            </a:endParaRPr>
          </a:p>
        </p:txBody>
      </p:sp>
    </p:spTree>
  </p:cSld>
  <p:clrMapOvr>
    <a:masterClrMapping/>
  </p:clrMapOvr>
  <p:transition spd="med">
    <p:wipe dir="d"/>
  </p:transition>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3"/>
          <p:cNvSpPr>
            <a:spLocks noGrp="1" noChangeArrowheads="1"/>
          </p:cNvSpPr>
          <p:nvPr>
            <p:ph idx="1"/>
          </p:nvPr>
        </p:nvSpPr>
        <p:spPr/>
        <p:txBody>
          <a:bodyPr/>
          <a:lstStyle/>
          <a:p>
            <a:pPr algn="justLow" rtl="1" eaLnBrk="1" hangingPunct="1">
              <a:buFont typeface="Wingdings" pitchFamily="2" charset="2"/>
              <a:buNone/>
            </a:pPr>
            <a:r>
              <a:rPr lang="fa-IR" b="1" smtClean="0"/>
              <a:t>نوعی از ارائه شفاهی است که در محافل علمی – فنی  بسیار رایج است . خصوصیات این نوع ارائه را قبلا دیدیم. سخنرانی علمی – فنی زمانی موفق و دارای تاثیر روی مخاطب است که  به طرزی ساختمند انجام شود .</a:t>
            </a:r>
            <a:endParaRPr lang="en-US" b="1" smtClean="0"/>
          </a:p>
        </p:txBody>
      </p:sp>
      <p:sp>
        <p:nvSpPr>
          <p:cNvPr id="32256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dirty="0" smtClean="0">
                <a:solidFill>
                  <a:srgbClr val="FF0000"/>
                </a:solidFill>
                <a:effectLst/>
                <a:cs typeface="B Titr" pitchFamily="2" charset="-78"/>
              </a:rPr>
              <a:t>سخنرانی علمی – فنی : </a:t>
            </a:r>
            <a:endParaRPr lang="en-US" sz="30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3"/>
          <p:cNvSpPr>
            <a:spLocks noGrp="1" noChangeArrowheads="1"/>
          </p:cNvSpPr>
          <p:nvPr>
            <p:ph idx="1"/>
          </p:nvPr>
        </p:nvSpPr>
        <p:spPr>
          <a:xfrm>
            <a:off x="0" y="1628775"/>
            <a:ext cx="8769350" cy="5445125"/>
          </a:xfrm>
        </p:spPr>
        <p:txBody>
          <a:bodyPr/>
          <a:lstStyle/>
          <a:p>
            <a:pPr marL="609600" indent="-609600" algn="r" rtl="1" eaLnBrk="1" hangingPunct="1">
              <a:lnSpc>
                <a:spcPct val="80000"/>
              </a:lnSpc>
              <a:buFont typeface="Wingdings" pitchFamily="2" charset="2"/>
              <a:buAutoNum type="arabicPeriod"/>
            </a:pPr>
            <a:r>
              <a:rPr lang="fa-IR" sz="2200" b="1" dirty="0" smtClean="0"/>
              <a:t>با </a:t>
            </a:r>
            <a:r>
              <a:rPr lang="fa-IR" sz="2200" b="1" dirty="0" smtClean="0">
                <a:solidFill>
                  <a:srgbClr val="FF0000"/>
                </a:solidFill>
              </a:rPr>
              <a:t>مقدمه ای جاذب </a:t>
            </a:r>
            <a:r>
              <a:rPr lang="fa-IR" sz="2200" b="1" dirty="0" smtClean="0"/>
              <a:t>شروع شود به نحوی که از همان آغاز نظر مخاطب جلب شود .</a:t>
            </a:r>
          </a:p>
          <a:p>
            <a:pPr marL="609600" indent="-609600" algn="r" rtl="1" eaLnBrk="1" hangingPunct="1">
              <a:lnSpc>
                <a:spcPct val="80000"/>
              </a:lnSpc>
              <a:buFont typeface="Wingdings" pitchFamily="2" charset="2"/>
              <a:buAutoNum type="arabicPeriod"/>
            </a:pPr>
            <a:r>
              <a:rPr lang="fa-IR" sz="2200" b="1" dirty="0" smtClean="0"/>
              <a:t>مطلب اصلی </a:t>
            </a:r>
            <a:r>
              <a:rPr lang="fa-IR" sz="2200" b="1" dirty="0" err="1" smtClean="0">
                <a:solidFill>
                  <a:srgbClr val="FF0000"/>
                </a:solidFill>
              </a:rPr>
              <a:t>بصورت</a:t>
            </a:r>
            <a:r>
              <a:rPr lang="fa-IR" sz="2200" b="1" dirty="0" smtClean="0">
                <a:solidFill>
                  <a:srgbClr val="FF0000"/>
                </a:solidFill>
              </a:rPr>
              <a:t> بخش بندی شده با شروع از مفاهیم آشنا برای مخاطبین و بیان مفاهیم مبنایی مطرح شود </a:t>
            </a:r>
            <a:r>
              <a:rPr lang="fa-IR" sz="2200" b="1" dirty="0" smtClean="0"/>
              <a:t>( مدت هر بخش </a:t>
            </a:r>
            <a:r>
              <a:rPr lang="fa-IR" sz="2200" b="1" dirty="0" err="1" smtClean="0"/>
              <a:t>متناسبا</a:t>
            </a:r>
            <a:r>
              <a:rPr lang="fa-IR" sz="2200" b="1" dirty="0" smtClean="0"/>
              <a:t> تعیین شود ). </a:t>
            </a:r>
          </a:p>
          <a:p>
            <a:pPr marL="609600" indent="-609600" algn="r" rtl="1" eaLnBrk="1" hangingPunct="1">
              <a:lnSpc>
                <a:spcPct val="80000"/>
              </a:lnSpc>
              <a:buFont typeface="Wingdings" pitchFamily="2" charset="2"/>
              <a:buAutoNum type="arabicPeriod"/>
            </a:pPr>
            <a:r>
              <a:rPr lang="fa-IR" sz="2200" b="1" dirty="0" smtClean="0">
                <a:solidFill>
                  <a:srgbClr val="FF0000"/>
                </a:solidFill>
              </a:rPr>
              <a:t>تسلسل و توالی منطقی </a:t>
            </a:r>
            <a:r>
              <a:rPr lang="fa-IR" sz="2200" b="1" dirty="0" smtClean="0"/>
              <a:t>بخشهای مختلف بحث با رعایت زمانبندی ارائه  باید حفظ  شود </a:t>
            </a:r>
          </a:p>
          <a:p>
            <a:pPr marL="609600" indent="-609600" algn="r" rtl="1" eaLnBrk="1" hangingPunct="1">
              <a:lnSpc>
                <a:spcPct val="80000"/>
              </a:lnSpc>
              <a:buFont typeface="Wingdings" pitchFamily="2" charset="2"/>
              <a:buAutoNum type="arabicPeriod"/>
            </a:pPr>
            <a:r>
              <a:rPr lang="fa-IR" sz="2200" b="1" dirty="0" smtClean="0"/>
              <a:t>نتیجه گیریهای مرحله ای از هر قسمت بحث انجام شود .</a:t>
            </a:r>
          </a:p>
          <a:p>
            <a:pPr marL="609600" indent="-609600" algn="r" rtl="1" eaLnBrk="1" hangingPunct="1">
              <a:lnSpc>
                <a:spcPct val="80000"/>
              </a:lnSpc>
              <a:buFont typeface="Wingdings" pitchFamily="2" charset="2"/>
              <a:buAutoNum type="arabicPeriod"/>
            </a:pPr>
            <a:r>
              <a:rPr lang="fa-IR" sz="2200" b="1" dirty="0" smtClean="0"/>
              <a:t>به </a:t>
            </a:r>
            <a:r>
              <a:rPr lang="fa-IR" sz="2200" b="1" dirty="0" smtClean="0">
                <a:solidFill>
                  <a:srgbClr val="FF0000"/>
                </a:solidFill>
              </a:rPr>
              <a:t>سؤالات</a:t>
            </a:r>
            <a:r>
              <a:rPr lang="fa-IR" sz="2200" b="1" dirty="0" smtClean="0"/>
              <a:t> مربوط به هر مرحله از بحث ( در صورت مطرح شدن سئوال ) پاسخ داده شود. </a:t>
            </a:r>
          </a:p>
          <a:p>
            <a:pPr marL="609600" indent="-609600" algn="r" rtl="1" eaLnBrk="1" hangingPunct="1">
              <a:lnSpc>
                <a:spcPct val="80000"/>
              </a:lnSpc>
              <a:buFont typeface="Wingdings" pitchFamily="2" charset="2"/>
              <a:buAutoNum type="arabicPeriod"/>
            </a:pPr>
            <a:r>
              <a:rPr lang="fa-IR" sz="2200" b="1" dirty="0" smtClean="0">
                <a:solidFill>
                  <a:srgbClr val="FF0000"/>
                </a:solidFill>
              </a:rPr>
              <a:t>جمع بندی نهایی </a:t>
            </a:r>
            <a:r>
              <a:rPr lang="fa-IR" sz="2200" b="1" dirty="0" smtClean="0"/>
              <a:t>و نتیجه گیریهای لازم پس از اتمام بخش های مختلف انجام شود به سؤالات مخاطبین پاسخ مناسب داده شود. </a:t>
            </a:r>
          </a:p>
          <a:p>
            <a:pPr marL="609600" indent="-609600" algn="r" rtl="1" eaLnBrk="1" hangingPunct="1">
              <a:lnSpc>
                <a:spcPct val="80000"/>
              </a:lnSpc>
              <a:buFont typeface="Wingdings" pitchFamily="2" charset="2"/>
              <a:buAutoNum type="arabicPeriod"/>
            </a:pPr>
            <a:r>
              <a:rPr lang="fa-IR" sz="2200" b="1" dirty="0" err="1" smtClean="0"/>
              <a:t>سؤالاتی</a:t>
            </a:r>
            <a:r>
              <a:rPr lang="fa-IR" sz="2200" b="1" dirty="0" smtClean="0"/>
              <a:t> در موضوع ارائه شده طرح و در صورت امکان پاسخ مخاطبین دریافت شود </a:t>
            </a:r>
          </a:p>
          <a:p>
            <a:pPr marL="609600" indent="-609600" algn="r" rtl="1" eaLnBrk="1" hangingPunct="1">
              <a:lnSpc>
                <a:spcPct val="80000"/>
              </a:lnSpc>
              <a:buFont typeface="Wingdings" pitchFamily="2" charset="2"/>
              <a:buAutoNum type="arabicPeriod"/>
            </a:pPr>
            <a:r>
              <a:rPr lang="fa-IR" sz="2200" b="1" dirty="0" smtClean="0"/>
              <a:t>در صورت امکان  بخش بحث پایانی با مخاطبین برگزار شود. </a:t>
            </a:r>
          </a:p>
          <a:p>
            <a:pPr marL="609600" indent="-609600" algn="r" rtl="1" eaLnBrk="1" hangingPunct="1">
              <a:lnSpc>
                <a:spcPct val="80000"/>
              </a:lnSpc>
              <a:buFont typeface="Wingdings" pitchFamily="2" charset="2"/>
              <a:buAutoNum type="arabicPeriod"/>
            </a:pPr>
            <a:r>
              <a:rPr lang="fa-IR" sz="2200" b="1" dirty="0" smtClean="0"/>
              <a:t>از مخاطبین به خصوص از سئوال </a:t>
            </a:r>
            <a:r>
              <a:rPr lang="fa-IR" sz="2200" b="1" dirty="0" err="1" smtClean="0"/>
              <a:t>کنندگان</a:t>
            </a:r>
            <a:r>
              <a:rPr lang="fa-IR" sz="2200" b="1" dirty="0" smtClean="0"/>
              <a:t> و شرکت </a:t>
            </a:r>
            <a:r>
              <a:rPr lang="fa-IR" sz="2200" b="1" dirty="0" err="1" smtClean="0"/>
              <a:t>کنندگان</a:t>
            </a:r>
            <a:r>
              <a:rPr lang="fa-IR" sz="2200" b="1" dirty="0" smtClean="0"/>
              <a:t> در بحث پایانی </a:t>
            </a:r>
            <a:r>
              <a:rPr lang="fa-IR" sz="2200" b="1" dirty="0" smtClean="0">
                <a:solidFill>
                  <a:srgbClr val="FF0000"/>
                </a:solidFill>
              </a:rPr>
              <a:t>سپاسگزاری</a:t>
            </a:r>
            <a:r>
              <a:rPr lang="fa-IR" sz="2200" b="1" dirty="0" smtClean="0"/>
              <a:t> شود.</a:t>
            </a:r>
            <a:r>
              <a:rPr lang="fa-IR" sz="2200" dirty="0" smtClean="0"/>
              <a:t> </a:t>
            </a:r>
            <a:endParaRPr lang="en-US" sz="2200" dirty="0" smtClean="0"/>
          </a:p>
        </p:txBody>
      </p:sp>
      <p:sp>
        <p:nvSpPr>
          <p:cNvPr id="323586" name="Rectangle 2"/>
          <p:cNvSpPr>
            <a:spLocks noGrp="1" noChangeArrowheads="1"/>
          </p:cNvSpPr>
          <p:nvPr>
            <p:ph type="title"/>
          </p:nvPr>
        </p:nvSpPr>
        <p:spPr>
          <a:xfrm>
            <a:off x="468312" y="142852"/>
            <a:ext cx="8389967" cy="1330348"/>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000" dirty="0" err="1" smtClean="0">
                <a:solidFill>
                  <a:srgbClr val="FF0000"/>
                </a:solidFill>
                <a:effectLst/>
                <a:cs typeface="B Titr" pitchFamily="2" charset="-78"/>
              </a:rPr>
              <a:t>ساختمندی</a:t>
            </a:r>
            <a:r>
              <a:rPr lang="fa-IR" sz="3000" dirty="0" smtClean="0">
                <a:solidFill>
                  <a:srgbClr val="FF0000"/>
                </a:solidFill>
                <a:effectLst/>
                <a:cs typeface="B Titr" pitchFamily="2" charset="-78"/>
              </a:rPr>
              <a:t>:</a:t>
            </a:r>
            <a:br>
              <a:rPr lang="fa-IR" sz="3000" dirty="0" smtClean="0">
                <a:solidFill>
                  <a:srgbClr val="FF0000"/>
                </a:solidFill>
                <a:effectLst/>
                <a:cs typeface="B Titr" pitchFamily="2" charset="-78"/>
              </a:rPr>
            </a:br>
            <a:r>
              <a:rPr lang="fa-IR" sz="3000" dirty="0" smtClean="0">
                <a:solidFill>
                  <a:srgbClr val="FF0000"/>
                </a:solidFill>
                <a:effectLst/>
                <a:cs typeface="B Titr" pitchFamily="2" charset="-78"/>
              </a:rPr>
              <a:t/>
            </a:r>
            <a:br>
              <a:rPr lang="fa-IR" sz="3000" dirty="0" smtClean="0">
                <a:solidFill>
                  <a:srgbClr val="FF0000"/>
                </a:solidFill>
                <a:effectLst/>
                <a:cs typeface="B Titr" pitchFamily="2" charset="-78"/>
              </a:rPr>
            </a:br>
            <a:r>
              <a:rPr lang="fa-IR" sz="3000" dirty="0" smtClean="0">
                <a:solidFill>
                  <a:srgbClr val="FF0000"/>
                </a:solidFill>
                <a:effectLst/>
                <a:cs typeface="B Titr" pitchFamily="2" charset="-78"/>
              </a:rPr>
              <a:t> سخنرانی علمی و فنی را </a:t>
            </a:r>
            <a:r>
              <a:rPr lang="fa-IR" sz="3000" dirty="0" err="1" smtClean="0">
                <a:solidFill>
                  <a:srgbClr val="FF0000"/>
                </a:solidFill>
                <a:effectLst/>
                <a:cs typeface="B Titr" pitchFamily="2" charset="-78"/>
              </a:rPr>
              <a:t>ساختمند</a:t>
            </a:r>
            <a:r>
              <a:rPr lang="fa-IR" sz="3000" dirty="0" smtClean="0">
                <a:solidFill>
                  <a:srgbClr val="FF0000"/>
                </a:solidFill>
                <a:effectLst/>
                <a:cs typeface="B Titr" pitchFamily="2" charset="-78"/>
              </a:rPr>
              <a:t> گوییم اگر به طرز زیر انجام شود:</a:t>
            </a:r>
            <a:endParaRPr lang="en-US" sz="30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3"/>
          <p:cNvSpPr>
            <a:spLocks noGrp="1" noChangeArrowheads="1"/>
          </p:cNvSpPr>
          <p:nvPr>
            <p:ph idx="1"/>
          </p:nvPr>
        </p:nvSpPr>
        <p:spPr/>
        <p:txBody>
          <a:bodyPr/>
          <a:lstStyle/>
          <a:p>
            <a:pPr algn="r" rtl="1" eaLnBrk="1" hangingPunct="1">
              <a:lnSpc>
                <a:spcPct val="90000"/>
              </a:lnSpc>
            </a:pPr>
            <a:r>
              <a:rPr lang="fa-IR" sz="2400" b="1" dirty="0" smtClean="0"/>
              <a:t>رعایت شئون فرهنگی و عرف محیط </a:t>
            </a:r>
            <a:endParaRPr lang="en-US" sz="2400" dirty="0" smtClean="0"/>
          </a:p>
          <a:p>
            <a:pPr algn="r" rtl="1" eaLnBrk="1" hangingPunct="1">
              <a:lnSpc>
                <a:spcPct val="90000"/>
              </a:lnSpc>
            </a:pPr>
            <a:r>
              <a:rPr lang="fa-IR" sz="2400" b="1" dirty="0" smtClean="0"/>
              <a:t>ادای احترام به حاضرین </a:t>
            </a:r>
            <a:endParaRPr lang="en-US" sz="2400" dirty="0" smtClean="0"/>
          </a:p>
          <a:p>
            <a:pPr algn="r" rtl="1" eaLnBrk="1" hangingPunct="1">
              <a:lnSpc>
                <a:spcPct val="90000"/>
              </a:lnSpc>
            </a:pPr>
            <a:r>
              <a:rPr lang="fa-IR" sz="2400" b="1" dirty="0" smtClean="0"/>
              <a:t>کسب اجازه از صاحبنظران و پیشکسوتان و اساتید در موضوع ارائه </a:t>
            </a:r>
            <a:endParaRPr lang="en-US" sz="2400" dirty="0" smtClean="0"/>
          </a:p>
          <a:p>
            <a:pPr algn="r" rtl="1" eaLnBrk="1" hangingPunct="1">
              <a:lnSpc>
                <a:spcPct val="90000"/>
              </a:lnSpc>
            </a:pPr>
            <a:r>
              <a:rPr lang="fa-IR" sz="2400" b="1" dirty="0" smtClean="0"/>
              <a:t>گاه لازم است ارائه کننده خود را با </a:t>
            </a:r>
            <a:r>
              <a:rPr lang="fa-IR" sz="2400" b="1" dirty="0" smtClean="0">
                <a:solidFill>
                  <a:srgbClr val="FF0000"/>
                </a:solidFill>
              </a:rPr>
              <a:t>اجمال معرفی </a:t>
            </a:r>
            <a:r>
              <a:rPr lang="fa-IR" sz="2400" b="1" dirty="0" smtClean="0"/>
              <a:t>کند </a:t>
            </a:r>
            <a:endParaRPr lang="en-US" sz="2400" dirty="0" smtClean="0"/>
          </a:p>
          <a:p>
            <a:pPr algn="r" rtl="1" eaLnBrk="1" hangingPunct="1">
              <a:lnSpc>
                <a:spcPct val="90000"/>
              </a:lnSpc>
            </a:pPr>
            <a:r>
              <a:rPr lang="fa-IR" sz="2400" b="1" dirty="0" smtClean="0"/>
              <a:t>گاه لازم است به منابع مطالعه شده اشاره شود </a:t>
            </a:r>
            <a:endParaRPr lang="en-US" sz="2400" dirty="0" smtClean="0"/>
          </a:p>
          <a:p>
            <a:pPr algn="r" rtl="1" eaLnBrk="1" hangingPunct="1">
              <a:lnSpc>
                <a:spcPct val="90000"/>
              </a:lnSpc>
            </a:pPr>
            <a:r>
              <a:rPr lang="fa-IR" sz="2400" b="1" dirty="0" smtClean="0">
                <a:solidFill>
                  <a:srgbClr val="FF0000"/>
                </a:solidFill>
              </a:rPr>
              <a:t>طرح عنوان اصلی و عناوین داخلی </a:t>
            </a:r>
            <a:r>
              <a:rPr lang="fa-IR" sz="2400" b="1" dirty="0" smtClean="0"/>
              <a:t>مهم تر ( که در برگ شفاف یا چارت یا پوستر نوشته شده اند )</a:t>
            </a:r>
            <a:endParaRPr lang="en-US" sz="2400" dirty="0" smtClean="0"/>
          </a:p>
          <a:p>
            <a:pPr algn="r" rtl="1" eaLnBrk="1" hangingPunct="1">
              <a:lnSpc>
                <a:spcPct val="90000"/>
              </a:lnSpc>
            </a:pPr>
            <a:r>
              <a:rPr lang="fa-IR" sz="2400" b="1" dirty="0" smtClean="0"/>
              <a:t>بیان حیطه و حدود موضوع </a:t>
            </a:r>
            <a:endParaRPr lang="en-US" sz="2400" dirty="0" smtClean="0"/>
          </a:p>
          <a:p>
            <a:pPr algn="r" rtl="1" eaLnBrk="1" hangingPunct="1">
              <a:lnSpc>
                <a:spcPct val="90000"/>
              </a:lnSpc>
            </a:pPr>
            <a:r>
              <a:rPr lang="fa-IR" sz="2400" b="1" dirty="0" smtClean="0"/>
              <a:t>بیان </a:t>
            </a:r>
            <a:r>
              <a:rPr lang="fa-IR" sz="2400" b="1" dirty="0" smtClean="0">
                <a:solidFill>
                  <a:srgbClr val="FF0000"/>
                </a:solidFill>
              </a:rPr>
              <a:t>سوابق کارهای انجام شده </a:t>
            </a:r>
            <a:r>
              <a:rPr lang="fa-IR" sz="2400" b="1" dirty="0" smtClean="0"/>
              <a:t>در موضوع  به اختصار </a:t>
            </a:r>
            <a:endParaRPr lang="en-US" sz="2400" dirty="0" smtClean="0"/>
          </a:p>
          <a:p>
            <a:pPr algn="r" rtl="1" eaLnBrk="1" hangingPunct="1">
              <a:lnSpc>
                <a:spcPct val="90000"/>
              </a:lnSpc>
            </a:pPr>
            <a:r>
              <a:rPr lang="fa-IR" sz="2400" b="1" dirty="0" smtClean="0"/>
              <a:t>اشاره ای مختصر به امکانات و مشکلات احتمالی مطالعه پژوهش در موضوع </a:t>
            </a:r>
            <a:endParaRPr lang="en-US" sz="2400" dirty="0" smtClean="0"/>
          </a:p>
          <a:p>
            <a:pPr algn="r" rtl="1" eaLnBrk="1" hangingPunct="1">
              <a:lnSpc>
                <a:spcPct val="90000"/>
              </a:lnSpc>
            </a:pPr>
            <a:endParaRPr lang="en-US" sz="2400" dirty="0" smtClean="0"/>
          </a:p>
        </p:txBody>
      </p:sp>
      <p:sp>
        <p:nvSpPr>
          <p:cNvPr id="324610" name="Rectangle 2"/>
          <p:cNvSpPr>
            <a:spLocks noGrp="1" noChangeArrowheads="1"/>
          </p:cNvSpPr>
          <p:nvPr>
            <p:ph type="title"/>
          </p:nvPr>
        </p:nvSpPr>
        <p:spPr>
          <a:xfrm>
            <a:off x="1042988" y="277813"/>
            <a:ext cx="6994525"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مقدمه در یک سخنرانی علمی – فنی</a:t>
            </a:r>
            <a:r>
              <a:rPr lang="en-US" sz="3000" smtClean="0">
                <a:solidFill>
                  <a:srgbClr val="FF0000"/>
                </a:solidFill>
                <a:effectLst/>
                <a:cs typeface="B Titr" pitchFamily="2" charset="-78"/>
              </a:rPr>
              <a:t>  </a:t>
            </a:r>
            <a:r>
              <a:rPr lang="fa-IR" sz="3000" smtClean="0">
                <a:solidFill>
                  <a:srgbClr val="FF0000"/>
                </a:solidFill>
                <a:effectLst/>
                <a:cs typeface="B Titr" pitchFamily="2" charset="-78"/>
              </a:rPr>
              <a:t>ساختمند باید به موارد زیر بپردازد</a:t>
            </a:r>
            <a:r>
              <a:rPr lang="en-US" sz="3000" smtClean="0">
                <a:solidFill>
                  <a:srgbClr val="FF0000"/>
                </a:solidFill>
                <a:effectLst/>
                <a:cs typeface="B Titr" pitchFamily="2" charset="-78"/>
              </a:rPr>
              <a:t> </a:t>
            </a:r>
          </a:p>
        </p:txBody>
      </p:sp>
    </p:spTree>
  </p:cSld>
  <p:clrMapOvr>
    <a:masterClrMapping/>
  </p:clrMapOvr>
  <p:transition spd="med">
    <p:wipe dir="d"/>
  </p:transition>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08226" name="Line 4"/>
          <p:cNvSpPr>
            <a:spLocks noChangeShapeType="1"/>
          </p:cNvSpPr>
          <p:nvPr/>
        </p:nvSpPr>
        <p:spPr bwMode="auto">
          <a:xfrm>
            <a:off x="2312988" y="6005513"/>
            <a:ext cx="4608512" cy="0"/>
          </a:xfrm>
          <a:prstGeom prst="line">
            <a:avLst/>
          </a:prstGeom>
          <a:noFill/>
          <a:ln w="9525">
            <a:solidFill>
              <a:srgbClr val="FFFF00"/>
            </a:solidFill>
            <a:round/>
            <a:headEnd/>
            <a:tailEnd type="triangle" w="med" len="med"/>
          </a:ln>
        </p:spPr>
        <p:txBody>
          <a:bodyPr anchor="ctr">
            <a:spAutoFit/>
          </a:bodyPr>
          <a:lstStyle/>
          <a:p>
            <a:endParaRPr lang="en-US"/>
          </a:p>
        </p:txBody>
      </p:sp>
      <p:sp>
        <p:nvSpPr>
          <p:cNvPr id="308227" name="Rectangle 5"/>
          <p:cNvSpPr>
            <a:spLocks noChangeArrowheads="1"/>
          </p:cNvSpPr>
          <p:nvPr/>
        </p:nvSpPr>
        <p:spPr bwMode="auto">
          <a:xfrm rot="-5400000">
            <a:off x="395288" y="2578100"/>
            <a:ext cx="1728788" cy="376237"/>
          </a:xfrm>
          <a:prstGeom prst="rect">
            <a:avLst/>
          </a:prstGeom>
          <a:solidFill>
            <a:schemeClr val="tx2"/>
          </a:solidFill>
          <a:ln w="9525" algn="ctr">
            <a:solidFill>
              <a:srgbClr val="CCFFFF"/>
            </a:solidFill>
            <a:miter lim="800000"/>
            <a:headEnd/>
            <a:tailEnd/>
          </a:ln>
        </p:spPr>
        <p:txBody>
          <a:bodyPr wrap="none" anchor="ctr">
            <a:spAutoFit/>
          </a:bodyPr>
          <a:lstStyle/>
          <a:p>
            <a:r>
              <a:rPr lang="fa-IR"/>
              <a:t>ميزان توجه مخاطب </a:t>
            </a:r>
            <a:endParaRPr lang="en-US"/>
          </a:p>
        </p:txBody>
      </p:sp>
      <p:sp>
        <p:nvSpPr>
          <p:cNvPr id="308228" name="Rectangle 7"/>
          <p:cNvSpPr>
            <a:spLocks noChangeArrowheads="1"/>
          </p:cNvSpPr>
          <p:nvPr/>
        </p:nvSpPr>
        <p:spPr bwMode="auto">
          <a:xfrm>
            <a:off x="6273800" y="6221413"/>
            <a:ext cx="1355725" cy="376237"/>
          </a:xfrm>
          <a:prstGeom prst="rect">
            <a:avLst/>
          </a:prstGeom>
          <a:solidFill>
            <a:srgbClr val="CCFFFF"/>
          </a:solidFill>
          <a:ln w="9525" algn="ctr">
            <a:solidFill>
              <a:schemeClr val="tx1"/>
            </a:solidFill>
            <a:miter lim="800000"/>
            <a:headEnd/>
            <a:tailEnd/>
          </a:ln>
        </p:spPr>
        <p:txBody>
          <a:bodyPr wrap="none" anchor="ctr">
            <a:spAutoFit/>
          </a:bodyPr>
          <a:lstStyle/>
          <a:p>
            <a:r>
              <a:rPr lang="fa-IR">
                <a:solidFill>
                  <a:schemeClr val="tx1"/>
                </a:solidFill>
              </a:rPr>
              <a:t>زمان به دقيقه  </a:t>
            </a:r>
            <a:endParaRPr lang="en-US">
              <a:solidFill>
                <a:schemeClr val="tx1"/>
              </a:solidFill>
            </a:endParaRPr>
          </a:p>
        </p:txBody>
      </p:sp>
      <p:sp>
        <p:nvSpPr>
          <p:cNvPr id="308229" name="Rectangle 8"/>
          <p:cNvSpPr>
            <a:spLocks noChangeArrowheads="1"/>
          </p:cNvSpPr>
          <p:nvPr/>
        </p:nvSpPr>
        <p:spPr bwMode="auto">
          <a:xfrm>
            <a:off x="1801813" y="3044825"/>
            <a:ext cx="450850" cy="376238"/>
          </a:xfrm>
          <a:prstGeom prst="rect">
            <a:avLst/>
          </a:prstGeom>
          <a:solidFill>
            <a:schemeClr val="tx2"/>
          </a:solidFill>
          <a:ln w="9525" algn="ctr">
            <a:solidFill>
              <a:schemeClr val="tx1"/>
            </a:solidFill>
            <a:miter lim="800000"/>
            <a:headEnd/>
            <a:tailEnd/>
          </a:ln>
        </p:spPr>
        <p:txBody>
          <a:bodyPr wrap="none" anchor="ctr">
            <a:spAutoFit/>
          </a:bodyPr>
          <a:lstStyle/>
          <a:p>
            <a:r>
              <a:rPr lang="fa-IR"/>
              <a:t>50</a:t>
            </a:r>
            <a:endParaRPr lang="en-US"/>
          </a:p>
        </p:txBody>
      </p:sp>
      <p:sp>
        <p:nvSpPr>
          <p:cNvPr id="308230" name="Rectangle 9"/>
          <p:cNvSpPr>
            <a:spLocks noChangeArrowheads="1"/>
          </p:cNvSpPr>
          <p:nvPr/>
        </p:nvSpPr>
        <p:spPr bwMode="auto">
          <a:xfrm>
            <a:off x="1873250" y="5789613"/>
            <a:ext cx="322263" cy="376237"/>
          </a:xfrm>
          <a:prstGeom prst="rect">
            <a:avLst/>
          </a:prstGeom>
          <a:solidFill>
            <a:schemeClr val="tx2"/>
          </a:solidFill>
          <a:ln w="9525" algn="ctr">
            <a:solidFill>
              <a:schemeClr val="tx1"/>
            </a:solidFill>
            <a:miter lim="800000"/>
            <a:headEnd/>
            <a:tailEnd/>
          </a:ln>
        </p:spPr>
        <p:txBody>
          <a:bodyPr wrap="none" anchor="ctr">
            <a:spAutoFit/>
          </a:bodyPr>
          <a:lstStyle/>
          <a:p>
            <a:r>
              <a:rPr lang="fa-IR"/>
              <a:t>0</a:t>
            </a:r>
            <a:endParaRPr lang="en-US"/>
          </a:p>
        </p:txBody>
      </p:sp>
      <p:sp>
        <p:nvSpPr>
          <p:cNvPr id="308231" name="Rectangle 10"/>
          <p:cNvSpPr>
            <a:spLocks noChangeArrowheads="1"/>
          </p:cNvSpPr>
          <p:nvPr/>
        </p:nvSpPr>
        <p:spPr bwMode="auto">
          <a:xfrm>
            <a:off x="1593850" y="750888"/>
            <a:ext cx="666750" cy="376237"/>
          </a:xfrm>
          <a:prstGeom prst="rect">
            <a:avLst/>
          </a:prstGeom>
          <a:solidFill>
            <a:schemeClr val="tx2"/>
          </a:solidFill>
          <a:ln w="9525" algn="ctr">
            <a:solidFill>
              <a:schemeClr val="tx1"/>
            </a:solidFill>
            <a:miter lim="800000"/>
            <a:headEnd/>
            <a:tailEnd/>
          </a:ln>
        </p:spPr>
        <p:txBody>
          <a:bodyPr anchor="ctr">
            <a:spAutoFit/>
          </a:bodyPr>
          <a:lstStyle/>
          <a:p>
            <a:r>
              <a:rPr lang="fa-IR"/>
              <a:t>100</a:t>
            </a:r>
            <a:endParaRPr lang="en-US"/>
          </a:p>
        </p:txBody>
      </p:sp>
      <p:sp>
        <p:nvSpPr>
          <p:cNvPr id="308232" name="Rectangle 14"/>
          <p:cNvSpPr>
            <a:spLocks noChangeArrowheads="1"/>
          </p:cNvSpPr>
          <p:nvPr/>
        </p:nvSpPr>
        <p:spPr bwMode="auto">
          <a:xfrm>
            <a:off x="3743325" y="388938"/>
            <a:ext cx="4357688" cy="376237"/>
          </a:xfrm>
          <a:prstGeom prst="rect">
            <a:avLst/>
          </a:prstGeom>
          <a:solidFill>
            <a:srgbClr val="FFFF99"/>
          </a:solidFill>
          <a:ln w="9525" algn="ctr">
            <a:solidFill>
              <a:schemeClr val="tx1"/>
            </a:solidFill>
            <a:miter lim="800000"/>
            <a:headEnd/>
            <a:tailEnd/>
          </a:ln>
        </p:spPr>
        <p:txBody>
          <a:bodyPr wrap="none" anchor="ctr">
            <a:spAutoFit/>
          </a:bodyPr>
          <a:lstStyle/>
          <a:p>
            <a:r>
              <a:rPr lang="fa-IR" dirty="0">
                <a:solidFill>
                  <a:schemeClr val="tx1"/>
                </a:solidFill>
              </a:rPr>
              <a:t>نمودار میزان توجه مخاطبین در سخنرانی غیر </a:t>
            </a:r>
            <a:r>
              <a:rPr lang="fa-IR" dirty="0" err="1">
                <a:solidFill>
                  <a:schemeClr val="tx1"/>
                </a:solidFill>
              </a:rPr>
              <a:t>ساختمند</a:t>
            </a:r>
            <a:r>
              <a:rPr lang="fa-IR" dirty="0">
                <a:solidFill>
                  <a:schemeClr val="tx1"/>
                </a:solidFill>
              </a:rPr>
              <a:t> </a:t>
            </a:r>
            <a:endParaRPr lang="en-US" dirty="0">
              <a:solidFill>
                <a:schemeClr val="tx1"/>
              </a:solidFill>
            </a:endParaRPr>
          </a:p>
        </p:txBody>
      </p:sp>
      <p:sp>
        <p:nvSpPr>
          <p:cNvPr id="308233" name="Line 15"/>
          <p:cNvSpPr>
            <a:spLocks noChangeShapeType="1"/>
          </p:cNvSpPr>
          <p:nvPr/>
        </p:nvSpPr>
        <p:spPr bwMode="auto">
          <a:xfrm>
            <a:off x="2312988" y="461963"/>
            <a:ext cx="0" cy="5543550"/>
          </a:xfrm>
          <a:prstGeom prst="line">
            <a:avLst/>
          </a:prstGeom>
          <a:noFill/>
          <a:ln w="9525">
            <a:solidFill>
              <a:srgbClr val="FFFF00"/>
            </a:solidFill>
            <a:round/>
            <a:headEnd type="triangle" w="med" len="med"/>
            <a:tailEnd/>
          </a:ln>
        </p:spPr>
        <p:txBody>
          <a:bodyPr anchor="ctr">
            <a:spAutoFit/>
          </a:bodyPr>
          <a:lstStyle/>
          <a:p>
            <a:endParaRPr lang="en-US"/>
          </a:p>
        </p:txBody>
      </p:sp>
      <p:sp>
        <p:nvSpPr>
          <p:cNvPr id="308234" name="Arc 17"/>
          <p:cNvSpPr>
            <a:spLocks/>
          </p:cNvSpPr>
          <p:nvPr/>
        </p:nvSpPr>
        <p:spPr bwMode="auto">
          <a:xfrm rot="10800000">
            <a:off x="2312988" y="1036638"/>
            <a:ext cx="3373437" cy="4392612"/>
          </a:xfrm>
          <a:custGeom>
            <a:avLst/>
            <a:gdLst>
              <a:gd name="T0" fmla="*/ 0 w 28813"/>
              <a:gd name="T1" fmla="*/ 2147483647 h 22309"/>
              <a:gd name="T2" fmla="*/ 2147483647 w 28813"/>
              <a:gd name="T3" fmla="*/ 2147483647 h 22309"/>
              <a:gd name="T4" fmla="*/ 2147483647 w 28813"/>
              <a:gd name="T5" fmla="*/ 2147483647 h 22309"/>
              <a:gd name="T6" fmla="*/ 0 60000 65536"/>
              <a:gd name="T7" fmla="*/ 0 60000 65536"/>
              <a:gd name="T8" fmla="*/ 0 60000 65536"/>
              <a:gd name="T9" fmla="*/ 0 w 28813"/>
              <a:gd name="T10" fmla="*/ 0 h 22309"/>
              <a:gd name="T11" fmla="*/ 28813 w 28813"/>
              <a:gd name="T12" fmla="*/ 22309 h 22309"/>
            </a:gdLst>
            <a:ahLst/>
            <a:cxnLst>
              <a:cxn ang="T6">
                <a:pos x="T0" y="T1"/>
              </a:cxn>
              <a:cxn ang="T7">
                <a:pos x="T2" y="T3"/>
              </a:cxn>
              <a:cxn ang="T8">
                <a:pos x="T4" y="T5"/>
              </a:cxn>
            </a:cxnLst>
            <a:rect l="T9" t="T10" r="T11" b="T12"/>
            <a:pathLst>
              <a:path w="28813" h="22309" fill="none" extrusionOk="0">
                <a:moveTo>
                  <a:pt x="-1" y="1239"/>
                </a:moveTo>
                <a:cubicBezTo>
                  <a:pt x="2316" y="419"/>
                  <a:pt x="4755" y="-1"/>
                  <a:pt x="7213" y="0"/>
                </a:cubicBezTo>
                <a:cubicBezTo>
                  <a:pt x="19142" y="0"/>
                  <a:pt x="28813" y="9670"/>
                  <a:pt x="28813" y="21600"/>
                </a:cubicBezTo>
                <a:cubicBezTo>
                  <a:pt x="28813" y="21836"/>
                  <a:pt x="28809" y="22072"/>
                  <a:pt x="28801" y="22309"/>
                </a:cubicBezTo>
              </a:path>
              <a:path w="28813" h="22309" stroke="0" extrusionOk="0">
                <a:moveTo>
                  <a:pt x="-1" y="1239"/>
                </a:moveTo>
                <a:cubicBezTo>
                  <a:pt x="2316" y="419"/>
                  <a:pt x="4755" y="-1"/>
                  <a:pt x="7213" y="0"/>
                </a:cubicBezTo>
                <a:cubicBezTo>
                  <a:pt x="19142" y="0"/>
                  <a:pt x="28813" y="9670"/>
                  <a:pt x="28813" y="21600"/>
                </a:cubicBezTo>
                <a:cubicBezTo>
                  <a:pt x="28813" y="21836"/>
                  <a:pt x="28809" y="22072"/>
                  <a:pt x="28801" y="22309"/>
                </a:cubicBezTo>
                <a:lnTo>
                  <a:pt x="7213" y="21600"/>
                </a:lnTo>
                <a:close/>
              </a:path>
            </a:pathLst>
          </a:custGeom>
          <a:noFill/>
          <a:ln w="38100">
            <a:solidFill>
              <a:srgbClr val="00FF00"/>
            </a:solidFill>
            <a:round/>
            <a:headEnd/>
            <a:tailEnd/>
          </a:ln>
        </p:spPr>
        <p:txBody>
          <a:bodyPr anchor="ctr">
            <a:spAutoFit/>
          </a:bodyPr>
          <a:lstStyle/>
          <a:p>
            <a:endParaRPr lang="en-US"/>
          </a:p>
        </p:txBody>
      </p:sp>
      <p:sp>
        <p:nvSpPr>
          <p:cNvPr id="308235" name="Line 22"/>
          <p:cNvSpPr>
            <a:spLocks noChangeShapeType="1"/>
          </p:cNvSpPr>
          <p:nvPr/>
        </p:nvSpPr>
        <p:spPr bwMode="auto">
          <a:xfrm>
            <a:off x="5697538" y="5213350"/>
            <a:ext cx="0" cy="792163"/>
          </a:xfrm>
          <a:prstGeom prst="line">
            <a:avLst/>
          </a:prstGeom>
          <a:noFill/>
          <a:ln w="9525">
            <a:solidFill>
              <a:schemeClr val="tx1"/>
            </a:solidFill>
            <a:prstDash val="lgDash"/>
            <a:round/>
            <a:headEnd/>
            <a:tailEnd/>
          </a:ln>
        </p:spPr>
        <p:txBody>
          <a:bodyPr anchor="ctr">
            <a:spAutoFit/>
          </a:bodyPr>
          <a:lstStyle/>
          <a:p>
            <a:endParaRPr lang="en-US"/>
          </a:p>
        </p:txBody>
      </p:sp>
      <p:sp>
        <p:nvSpPr>
          <p:cNvPr id="308236" name="Line 23"/>
          <p:cNvSpPr>
            <a:spLocks noChangeShapeType="1"/>
          </p:cNvSpPr>
          <p:nvPr/>
        </p:nvSpPr>
        <p:spPr bwMode="auto">
          <a:xfrm>
            <a:off x="4402138" y="5357813"/>
            <a:ext cx="0" cy="647700"/>
          </a:xfrm>
          <a:prstGeom prst="line">
            <a:avLst/>
          </a:prstGeom>
          <a:noFill/>
          <a:ln w="9525">
            <a:solidFill>
              <a:schemeClr val="tx1"/>
            </a:solidFill>
            <a:prstDash val="lgDash"/>
            <a:round/>
            <a:headEnd/>
            <a:tailEnd/>
          </a:ln>
        </p:spPr>
        <p:txBody>
          <a:bodyPr anchor="ctr">
            <a:spAutoFit/>
          </a:bodyPr>
          <a:lstStyle/>
          <a:p>
            <a:endParaRPr lang="en-US"/>
          </a:p>
        </p:txBody>
      </p:sp>
      <p:sp>
        <p:nvSpPr>
          <p:cNvPr id="308237" name="Rectangle 24"/>
          <p:cNvSpPr>
            <a:spLocks noChangeArrowheads="1"/>
          </p:cNvSpPr>
          <p:nvPr/>
        </p:nvSpPr>
        <p:spPr bwMode="auto">
          <a:xfrm>
            <a:off x="3690938" y="6005513"/>
            <a:ext cx="450850" cy="376237"/>
          </a:xfrm>
          <a:prstGeom prst="rect">
            <a:avLst/>
          </a:prstGeom>
          <a:solidFill>
            <a:schemeClr val="tx2"/>
          </a:solidFill>
          <a:ln w="9525" algn="ctr">
            <a:solidFill>
              <a:schemeClr val="tx1"/>
            </a:solidFill>
            <a:miter lim="800000"/>
            <a:headEnd/>
            <a:tailEnd/>
          </a:ln>
        </p:spPr>
        <p:txBody>
          <a:bodyPr wrap="none" anchor="ctr">
            <a:spAutoFit/>
          </a:bodyPr>
          <a:lstStyle/>
          <a:p>
            <a:r>
              <a:rPr lang="fa-IR"/>
              <a:t>15</a:t>
            </a:r>
            <a:endParaRPr lang="en-US"/>
          </a:p>
        </p:txBody>
      </p:sp>
      <p:sp>
        <p:nvSpPr>
          <p:cNvPr id="308238" name="Rectangle 25"/>
          <p:cNvSpPr>
            <a:spLocks noChangeArrowheads="1"/>
          </p:cNvSpPr>
          <p:nvPr/>
        </p:nvSpPr>
        <p:spPr bwMode="auto">
          <a:xfrm>
            <a:off x="5275263" y="6005513"/>
            <a:ext cx="450850" cy="376237"/>
          </a:xfrm>
          <a:prstGeom prst="rect">
            <a:avLst/>
          </a:prstGeom>
          <a:solidFill>
            <a:schemeClr val="tx2"/>
          </a:solidFill>
          <a:ln w="9525" algn="ctr">
            <a:solidFill>
              <a:schemeClr val="tx1"/>
            </a:solidFill>
            <a:miter lim="800000"/>
            <a:headEnd/>
            <a:tailEnd/>
          </a:ln>
        </p:spPr>
        <p:txBody>
          <a:bodyPr wrap="none" anchor="ctr">
            <a:spAutoFit/>
          </a:bodyPr>
          <a:lstStyle/>
          <a:p>
            <a:r>
              <a:rPr lang="fa-IR"/>
              <a:t>30</a:t>
            </a:r>
            <a:endParaRPr lang="en-US"/>
          </a:p>
        </p:txBody>
      </p:sp>
    </p:spTree>
  </p:cSld>
  <p:clrMapOvr>
    <a:masterClrMapping/>
  </p:clrMapOvr>
  <p:transition spd="med">
    <p:wipe dir="d"/>
  </p:transition>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09250" name="Line 8"/>
          <p:cNvSpPr>
            <a:spLocks noChangeShapeType="1"/>
          </p:cNvSpPr>
          <p:nvPr/>
        </p:nvSpPr>
        <p:spPr bwMode="auto">
          <a:xfrm>
            <a:off x="2271713" y="6076950"/>
            <a:ext cx="4608512" cy="0"/>
          </a:xfrm>
          <a:prstGeom prst="line">
            <a:avLst/>
          </a:prstGeom>
          <a:noFill/>
          <a:ln w="28575">
            <a:solidFill>
              <a:srgbClr val="FFFF00"/>
            </a:solidFill>
            <a:round/>
            <a:headEnd/>
            <a:tailEnd type="triangle" w="med" len="med"/>
          </a:ln>
        </p:spPr>
        <p:txBody>
          <a:bodyPr anchor="ctr">
            <a:spAutoFit/>
          </a:bodyPr>
          <a:lstStyle/>
          <a:p>
            <a:endParaRPr lang="en-US"/>
          </a:p>
        </p:txBody>
      </p:sp>
      <p:sp>
        <p:nvSpPr>
          <p:cNvPr id="309251" name="Rectangle 9"/>
          <p:cNvSpPr>
            <a:spLocks noChangeArrowheads="1"/>
          </p:cNvSpPr>
          <p:nvPr/>
        </p:nvSpPr>
        <p:spPr bwMode="auto">
          <a:xfrm>
            <a:off x="1760538" y="3116263"/>
            <a:ext cx="450850" cy="376237"/>
          </a:xfrm>
          <a:prstGeom prst="rect">
            <a:avLst/>
          </a:prstGeom>
          <a:solidFill>
            <a:schemeClr val="tx2"/>
          </a:solidFill>
          <a:ln w="9525" algn="ctr">
            <a:solidFill>
              <a:schemeClr val="tx1"/>
            </a:solidFill>
            <a:miter lim="800000"/>
            <a:headEnd/>
            <a:tailEnd/>
          </a:ln>
        </p:spPr>
        <p:txBody>
          <a:bodyPr wrap="none" anchor="ctr">
            <a:spAutoFit/>
          </a:bodyPr>
          <a:lstStyle/>
          <a:p>
            <a:r>
              <a:rPr lang="fa-IR"/>
              <a:t>50</a:t>
            </a:r>
            <a:endParaRPr lang="en-US"/>
          </a:p>
        </p:txBody>
      </p:sp>
      <p:sp>
        <p:nvSpPr>
          <p:cNvPr id="309252" name="Rectangle 10"/>
          <p:cNvSpPr>
            <a:spLocks noChangeArrowheads="1"/>
          </p:cNvSpPr>
          <p:nvPr/>
        </p:nvSpPr>
        <p:spPr bwMode="auto">
          <a:xfrm>
            <a:off x="1831975" y="5861050"/>
            <a:ext cx="322263" cy="376238"/>
          </a:xfrm>
          <a:prstGeom prst="rect">
            <a:avLst/>
          </a:prstGeom>
          <a:solidFill>
            <a:schemeClr val="tx2"/>
          </a:solidFill>
          <a:ln w="9525" algn="ctr">
            <a:solidFill>
              <a:schemeClr val="tx1"/>
            </a:solidFill>
            <a:miter lim="800000"/>
            <a:headEnd/>
            <a:tailEnd/>
          </a:ln>
        </p:spPr>
        <p:txBody>
          <a:bodyPr wrap="none" anchor="ctr">
            <a:spAutoFit/>
          </a:bodyPr>
          <a:lstStyle/>
          <a:p>
            <a:r>
              <a:rPr lang="fa-IR"/>
              <a:t>0</a:t>
            </a:r>
            <a:endParaRPr lang="en-US"/>
          </a:p>
        </p:txBody>
      </p:sp>
      <p:sp>
        <p:nvSpPr>
          <p:cNvPr id="309253" name="Rectangle 11"/>
          <p:cNvSpPr>
            <a:spLocks noChangeArrowheads="1"/>
          </p:cNvSpPr>
          <p:nvPr/>
        </p:nvSpPr>
        <p:spPr bwMode="auto">
          <a:xfrm>
            <a:off x="1552575" y="822325"/>
            <a:ext cx="666750" cy="376238"/>
          </a:xfrm>
          <a:prstGeom prst="rect">
            <a:avLst/>
          </a:prstGeom>
          <a:solidFill>
            <a:schemeClr val="tx2"/>
          </a:solidFill>
          <a:ln w="9525" algn="ctr">
            <a:solidFill>
              <a:schemeClr val="tx1"/>
            </a:solidFill>
            <a:miter lim="800000"/>
            <a:headEnd/>
            <a:tailEnd/>
          </a:ln>
        </p:spPr>
        <p:txBody>
          <a:bodyPr anchor="ctr">
            <a:spAutoFit/>
          </a:bodyPr>
          <a:lstStyle/>
          <a:p>
            <a:r>
              <a:rPr lang="fa-IR"/>
              <a:t>100</a:t>
            </a:r>
            <a:endParaRPr lang="en-US"/>
          </a:p>
        </p:txBody>
      </p:sp>
      <p:sp>
        <p:nvSpPr>
          <p:cNvPr id="309254" name="Line 12"/>
          <p:cNvSpPr>
            <a:spLocks noChangeShapeType="1"/>
          </p:cNvSpPr>
          <p:nvPr/>
        </p:nvSpPr>
        <p:spPr bwMode="auto">
          <a:xfrm>
            <a:off x="2271713" y="533400"/>
            <a:ext cx="0" cy="5543550"/>
          </a:xfrm>
          <a:prstGeom prst="line">
            <a:avLst/>
          </a:prstGeom>
          <a:noFill/>
          <a:ln w="28575">
            <a:solidFill>
              <a:srgbClr val="FFFF00"/>
            </a:solidFill>
            <a:round/>
            <a:headEnd type="triangle" w="med" len="med"/>
            <a:tailEnd/>
          </a:ln>
        </p:spPr>
        <p:txBody>
          <a:bodyPr anchor="ctr">
            <a:spAutoFit/>
          </a:bodyPr>
          <a:lstStyle/>
          <a:p>
            <a:endParaRPr lang="en-US"/>
          </a:p>
        </p:txBody>
      </p:sp>
      <p:sp>
        <p:nvSpPr>
          <p:cNvPr id="309255" name="Rectangle 13"/>
          <p:cNvSpPr>
            <a:spLocks noChangeArrowheads="1"/>
          </p:cNvSpPr>
          <p:nvPr/>
        </p:nvSpPr>
        <p:spPr bwMode="auto">
          <a:xfrm>
            <a:off x="3649663" y="6076950"/>
            <a:ext cx="450850" cy="376238"/>
          </a:xfrm>
          <a:prstGeom prst="rect">
            <a:avLst/>
          </a:prstGeom>
          <a:solidFill>
            <a:schemeClr val="tx2"/>
          </a:solidFill>
          <a:ln w="9525" algn="ctr">
            <a:solidFill>
              <a:schemeClr val="tx1"/>
            </a:solidFill>
            <a:miter lim="800000"/>
            <a:headEnd/>
            <a:tailEnd/>
          </a:ln>
        </p:spPr>
        <p:txBody>
          <a:bodyPr wrap="none" anchor="ctr">
            <a:spAutoFit/>
          </a:bodyPr>
          <a:lstStyle/>
          <a:p>
            <a:r>
              <a:rPr lang="fa-IR"/>
              <a:t>15</a:t>
            </a:r>
            <a:endParaRPr lang="en-US"/>
          </a:p>
        </p:txBody>
      </p:sp>
      <p:sp>
        <p:nvSpPr>
          <p:cNvPr id="309256" name="Rectangle 14"/>
          <p:cNvSpPr>
            <a:spLocks noChangeArrowheads="1"/>
          </p:cNvSpPr>
          <p:nvPr/>
        </p:nvSpPr>
        <p:spPr bwMode="auto">
          <a:xfrm>
            <a:off x="5233988" y="6076950"/>
            <a:ext cx="450850" cy="376238"/>
          </a:xfrm>
          <a:prstGeom prst="rect">
            <a:avLst/>
          </a:prstGeom>
          <a:solidFill>
            <a:schemeClr val="tx2"/>
          </a:solidFill>
          <a:ln w="9525" algn="ctr">
            <a:solidFill>
              <a:schemeClr val="tx1"/>
            </a:solidFill>
            <a:miter lim="800000"/>
            <a:headEnd/>
            <a:tailEnd/>
          </a:ln>
        </p:spPr>
        <p:txBody>
          <a:bodyPr wrap="none" anchor="ctr">
            <a:spAutoFit/>
          </a:bodyPr>
          <a:lstStyle/>
          <a:p>
            <a:r>
              <a:rPr lang="fa-IR"/>
              <a:t>30</a:t>
            </a:r>
            <a:endParaRPr lang="en-US"/>
          </a:p>
        </p:txBody>
      </p:sp>
      <p:sp>
        <p:nvSpPr>
          <p:cNvPr id="309257" name="Freeform 16"/>
          <p:cNvSpPr>
            <a:spLocks/>
          </p:cNvSpPr>
          <p:nvPr/>
        </p:nvSpPr>
        <p:spPr bwMode="auto">
          <a:xfrm>
            <a:off x="2344738" y="1757363"/>
            <a:ext cx="3600450" cy="215900"/>
          </a:xfrm>
          <a:custGeom>
            <a:avLst/>
            <a:gdLst>
              <a:gd name="T0" fmla="*/ 0 w 2664"/>
              <a:gd name="T1" fmla="*/ 60693761 h 192"/>
              <a:gd name="T2" fmla="*/ 328789706 w 2664"/>
              <a:gd name="T3" fmla="*/ 0 h 192"/>
              <a:gd name="T4" fmla="*/ 723336424 w 2664"/>
              <a:gd name="T5" fmla="*/ 60693761 h 192"/>
              <a:gd name="T6" fmla="*/ 789094619 w 2664"/>
              <a:gd name="T7" fmla="*/ 151733867 h 192"/>
              <a:gd name="T8" fmla="*/ 876771761 w 2664"/>
              <a:gd name="T9" fmla="*/ 166907584 h 192"/>
              <a:gd name="T10" fmla="*/ 1030205747 w 2664"/>
              <a:gd name="T11" fmla="*/ 136561240 h 192"/>
              <a:gd name="T12" fmla="*/ 1074044994 w 2664"/>
              <a:gd name="T13" fmla="*/ 91041213 h 192"/>
              <a:gd name="T14" fmla="*/ 1227480331 w 2664"/>
              <a:gd name="T15" fmla="*/ 30347443 h 192"/>
              <a:gd name="T16" fmla="*/ 1534349991 w 2664"/>
              <a:gd name="T17" fmla="*/ 106213806 h 192"/>
              <a:gd name="T18" fmla="*/ 1863139613 w 2664"/>
              <a:gd name="T19" fmla="*/ 91041213 h 192"/>
              <a:gd name="T20" fmla="*/ 2147483647 w 2664"/>
              <a:gd name="T21" fmla="*/ 242775045 h 192"/>
              <a:gd name="T22" fmla="*/ 2147483647 w 2664"/>
              <a:gd name="T23" fmla="*/ 121387523 h 192"/>
              <a:gd name="T24" fmla="*/ 2147483647 w 2664"/>
              <a:gd name="T25" fmla="*/ 91041213 h 192"/>
              <a:gd name="T26" fmla="*/ 2147483647 w 2664"/>
              <a:gd name="T27" fmla="*/ 106213806 h 192"/>
              <a:gd name="T28" fmla="*/ 2147483647 w 2664"/>
              <a:gd name="T29" fmla="*/ 121387523 h 192"/>
              <a:gd name="T30" fmla="*/ 2147483647 w 2664"/>
              <a:gd name="T31" fmla="*/ 166907584 h 192"/>
              <a:gd name="T32" fmla="*/ 2147483647 w 2664"/>
              <a:gd name="T33" fmla="*/ 136561240 h 192"/>
              <a:gd name="T34" fmla="*/ 2147483647 w 2664"/>
              <a:gd name="T35" fmla="*/ 91041213 h 192"/>
              <a:gd name="T36" fmla="*/ 2147483647 w 2664"/>
              <a:gd name="T37" fmla="*/ 136561240 h 192"/>
              <a:gd name="T38" fmla="*/ 2147483647 w 2664"/>
              <a:gd name="T39" fmla="*/ 182081301 h 192"/>
              <a:gd name="T40" fmla="*/ 2147483647 w 2664"/>
              <a:gd name="T41" fmla="*/ 106213806 h 192"/>
              <a:gd name="T42" fmla="*/ 2147483647 w 2664"/>
              <a:gd name="T43" fmla="*/ 45520044 h 192"/>
              <a:gd name="T44" fmla="*/ 2147483647 w 2664"/>
              <a:gd name="T45" fmla="*/ 91041213 h 192"/>
              <a:gd name="T46" fmla="*/ 2147483647 w 2664"/>
              <a:gd name="T47" fmla="*/ 136561240 h 192"/>
              <a:gd name="T48" fmla="*/ 2147483647 w 2664"/>
              <a:gd name="T49" fmla="*/ 242775045 h 19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664"/>
              <a:gd name="T76" fmla="*/ 0 h 192"/>
              <a:gd name="T77" fmla="*/ 2664 w 2664"/>
              <a:gd name="T78" fmla="*/ 192 h 19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664" h="192">
                <a:moveTo>
                  <a:pt x="0" y="48"/>
                </a:moveTo>
                <a:cubicBezTo>
                  <a:pt x="99" y="36"/>
                  <a:pt x="98" y="27"/>
                  <a:pt x="180" y="0"/>
                </a:cubicBezTo>
                <a:cubicBezTo>
                  <a:pt x="250" y="23"/>
                  <a:pt x="327" y="22"/>
                  <a:pt x="396" y="48"/>
                </a:cubicBezTo>
                <a:cubicBezTo>
                  <a:pt x="421" y="57"/>
                  <a:pt x="410" y="105"/>
                  <a:pt x="432" y="120"/>
                </a:cubicBezTo>
                <a:cubicBezTo>
                  <a:pt x="446" y="129"/>
                  <a:pt x="464" y="128"/>
                  <a:pt x="480" y="132"/>
                </a:cubicBezTo>
                <a:cubicBezTo>
                  <a:pt x="508" y="124"/>
                  <a:pt x="539" y="122"/>
                  <a:pt x="564" y="108"/>
                </a:cubicBezTo>
                <a:cubicBezTo>
                  <a:pt x="577" y="101"/>
                  <a:pt x="578" y="82"/>
                  <a:pt x="588" y="72"/>
                </a:cubicBezTo>
                <a:cubicBezTo>
                  <a:pt x="624" y="36"/>
                  <a:pt x="631" y="38"/>
                  <a:pt x="672" y="24"/>
                </a:cubicBezTo>
                <a:cubicBezTo>
                  <a:pt x="725" y="60"/>
                  <a:pt x="779" y="72"/>
                  <a:pt x="840" y="84"/>
                </a:cubicBezTo>
                <a:cubicBezTo>
                  <a:pt x="900" y="80"/>
                  <a:pt x="960" y="69"/>
                  <a:pt x="1020" y="72"/>
                </a:cubicBezTo>
                <a:cubicBezTo>
                  <a:pt x="1104" y="76"/>
                  <a:pt x="1158" y="166"/>
                  <a:pt x="1236" y="192"/>
                </a:cubicBezTo>
                <a:cubicBezTo>
                  <a:pt x="1291" y="156"/>
                  <a:pt x="1294" y="127"/>
                  <a:pt x="1356" y="96"/>
                </a:cubicBezTo>
                <a:cubicBezTo>
                  <a:pt x="1407" y="113"/>
                  <a:pt x="1432" y="101"/>
                  <a:pt x="1476" y="72"/>
                </a:cubicBezTo>
                <a:cubicBezTo>
                  <a:pt x="1536" y="76"/>
                  <a:pt x="1596" y="78"/>
                  <a:pt x="1656" y="84"/>
                </a:cubicBezTo>
                <a:cubicBezTo>
                  <a:pt x="1680" y="86"/>
                  <a:pt x="1706" y="85"/>
                  <a:pt x="1728" y="96"/>
                </a:cubicBezTo>
                <a:cubicBezTo>
                  <a:pt x="1741" y="102"/>
                  <a:pt x="1744" y="120"/>
                  <a:pt x="1752" y="132"/>
                </a:cubicBezTo>
                <a:cubicBezTo>
                  <a:pt x="1804" y="122"/>
                  <a:pt x="1857" y="122"/>
                  <a:pt x="1908" y="108"/>
                </a:cubicBezTo>
                <a:cubicBezTo>
                  <a:pt x="1934" y="101"/>
                  <a:pt x="1955" y="80"/>
                  <a:pt x="1980" y="72"/>
                </a:cubicBezTo>
                <a:cubicBezTo>
                  <a:pt x="1992" y="84"/>
                  <a:pt x="2005" y="95"/>
                  <a:pt x="2016" y="108"/>
                </a:cubicBezTo>
                <a:cubicBezTo>
                  <a:pt x="2025" y="119"/>
                  <a:pt x="2026" y="141"/>
                  <a:pt x="2040" y="144"/>
                </a:cubicBezTo>
                <a:cubicBezTo>
                  <a:pt x="2088" y="156"/>
                  <a:pt x="2177" y="113"/>
                  <a:pt x="2220" y="84"/>
                </a:cubicBezTo>
                <a:cubicBezTo>
                  <a:pt x="2283" y="105"/>
                  <a:pt x="2296" y="80"/>
                  <a:pt x="2340" y="36"/>
                </a:cubicBezTo>
                <a:cubicBezTo>
                  <a:pt x="2356" y="48"/>
                  <a:pt x="2375" y="57"/>
                  <a:pt x="2388" y="72"/>
                </a:cubicBezTo>
                <a:cubicBezTo>
                  <a:pt x="2396" y="82"/>
                  <a:pt x="2389" y="101"/>
                  <a:pt x="2400" y="108"/>
                </a:cubicBezTo>
                <a:cubicBezTo>
                  <a:pt x="2480" y="156"/>
                  <a:pt x="2583" y="152"/>
                  <a:pt x="2664" y="192"/>
                </a:cubicBezTo>
              </a:path>
            </a:pathLst>
          </a:custGeom>
          <a:noFill/>
          <a:ln w="12700">
            <a:solidFill>
              <a:srgbClr val="00FF00"/>
            </a:solidFill>
            <a:round/>
            <a:headEnd/>
            <a:tailEnd/>
          </a:ln>
        </p:spPr>
        <p:txBody>
          <a:bodyPr anchor="ctr">
            <a:spAutoFit/>
          </a:bodyPr>
          <a:lstStyle/>
          <a:p>
            <a:endParaRPr lang="en-US"/>
          </a:p>
        </p:txBody>
      </p:sp>
      <p:sp>
        <p:nvSpPr>
          <p:cNvPr id="309258" name="Line 17"/>
          <p:cNvSpPr>
            <a:spLocks noChangeShapeType="1"/>
          </p:cNvSpPr>
          <p:nvPr/>
        </p:nvSpPr>
        <p:spPr bwMode="auto">
          <a:xfrm flipH="1">
            <a:off x="5872163" y="1973263"/>
            <a:ext cx="0" cy="4103687"/>
          </a:xfrm>
          <a:prstGeom prst="line">
            <a:avLst/>
          </a:prstGeom>
          <a:noFill/>
          <a:ln w="9525">
            <a:solidFill>
              <a:schemeClr val="tx1"/>
            </a:solidFill>
            <a:prstDash val="dashDot"/>
            <a:round/>
            <a:headEnd/>
            <a:tailEnd/>
          </a:ln>
        </p:spPr>
        <p:txBody>
          <a:bodyPr anchor="ctr">
            <a:spAutoFit/>
          </a:bodyPr>
          <a:lstStyle/>
          <a:p>
            <a:endParaRPr lang="en-US"/>
          </a:p>
        </p:txBody>
      </p:sp>
      <p:sp>
        <p:nvSpPr>
          <p:cNvPr id="309259" name="Rectangle 18"/>
          <p:cNvSpPr>
            <a:spLocks noChangeArrowheads="1"/>
          </p:cNvSpPr>
          <p:nvPr/>
        </p:nvSpPr>
        <p:spPr bwMode="auto">
          <a:xfrm rot="-5400000">
            <a:off x="354013" y="2649538"/>
            <a:ext cx="1728787" cy="376237"/>
          </a:xfrm>
          <a:prstGeom prst="rect">
            <a:avLst/>
          </a:prstGeom>
          <a:solidFill>
            <a:schemeClr val="tx2"/>
          </a:solidFill>
          <a:ln w="9525" algn="ctr">
            <a:solidFill>
              <a:srgbClr val="CCFFFF"/>
            </a:solidFill>
            <a:miter lim="800000"/>
            <a:headEnd/>
            <a:tailEnd/>
          </a:ln>
        </p:spPr>
        <p:txBody>
          <a:bodyPr wrap="none" anchor="ctr">
            <a:spAutoFit/>
          </a:bodyPr>
          <a:lstStyle/>
          <a:p>
            <a:r>
              <a:rPr lang="fa-IR"/>
              <a:t>ميزان توجه مخاطب </a:t>
            </a:r>
            <a:endParaRPr lang="en-US"/>
          </a:p>
        </p:txBody>
      </p:sp>
      <p:sp>
        <p:nvSpPr>
          <p:cNvPr id="309260" name="Rectangle 19"/>
          <p:cNvSpPr>
            <a:spLocks noChangeArrowheads="1"/>
          </p:cNvSpPr>
          <p:nvPr/>
        </p:nvSpPr>
        <p:spPr bwMode="auto">
          <a:xfrm>
            <a:off x="6232525" y="6292850"/>
            <a:ext cx="1355725" cy="376238"/>
          </a:xfrm>
          <a:prstGeom prst="rect">
            <a:avLst/>
          </a:prstGeom>
          <a:solidFill>
            <a:srgbClr val="CCFFFF"/>
          </a:solidFill>
          <a:ln w="9525" algn="ctr">
            <a:solidFill>
              <a:schemeClr val="tx1"/>
            </a:solidFill>
            <a:miter lim="800000"/>
            <a:headEnd/>
            <a:tailEnd/>
          </a:ln>
        </p:spPr>
        <p:txBody>
          <a:bodyPr wrap="none" anchor="ctr">
            <a:spAutoFit/>
          </a:bodyPr>
          <a:lstStyle/>
          <a:p>
            <a:r>
              <a:rPr lang="fa-IR">
                <a:solidFill>
                  <a:schemeClr val="tx1"/>
                </a:solidFill>
              </a:rPr>
              <a:t>زمان به دقيقه  </a:t>
            </a:r>
            <a:endParaRPr lang="en-US">
              <a:solidFill>
                <a:schemeClr val="tx1"/>
              </a:solidFill>
            </a:endParaRPr>
          </a:p>
        </p:txBody>
      </p:sp>
      <p:sp>
        <p:nvSpPr>
          <p:cNvPr id="309261" name="Rectangle 20"/>
          <p:cNvSpPr>
            <a:spLocks noChangeArrowheads="1"/>
          </p:cNvSpPr>
          <p:nvPr/>
        </p:nvSpPr>
        <p:spPr bwMode="auto">
          <a:xfrm>
            <a:off x="3875088" y="460375"/>
            <a:ext cx="4010025" cy="376238"/>
          </a:xfrm>
          <a:prstGeom prst="rect">
            <a:avLst/>
          </a:prstGeom>
          <a:solidFill>
            <a:srgbClr val="FFFF99"/>
          </a:solidFill>
          <a:ln w="9525" algn="ctr">
            <a:solidFill>
              <a:schemeClr val="tx1"/>
            </a:solidFill>
            <a:miter lim="800000"/>
            <a:headEnd/>
            <a:tailEnd/>
          </a:ln>
        </p:spPr>
        <p:txBody>
          <a:bodyPr wrap="none" anchor="ctr">
            <a:spAutoFit/>
          </a:bodyPr>
          <a:lstStyle/>
          <a:p>
            <a:r>
              <a:rPr lang="fa-IR">
                <a:solidFill>
                  <a:schemeClr val="tx1"/>
                </a:solidFill>
              </a:rPr>
              <a:t>نمودار میزان توجه مخاطبین در سخنرانی ساختمند </a:t>
            </a:r>
            <a:endParaRPr lang="en-US">
              <a:solidFill>
                <a:schemeClr val="tx1"/>
              </a:solidFill>
            </a:endParaRPr>
          </a:p>
        </p:txBody>
      </p:sp>
    </p:spTree>
  </p:cSld>
  <p:clrMapOvr>
    <a:masterClrMapping/>
  </p:clrMapOvr>
  <p:transition spd="med">
    <p:wipe dir="d"/>
  </p:transition>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3"/>
          <p:cNvSpPr>
            <a:spLocks noGrp="1" noChangeArrowheads="1"/>
          </p:cNvSpPr>
          <p:nvPr>
            <p:ph idx="1"/>
          </p:nvPr>
        </p:nvSpPr>
        <p:spPr/>
        <p:txBody>
          <a:bodyPr/>
          <a:lstStyle/>
          <a:p>
            <a:pPr algn="r" rtl="1" eaLnBrk="1" hangingPunct="1">
              <a:lnSpc>
                <a:spcPct val="80000"/>
              </a:lnSpc>
            </a:pPr>
            <a:r>
              <a:rPr lang="fa-IR" sz="2000" b="1" dirty="0" smtClean="0"/>
              <a:t>ظاهر آراسته و متناسب با عرف جامعه </a:t>
            </a:r>
            <a:endParaRPr lang="en-US" sz="2000" dirty="0" smtClean="0"/>
          </a:p>
          <a:p>
            <a:pPr algn="r" rtl="1" eaLnBrk="1" hangingPunct="1">
              <a:lnSpc>
                <a:spcPct val="80000"/>
              </a:lnSpc>
            </a:pPr>
            <a:r>
              <a:rPr lang="fa-IR" sz="2000" b="1" dirty="0" smtClean="0"/>
              <a:t>تمرکز فکر و جمعیت خاطر </a:t>
            </a:r>
            <a:endParaRPr lang="en-US" sz="2000" dirty="0" smtClean="0"/>
          </a:p>
          <a:p>
            <a:pPr algn="r" rtl="1" eaLnBrk="1" hangingPunct="1">
              <a:lnSpc>
                <a:spcPct val="80000"/>
              </a:lnSpc>
            </a:pPr>
            <a:r>
              <a:rPr lang="fa-IR" sz="2000" b="1" dirty="0" smtClean="0"/>
              <a:t>گشاده رویی </a:t>
            </a:r>
            <a:endParaRPr lang="en-US" sz="2000" dirty="0" smtClean="0"/>
          </a:p>
          <a:p>
            <a:pPr algn="r" rtl="1" eaLnBrk="1" hangingPunct="1">
              <a:lnSpc>
                <a:spcPct val="80000"/>
              </a:lnSpc>
            </a:pPr>
            <a:r>
              <a:rPr lang="fa-IR" sz="2000" b="1" dirty="0" smtClean="0"/>
              <a:t>صبر و حوصله </a:t>
            </a:r>
            <a:endParaRPr lang="en-US" sz="2000" dirty="0" smtClean="0"/>
          </a:p>
          <a:p>
            <a:pPr algn="r" rtl="1" eaLnBrk="1" hangingPunct="1">
              <a:lnSpc>
                <a:spcPct val="80000"/>
              </a:lnSpc>
            </a:pPr>
            <a:r>
              <a:rPr lang="fa-IR" sz="2000" b="1" dirty="0" smtClean="0"/>
              <a:t>قابلیت (هنر ) </a:t>
            </a:r>
            <a:r>
              <a:rPr lang="fa-IR" sz="2000" b="1" dirty="0" smtClean="0">
                <a:solidFill>
                  <a:srgbClr val="FF0000"/>
                </a:solidFill>
              </a:rPr>
              <a:t>جلب توجه مخاطب </a:t>
            </a:r>
            <a:endParaRPr lang="en-US" sz="2000" dirty="0" smtClean="0">
              <a:solidFill>
                <a:srgbClr val="FF0000"/>
              </a:solidFill>
            </a:endParaRPr>
          </a:p>
          <a:p>
            <a:pPr algn="r" rtl="1" eaLnBrk="1" hangingPunct="1">
              <a:lnSpc>
                <a:spcPct val="80000"/>
              </a:lnSpc>
            </a:pPr>
            <a:r>
              <a:rPr lang="fa-IR" sz="2000" b="1" dirty="0" smtClean="0"/>
              <a:t>توانایی اشراف بر فضای ارائه و کنترل  جو ارائه </a:t>
            </a:r>
            <a:endParaRPr lang="en-US" sz="2000" dirty="0" smtClean="0"/>
          </a:p>
          <a:p>
            <a:pPr algn="r" rtl="1" eaLnBrk="1" hangingPunct="1">
              <a:lnSpc>
                <a:spcPct val="80000"/>
              </a:lnSpc>
            </a:pPr>
            <a:r>
              <a:rPr lang="fa-IR" sz="2000" b="1" dirty="0" smtClean="0">
                <a:solidFill>
                  <a:srgbClr val="FF0000"/>
                </a:solidFill>
              </a:rPr>
              <a:t>ادب</a:t>
            </a:r>
            <a:r>
              <a:rPr lang="fa-IR" sz="2000" b="1" dirty="0" smtClean="0"/>
              <a:t> در کلام و ادب در رفتار</a:t>
            </a:r>
            <a:endParaRPr lang="en-US" sz="2000" dirty="0" smtClean="0"/>
          </a:p>
          <a:p>
            <a:pPr algn="r" rtl="1" eaLnBrk="1" hangingPunct="1">
              <a:lnSpc>
                <a:spcPct val="80000"/>
              </a:lnSpc>
            </a:pPr>
            <a:r>
              <a:rPr lang="fa-IR" sz="2000" b="1" dirty="0" smtClean="0"/>
              <a:t>تاثیر </a:t>
            </a:r>
            <a:r>
              <a:rPr lang="fa-IR" sz="2000" b="1" dirty="0" smtClean="0">
                <a:solidFill>
                  <a:srgbClr val="FF0000"/>
                </a:solidFill>
              </a:rPr>
              <a:t>نگاه </a:t>
            </a:r>
            <a:endParaRPr lang="en-US" sz="2000" dirty="0" smtClean="0">
              <a:solidFill>
                <a:srgbClr val="FF0000"/>
              </a:solidFill>
            </a:endParaRPr>
          </a:p>
          <a:p>
            <a:pPr algn="r" rtl="1" eaLnBrk="1" hangingPunct="1">
              <a:lnSpc>
                <a:spcPct val="80000"/>
              </a:lnSpc>
            </a:pPr>
            <a:r>
              <a:rPr lang="fa-IR" sz="2000" b="1" dirty="0" smtClean="0"/>
              <a:t>نفوذ کلام </a:t>
            </a:r>
            <a:endParaRPr lang="en-US" sz="2000" dirty="0" smtClean="0"/>
          </a:p>
          <a:p>
            <a:pPr algn="r" rtl="1" eaLnBrk="1" hangingPunct="1">
              <a:lnSpc>
                <a:spcPct val="80000"/>
              </a:lnSpc>
            </a:pPr>
            <a:r>
              <a:rPr lang="fa-IR" sz="2000" b="1" dirty="0" smtClean="0">
                <a:solidFill>
                  <a:srgbClr val="FF0000"/>
                </a:solidFill>
              </a:rPr>
              <a:t>حضور ذهن </a:t>
            </a:r>
            <a:endParaRPr lang="en-US" sz="2000" dirty="0" smtClean="0">
              <a:solidFill>
                <a:srgbClr val="FF0000"/>
              </a:solidFill>
            </a:endParaRPr>
          </a:p>
          <a:p>
            <a:pPr algn="r" rtl="1" eaLnBrk="1" hangingPunct="1">
              <a:lnSpc>
                <a:spcPct val="80000"/>
              </a:lnSpc>
            </a:pPr>
            <a:r>
              <a:rPr lang="fa-IR" sz="2000" b="1" dirty="0" smtClean="0">
                <a:solidFill>
                  <a:srgbClr val="FF0000"/>
                </a:solidFill>
              </a:rPr>
              <a:t>خونسردی</a:t>
            </a:r>
            <a:endParaRPr lang="en-US" sz="2000" dirty="0" smtClean="0">
              <a:solidFill>
                <a:srgbClr val="FF0000"/>
              </a:solidFill>
            </a:endParaRPr>
          </a:p>
          <a:p>
            <a:pPr algn="r" rtl="1" eaLnBrk="1" hangingPunct="1">
              <a:lnSpc>
                <a:spcPct val="80000"/>
              </a:lnSpc>
            </a:pPr>
            <a:r>
              <a:rPr lang="fa-IR" sz="2000" b="1" dirty="0" smtClean="0">
                <a:solidFill>
                  <a:srgbClr val="FF0000"/>
                </a:solidFill>
              </a:rPr>
              <a:t> تسلط بر اعصاب </a:t>
            </a:r>
            <a:endParaRPr lang="en-US" sz="2000" dirty="0" smtClean="0">
              <a:solidFill>
                <a:srgbClr val="FF0000"/>
              </a:solidFill>
            </a:endParaRPr>
          </a:p>
          <a:p>
            <a:pPr algn="r" rtl="1" eaLnBrk="1" hangingPunct="1">
              <a:lnSpc>
                <a:spcPct val="80000"/>
              </a:lnSpc>
            </a:pPr>
            <a:r>
              <a:rPr lang="fa-IR" sz="2000" b="1" dirty="0" smtClean="0"/>
              <a:t>حاضر جوابی </a:t>
            </a:r>
            <a:endParaRPr lang="en-US" sz="2000" dirty="0" smtClean="0"/>
          </a:p>
          <a:p>
            <a:pPr algn="r" rtl="1" eaLnBrk="1" hangingPunct="1">
              <a:lnSpc>
                <a:spcPct val="80000"/>
              </a:lnSpc>
            </a:pPr>
            <a:r>
              <a:rPr lang="fa-IR" sz="2000" b="1" dirty="0" smtClean="0"/>
              <a:t>توانایی برقراری ارتباط </a:t>
            </a:r>
            <a:r>
              <a:rPr lang="fa-IR" sz="2000" b="1" dirty="0" smtClean="0">
                <a:solidFill>
                  <a:srgbClr val="FF0000"/>
                </a:solidFill>
              </a:rPr>
              <a:t>حضوری زنده و پویا </a:t>
            </a:r>
            <a:endParaRPr lang="en-US" sz="2000" dirty="0" smtClean="0">
              <a:solidFill>
                <a:srgbClr val="FF0000"/>
              </a:solidFill>
            </a:endParaRPr>
          </a:p>
          <a:p>
            <a:pPr algn="r" rtl="1" eaLnBrk="1" hangingPunct="1">
              <a:lnSpc>
                <a:spcPct val="80000"/>
              </a:lnSpc>
            </a:pPr>
            <a:endParaRPr lang="en-US" sz="2000" dirty="0" smtClean="0"/>
          </a:p>
        </p:txBody>
      </p:sp>
      <p:sp>
        <p:nvSpPr>
          <p:cNvPr id="32665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خصوصیات سخنران علمی – فنی: </a:t>
            </a:r>
            <a:endParaRPr lang="en-US" sz="30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3"/>
          <p:cNvSpPr>
            <a:spLocks noGrp="1" noChangeArrowheads="1"/>
          </p:cNvSpPr>
          <p:nvPr>
            <p:ph idx="1"/>
          </p:nvPr>
        </p:nvSpPr>
        <p:spPr/>
        <p:txBody>
          <a:bodyPr/>
          <a:lstStyle/>
          <a:p>
            <a:pPr algn="justLow" rtl="1" eaLnBrk="1" hangingPunct="1">
              <a:buFont typeface="Wingdings" pitchFamily="2" charset="2"/>
              <a:buNone/>
            </a:pPr>
            <a:r>
              <a:rPr lang="fa-IR" b="1" smtClean="0"/>
              <a:t>در این نوع ارائه نیز عامل زمان (تاریخ ) بسیار تاثیر دارد. اما گذشته از این عامل  مسئله انتخاب زمان (ساعت ) از حساسیت خاصی برخوردار است . بعنوان مثال ساعت قبل از ظهر یا بلافاصله بعد از ظهر زمان مطلوبی برای سخنرانی علمی –فنی نیست و در محیطهای کاری ساعت آخر وقت نامطلوب به نظر می‌رسد.</a:t>
            </a:r>
            <a:endParaRPr lang="en-US" b="1" smtClean="0"/>
          </a:p>
        </p:txBody>
      </p:sp>
      <p:sp>
        <p:nvSpPr>
          <p:cNvPr id="32768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زمان سخنرانی علمی – فنی : </a:t>
            </a:r>
            <a:endParaRPr lang="en-US" sz="30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12322" name="Line 5"/>
          <p:cNvSpPr>
            <a:spLocks noChangeShapeType="1"/>
          </p:cNvSpPr>
          <p:nvPr/>
        </p:nvSpPr>
        <p:spPr bwMode="auto">
          <a:xfrm>
            <a:off x="1258888" y="5876925"/>
            <a:ext cx="5618162" cy="0"/>
          </a:xfrm>
          <a:prstGeom prst="line">
            <a:avLst/>
          </a:prstGeom>
          <a:noFill/>
          <a:ln w="9525">
            <a:solidFill>
              <a:srgbClr val="FFFF00"/>
            </a:solidFill>
            <a:round/>
            <a:headEnd/>
            <a:tailEnd type="triangle" w="med" len="med"/>
          </a:ln>
        </p:spPr>
        <p:txBody>
          <a:bodyPr anchor="ctr">
            <a:spAutoFit/>
          </a:bodyPr>
          <a:lstStyle/>
          <a:p>
            <a:endParaRPr lang="en-US">
              <a:solidFill>
                <a:schemeClr val="tx1">
                  <a:lumMod val="75000"/>
                  <a:lumOff val="25000"/>
                </a:schemeClr>
              </a:solidFill>
            </a:endParaRPr>
          </a:p>
        </p:txBody>
      </p:sp>
      <p:sp>
        <p:nvSpPr>
          <p:cNvPr id="312323" name="Rectangle 6"/>
          <p:cNvSpPr>
            <a:spLocks noChangeArrowheads="1"/>
          </p:cNvSpPr>
          <p:nvPr/>
        </p:nvSpPr>
        <p:spPr bwMode="auto">
          <a:xfrm rot="-5400000">
            <a:off x="299244" y="1437482"/>
            <a:ext cx="1000125" cy="376237"/>
          </a:xfrm>
          <a:prstGeom prst="rect">
            <a:avLst/>
          </a:prstGeom>
          <a:solidFill>
            <a:schemeClr val="tx2"/>
          </a:solidFill>
          <a:ln w="9525" algn="ctr">
            <a:solidFill>
              <a:srgbClr val="CCFFFF"/>
            </a:solidFill>
            <a:miter lim="800000"/>
            <a:headEnd/>
            <a:tailEnd/>
          </a:ln>
        </p:spPr>
        <p:txBody>
          <a:bodyPr wrap="none" anchor="ctr">
            <a:spAutoFit/>
          </a:bodyPr>
          <a:lstStyle/>
          <a:p>
            <a:r>
              <a:rPr lang="fa-IR">
                <a:solidFill>
                  <a:schemeClr val="bg1"/>
                </a:solidFill>
              </a:rPr>
              <a:t>كميت ارائه</a:t>
            </a:r>
            <a:endParaRPr lang="en-US">
              <a:solidFill>
                <a:schemeClr val="bg1"/>
              </a:solidFill>
            </a:endParaRPr>
          </a:p>
        </p:txBody>
      </p:sp>
      <p:sp>
        <p:nvSpPr>
          <p:cNvPr id="312324" name="Rectangle 7"/>
          <p:cNvSpPr>
            <a:spLocks noChangeArrowheads="1"/>
          </p:cNvSpPr>
          <p:nvPr/>
        </p:nvSpPr>
        <p:spPr bwMode="auto">
          <a:xfrm>
            <a:off x="5564188" y="6165850"/>
            <a:ext cx="668337" cy="376238"/>
          </a:xfrm>
          <a:prstGeom prst="rect">
            <a:avLst/>
          </a:prstGeom>
          <a:solidFill>
            <a:srgbClr val="CCFFFF"/>
          </a:solidFill>
          <a:ln w="9525" algn="ctr">
            <a:solidFill>
              <a:schemeClr val="tx1"/>
            </a:solidFill>
            <a:miter lim="800000"/>
            <a:headEnd/>
            <a:tailEnd/>
          </a:ln>
        </p:spPr>
        <p:txBody>
          <a:bodyPr wrap="none" anchor="ctr">
            <a:spAutoFit/>
          </a:bodyPr>
          <a:lstStyle/>
          <a:p>
            <a:r>
              <a:rPr lang="fa-IR">
                <a:solidFill>
                  <a:schemeClr val="tx1">
                    <a:lumMod val="75000"/>
                    <a:lumOff val="25000"/>
                  </a:schemeClr>
                </a:solidFill>
              </a:rPr>
              <a:t>غروب</a:t>
            </a:r>
            <a:endParaRPr lang="en-US">
              <a:solidFill>
                <a:schemeClr val="tx1">
                  <a:lumMod val="75000"/>
                  <a:lumOff val="25000"/>
                </a:schemeClr>
              </a:solidFill>
            </a:endParaRPr>
          </a:p>
        </p:txBody>
      </p:sp>
      <p:sp>
        <p:nvSpPr>
          <p:cNvPr id="312325" name="Rectangle 8"/>
          <p:cNvSpPr>
            <a:spLocks noChangeArrowheads="1"/>
          </p:cNvSpPr>
          <p:nvPr/>
        </p:nvSpPr>
        <p:spPr bwMode="auto">
          <a:xfrm>
            <a:off x="1958975" y="620713"/>
            <a:ext cx="5853113" cy="650875"/>
          </a:xfrm>
          <a:prstGeom prst="rect">
            <a:avLst/>
          </a:prstGeom>
          <a:solidFill>
            <a:srgbClr val="FFFF99"/>
          </a:solidFill>
          <a:ln w="9525" algn="ctr">
            <a:solidFill>
              <a:schemeClr val="tx1"/>
            </a:solidFill>
            <a:miter lim="800000"/>
            <a:headEnd/>
            <a:tailEnd/>
          </a:ln>
        </p:spPr>
        <p:txBody>
          <a:bodyPr wrap="none" anchor="ctr">
            <a:spAutoFit/>
          </a:bodyPr>
          <a:lstStyle/>
          <a:p>
            <a:pPr rtl="1"/>
            <a:r>
              <a:rPr lang="fa-IR" dirty="0">
                <a:solidFill>
                  <a:schemeClr val="tx1">
                    <a:lumMod val="75000"/>
                    <a:lumOff val="25000"/>
                  </a:schemeClr>
                </a:solidFill>
              </a:rPr>
              <a:t>نمودار ارائه مطالب </a:t>
            </a:r>
            <a:r>
              <a:rPr lang="fa-IR" dirty="0" err="1">
                <a:solidFill>
                  <a:schemeClr val="tx1">
                    <a:lumMod val="75000"/>
                    <a:lumOff val="25000"/>
                  </a:schemeClr>
                </a:solidFill>
              </a:rPr>
              <a:t>درارائه</a:t>
            </a:r>
            <a:r>
              <a:rPr lang="fa-IR" dirty="0">
                <a:solidFill>
                  <a:schemeClr val="tx1">
                    <a:lumMod val="75000"/>
                    <a:lumOff val="25000"/>
                  </a:schemeClr>
                </a:solidFill>
              </a:rPr>
              <a:t> شفاهی طولانی ( به مدت یک روز مثل سمینار )</a:t>
            </a:r>
          </a:p>
          <a:p>
            <a:pPr rtl="1"/>
            <a:r>
              <a:rPr lang="fa-IR" dirty="0">
                <a:solidFill>
                  <a:schemeClr val="tx1">
                    <a:lumMod val="75000"/>
                    <a:lumOff val="25000"/>
                  </a:schemeClr>
                </a:solidFill>
              </a:rPr>
              <a:t> </a:t>
            </a:r>
            <a:endParaRPr lang="en-US" dirty="0">
              <a:solidFill>
                <a:schemeClr val="tx1">
                  <a:lumMod val="75000"/>
                  <a:lumOff val="25000"/>
                </a:schemeClr>
              </a:solidFill>
            </a:endParaRPr>
          </a:p>
        </p:txBody>
      </p:sp>
      <p:sp>
        <p:nvSpPr>
          <p:cNvPr id="312326" name="Line 9"/>
          <p:cNvSpPr>
            <a:spLocks noChangeShapeType="1"/>
          </p:cNvSpPr>
          <p:nvPr/>
        </p:nvSpPr>
        <p:spPr bwMode="auto">
          <a:xfrm>
            <a:off x="1258888" y="333375"/>
            <a:ext cx="0" cy="5543550"/>
          </a:xfrm>
          <a:prstGeom prst="line">
            <a:avLst/>
          </a:prstGeom>
          <a:noFill/>
          <a:ln w="9525">
            <a:solidFill>
              <a:srgbClr val="FFFF00"/>
            </a:solidFill>
            <a:round/>
            <a:headEnd type="triangle" w="med" len="med"/>
            <a:tailEnd/>
          </a:ln>
        </p:spPr>
        <p:txBody>
          <a:bodyPr anchor="ctr">
            <a:spAutoFit/>
          </a:bodyPr>
          <a:lstStyle/>
          <a:p>
            <a:endParaRPr lang="en-US">
              <a:solidFill>
                <a:schemeClr val="tx1">
                  <a:lumMod val="75000"/>
                  <a:lumOff val="25000"/>
                </a:schemeClr>
              </a:solidFill>
            </a:endParaRPr>
          </a:p>
        </p:txBody>
      </p:sp>
      <p:sp>
        <p:nvSpPr>
          <p:cNvPr id="312327" name="Rectangle 10"/>
          <p:cNvSpPr>
            <a:spLocks noChangeArrowheads="1"/>
          </p:cNvSpPr>
          <p:nvPr/>
        </p:nvSpPr>
        <p:spPr bwMode="auto">
          <a:xfrm>
            <a:off x="3227388" y="6165850"/>
            <a:ext cx="884237" cy="376238"/>
          </a:xfrm>
          <a:prstGeom prst="rect">
            <a:avLst/>
          </a:prstGeom>
          <a:solidFill>
            <a:srgbClr val="CCFFFF"/>
          </a:solidFill>
          <a:ln w="9525" algn="ctr">
            <a:solidFill>
              <a:schemeClr val="tx1"/>
            </a:solidFill>
            <a:miter lim="800000"/>
            <a:headEnd/>
            <a:tailEnd/>
          </a:ln>
        </p:spPr>
        <p:txBody>
          <a:bodyPr wrap="none" anchor="ctr">
            <a:spAutoFit/>
          </a:bodyPr>
          <a:lstStyle/>
          <a:p>
            <a:r>
              <a:rPr lang="fa-IR">
                <a:solidFill>
                  <a:schemeClr val="tx1">
                    <a:lumMod val="75000"/>
                    <a:lumOff val="25000"/>
                  </a:schemeClr>
                </a:solidFill>
              </a:rPr>
              <a:t>بعدازظهر</a:t>
            </a:r>
            <a:endParaRPr lang="en-US">
              <a:solidFill>
                <a:schemeClr val="tx1">
                  <a:lumMod val="75000"/>
                  <a:lumOff val="25000"/>
                </a:schemeClr>
              </a:solidFill>
            </a:endParaRPr>
          </a:p>
        </p:txBody>
      </p:sp>
      <p:sp>
        <p:nvSpPr>
          <p:cNvPr id="312328" name="Rectangle 11"/>
          <p:cNvSpPr>
            <a:spLocks noChangeArrowheads="1"/>
          </p:cNvSpPr>
          <p:nvPr/>
        </p:nvSpPr>
        <p:spPr bwMode="auto">
          <a:xfrm>
            <a:off x="1441450" y="6165850"/>
            <a:ext cx="558800" cy="376238"/>
          </a:xfrm>
          <a:prstGeom prst="rect">
            <a:avLst/>
          </a:prstGeom>
          <a:solidFill>
            <a:srgbClr val="CCFFFF"/>
          </a:solidFill>
          <a:ln w="9525" algn="ctr">
            <a:solidFill>
              <a:schemeClr val="tx1"/>
            </a:solidFill>
            <a:miter lim="800000"/>
            <a:headEnd/>
            <a:tailEnd/>
          </a:ln>
        </p:spPr>
        <p:txBody>
          <a:bodyPr wrap="none" anchor="ctr">
            <a:spAutoFit/>
          </a:bodyPr>
          <a:lstStyle/>
          <a:p>
            <a:r>
              <a:rPr lang="fa-IR">
                <a:solidFill>
                  <a:schemeClr val="tx1">
                    <a:lumMod val="75000"/>
                    <a:lumOff val="25000"/>
                  </a:schemeClr>
                </a:solidFill>
              </a:rPr>
              <a:t>صبح</a:t>
            </a:r>
            <a:endParaRPr lang="en-US">
              <a:solidFill>
                <a:schemeClr val="tx1">
                  <a:lumMod val="75000"/>
                  <a:lumOff val="25000"/>
                </a:schemeClr>
              </a:solidFill>
            </a:endParaRPr>
          </a:p>
        </p:txBody>
      </p:sp>
      <p:sp>
        <p:nvSpPr>
          <p:cNvPr id="312329" name="Line 12"/>
          <p:cNvSpPr>
            <a:spLocks noChangeShapeType="1"/>
          </p:cNvSpPr>
          <p:nvPr/>
        </p:nvSpPr>
        <p:spPr bwMode="auto">
          <a:xfrm flipV="1">
            <a:off x="1547813" y="1989138"/>
            <a:ext cx="3600450" cy="3527425"/>
          </a:xfrm>
          <a:prstGeom prst="line">
            <a:avLst/>
          </a:prstGeom>
          <a:noFill/>
          <a:ln w="38100">
            <a:solidFill>
              <a:srgbClr val="FFFF99"/>
            </a:solidFill>
            <a:round/>
            <a:headEnd/>
            <a:tailEnd/>
          </a:ln>
        </p:spPr>
        <p:txBody>
          <a:bodyPr anchor="ctr">
            <a:spAutoFit/>
          </a:bodyPr>
          <a:lstStyle/>
          <a:p>
            <a:endParaRPr lang="en-US">
              <a:solidFill>
                <a:schemeClr val="tx1">
                  <a:lumMod val="75000"/>
                  <a:lumOff val="25000"/>
                </a:schemeClr>
              </a:solidFill>
            </a:endParaRPr>
          </a:p>
        </p:txBody>
      </p:sp>
      <p:sp>
        <p:nvSpPr>
          <p:cNvPr id="312330" name="Line 14"/>
          <p:cNvSpPr>
            <a:spLocks noChangeShapeType="1"/>
          </p:cNvSpPr>
          <p:nvPr/>
        </p:nvSpPr>
        <p:spPr bwMode="auto">
          <a:xfrm flipH="1" flipV="1">
            <a:off x="1692275" y="2060575"/>
            <a:ext cx="3455988" cy="3455988"/>
          </a:xfrm>
          <a:prstGeom prst="line">
            <a:avLst/>
          </a:prstGeom>
          <a:noFill/>
          <a:ln w="38100">
            <a:solidFill>
              <a:srgbClr val="FFFF99"/>
            </a:solidFill>
            <a:round/>
            <a:headEnd/>
            <a:tailEnd/>
          </a:ln>
        </p:spPr>
        <p:txBody>
          <a:bodyPr anchor="ctr">
            <a:spAutoFit/>
          </a:bodyPr>
          <a:lstStyle/>
          <a:p>
            <a:endParaRPr lang="en-US">
              <a:solidFill>
                <a:schemeClr val="tx1">
                  <a:lumMod val="75000"/>
                  <a:lumOff val="25000"/>
                </a:schemeClr>
              </a:solidFill>
            </a:endParaRPr>
          </a:p>
        </p:txBody>
      </p:sp>
      <p:sp>
        <p:nvSpPr>
          <p:cNvPr id="312331" name="Line 15"/>
          <p:cNvSpPr>
            <a:spLocks noChangeShapeType="1"/>
          </p:cNvSpPr>
          <p:nvPr/>
        </p:nvSpPr>
        <p:spPr bwMode="auto">
          <a:xfrm>
            <a:off x="1258888" y="1700213"/>
            <a:ext cx="4176712" cy="0"/>
          </a:xfrm>
          <a:prstGeom prst="line">
            <a:avLst/>
          </a:prstGeom>
          <a:noFill/>
          <a:ln w="9525">
            <a:solidFill>
              <a:schemeClr val="tx1"/>
            </a:solidFill>
            <a:prstDash val="dashDot"/>
            <a:round/>
            <a:headEnd/>
            <a:tailEnd/>
          </a:ln>
        </p:spPr>
        <p:txBody>
          <a:bodyPr anchor="ctr">
            <a:spAutoFit/>
          </a:bodyPr>
          <a:lstStyle/>
          <a:p>
            <a:endParaRPr lang="en-US">
              <a:solidFill>
                <a:schemeClr val="tx1">
                  <a:lumMod val="75000"/>
                  <a:lumOff val="25000"/>
                </a:schemeClr>
              </a:solidFill>
            </a:endParaRPr>
          </a:p>
        </p:txBody>
      </p:sp>
      <p:sp>
        <p:nvSpPr>
          <p:cNvPr id="312332" name="Line 16"/>
          <p:cNvSpPr>
            <a:spLocks noChangeShapeType="1"/>
          </p:cNvSpPr>
          <p:nvPr/>
        </p:nvSpPr>
        <p:spPr bwMode="auto">
          <a:xfrm>
            <a:off x="5435600" y="1700213"/>
            <a:ext cx="0" cy="4176712"/>
          </a:xfrm>
          <a:prstGeom prst="line">
            <a:avLst/>
          </a:prstGeom>
          <a:noFill/>
          <a:ln w="9525">
            <a:solidFill>
              <a:schemeClr val="tx1"/>
            </a:solidFill>
            <a:prstDash val="dashDot"/>
            <a:round/>
            <a:headEnd/>
            <a:tailEnd/>
          </a:ln>
        </p:spPr>
        <p:txBody>
          <a:bodyPr anchor="ctr">
            <a:spAutoFit/>
          </a:bodyPr>
          <a:lstStyle/>
          <a:p>
            <a:endParaRPr lang="en-US">
              <a:solidFill>
                <a:schemeClr val="tx1">
                  <a:lumMod val="75000"/>
                  <a:lumOff val="25000"/>
                </a:schemeClr>
              </a:solidFill>
            </a:endParaRPr>
          </a:p>
        </p:txBody>
      </p:sp>
      <p:sp>
        <p:nvSpPr>
          <p:cNvPr id="312333" name="Rectangle 19"/>
          <p:cNvSpPr>
            <a:spLocks noChangeArrowheads="1"/>
          </p:cNvSpPr>
          <p:nvPr/>
        </p:nvSpPr>
        <p:spPr bwMode="auto">
          <a:xfrm rot="2653878">
            <a:off x="2009775" y="2495550"/>
            <a:ext cx="1476375" cy="376238"/>
          </a:xfrm>
          <a:prstGeom prst="rect">
            <a:avLst/>
          </a:prstGeom>
          <a:solidFill>
            <a:srgbClr val="CCFFFF"/>
          </a:solidFill>
          <a:ln w="9525" algn="ctr">
            <a:solidFill>
              <a:schemeClr val="tx1"/>
            </a:solidFill>
            <a:miter lim="800000"/>
            <a:headEnd/>
            <a:tailEnd/>
          </a:ln>
        </p:spPr>
        <p:txBody>
          <a:bodyPr wrap="none" anchor="ctr">
            <a:spAutoFit/>
          </a:bodyPr>
          <a:lstStyle/>
          <a:p>
            <a:r>
              <a:rPr lang="fa-IR" dirty="0">
                <a:solidFill>
                  <a:schemeClr val="tx1">
                    <a:lumMod val="75000"/>
                    <a:lumOff val="25000"/>
                  </a:schemeClr>
                </a:solidFill>
              </a:rPr>
              <a:t>مطالب </a:t>
            </a:r>
            <a:r>
              <a:rPr lang="fa-IR" dirty="0" err="1">
                <a:solidFill>
                  <a:schemeClr val="tx1">
                    <a:lumMod val="75000"/>
                    <a:lumOff val="25000"/>
                  </a:schemeClr>
                </a:solidFill>
              </a:rPr>
              <a:t>پيچيده</a:t>
            </a:r>
            <a:r>
              <a:rPr lang="fa-IR" dirty="0">
                <a:solidFill>
                  <a:schemeClr val="tx1">
                    <a:lumMod val="75000"/>
                    <a:lumOff val="25000"/>
                  </a:schemeClr>
                </a:solidFill>
              </a:rPr>
              <a:t> تر </a:t>
            </a:r>
            <a:endParaRPr lang="en-US" dirty="0">
              <a:solidFill>
                <a:schemeClr val="tx1">
                  <a:lumMod val="75000"/>
                  <a:lumOff val="25000"/>
                </a:schemeClr>
              </a:solidFill>
            </a:endParaRPr>
          </a:p>
        </p:txBody>
      </p:sp>
      <p:sp>
        <p:nvSpPr>
          <p:cNvPr id="312334" name="Rectangle 20"/>
          <p:cNvSpPr>
            <a:spLocks noChangeArrowheads="1"/>
          </p:cNvSpPr>
          <p:nvPr/>
        </p:nvSpPr>
        <p:spPr bwMode="auto">
          <a:xfrm rot="-2671112">
            <a:off x="1371600" y="4505325"/>
            <a:ext cx="1311275" cy="376238"/>
          </a:xfrm>
          <a:prstGeom prst="rect">
            <a:avLst/>
          </a:prstGeom>
          <a:solidFill>
            <a:srgbClr val="CCFFFF"/>
          </a:solidFill>
          <a:ln w="9525" algn="ctr">
            <a:solidFill>
              <a:schemeClr val="tx1"/>
            </a:solidFill>
            <a:miter lim="800000"/>
            <a:headEnd/>
            <a:tailEnd/>
          </a:ln>
        </p:spPr>
        <p:txBody>
          <a:bodyPr wrap="none" anchor="ctr">
            <a:spAutoFit/>
          </a:bodyPr>
          <a:lstStyle/>
          <a:p>
            <a:r>
              <a:rPr lang="fa-IR">
                <a:solidFill>
                  <a:schemeClr val="tx1">
                    <a:lumMod val="75000"/>
                    <a:lumOff val="25000"/>
                  </a:schemeClr>
                </a:solidFill>
              </a:rPr>
              <a:t>مطاب ساده تر </a:t>
            </a:r>
            <a:endParaRPr lang="en-US">
              <a:solidFill>
                <a:schemeClr val="tx1">
                  <a:lumMod val="75000"/>
                  <a:lumOff val="25000"/>
                </a:schemeClr>
              </a:solidFill>
            </a:endParaRPr>
          </a:p>
        </p:txBody>
      </p:sp>
    </p:spTree>
  </p:cSld>
  <p:clrMapOvr>
    <a:masterClrMapping/>
  </p:clrMapOvr>
  <p:transition spd="med">
    <p:wipe dir="d"/>
  </p:transition>
  <p:timing>
    <p:tnLst>
      <p:par>
        <p:cTn id="1" dur="indefinite" restart="never" nodeType="tmRoot"/>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3"/>
          <p:cNvSpPr>
            <a:spLocks noGrp="1" noChangeArrowheads="1"/>
          </p:cNvSpPr>
          <p:nvPr>
            <p:ph idx="1"/>
          </p:nvPr>
        </p:nvSpPr>
        <p:spPr/>
        <p:txBody>
          <a:bodyPr/>
          <a:lstStyle/>
          <a:p>
            <a:pPr algn="justLow" rtl="1" eaLnBrk="1" hangingPunct="1">
              <a:buFont typeface="Wingdings" pitchFamily="2" charset="2"/>
              <a:buNone/>
            </a:pPr>
            <a:r>
              <a:rPr lang="fa-IR" b="1" smtClean="0"/>
              <a:t>مکان سخنرانی علمی فنی باید از نظر معماری و امکانات و تجهیزات به گونه ای باشد که هیچ مشکل و مانعی در انجام ارائه ایجاد نشود .</a:t>
            </a:r>
            <a:r>
              <a:rPr lang="fa-IR" smtClean="0"/>
              <a:t> </a:t>
            </a:r>
            <a:endParaRPr lang="en-US" smtClean="0"/>
          </a:p>
        </p:txBody>
      </p:sp>
      <p:sp>
        <p:nvSpPr>
          <p:cNvPr id="32973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مکان سخنرانی علمی – فنی</a:t>
            </a:r>
            <a:r>
              <a:rPr lang="en-US" sz="3000" smtClean="0">
                <a:solidFill>
                  <a:srgbClr val="FF0000"/>
                </a:solidFill>
                <a:effectLst/>
                <a:cs typeface="B Titr" pitchFamily="2" charset="-78"/>
              </a:rPr>
              <a:t> : </a:t>
            </a:r>
          </a:p>
        </p:txBody>
      </p:sp>
    </p:spTree>
  </p:cSld>
  <p:clrMapOvr>
    <a:masterClrMapping/>
  </p:clrMapOvr>
  <p:transition spd="med">
    <p:wipe dir="d"/>
  </p:transition>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3"/>
          <p:cNvSpPr>
            <a:spLocks noGrp="1" noChangeArrowheads="1"/>
          </p:cNvSpPr>
          <p:nvPr>
            <p:ph idx="1"/>
          </p:nvPr>
        </p:nvSpPr>
        <p:spPr/>
        <p:txBody>
          <a:bodyPr/>
          <a:lstStyle/>
          <a:p>
            <a:pPr algn="justLow" rtl="1" eaLnBrk="1" hangingPunct="1">
              <a:buFont typeface="Wingdings" pitchFamily="2" charset="2"/>
              <a:buNone/>
            </a:pPr>
            <a:r>
              <a:rPr lang="fa-IR" b="1" smtClean="0"/>
              <a:t>سخنران علمی و فنی باید سخنرانی اش را با دقت طراحی و محتوایش را آماده کند . تمام مراحلی که در ارائه کتبی دیدیم در این نوع ارائه نیز باید انجام شوند . البته تنظیم ساختار سه بخشی به گونه ای که در ارائه کتبی دیدیم فقط وقتی انجام می شود که صورت کتبی سخنرانی خواسته شده باشد ( مثلا برای درج در گزارش کنفرانس یا سمینار و یا توزیع بین حاضرین در جلسه )</a:t>
            </a:r>
            <a:r>
              <a:rPr lang="fa-IR" smtClean="0"/>
              <a:t> </a:t>
            </a:r>
            <a:endParaRPr lang="en-US" smtClean="0"/>
          </a:p>
        </p:txBody>
      </p:sp>
      <p:sp>
        <p:nvSpPr>
          <p:cNvPr id="33075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آماده سازی سخنرانی علمی – فنی : </a:t>
            </a:r>
            <a:endParaRPr lang="en-US" sz="30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3"/>
          <p:cNvSpPr>
            <a:spLocks noGrp="1" noChangeArrowheads="1"/>
          </p:cNvSpPr>
          <p:nvPr>
            <p:ph idx="1"/>
          </p:nvPr>
        </p:nvSpPr>
        <p:spPr/>
        <p:txBody>
          <a:bodyPr/>
          <a:lstStyle/>
          <a:p>
            <a:pPr algn="r" rtl="1" eaLnBrk="1" hangingPunct="1"/>
            <a:r>
              <a:rPr lang="fa-IR" b="1" dirty="0" smtClean="0"/>
              <a:t>مراحل یکم تا پنجم از مراحل آماده سازی ارائه کتبی </a:t>
            </a:r>
            <a:endParaRPr lang="en-US" dirty="0" smtClean="0"/>
          </a:p>
          <a:p>
            <a:pPr algn="r" rtl="1" eaLnBrk="1" hangingPunct="1"/>
            <a:r>
              <a:rPr lang="fa-IR" b="1" dirty="0" smtClean="0"/>
              <a:t>تهیه </a:t>
            </a:r>
            <a:r>
              <a:rPr lang="fa-IR" b="1" dirty="0" smtClean="0">
                <a:solidFill>
                  <a:srgbClr val="FF0000"/>
                </a:solidFill>
              </a:rPr>
              <a:t>طرح زمانبندی </a:t>
            </a:r>
            <a:r>
              <a:rPr lang="fa-IR" b="1" dirty="0" smtClean="0"/>
              <a:t>: این طرح بهتر است در یک دفتر یادداشت تهیه شود به صورتی که در شکل خواهیم دید </a:t>
            </a:r>
            <a:endParaRPr lang="en-US" dirty="0" smtClean="0"/>
          </a:p>
          <a:p>
            <a:pPr algn="r" rtl="1" eaLnBrk="1" hangingPunct="1"/>
            <a:r>
              <a:rPr lang="fa-IR" b="1" dirty="0" smtClean="0"/>
              <a:t>تهیه برگهای شفاف </a:t>
            </a:r>
            <a:endParaRPr lang="en-US" dirty="0" smtClean="0"/>
          </a:p>
          <a:p>
            <a:pPr algn="r" rtl="1" eaLnBrk="1" hangingPunct="1"/>
            <a:r>
              <a:rPr lang="fa-IR" b="1" dirty="0" smtClean="0"/>
              <a:t>تهیه امکانات شنیداری – دیداری در صورتیکه تهیه آنها با خود ارائه کننده باشد </a:t>
            </a:r>
            <a:endParaRPr lang="en-US" dirty="0" smtClean="0"/>
          </a:p>
          <a:p>
            <a:pPr algn="r" rtl="1" eaLnBrk="1" hangingPunct="1"/>
            <a:r>
              <a:rPr lang="fa-IR" b="1" dirty="0" smtClean="0">
                <a:solidFill>
                  <a:srgbClr val="FF0000"/>
                </a:solidFill>
              </a:rPr>
              <a:t>تمرین سخنرانی  </a:t>
            </a:r>
            <a:endParaRPr lang="en-US" dirty="0" smtClean="0">
              <a:solidFill>
                <a:srgbClr val="FF0000"/>
              </a:solidFill>
            </a:endParaRPr>
          </a:p>
          <a:p>
            <a:pPr algn="r" rtl="1" eaLnBrk="1" hangingPunct="1"/>
            <a:endParaRPr lang="en-US" dirty="0" smtClean="0"/>
          </a:p>
        </p:txBody>
      </p:sp>
      <p:sp>
        <p:nvSpPr>
          <p:cNvPr id="333826" name="Rectangle 2"/>
          <p:cNvSpPr>
            <a:spLocks noGrp="1" noChangeArrowheads="1"/>
          </p:cNvSpPr>
          <p:nvPr>
            <p:ph type="title"/>
          </p:nvPr>
        </p:nvSpPr>
        <p:spPr>
          <a:xfrm>
            <a:off x="971550" y="277813"/>
            <a:ext cx="7354888"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در آماده سازی سخنرانی علمی – فنی کارهای زیر باید انجام شود : </a:t>
            </a:r>
            <a:endParaRPr lang="en-US" sz="30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3"/>
          <p:cNvSpPr>
            <a:spLocks noGrp="1" noChangeArrowheads="1"/>
          </p:cNvSpPr>
          <p:nvPr>
            <p:ph idx="1"/>
          </p:nvPr>
        </p:nvSpPr>
        <p:spPr>
          <a:xfrm>
            <a:off x="395288" y="2327275"/>
            <a:ext cx="8229600" cy="4530725"/>
          </a:xfrm>
        </p:spPr>
        <p:txBody>
          <a:bodyPr/>
          <a:lstStyle/>
          <a:p>
            <a:pPr algn="r" rtl="1" eaLnBrk="1" hangingPunct="1">
              <a:buFont typeface="Wingdings" pitchFamily="2" charset="2"/>
              <a:buNone/>
            </a:pPr>
            <a:r>
              <a:rPr lang="fa-IR" b="1" smtClean="0"/>
              <a:t>1- برگهای شفاف حاوی تصاویر جالب و گویا و نشان‌دهنده مطلب اصلی و ترجیحا با چند رسم الخط و بطور رنگی </a:t>
            </a:r>
          </a:p>
          <a:p>
            <a:pPr algn="r" rtl="1" eaLnBrk="1" hangingPunct="1">
              <a:buFont typeface="Wingdings" pitchFamily="2" charset="2"/>
              <a:buNone/>
            </a:pPr>
            <a:r>
              <a:rPr lang="fa-IR" b="1" smtClean="0"/>
              <a:t>2-  برگهای شفاف حاوی متن اصلی سخنرانی که گاه ممکن است برای توضیحات بیشتر لازم باشند .</a:t>
            </a:r>
            <a:endParaRPr lang="en-US" b="1" smtClean="0"/>
          </a:p>
        </p:txBody>
      </p:sp>
      <p:sp>
        <p:nvSpPr>
          <p:cNvPr id="33485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برگهای شفاف : </a:t>
            </a:r>
            <a:br>
              <a:rPr lang="fa-IR" sz="3000" smtClean="0">
                <a:solidFill>
                  <a:srgbClr val="FF0000"/>
                </a:solidFill>
                <a:effectLst/>
                <a:cs typeface="B Titr" pitchFamily="2" charset="-78"/>
              </a:rPr>
            </a:br>
            <a:r>
              <a:rPr lang="fa-IR" sz="3000" smtClean="0">
                <a:solidFill>
                  <a:srgbClr val="FF0000"/>
                </a:solidFill>
                <a:effectLst/>
                <a:cs typeface="B Titr" pitchFamily="2" charset="-78"/>
              </a:rPr>
              <a:t>  این برگها بهتر است در دو نوع زیر  تهیه شوند : </a:t>
            </a:r>
            <a:endParaRPr lang="en-US" sz="3000" smtClean="0">
              <a:solidFill>
                <a:srgbClr val="FF0000"/>
              </a:solidFill>
              <a:effectLst/>
              <a:cs typeface="B Titr" pitchFamily="2" charset="-78"/>
            </a:endParaRPr>
          </a:p>
        </p:txBody>
      </p:sp>
      <p:sp>
        <p:nvSpPr>
          <p:cNvPr id="4" name="Rectangle 3"/>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4"/>
          <p:cNvSpPr>
            <a:spLocks noChangeArrowheads="1"/>
          </p:cNvSpPr>
          <p:nvPr/>
        </p:nvSpPr>
        <p:spPr bwMode="auto">
          <a:xfrm>
            <a:off x="0" y="333375"/>
            <a:ext cx="9144000" cy="5976938"/>
          </a:xfrm>
          <a:prstGeom prst="rect">
            <a:avLst/>
          </a:prstGeom>
          <a:solidFill>
            <a:srgbClr val="3366CC"/>
          </a:solidFill>
          <a:ln w="9525" algn="ctr">
            <a:solidFill>
              <a:schemeClr val="tx1"/>
            </a:solidFill>
            <a:miter lim="800000"/>
            <a:headEnd/>
            <a:tailEnd/>
          </a:ln>
        </p:spPr>
        <p:txBody>
          <a:bodyPr anchor="ctr">
            <a:spAutoFit/>
          </a:bodyPr>
          <a:lstStyle/>
          <a:p>
            <a:endParaRPr lang="en-US"/>
          </a:p>
        </p:txBody>
      </p:sp>
      <p:graphicFrame>
        <p:nvGraphicFramePr>
          <p:cNvPr id="335961" name="Group 89"/>
          <p:cNvGraphicFramePr>
            <a:graphicFrameLocks noGrp="1"/>
          </p:cNvGraphicFramePr>
          <p:nvPr/>
        </p:nvGraphicFramePr>
        <p:xfrm>
          <a:off x="4787900" y="765175"/>
          <a:ext cx="3984625" cy="5040313"/>
        </p:xfrm>
        <a:graphic>
          <a:graphicData uri="http://schemas.openxmlformats.org/drawingml/2006/table">
            <a:tbl>
              <a:tblPr/>
              <a:tblGrid>
                <a:gridCol w="931863">
                  <a:extLst>
                    <a:ext uri="{9D8B030D-6E8A-4147-A177-3AD203B41FA5}">
                      <a16:colId xmlns:a16="http://schemas.microsoft.com/office/drawing/2014/main" val="20000"/>
                    </a:ext>
                  </a:extLst>
                </a:gridCol>
                <a:gridCol w="796925">
                  <a:extLst>
                    <a:ext uri="{9D8B030D-6E8A-4147-A177-3AD203B41FA5}">
                      <a16:colId xmlns:a16="http://schemas.microsoft.com/office/drawing/2014/main" val="20001"/>
                    </a:ext>
                  </a:extLst>
                </a:gridCol>
                <a:gridCol w="796925">
                  <a:extLst>
                    <a:ext uri="{9D8B030D-6E8A-4147-A177-3AD203B41FA5}">
                      <a16:colId xmlns:a16="http://schemas.microsoft.com/office/drawing/2014/main" val="20002"/>
                    </a:ext>
                  </a:extLst>
                </a:gridCol>
                <a:gridCol w="795337">
                  <a:extLst>
                    <a:ext uri="{9D8B030D-6E8A-4147-A177-3AD203B41FA5}">
                      <a16:colId xmlns:a16="http://schemas.microsoft.com/office/drawing/2014/main" val="20003"/>
                    </a:ext>
                  </a:extLst>
                </a:gridCol>
                <a:gridCol w="663575">
                  <a:extLst>
                    <a:ext uri="{9D8B030D-6E8A-4147-A177-3AD203B41FA5}">
                      <a16:colId xmlns:a16="http://schemas.microsoft.com/office/drawing/2014/main" val="20004"/>
                    </a:ext>
                  </a:extLst>
                </a:gridCol>
              </a:tblGrid>
              <a:tr h="700088">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خلاصه توضيحات</a:t>
                      </a:r>
                      <a:r>
                        <a:rPr kumimoji="0" lang="fa-IR"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 </a:t>
                      </a:r>
                      <a:endParaRPr kumimoji="0" lang="en-US"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مفاهيم اصلي </a:t>
                      </a:r>
                      <a:endParaRPr kumimoji="0" lang="en-US"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داخلي </a:t>
                      </a:r>
                      <a:endParaRPr kumimoji="0" lang="en-US"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موضوع</a:t>
                      </a:r>
                      <a:endParaRPr kumimoji="0" lang="en-US"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زمان </a:t>
                      </a:r>
                      <a:endParaRPr kumimoji="0" lang="en-US"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4022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335969" name="Group 97"/>
          <p:cNvGraphicFramePr>
            <a:graphicFrameLocks noGrp="1"/>
          </p:cNvGraphicFramePr>
          <p:nvPr/>
        </p:nvGraphicFramePr>
        <p:xfrm>
          <a:off x="611188" y="765175"/>
          <a:ext cx="3600450" cy="4968875"/>
        </p:xfrm>
        <a:graphic>
          <a:graphicData uri="http://schemas.openxmlformats.org/drawingml/2006/table">
            <a:tbl>
              <a:tblPr/>
              <a:tblGrid>
                <a:gridCol w="647700">
                  <a:extLst>
                    <a:ext uri="{9D8B030D-6E8A-4147-A177-3AD203B41FA5}">
                      <a16:colId xmlns:a16="http://schemas.microsoft.com/office/drawing/2014/main" val="20000"/>
                    </a:ext>
                  </a:extLst>
                </a:gridCol>
                <a:gridCol w="720725">
                  <a:extLst>
                    <a:ext uri="{9D8B030D-6E8A-4147-A177-3AD203B41FA5}">
                      <a16:colId xmlns:a16="http://schemas.microsoft.com/office/drawing/2014/main" val="20001"/>
                    </a:ext>
                  </a:extLst>
                </a:gridCol>
                <a:gridCol w="720725">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863600">
                  <a:extLst>
                    <a:ext uri="{9D8B030D-6E8A-4147-A177-3AD203B41FA5}">
                      <a16:colId xmlns:a16="http://schemas.microsoft.com/office/drawing/2014/main" val="20004"/>
                    </a:ext>
                  </a:extLst>
                </a:gridCol>
              </a:tblGrid>
              <a:tr h="74295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خلاصه شرح تصوير</a:t>
                      </a:r>
                      <a:endParaRPr kumimoji="0" lang="en-US"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تصوير</a:t>
                      </a:r>
                      <a:endParaRPr kumimoji="0" lang="en-US"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موضوع تصوير</a:t>
                      </a:r>
                      <a:endParaRPr kumimoji="0" lang="en-US"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شماره تصوير</a:t>
                      </a:r>
                      <a:endParaRPr kumimoji="0" lang="en-US"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نتيجه‌گيري </a:t>
                      </a:r>
                      <a:endParaRPr kumimoji="0" lang="en-US"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259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17483" name="AutoShape 93"/>
          <p:cNvSpPr>
            <a:spLocks noChangeArrowheads="1"/>
          </p:cNvSpPr>
          <p:nvPr/>
        </p:nvSpPr>
        <p:spPr bwMode="auto">
          <a:xfrm>
            <a:off x="4067175" y="1989138"/>
            <a:ext cx="865188" cy="288925"/>
          </a:xfrm>
          <a:prstGeom prst="ellipseRibbon2">
            <a:avLst>
              <a:gd name="adj1" fmla="val 25000"/>
              <a:gd name="adj2" fmla="val 50000"/>
              <a:gd name="adj3" fmla="val 12500"/>
            </a:avLst>
          </a:prstGeom>
          <a:solidFill>
            <a:srgbClr val="FF6600"/>
          </a:solidFill>
          <a:ln w="9525">
            <a:solidFill>
              <a:schemeClr val="tx1"/>
            </a:solidFill>
            <a:round/>
            <a:headEnd/>
            <a:tailEnd/>
          </a:ln>
        </p:spPr>
        <p:txBody>
          <a:bodyPr wrap="none" anchor="ctr">
            <a:spAutoFit/>
          </a:bodyPr>
          <a:lstStyle/>
          <a:p>
            <a:endParaRPr lang="en-US"/>
          </a:p>
        </p:txBody>
      </p:sp>
      <p:sp>
        <p:nvSpPr>
          <p:cNvPr id="317484" name="AutoShape 94"/>
          <p:cNvSpPr>
            <a:spLocks noChangeArrowheads="1"/>
          </p:cNvSpPr>
          <p:nvPr/>
        </p:nvSpPr>
        <p:spPr bwMode="auto">
          <a:xfrm>
            <a:off x="4067175" y="3213100"/>
            <a:ext cx="865188" cy="288925"/>
          </a:xfrm>
          <a:prstGeom prst="ellipseRibbon2">
            <a:avLst>
              <a:gd name="adj1" fmla="val 25000"/>
              <a:gd name="adj2" fmla="val 50000"/>
              <a:gd name="adj3" fmla="val 12500"/>
            </a:avLst>
          </a:prstGeom>
          <a:solidFill>
            <a:srgbClr val="FF6600"/>
          </a:solidFill>
          <a:ln w="9525">
            <a:solidFill>
              <a:schemeClr val="tx1"/>
            </a:solidFill>
            <a:round/>
            <a:headEnd/>
            <a:tailEnd/>
          </a:ln>
        </p:spPr>
        <p:txBody>
          <a:bodyPr wrap="none" anchor="ctr">
            <a:spAutoFit/>
          </a:bodyPr>
          <a:lstStyle/>
          <a:p>
            <a:endParaRPr lang="en-US"/>
          </a:p>
        </p:txBody>
      </p:sp>
      <p:sp>
        <p:nvSpPr>
          <p:cNvPr id="317485" name="AutoShape 95"/>
          <p:cNvSpPr>
            <a:spLocks noChangeArrowheads="1"/>
          </p:cNvSpPr>
          <p:nvPr/>
        </p:nvSpPr>
        <p:spPr bwMode="auto">
          <a:xfrm>
            <a:off x="4067175" y="4437063"/>
            <a:ext cx="865188" cy="288925"/>
          </a:xfrm>
          <a:prstGeom prst="ellipseRibbon2">
            <a:avLst>
              <a:gd name="adj1" fmla="val 25000"/>
              <a:gd name="adj2" fmla="val 50000"/>
              <a:gd name="adj3" fmla="val 12500"/>
            </a:avLst>
          </a:prstGeom>
          <a:solidFill>
            <a:srgbClr val="FF6600"/>
          </a:solidFill>
          <a:ln w="9525">
            <a:solidFill>
              <a:schemeClr val="tx1"/>
            </a:solidFill>
            <a:round/>
            <a:headEnd/>
            <a:tailEnd/>
          </a:ln>
        </p:spPr>
        <p:txBody>
          <a:bodyPr wrap="none" anchor="ctr">
            <a:spAutoFit/>
          </a:bodyPr>
          <a:lstStyle/>
          <a:p>
            <a:endParaRPr lang="en-US"/>
          </a:p>
        </p:txBody>
      </p:sp>
      <p:sp>
        <p:nvSpPr>
          <p:cNvPr id="317486" name="Rectangle 96"/>
          <p:cNvSpPr>
            <a:spLocks noChangeArrowheads="1"/>
          </p:cNvSpPr>
          <p:nvPr/>
        </p:nvSpPr>
        <p:spPr bwMode="auto">
          <a:xfrm>
            <a:off x="2484438" y="0"/>
            <a:ext cx="4019550" cy="376238"/>
          </a:xfrm>
          <a:prstGeom prst="rect">
            <a:avLst/>
          </a:prstGeom>
          <a:solidFill>
            <a:schemeClr val="accent1"/>
          </a:solidFill>
          <a:ln w="9525" algn="ctr">
            <a:solidFill>
              <a:schemeClr val="tx1"/>
            </a:solidFill>
            <a:miter lim="800000"/>
            <a:headEnd/>
            <a:tailEnd/>
          </a:ln>
        </p:spPr>
        <p:txBody>
          <a:bodyPr wrap="none" anchor="ctr">
            <a:spAutoFit/>
          </a:bodyPr>
          <a:lstStyle/>
          <a:p>
            <a:r>
              <a:rPr lang="fa-IR"/>
              <a:t>دفتر یادداشت : طرح زمانبندی سخنرانی علمی فنی </a:t>
            </a:r>
            <a:endParaRPr lang="en-US"/>
          </a:p>
        </p:txBody>
      </p:sp>
      <p:sp>
        <p:nvSpPr>
          <p:cNvPr id="9" name="Rectangle 8"/>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3"/>
          <p:cNvSpPr>
            <a:spLocks noGrp="1" noChangeArrowheads="1"/>
          </p:cNvSpPr>
          <p:nvPr>
            <p:ph idx="1"/>
          </p:nvPr>
        </p:nvSpPr>
        <p:spPr/>
        <p:txBody>
          <a:bodyPr/>
          <a:lstStyle/>
          <a:p>
            <a:pPr algn="justLow" rtl="1" eaLnBrk="1" hangingPunct="1">
              <a:buFont typeface="Wingdings" pitchFamily="2" charset="2"/>
              <a:buNone/>
            </a:pPr>
            <a:r>
              <a:rPr lang="fa-IR" b="1" smtClean="0"/>
              <a:t>باید توجه داشت که این کار بسیار ظریف و حساس است . ارائه کننده (سخنران ) باید سعی کند کمترین اشتباه را چه در گفتار و چه در رفتار مرتکب شود تا سخنرانی موثر و موفقی داشته باشد بویژه اگر ارائه شفاهی از نوع مجاب‌کننده باشد .</a:t>
            </a:r>
            <a:endParaRPr lang="en-US" b="1" smtClean="0"/>
          </a:p>
        </p:txBody>
      </p:sp>
      <p:sp>
        <p:nvSpPr>
          <p:cNvPr id="33689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شیوه سخنرانی علمی – فنی : </a:t>
            </a:r>
            <a:endParaRPr lang="en-US" sz="30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3"/>
          <p:cNvSpPr>
            <a:spLocks noGrp="1" noChangeArrowheads="1"/>
          </p:cNvSpPr>
          <p:nvPr>
            <p:ph idx="1"/>
          </p:nvPr>
        </p:nvSpPr>
        <p:spPr>
          <a:xfrm>
            <a:off x="827088" y="836613"/>
            <a:ext cx="8229600" cy="5842000"/>
          </a:xfrm>
        </p:spPr>
        <p:txBody>
          <a:bodyPr/>
          <a:lstStyle/>
          <a:p>
            <a:pPr marL="609600" indent="-609600" algn="r" rtl="1" eaLnBrk="1" hangingPunct="1">
              <a:lnSpc>
                <a:spcPct val="90000"/>
              </a:lnSpc>
            </a:pPr>
            <a:r>
              <a:rPr lang="fa-IR" sz="2400" b="1" dirty="0" smtClean="0"/>
              <a:t>قبل از شروع سخن با </a:t>
            </a:r>
            <a:r>
              <a:rPr lang="fa-IR" sz="2400" b="1" dirty="0" smtClean="0">
                <a:solidFill>
                  <a:srgbClr val="FF0000"/>
                </a:solidFill>
              </a:rPr>
              <a:t>گردش آرام نگاه به همه سوی  لحظاتی به مخاطبین نظاره کند </a:t>
            </a:r>
          </a:p>
          <a:p>
            <a:pPr marL="609600" indent="-609600" algn="r" rtl="1" eaLnBrk="1" hangingPunct="1">
              <a:lnSpc>
                <a:spcPct val="90000"/>
              </a:lnSpc>
            </a:pPr>
            <a:r>
              <a:rPr lang="fa-IR" sz="2400" b="1" dirty="0" smtClean="0"/>
              <a:t>اصل </a:t>
            </a:r>
            <a:r>
              <a:rPr lang="fa-IR" sz="2400" b="1" dirty="0" err="1" smtClean="0">
                <a:solidFill>
                  <a:srgbClr val="FF0000"/>
                </a:solidFill>
              </a:rPr>
              <a:t>نایکنواختی</a:t>
            </a:r>
            <a:r>
              <a:rPr lang="fa-IR" sz="2400" b="1" dirty="0" smtClean="0">
                <a:solidFill>
                  <a:srgbClr val="FF0000"/>
                </a:solidFill>
              </a:rPr>
              <a:t> صدا </a:t>
            </a:r>
            <a:r>
              <a:rPr lang="fa-IR" sz="2400" b="1" dirty="0" smtClean="0"/>
              <a:t>را رعایت کند .  گاه </a:t>
            </a:r>
            <a:r>
              <a:rPr lang="fa-IR" sz="2400" b="1" dirty="0" smtClean="0">
                <a:solidFill>
                  <a:srgbClr val="FF0000"/>
                </a:solidFill>
              </a:rPr>
              <a:t>آرام</a:t>
            </a:r>
            <a:r>
              <a:rPr lang="fa-IR" sz="2400" b="1" dirty="0" smtClean="0"/>
              <a:t> سخن بگوید و گاه با صدای رسا و </a:t>
            </a:r>
            <a:r>
              <a:rPr lang="fa-IR" sz="2400" b="1" dirty="0" smtClean="0">
                <a:solidFill>
                  <a:srgbClr val="FF0000"/>
                </a:solidFill>
              </a:rPr>
              <a:t>بلند</a:t>
            </a:r>
          </a:p>
          <a:p>
            <a:pPr marL="609600" indent="-609600" algn="r" rtl="1" eaLnBrk="1" hangingPunct="1">
              <a:lnSpc>
                <a:spcPct val="90000"/>
              </a:lnSpc>
            </a:pPr>
            <a:r>
              <a:rPr lang="fa-IR" sz="2400" b="1" dirty="0" smtClean="0"/>
              <a:t>صدای متناسب با موقعیت مکانی ارائه و تعداد حاضرین داشته باشد </a:t>
            </a:r>
          </a:p>
          <a:p>
            <a:pPr marL="609600" indent="-609600" algn="r" rtl="1" eaLnBrk="1" hangingPunct="1">
              <a:lnSpc>
                <a:spcPct val="90000"/>
              </a:lnSpc>
            </a:pPr>
            <a:r>
              <a:rPr lang="fa-IR" sz="2400" b="1" dirty="0" smtClean="0"/>
              <a:t>صدای متناسب با موضوع داشته باشد </a:t>
            </a:r>
          </a:p>
          <a:p>
            <a:pPr marL="609600" indent="-609600" algn="r" rtl="1" eaLnBrk="1" hangingPunct="1">
              <a:lnSpc>
                <a:spcPct val="90000"/>
              </a:lnSpc>
            </a:pPr>
            <a:r>
              <a:rPr lang="fa-IR" sz="2400" b="1" dirty="0" smtClean="0"/>
              <a:t>از آهنگ ، نواخت </a:t>
            </a:r>
            <a:r>
              <a:rPr lang="fa-IR" sz="2400" b="1" dirty="0" err="1" smtClean="0"/>
              <a:t>ولحن</a:t>
            </a:r>
            <a:r>
              <a:rPr lang="fa-IR" sz="2400" b="1" dirty="0" smtClean="0"/>
              <a:t> کلام </a:t>
            </a:r>
            <a:r>
              <a:rPr lang="fa-IR" sz="2400" b="1" dirty="0" err="1" smtClean="0"/>
              <a:t>متناسبا</a:t>
            </a:r>
            <a:r>
              <a:rPr lang="fa-IR" sz="2400" b="1" dirty="0" smtClean="0"/>
              <a:t> استفاده کند  </a:t>
            </a:r>
          </a:p>
          <a:p>
            <a:pPr marL="609600" indent="-609600" algn="r" rtl="1" eaLnBrk="1" hangingPunct="1">
              <a:lnSpc>
                <a:spcPct val="90000"/>
              </a:lnSpc>
            </a:pPr>
            <a:r>
              <a:rPr lang="fa-IR" sz="2400" b="1" dirty="0" smtClean="0"/>
              <a:t>بیانی ساده و روان داشته باشد </a:t>
            </a:r>
          </a:p>
          <a:p>
            <a:pPr marL="609600" indent="-609600" algn="r" rtl="1" eaLnBrk="1" hangingPunct="1">
              <a:lnSpc>
                <a:spcPct val="90000"/>
              </a:lnSpc>
            </a:pPr>
            <a:r>
              <a:rPr lang="fa-IR" sz="2400" b="1" dirty="0" smtClean="0"/>
              <a:t>تکیه کلام نداشته باشد </a:t>
            </a:r>
          </a:p>
          <a:p>
            <a:pPr marL="609600" indent="-609600" algn="r" rtl="1" eaLnBrk="1" hangingPunct="1">
              <a:lnSpc>
                <a:spcPct val="90000"/>
              </a:lnSpc>
            </a:pPr>
            <a:r>
              <a:rPr lang="fa-IR" sz="2400" b="1" dirty="0" smtClean="0"/>
              <a:t>حتی </a:t>
            </a:r>
            <a:r>
              <a:rPr lang="fa-IR" sz="2400" b="1" dirty="0" err="1" smtClean="0"/>
              <a:t>الامکان</a:t>
            </a:r>
            <a:r>
              <a:rPr lang="fa-IR" sz="2400" b="1" dirty="0" smtClean="0"/>
              <a:t> با </a:t>
            </a:r>
            <a:r>
              <a:rPr lang="fa-IR" sz="2400" b="1" dirty="0" smtClean="0">
                <a:solidFill>
                  <a:srgbClr val="FF0000"/>
                </a:solidFill>
              </a:rPr>
              <a:t>چند سبک سخن </a:t>
            </a:r>
            <a:r>
              <a:rPr lang="fa-IR" sz="2400" b="1" dirty="0" smtClean="0"/>
              <a:t>بگوید </a:t>
            </a:r>
          </a:p>
          <a:p>
            <a:pPr marL="609600" indent="-609600" algn="r" rtl="1" eaLnBrk="1" hangingPunct="1">
              <a:lnSpc>
                <a:spcPct val="90000"/>
              </a:lnSpc>
            </a:pPr>
            <a:r>
              <a:rPr lang="fa-IR" sz="2400" b="1" dirty="0" smtClean="0"/>
              <a:t>مطلب را طبق طرح زمانبندی ارائه کند و از وقت به درستی استفاده کند </a:t>
            </a:r>
          </a:p>
          <a:p>
            <a:pPr marL="609600" indent="-609600" algn="r" rtl="1" eaLnBrk="1" hangingPunct="1">
              <a:lnSpc>
                <a:spcPct val="90000"/>
              </a:lnSpc>
            </a:pPr>
            <a:r>
              <a:rPr lang="fa-IR" sz="2400" b="1" dirty="0" smtClean="0"/>
              <a:t>از </a:t>
            </a:r>
            <a:r>
              <a:rPr lang="fa-IR" sz="2400" b="1" dirty="0" smtClean="0">
                <a:solidFill>
                  <a:srgbClr val="FF0000"/>
                </a:solidFill>
              </a:rPr>
              <a:t>حاشیه پردازی و زیاده گویی </a:t>
            </a:r>
            <a:r>
              <a:rPr lang="fa-IR" sz="2400" b="1" dirty="0" smtClean="0"/>
              <a:t>اجتناب کند </a:t>
            </a:r>
          </a:p>
          <a:p>
            <a:pPr marL="609600" indent="-609600" algn="r" rtl="1" eaLnBrk="1" hangingPunct="1">
              <a:lnSpc>
                <a:spcPct val="90000"/>
              </a:lnSpc>
            </a:pPr>
            <a:r>
              <a:rPr lang="fa-IR" sz="2400" b="1" dirty="0" smtClean="0"/>
              <a:t>تاکیدات و </a:t>
            </a:r>
            <a:r>
              <a:rPr lang="fa-IR" sz="2400" b="1" dirty="0" err="1" smtClean="0">
                <a:solidFill>
                  <a:srgbClr val="FF0000"/>
                </a:solidFill>
              </a:rPr>
              <a:t>تکرارهای</a:t>
            </a:r>
            <a:r>
              <a:rPr lang="fa-IR" sz="2400" b="1" dirty="0" smtClean="0"/>
              <a:t> </a:t>
            </a:r>
            <a:r>
              <a:rPr lang="fa-IR" sz="2400" b="1" dirty="0" smtClean="0">
                <a:solidFill>
                  <a:srgbClr val="FF0000"/>
                </a:solidFill>
              </a:rPr>
              <a:t>بجا</a:t>
            </a:r>
            <a:r>
              <a:rPr lang="fa-IR" sz="2400" b="1" dirty="0" smtClean="0"/>
              <a:t> داشته باشد </a:t>
            </a:r>
          </a:p>
          <a:p>
            <a:pPr marL="609600" indent="-609600" algn="r" rtl="1" eaLnBrk="1" hangingPunct="1">
              <a:lnSpc>
                <a:spcPct val="90000"/>
              </a:lnSpc>
            </a:pPr>
            <a:r>
              <a:rPr lang="fa-IR" sz="2400" b="1" dirty="0" smtClean="0"/>
              <a:t>از </a:t>
            </a:r>
            <a:r>
              <a:rPr lang="fa-IR" sz="2400" b="1" dirty="0" smtClean="0">
                <a:solidFill>
                  <a:srgbClr val="FF0000"/>
                </a:solidFill>
              </a:rPr>
              <a:t>مکث و سکوت </a:t>
            </a:r>
            <a:r>
              <a:rPr lang="fa-IR" sz="2400" b="1" dirty="0" smtClean="0"/>
              <a:t>بجا و به اندازه </a:t>
            </a:r>
            <a:r>
              <a:rPr lang="fa-IR" sz="2400" b="1" dirty="0" err="1" smtClean="0"/>
              <a:t>بعنوان</a:t>
            </a:r>
            <a:r>
              <a:rPr lang="fa-IR" sz="2400" b="1" dirty="0" smtClean="0"/>
              <a:t> امکانی برای تاثیرگذاری بیشتر روی مخاطبین به درستی استفاده کند</a:t>
            </a:r>
            <a:r>
              <a:rPr lang="fa-IR" sz="2400" dirty="0" smtClean="0"/>
              <a:t> </a:t>
            </a:r>
            <a:endParaRPr lang="en-US" sz="2400" dirty="0" smtClean="0"/>
          </a:p>
        </p:txBody>
      </p:sp>
    </p:spTree>
  </p:cSld>
  <p:clrMapOvr>
    <a:masterClrMapping/>
  </p:clrMapOvr>
  <p:transition spd="med">
    <p:wipe dir="d"/>
  </p:transition>
  <p:timing>
    <p:tnLst>
      <p:par>
        <p:cTn id="1" dur="indefinite" restart="never" nodeType="tmRoot"/>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p:cNvSpPr>
            <a:spLocks noGrp="1" noChangeArrowheads="1"/>
          </p:cNvSpPr>
          <p:nvPr>
            <p:ph type="title"/>
          </p:nvPr>
        </p:nvSpPr>
        <p:spPr>
          <a:xfrm>
            <a:off x="468313" y="1412875"/>
            <a:ext cx="8229600" cy="1135063"/>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برخی از نکات قابل توجه در</a:t>
            </a:r>
            <a:br>
              <a:rPr lang="fa-IR" sz="3000" smtClean="0">
                <a:solidFill>
                  <a:srgbClr val="FF0000"/>
                </a:solidFill>
                <a:effectLst/>
                <a:cs typeface="B Titr" pitchFamily="2" charset="-78"/>
              </a:rPr>
            </a:br>
            <a:r>
              <a:rPr lang="fa-IR" sz="3000" smtClean="0">
                <a:solidFill>
                  <a:srgbClr val="FF0000"/>
                </a:solidFill>
                <a:effectLst/>
                <a:cs typeface="B Titr" pitchFamily="2" charset="-78"/>
              </a:rPr>
              <a:t> شیوه سخنرانی علمی – فنی :</a:t>
            </a:r>
            <a:endParaRPr lang="en-US" sz="30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3"/>
          <p:cNvSpPr>
            <a:spLocks noGrp="1" noChangeArrowheads="1"/>
          </p:cNvSpPr>
          <p:nvPr>
            <p:ph idx="1"/>
          </p:nvPr>
        </p:nvSpPr>
        <p:spPr>
          <a:xfrm>
            <a:off x="590550" y="404813"/>
            <a:ext cx="8229600" cy="6192837"/>
          </a:xfrm>
        </p:spPr>
        <p:txBody>
          <a:bodyPr/>
          <a:lstStyle/>
          <a:p>
            <a:pPr marL="609600" indent="-609600" algn="r" rtl="1" eaLnBrk="1" hangingPunct="1">
              <a:lnSpc>
                <a:spcPct val="80000"/>
              </a:lnSpc>
            </a:pPr>
            <a:r>
              <a:rPr lang="fa-IR" sz="2400" b="1" dirty="0" smtClean="0"/>
              <a:t>از بکار بردن کلمات و عبارات ابهام انگیز اجتناب </a:t>
            </a:r>
            <a:r>
              <a:rPr lang="fa-IR" sz="2400" b="1" dirty="0" err="1" smtClean="0"/>
              <a:t>ورزد</a:t>
            </a:r>
            <a:r>
              <a:rPr lang="fa-IR" sz="2400" b="1" dirty="0" smtClean="0"/>
              <a:t> </a:t>
            </a:r>
          </a:p>
          <a:p>
            <a:pPr marL="609600" indent="-609600" algn="r" rtl="1" eaLnBrk="1" hangingPunct="1">
              <a:lnSpc>
                <a:spcPct val="80000"/>
              </a:lnSpc>
            </a:pPr>
            <a:r>
              <a:rPr lang="fa-IR" sz="2400" b="1" dirty="0" smtClean="0"/>
              <a:t>در هر لحظه سعی کند </a:t>
            </a:r>
            <a:r>
              <a:rPr lang="fa-IR" sz="2400" b="1" dirty="0" smtClean="0">
                <a:solidFill>
                  <a:srgbClr val="FF0000"/>
                </a:solidFill>
              </a:rPr>
              <a:t>وضعیت مخاطبین </a:t>
            </a:r>
            <a:r>
              <a:rPr lang="fa-IR" sz="2400" b="1" dirty="0" smtClean="0"/>
              <a:t>یعنی میزان کشش ، علاقه و حوصله آنها را به شنیدن و دنبال کردن مطلب درک کند </a:t>
            </a:r>
          </a:p>
          <a:p>
            <a:pPr marL="609600" indent="-609600" algn="r" rtl="1" eaLnBrk="1" hangingPunct="1">
              <a:lnSpc>
                <a:spcPct val="80000"/>
              </a:lnSpc>
            </a:pPr>
            <a:r>
              <a:rPr lang="fa-IR" sz="2400" b="1" dirty="0" smtClean="0"/>
              <a:t>از </a:t>
            </a:r>
            <a:r>
              <a:rPr lang="fa-IR" sz="2400" b="1" dirty="0" smtClean="0">
                <a:solidFill>
                  <a:srgbClr val="FF0000"/>
                </a:solidFill>
              </a:rPr>
              <a:t>نگاه</a:t>
            </a:r>
            <a:r>
              <a:rPr lang="fa-IR" sz="2400" b="1" dirty="0" smtClean="0"/>
              <a:t> به عنوان امکانی جهت برقرار کردن ارتباط </a:t>
            </a:r>
            <a:r>
              <a:rPr lang="fa-IR" sz="2400" b="1" dirty="0" smtClean="0">
                <a:solidFill>
                  <a:srgbClr val="FF0000"/>
                </a:solidFill>
              </a:rPr>
              <a:t>پویا</a:t>
            </a:r>
            <a:r>
              <a:rPr lang="fa-IR" sz="2400" b="1" dirty="0" smtClean="0"/>
              <a:t> با مخاطبین و تاثیرگذاری روی آنها به خوبی استفاده کند و </a:t>
            </a:r>
            <a:r>
              <a:rPr lang="fa-IR" sz="2400" b="1" dirty="0" smtClean="0">
                <a:solidFill>
                  <a:srgbClr val="00B050"/>
                </a:solidFill>
              </a:rPr>
              <a:t>عدالت در تقسیم نگاه </a:t>
            </a:r>
            <a:r>
              <a:rPr lang="fa-IR" sz="2400" b="1" dirty="0" smtClean="0"/>
              <a:t>بین مخاطبین داشته باشد </a:t>
            </a:r>
          </a:p>
          <a:p>
            <a:pPr marL="609600" indent="-609600" algn="r" rtl="1" eaLnBrk="1" hangingPunct="1">
              <a:lnSpc>
                <a:spcPct val="80000"/>
              </a:lnSpc>
            </a:pPr>
            <a:r>
              <a:rPr lang="fa-IR" sz="2400" b="1" dirty="0" smtClean="0"/>
              <a:t>از </a:t>
            </a:r>
            <a:r>
              <a:rPr lang="fa-IR" sz="2400" b="1" dirty="0" smtClean="0">
                <a:solidFill>
                  <a:srgbClr val="FF0000"/>
                </a:solidFill>
              </a:rPr>
              <a:t>حرکات بدن </a:t>
            </a:r>
            <a:r>
              <a:rPr lang="fa-IR" sz="2400" b="1" dirty="0" smtClean="0"/>
              <a:t>بویژه </a:t>
            </a:r>
            <a:r>
              <a:rPr lang="fa-IR" sz="2400" b="1" dirty="0" smtClean="0">
                <a:solidFill>
                  <a:srgbClr val="FF0000"/>
                </a:solidFill>
              </a:rPr>
              <a:t>دست</a:t>
            </a:r>
            <a:r>
              <a:rPr lang="fa-IR" sz="2400" b="1" dirty="0" smtClean="0"/>
              <a:t> بطور مناسب و بقدر کافی بهره بگیرد </a:t>
            </a:r>
          </a:p>
          <a:p>
            <a:pPr marL="609600" indent="-609600" algn="r" rtl="1" eaLnBrk="1" hangingPunct="1">
              <a:lnSpc>
                <a:spcPct val="80000"/>
              </a:lnSpc>
            </a:pPr>
            <a:r>
              <a:rPr lang="fa-IR" sz="2400" b="1" dirty="0" smtClean="0">
                <a:solidFill>
                  <a:srgbClr val="FF0000"/>
                </a:solidFill>
              </a:rPr>
              <a:t>ثابت و بی حرکت </a:t>
            </a:r>
            <a:r>
              <a:rPr lang="fa-IR" sz="2400" b="1" dirty="0" smtClean="0"/>
              <a:t>در یک مکان </a:t>
            </a:r>
            <a:r>
              <a:rPr lang="fa-IR" sz="2400" b="1" dirty="0" smtClean="0">
                <a:solidFill>
                  <a:srgbClr val="FF0000"/>
                </a:solidFill>
              </a:rPr>
              <a:t>نایستد </a:t>
            </a:r>
          </a:p>
          <a:p>
            <a:pPr marL="609600" indent="-609600" algn="r" rtl="1" eaLnBrk="1" hangingPunct="1">
              <a:lnSpc>
                <a:spcPct val="80000"/>
              </a:lnSpc>
            </a:pPr>
            <a:r>
              <a:rPr lang="fa-IR" sz="2400" b="1" dirty="0" smtClean="0"/>
              <a:t>حتی </a:t>
            </a:r>
            <a:r>
              <a:rPr lang="fa-IR" sz="2400" b="1" dirty="0" err="1" smtClean="0"/>
              <a:t>الامکان</a:t>
            </a:r>
            <a:r>
              <a:rPr lang="fa-IR" sz="2400" b="1" dirty="0" smtClean="0"/>
              <a:t> مخاطبین را در ارائه </a:t>
            </a:r>
            <a:r>
              <a:rPr lang="fa-IR" sz="2400" b="1" dirty="0" smtClean="0">
                <a:solidFill>
                  <a:srgbClr val="FF0000"/>
                </a:solidFill>
              </a:rPr>
              <a:t>مشارکت</a:t>
            </a:r>
            <a:r>
              <a:rPr lang="fa-IR" sz="2400" b="1" dirty="0" smtClean="0"/>
              <a:t> دهد </a:t>
            </a:r>
          </a:p>
          <a:p>
            <a:pPr marL="609600" indent="-609600" algn="r" rtl="1" eaLnBrk="1" hangingPunct="1">
              <a:lnSpc>
                <a:spcPct val="80000"/>
              </a:lnSpc>
            </a:pPr>
            <a:r>
              <a:rPr lang="fa-IR" sz="2400" b="1" dirty="0" smtClean="0"/>
              <a:t>گاه </a:t>
            </a:r>
            <a:r>
              <a:rPr lang="fa-IR" sz="2400" b="1" dirty="0" err="1" smtClean="0"/>
              <a:t>گاه</a:t>
            </a:r>
            <a:r>
              <a:rPr lang="fa-IR" sz="2400" b="1" dirty="0" smtClean="0"/>
              <a:t> و به اقتضای موقع و مطلب با رعایت جوانب عرفی و فرهنگی کلام خود را تلطیف کند </a:t>
            </a:r>
          </a:p>
          <a:p>
            <a:pPr marL="609600" indent="-609600" algn="r" rtl="1" eaLnBrk="1" hangingPunct="1">
              <a:lnSpc>
                <a:spcPct val="80000"/>
              </a:lnSpc>
            </a:pPr>
            <a:r>
              <a:rPr lang="fa-IR" sz="2400" b="1" dirty="0" smtClean="0"/>
              <a:t>از </a:t>
            </a:r>
            <a:r>
              <a:rPr lang="fa-IR" sz="2400" b="1" dirty="0" smtClean="0">
                <a:solidFill>
                  <a:srgbClr val="FF0000"/>
                </a:solidFill>
              </a:rPr>
              <a:t>تفاخر، تکبر ، خودنمایی ، و فضل فروشی </a:t>
            </a:r>
            <a:r>
              <a:rPr lang="fa-IR" sz="2400" b="1" dirty="0" smtClean="0"/>
              <a:t>پرهیز کند </a:t>
            </a:r>
          </a:p>
          <a:p>
            <a:pPr marL="609600" indent="-609600" algn="r" rtl="1" eaLnBrk="1" hangingPunct="1">
              <a:lnSpc>
                <a:spcPct val="80000"/>
              </a:lnSpc>
            </a:pPr>
            <a:r>
              <a:rPr lang="fa-IR" sz="2400" b="1" dirty="0" err="1" smtClean="0">
                <a:solidFill>
                  <a:srgbClr val="FF0000"/>
                </a:solidFill>
              </a:rPr>
              <a:t>متواضع</a:t>
            </a:r>
            <a:r>
              <a:rPr lang="fa-IR" sz="2400" b="1" dirty="0" smtClean="0"/>
              <a:t> باشد ولی نه بطور تصنعی یا از روی ضعف </a:t>
            </a:r>
          </a:p>
          <a:p>
            <a:pPr marL="609600" indent="-609600" algn="r" rtl="1" eaLnBrk="1" hangingPunct="1">
              <a:lnSpc>
                <a:spcPct val="80000"/>
              </a:lnSpc>
            </a:pPr>
            <a:r>
              <a:rPr lang="fa-IR" sz="2400" b="1" dirty="0" smtClean="0"/>
              <a:t>از امکانات شنیداری – دیداری بخوبی و به موقع استفاده کند </a:t>
            </a:r>
          </a:p>
          <a:p>
            <a:pPr marL="609600" indent="-609600" algn="r" rtl="1" eaLnBrk="1" hangingPunct="1">
              <a:lnSpc>
                <a:spcPct val="80000"/>
              </a:lnSpc>
            </a:pPr>
            <a:r>
              <a:rPr lang="fa-IR" sz="2400" b="1" dirty="0" smtClean="0"/>
              <a:t>در تمام مدت ارائه سعی کند با </a:t>
            </a:r>
            <a:r>
              <a:rPr lang="fa-IR" sz="2400" b="1" dirty="0" smtClean="0">
                <a:solidFill>
                  <a:srgbClr val="FF0000"/>
                </a:solidFill>
              </a:rPr>
              <a:t>صداقت</a:t>
            </a:r>
            <a:r>
              <a:rPr lang="fa-IR" sz="2400" b="1" dirty="0" smtClean="0"/>
              <a:t> و </a:t>
            </a:r>
            <a:r>
              <a:rPr lang="fa-IR" sz="2400" b="1" dirty="0" smtClean="0">
                <a:solidFill>
                  <a:srgbClr val="FF0000"/>
                </a:solidFill>
              </a:rPr>
              <a:t>صمیمیت</a:t>
            </a:r>
            <a:r>
              <a:rPr lang="fa-IR" sz="2400" b="1" dirty="0" smtClean="0"/>
              <a:t> به مخاطبین نشان دهد که برای آنها </a:t>
            </a:r>
            <a:r>
              <a:rPr lang="fa-IR" sz="2400" b="1" dirty="0" smtClean="0">
                <a:solidFill>
                  <a:srgbClr val="FF0000"/>
                </a:solidFill>
              </a:rPr>
              <a:t>اهمیت زیاد</a:t>
            </a:r>
            <a:r>
              <a:rPr lang="fa-IR" sz="2400" b="1" dirty="0" smtClean="0"/>
              <a:t> قائل است </a:t>
            </a:r>
          </a:p>
          <a:p>
            <a:pPr marL="609600" indent="-609600" algn="r" rtl="1" eaLnBrk="1" hangingPunct="1">
              <a:lnSpc>
                <a:spcPct val="80000"/>
              </a:lnSpc>
            </a:pPr>
            <a:r>
              <a:rPr lang="fa-IR" sz="2400" b="1" dirty="0" smtClean="0"/>
              <a:t>با </a:t>
            </a:r>
            <a:r>
              <a:rPr lang="fa-IR" sz="2400" b="1" dirty="0" smtClean="0">
                <a:solidFill>
                  <a:srgbClr val="FF0000"/>
                </a:solidFill>
              </a:rPr>
              <a:t>اطمینان سخن بگوید </a:t>
            </a:r>
            <a:r>
              <a:rPr lang="fa-IR" sz="2400" b="1" dirty="0" smtClean="0"/>
              <a:t>و هر جا که تردید داشته باشد تردیدش را </a:t>
            </a:r>
            <a:r>
              <a:rPr lang="fa-IR" sz="2400" b="1" dirty="0" err="1" smtClean="0"/>
              <a:t>صریحا</a:t>
            </a:r>
            <a:r>
              <a:rPr lang="fa-IR" sz="2400" b="1" dirty="0" smtClean="0"/>
              <a:t> اعلام کند</a:t>
            </a:r>
            <a:r>
              <a:rPr lang="fa-IR" sz="2400" dirty="0" smtClean="0"/>
              <a:t> </a:t>
            </a:r>
            <a:endParaRPr lang="en-US" sz="2400" dirty="0" smtClean="0"/>
          </a:p>
        </p:txBody>
      </p:sp>
    </p:spTree>
  </p:cSld>
  <p:clrMapOvr>
    <a:masterClrMapping/>
  </p:clrMapOvr>
  <p:transition spd="med">
    <p:wipe dir="d"/>
  </p:transition>
  <p:timing>
    <p:tnLst>
      <p:par>
        <p:cTn id="1" dur="indefinite" restart="never" nodeType="tmRoot"/>
      </p:par>
    </p:tn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a:xfrm>
            <a:off x="468313" y="1125538"/>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پایان</a:t>
            </a:r>
            <a:endParaRPr lang="en-US" sz="3000" smtClean="0">
              <a:solidFill>
                <a:srgbClr val="FF0000"/>
              </a:solidFill>
              <a:effectLst/>
              <a:cs typeface="B Titr" pitchFamily="2" charset="-78"/>
            </a:endParaRPr>
          </a:p>
        </p:txBody>
      </p:sp>
      <p:sp>
        <p:nvSpPr>
          <p:cNvPr id="3" name="Rectangle 2"/>
          <p:cNvSpPr/>
          <p:nvPr/>
        </p:nvSpPr>
        <p:spPr>
          <a:xfrm>
            <a:off x="144612" y="116632"/>
            <a:ext cx="1584176" cy="3600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a-IR" dirty="0" smtClean="0">
                <a:solidFill>
                  <a:srgbClr val="FF0000"/>
                </a:solidFill>
                <a:cs typeface="B Titr" panose="00000700000000000000" pitchFamily="2" charset="-78"/>
              </a:rPr>
              <a:t>در امتحان حذف</a:t>
            </a:r>
            <a:endParaRPr lang="en-US" dirty="0">
              <a:solidFill>
                <a:srgbClr val="FF0000"/>
              </a:solidFill>
              <a:cs typeface="B Titr" panose="00000700000000000000" pitchFamily="2" charset="-78"/>
            </a:endParaRPr>
          </a:p>
        </p:txBody>
      </p:sp>
    </p:spTree>
  </p:cSld>
  <p:clrMapOvr>
    <a:masterClrMapping/>
  </p:clrMapOvr>
  <p:transition spd="med">
    <p:wipe dir="d"/>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Globe</Template>
  <TotalTime>2724</TotalTime>
  <Words>14458</Words>
  <Application>Microsoft Office PowerPoint</Application>
  <PresentationFormat>On-screen Show (4:3)</PresentationFormat>
  <Paragraphs>1978</Paragraphs>
  <Slides>271</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271</vt:i4>
      </vt:variant>
    </vt:vector>
  </HeadingPairs>
  <TitlesOfParts>
    <vt:vector size="283" baseType="lpstr">
      <vt:lpstr>Arabic Transparent</vt:lpstr>
      <vt:lpstr>Arial</vt:lpstr>
      <vt:lpstr>Arial Black</vt:lpstr>
      <vt:lpstr>B Titr</vt:lpstr>
      <vt:lpstr>Nazanin</vt:lpstr>
      <vt:lpstr>Symbol</vt:lpstr>
      <vt:lpstr>Times New Roman</vt:lpstr>
      <vt:lpstr>Verdana</vt:lpstr>
      <vt:lpstr>Wingdings</vt:lpstr>
      <vt:lpstr>Wingdings 2</vt:lpstr>
      <vt:lpstr>Wingdings 3</vt:lpstr>
      <vt:lpstr>Concourse</vt:lpstr>
      <vt:lpstr>نام درس :  شیوه ارائه مطالب علمی و فنی  </vt:lpstr>
      <vt:lpstr>PowerPoint Presentation</vt:lpstr>
      <vt:lpstr>PowerPoint Presentation</vt:lpstr>
      <vt:lpstr>PowerPoint Presentation</vt:lpstr>
      <vt:lpstr>PowerPoint Presentation</vt:lpstr>
      <vt:lpstr>تعریف لغوی ارائه :  در لغت به معنای نمودن – نشان دادن و نمایش دادن است  و در زبان فارسی بصورت ارائه کردن و ارائه دادن بکار  می رود. </vt:lpstr>
      <vt:lpstr>تعریف ارائه در مورد  یک موضوع : </vt:lpstr>
      <vt:lpstr>سیستم ارائه :</vt:lpstr>
      <vt:lpstr>PowerPoint Presentation</vt:lpstr>
      <vt:lpstr>عناصر تشکیل دهنده سیستم انتقال اطلاعات ماشینی:</vt:lpstr>
      <vt:lpstr>PowerPoint Presentation</vt:lpstr>
      <vt:lpstr> عناصر تشکیل دهنده سیستم انتقال اطلاعات در انسان:</vt:lpstr>
      <vt:lpstr>تعريف کانال در سیستم ارائه انسانی:</vt:lpstr>
      <vt:lpstr> تعریف دیگری از ارائه :</vt:lpstr>
      <vt:lpstr>PowerPoint Presentation</vt:lpstr>
      <vt:lpstr>انواع ارائه با رسانه ناشناخته:   </vt:lpstr>
      <vt:lpstr>PowerPoint Presentation</vt:lpstr>
      <vt:lpstr>عوامل موثر در ارائه :</vt:lpstr>
      <vt:lpstr> ارائه کننده :</vt:lpstr>
      <vt:lpstr>خصوصیات کلی کانال ارائه کننده : </vt:lpstr>
      <vt:lpstr>گزینه های شناخت از وضع مخاطب :</vt:lpstr>
      <vt:lpstr>اهمیت شناخت از مخاطب : </vt:lpstr>
      <vt:lpstr>مخاطب :</vt:lpstr>
      <vt:lpstr>وضعیت مخاطب ارائه :</vt:lpstr>
      <vt:lpstr>خصوصیات شخصی – شخصیتی مخاطب: </vt:lpstr>
      <vt:lpstr>خصوصیات کلی موضوع ارائه در مقولات علمی – فنی:</vt:lpstr>
      <vt:lpstr>عوامل قابل توجه در انتخاب نوع ارائه:</vt:lpstr>
      <vt:lpstr>انگیزه و اهداف در ارائه علمی – فنی عبارتند از: </vt:lpstr>
      <vt:lpstr>PowerPoint Presentation</vt:lpstr>
      <vt:lpstr> امکانات آماده سازی محتوای ارائه: </vt:lpstr>
      <vt:lpstr> وضع اجتماعی محیط ارائه: </vt:lpstr>
      <vt:lpstr>PowerPoint Presentation</vt:lpstr>
      <vt:lpstr>تعریف ارائه کتبی : </vt:lpstr>
      <vt:lpstr>خصوصیات ارائه کتبی : </vt:lpstr>
      <vt:lpstr>انواع ارائه کتبی :</vt:lpstr>
      <vt:lpstr>گونه های رایج تر ارائه کتبی دانشگاهی و  غیردانشگاهی  : </vt:lpstr>
      <vt:lpstr>ساختار اکثر گونه های علمی – فنی (غیر از گونه های خاص) </vt:lpstr>
      <vt:lpstr>مراحل آماده سازی ارائه کتبی : </vt:lpstr>
      <vt:lpstr>تعیین موضوع </vt:lpstr>
      <vt:lpstr>تحدید موضوع و عوامل مربوط به آن: </vt:lpstr>
      <vt:lpstr>ضوابط موجود برای تحدید موضوع : </vt:lpstr>
      <vt:lpstr>تعیین عنوان مناسب :</vt:lpstr>
      <vt:lpstr>خصوصیات عنوان موضوع : </vt:lpstr>
      <vt:lpstr>تهیه منابع  : </vt:lpstr>
      <vt:lpstr>شناسایی منبع  : </vt:lpstr>
      <vt:lpstr>جستجوی منبع و دستیابی به آن :</vt:lpstr>
      <vt:lpstr>ضبط مشخصات منبع :</vt:lpstr>
      <vt:lpstr>PowerPoint Presentation</vt:lpstr>
      <vt:lpstr>ارزیابی منبع : </vt:lpstr>
      <vt:lpstr>PowerPoint Presentation</vt:lpstr>
      <vt:lpstr>تهیه  طرح اولیه متن اصلی :</vt:lpstr>
      <vt:lpstr>PowerPoint Presentation</vt:lpstr>
      <vt:lpstr>PowerPoint Presentation</vt:lpstr>
      <vt:lpstr>مزایای تعیین عناوین داخلی متن و توالی ارتباط منطقی بین آنها :</vt:lpstr>
      <vt:lpstr>کسب و سازماندهی اطلاعات  : </vt:lpstr>
      <vt:lpstr>یادداشت برداری : </vt:lpstr>
      <vt:lpstr>PowerPoint Presentation</vt:lpstr>
      <vt:lpstr>تلخیص : </vt:lpstr>
      <vt:lpstr>عواملی که در تعیین حد تلخیص باید در نظر داشت : </vt:lpstr>
      <vt:lpstr>نکاتی که در تلخیص یک مطلب علمی – فنی باید مورد توجه قرار گیرد : </vt:lpstr>
      <vt:lpstr>روش کلی تلخیص :  برای تلخیص چنین عمل می کنیم : </vt:lpstr>
      <vt:lpstr>نقل قول : </vt:lpstr>
      <vt:lpstr>کارهایی که در نقل قول غیر مستقیم انجام می شود: </vt:lpstr>
      <vt:lpstr>نقل قول مستقیم :</vt:lpstr>
      <vt:lpstr>نکاتی که باید در نقل قول مستقیم رعایت گردد : </vt:lpstr>
      <vt:lpstr>سازماندهی اطلاعات  : </vt:lpstr>
      <vt:lpstr>PowerPoint Presentation</vt:lpstr>
      <vt:lpstr>تولید متن اصلی : </vt:lpstr>
      <vt:lpstr>PowerPoint Presentation</vt:lpstr>
      <vt:lpstr>امکاناتی را که قبل از نوشتن باید فراهم کرد : </vt:lpstr>
      <vt:lpstr>روش کار در تولید متن اصلی : </vt:lpstr>
      <vt:lpstr>روش کار در تهیه پیش نویس :</vt:lpstr>
      <vt:lpstr>روشهای متداول بسط یا پرداختن به موضوع ( در متون علمی – فنی ): </vt:lpstr>
      <vt:lpstr>خصوصیات نوشتپار ( پاراگراف ) :</vt:lpstr>
      <vt:lpstr>PowerPoint Presentation</vt:lpstr>
      <vt:lpstr>ایده ای که در یک نوشتپار از یک متن علمی  یا فنی مطرح و تشریح می شود معمولا مربوط است به : </vt:lpstr>
      <vt:lpstr>کنترل کمی : </vt:lpstr>
      <vt:lpstr>روش کار در کنترل کمی : </vt:lpstr>
      <vt:lpstr>کنترل کیفی : </vt:lpstr>
      <vt:lpstr>جنبه هایی که در کنترل کیفی در مورد متون علمی– فنی  باید به آنها توجه کرد : </vt:lpstr>
      <vt:lpstr>پس از کنترل کمی و کیفی پیش نویس  اولین نسخه متن اصلی را آماده می کنیم اما بهتر است در این مرحله متن را جهت مطالعه و اظهارنظر به افراد دیگر داد .</vt:lpstr>
      <vt:lpstr>PowerPoint Presentation</vt:lpstr>
      <vt:lpstr>بند  یا متن پار ( clause)  :</vt:lpstr>
      <vt:lpstr>PowerPoint Presentation</vt:lpstr>
      <vt:lpstr>متن پار مرکب یا متن بخش  : </vt:lpstr>
      <vt:lpstr>PowerPoint Presentation</vt:lpstr>
      <vt:lpstr>قسمت یا فصل : </vt:lpstr>
      <vt:lpstr>شالوده ارسطویی :</vt:lpstr>
      <vt:lpstr>چند توصیه برای نگارش بهتر  : </vt:lpstr>
      <vt:lpstr>اجزای بخش آغازین در یک ارائه کتبی: </vt:lpstr>
      <vt:lpstr>اجزای بخش پایانی در یک ارائه کتبی: </vt:lpstr>
      <vt:lpstr>اجزاء درون بخش میانی در یک ارائه کتبی:</vt:lpstr>
      <vt:lpstr> پانوشت : </vt:lpstr>
      <vt:lpstr>انواع پانوشت : </vt:lpstr>
      <vt:lpstr>منظور از نوشتن پانوشت : </vt:lpstr>
      <vt:lpstr>نحوه نوشتن پانوشت استنادی و ارجاعی: </vt:lpstr>
      <vt:lpstr>PowerPoint Presentation</vt:lpstr>
      <vt:lpstr> روش استناد یا ارجاع در متون علمی – فنی : </vt:lpstr>
      <vt:lpstr>PowerPoint Presentation</vt:lpstr>
      <vt:lpstr>شکل : </vt:lpstr>
      <vt:lpstr>گونه های مختلف شکل  : </vt:lpstr>
      <vt:lpstr>PowerPoint Presentation</vt:lpstr>
      <vt:lpstr>ویژگیهای شکل : </vt:lpstr>
      <vt:lpstr>محل درج و نحوه ارجاع شکل : </vt:lpstr>
      <vt:lpstr>جدول : </vt:lpstr>
      <vt:lpstr>ویژگیهای جدول : </vt:lpstr>
      <vt:lpstr>PowerPoint Presentation</vt:lpstr>
      <vt:lpstr>PowerPoint Presentation</vt:lpstr>
      <vt:lpstr>نتیجه و خلاصه : </vt:lpstr>
      <vt:lpstr>نتیجه : </vt:lpstr>
      <vt:lpstr>نحوه تنظیم نتیجه : </vt:lpstr>
      <vt:lpstr>خلاصه : </vt:lpstr>
      <vt:lpstr>روش تنظیم خلاصه : </vt:lpstr>
      <vt:lpstr>PowerPoint Presentation</vt:lpstr>
      <vt:lpstr>در اینجا به شرح بعضی از اجزاء  بخش آغازین در یک ارائه کتبی می پردازیم </vt:lpstr>
      <vt:lpstr>جلد :</vt:lpstr>
      <vt:lpstr>صفحه عنوان :</vt:lpstr>
      <vt:lpstr>پیشگفتار : </vt:lpstr>
      <vt:lpstr>در یک ارائه علمی – فنی معمولا به نکات زیر در پیشگفتار اشاره و پرداخته می شود : </vt:lpstr>
      <vt:lpstr>PowerPoint Presentation</vt:lpstr>
      <vt:lpstr>فهرست شکلها و جدولها :</vt:lpstr>
      <vt:lpstr>چکیده مولف : </vt:lpstr>
      <vt:lpstr>اهداف چکیده نویسی در معنای گسترده عبارتند از :</vt:lpstr>
      <vt:lpstr>نکاتی که در نوشتن چکیده مولف باید رعایت گردد:</vt:lpstr>
      <vt:lpstr>پیشنهادات و نظرات :</vt:lpstr>
      <vt:lpstr>پیوستها :</vt:lpstr>
      <vt:lpstr>معمولا در موارد زیر مطالب را در قسمت پیوستها درج می کنیم: </vt:lpstr>
      <vt:lpstr>فهرست منابع :</vt:lpstr>
      <vt:lpstr>فهرست منابع را می توان بر اساس ضوابط مختلفی تنظیم کرد از جمله : </vt:lpstr>
      <vt:lpstr>نکاتی در مورد نحوه نوشتن مشخصات منبع  : </vt:lpstr>
      <vt:lpstr>PowerPoint Presentation</vt:lpstr>
      <vt:lpstr>PowerPoint Presentation</vt:lpstr>
      <vt:lpstr> ویژگیهای نوشتار علمی- فنی : </vt:lpstr>
      <vt:lpstr>ویژگیهای زبانی عبارتند از :</vt:lpstr>
      <vt:lpstr>ویژگیهای کیفی عبارتند از : </vt:lpstr>
      <vt:lpstr>عوامل  منفی در ارائه  نوشتاری علمی – فنی </vt:lpstr>
      <vt:lpstr>لزوم مدیریت نوشتار علمی – فنی  :</vt:lpstr>
      <vt:lpstr>وظایف مدیریت نوشتار علمی – فنی: </vt:lpstr>
      <vt:lpstr>انواع نوشتار علمی – فنی  :</vt:lpstr>
      <vt:lpstr>انواع نوشتار علمی – فنی باتوجه به هدف اصلی تالیف کتاب حاضر : </vt:lpstr>
      <vt:lpstr>نوشتار دانشگاهی  و غیر دانشگاهی : </vt:lpstr>
      <vt:lpstr>گونه های رایج  نوشتار دانشگاهی ( تحصیلی ):</vt:lpstr>
      <vt:lpstr>PowerPoint Presentation</vt:lpstr>
      <vt:lpstr>PowerPoint Presentation</vt:lpstr>
      <vt:lpstr>گزارش &lt;&lt; مطالعه بیشتر &gt;&gt;  ( تحقیق ) در چارچوب یک درس:</vt:lpstr>
      <vt:lpstr>اجزاء  و ساختار گزارش &lt;&lt; مطالعه بیشتر &gt;&gt;  : </vt:lpstr>
      <vt:lpstr>طرح صفحه عنوان گزارش &lt;&lt; مطالعه بیشتر &gt;&gt; : </vt:lpstr>
      <vt:lpstr>گزارش انجام &lt;&lt; پروژه &gt;&gt; درسی  :</vt:lpstr>
      <vt:lpstr>گزارش کارآموزی  و هدف از  کارآموزی  : </vt:lpstr>
      <vt:lpstr>اجزاء  و ساختار گزارش کارآموزی  : </vt:lpstr>
      <vt:lpstr>طرح صفحه عنوان گزارش کارآموزی و نیز محتوای روی جلد </vt:lpstr>
      <vt:lpstr>گزارش پروژه پایان دوره کارشناسی ، رساله دوره کارشناسی ارشد و دانشنامه ( تز) دوره  دکترا  :</vt:lpstr>
      <vt:lpstr>اجزاء و ساختار گزارش پروژه دوره کارشناسی و  رساله کارشناسی ارشد و دانشنامه دوره دکترا</vt:lpstr>
      <vt:lpstr>PowerPoint Presentation</vt:lpstr>
      <vt:lpstr>طرح صفحه پروژه  دوره كارشناسي  </vt:lpstr>
      <vt:lpstr>طرح صفحه پروژه  دوره كارشناسي  يا رساله دوره كارشناسي ارشد  </vt:lpstr>
      <vt:lpstr>طرح صفحه عنوان  پروژه  دوره كارشناسي (به انگليسي)</vt:lpstr>
      <vt:lpstr>PowerPoint Presentation</vt:lpstr>
      <vt:lpstr>PowerPoint Presentation</vt:lpstr>
      <vt:lpstr>PowerPoint Presentation</vt:lpstr>
      <vt:lpstr>PowerPoint Presentation</vt:lpstr>
      <vt:lpstr>گزارش کار آزمایشگاه  : </vt:lpstr>
      <vt:lpstr>اجزاء گزارش آزمایشگاه : </vt:lpstr>
      <vt:lpstr>فرم گزارش آزمايشگاه </vt:lpstr>
      <vt:lpstr>PowerPoint Presentation</vt:lpstr>
      <vt:lpstr>فرم گزارش آزمايشگاه (ادامه)</vt:lpstr>
      <vt:lpstr>فرم گزارش آزمايشگاه (ادامه)</vt:lpstr>
      <vt:lpstr>فرم گزارش آزمايشگاه (ادامه )</vt:lpstr>
      <vt:lpstr>PowerPoint Presentation</vt:lpstr>
      <vt:lpstr>مقاله :</vt:lpstr>
      <vt:lpstr>انواع مقاله از نظر کیفیت و میزان اعتبار علمی  : </vt:lpstr>
      <vt:lpstr>اجزاء مقاله  :</vt:lpstr>
      <vt:lpstr>نکاتی در مورد مقاله : </vt:lpstr>
      <vt:lpstr>PowerPoint Presentation</vt:lpstr>
      <vt:lpstr>برخی از انواع نوشتارهای غیر دانشگاهی (کاری):</vt:lpstr>
      <vt:lpstr>گزارش  : </vt:lpstr>
      <vt:lpstr>آ- انواع گزارش از نظر صورت (فرم): </vt:lpstr>
      <vt:lpstr>ب- انواع گزارش غیرفرمی از نظر کمیت: </vt:lpstr>
      <vt:lpstr> ج -  انواع گزارش از نظر محتوا : </vt:lpstr>
      <vt:lpstr> د- انواع  گزارش از نظر زمان تولید و ارائه:</vt:lpstr>
      <vt:lpstr>د- انواع رایج گزارش از نظر موضوع: </vt:lpstr>
      <vt:lpstr>PowerPoint Presentation</vt:lpstr>
      <vt:lpstr>PowerPoint Presentation</vt:lpstr>
      <vt:lpstr>PowerPoint Presentation</vt:lpstr>
      <vt:lpstr>مهارت های لازم برای گزارش نویسی: </vt:lpstr>
      <vt:lpstr>PowerPoint Presentation</vt:lpstr>
      <vt:lpstr>گزارش- نامه : </vt:lpstr>
      <vt:lpstr>اجزاء و ساختار گزارش – نامه  : </vt:lpstr>
      <vt:lpstr>PowerPoint Presentation</vt:lpstr>
      <vt:lpstr>گزارش- یادداشت : </vt:lpstr>
      <vt:lpstr>اجزاء و ساختار گزارش – یادداشت </vt:lpstr>
      <vt:lpstr>گزارش کوتاه : </vt:lpstr>
      <vt:lpstr>اجزاء و ساختار گزارش کوتاه : </vt:lpstr>
      <vt:lpstr>فرم ( صورت ) شناسنامه گزارش </vt:lpstr>
      <vt:lpstr>PowerPoint Presentation</vt:lpstr>
      <vt:lpstr>اطلاعاتی که در صفحه عنوان گزارش کوتاه باید درج گردد : </vt:lpstr>
      <vt:lpstr>گزارش بلند : </vt:lpstr>
      <vt:lpstr>رده های گزارش بلند : </vt:lpstr>
      <vt:lpstr>اجزاء و ساختار گزارش بلند : </vt:lpstr>
      <vt:lpstr>PowerPoint Presentation</vt:lpstr>
      <vt:lpstr>PowerPoint Presentation</vt:lpstr>
      <vt:lpstr>PowerPoint Presentation</vt:lpstr>
      <vt:lpstr>PowerPoint Presentation</vt:lpstr>
      <vt:lpstr>PowerPoint Presentation</vt:lpstr>
      <vt:lpstr>پیشنهاد شرکت در مناقصه </vt:lpstr>
      <vt:lpstr> اهداف پیشنهاد : </vt:lpstr>
      <vt:lpstr>خصوصیات پیشنهاد : </vt:lpstr>
      <vt:lpstr>مقدمات لازم برای پیشنهاد اجرای پروژه:</vt:lpstr>
      <vt:lpstr>اطلاعات بدست آمده در مرحله  قبل باید چنان باشد که به تهیه کنندگان پیشنهاد کمک کند تا پاسخ سئوالات زیر را بیابند : </vt:lpstr>
      <vt:lpstr>برخی از نکات اساسی منظور نظر سازمان متقاضی: </vt:lpstr>
      <vt:lpstr>مطالبی که در متن پیشنهاد باید به طرز گویا و روشن نوشته شوند : </vt:lpstr>
      <vt:lpstr>شرح طرح پیشنهادی می تواند شامل موارد زیر باشد: </vt:lpstr>
      <vt:lpstr>اجزاء متن پیشنهاد :  اجزاء این نوع متن بستگی به عواملی دارد از جمله حجم متن اصلی و پیوستها اما بهتر است اجزاء زیر را داشته باشد : </vt:lpstr>
      <vt:lpstr>مکاتبه فنی- تجاری مکاتبه فنی- تجاری :  مکاتبه فنی یا فنی – تجاری در محیطهای کاری امر رایجی است   که به منظورهای زیر  نوشته می شود :</vt:lpstr>
      <vt:lpstr>پاسخ  پرسشهایی که قبل از اقدام به مکاتبه در یک محیط فنی-  تجاری باید روشن شود: </vt:lpstr>
      <vt:lpstr>مواردی که باید در پاسخ به یک نامه در محیط فنی – تجاری رعایت گردد: </vt:lpstr>
      <vt:lpstr>گزارش امکان سنجی اجرای پروژه: </vt:lpstr>
      <vt:lpstr>مواردی که درمتن گزارش امکان سنجی اجرای پروژه باید به آنها پرداخته شود : </vt:lpstr>
      <vt:lpstr>مطالبی که باید در گزارش بررسی یک مشکل فنی نوشته شود: </vt:lpstr>
      <vt:lpstr>متن گزارش بررسی خرابی تجهیزات باید حاوی پاسخ سئوالات زیر باشد: </vt:lpstr>
      <vt:lpstr>PowerPoint Presentation</vt:lpstr>
      <vt:lpstr>متن ماشین تشریح : </vt:lpstr>
      <vt:lpstr>متن ماشین تشریح باید حاوی اطلاعات زیر باشد:</vt:lpstr>
      <vt:lpstr>شرح کامل ماشین : </vt:lpstr>
      <vt:lpstr>نظم منطقی در متن تشریح ماشین می تواند: </vt:lpstr>
      <vt:lpstr>کاتالوگ : </vt:lpstr>
      <vt:lpstr>نکاتی که در چنین متنی باید درج می شود: </vt:lpstr>
      <vt:lpstr>محتوای کاتالوگ  : </vt:lpstr>
      <vt:lpstr>قواعد تولید متون راهنمای فنی : </vt:lpstr>
      <vt:lpstr>سطوح پنج گانه مخاطب در متون راهنمای فنی:</vt:lpstr>
      <vt:lpstr>مخاطبین سطح اول : </vt:lpstr>
      <vt:lpstr>مخاطبین سطح دوم : </vt:lpstr>
      <vt:lpstr>مخاطبین سطح سوم : </vt:lpstr>
      <vt:lpstr>مخاطبین سطح چهارم :</vt:lpstr>
      <vt:lpstr>مخاطبین سطح پنجم </vt:lpstr>
      <vt:lpstr>PowerPoint Presentation</vt:lpstr>
      <vt:lpstr>تعریف ارائه شفاهی : </vt:lpstr>
      <vt:lpstr>خصوصیات ارائه شفاهی :</vt:lpstr>
      <vt:lpstr>PowerPoint Presentation</vt:lpstr>
      <vt:lpstr>انواع ارائه شفاهی : </vt:lpstr>
      <vt:lpstr>خصوصیات سخنرانی عمومی : </vt:lpstr>
      <vt:lpstr>خصوصیات کلی تدریس (ارائه تعلیمی): </vt:lpstr>
      <vt:lpstr>خصوصیات سخنرانی علمی – فنی : </vt:lpstr>
      <vt:lpstr>PowerPoint Presentation</vt:lpstr>
      <vt:lpstr>امکانات ارائه شفاهی :  ارائه شفاهی از نظر امکانات غنی تر از ارائه کتبی است این امکانات را می‌توان به 4 دسته زیر تقسیم کرد :</vt:lpstr>
      <vt:lpstr>امکانات مربوط به ارائه کننده : </vt:lpstr>
      <vt:lpstr>امکانات مربوط به مخاطب : </vt:lpstr>
      <vt:lpstr>امکانات ناشی از ماهیت ارائه شفاهی :  این امکانات ناشی از ماهیت خود ارائه شفاهی هستند و عبارتند از :</vt:lpstr>
      <vt:lpstr>امکانات محیطی :  آنهایی هستند که در محیط ارائه فراهم  می آیند و عبارتند از : </vt:lpstr>
      <vt:lpstr>امکانات دیداری – شنیداری عبارتند از: </vt:lpstr>
      <vt:lpstr>امکانات دیداری– شنیداری باید به چه منظورهایی مورد استفاده قرارگیرند و بالعکس :   </vt:lpstr>
      <vt:lpstr>هرگز نباید به منظورهای زیر از این امکانات استفاده کرد :   </vt:lpstr>
      <vt:lpstr>PowerPoint Presentation</vt:lpstr>
      <vt:lpstr>سخنرانی علمی – فنی : </vt:lpstr>
      <vt:lpstr>ساختمندی:   سخنرانی علمی و فنی را ساختمند گوییم اگر به طرز زیر انجام شود:</vt:lpstr>
      <vt:lpstr>مقدمه در یک سخنرانی علمی – فنی  ساختمند باید به موارد زیر بپردازد </vt:lpstr>
      <vt:lpstr>PowerPoint Presentation</vt:lpstr>
      <vt:lpstr>PowerPoint Presentation</vt:lpstr>
      <vt:lpstr>خصوصیات سخنران علمی – فنی: </vt:lpstr>
      <vt:lpstr>زمان سخنرانی علمی – فنی : </vt:lpstr>
      <vt:lpstr>PowerPoint Presentation</vt:lpstr>
      <vt:lpstr>مکان سخنرانی علمی – فنی : </vt:lpstr>
      <vt:lpstr>آماده سازی سخنرانی علمی – فنی : </vt:lpstr>
      <vt:lpstr>در آماده سازی سخنرانی علمی – فنی کارهای زیر باید انجام شود : </vt:lpstr>
      <vt:lpstr>برگهای شفاف :    این برگها بهتر است در دو نوع زیر  تهیه شوند : </vt:lpstr>
      <vt:lpstr>PowerPoint Presentation</vt:lpstr>
      <vt:lpstr>شیوه سخنرانی علمی – فنی : </vt:lpstr>
      <vt:lpstr>PowerPoint Presentation</vt:lpstr>
      <vt:lpstr>برخی از نکات قابل توجه در  شیوه سخنرانی علمی – فنی :</vt:lpstr>
      <vt:lpstr>PowerPoint Presentation</vt:lpstr>
      <vt:lpstr>پایان</vt:lpstr>
    </vt:vector>
  </TitlesOfParts>
  <Company>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web22</dc:creator>
  <cp:lastModifiedBy>mas</cp:lastModifiedBy>
  <cp:revision>280</cp:revision>
  <dcterms:created xsi:type="dcterms:W3CDTF">2006-06-14T08:20:44Z</dcterms:created>
  <dcterms:modified xsi:type="dcterms:W3CDTF">2017-11-25T07:43:58Z</dcterms:modified>
</cp:coreProperties>
</file>